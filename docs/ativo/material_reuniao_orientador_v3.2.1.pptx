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notesMaster" Target="notesMasters/notesMaster1.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ANALOGIA PARA EXPLICAR FiLM ORALMENTE:</a:t>
            </a:r>
          </a:p>
          <a:p/>
          <a:p>
            <a:r>
              <a:t>Imagine um médico fazendo um diagnóstico. Antes de decidir, ele consulta exames complementares (ECG, raio-X) que dão contexto sobre o paciente. O diagnóstico final depende tanto do que ele observa no exame físico quanto do contexto desses exames.</a:t>
            </a:r>
          </a:p>
          <a:p/>
          <a:p>
            <a:r>
              <a:t>FiLM faz exatamente isso para a rede de raça: antes de decidir a classe, ela 'consulta' a saída do classificador de tom de pele e ajusta sua decisão com base nesse contexto.</a:t>
            </a:r>
          </a:p>
          <a:p/>
          <a:p>
            <a:r>
              <a:t>USE A ANALOGIA SE A AUDIÊNCIA PEDIR UMA INTUIÇÃO MENOS TÉCNICA — caso contrário, fique no detalhamento científico do slide.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ANALOGIA PARA EXPLICAR FAIR TRANSFERÊNCIA ORALMENTE:</a:t>
            </a:r>
          </a:p>
          <a:p/>
          <a:p>
            <a:r>
              <a:t>Aprender ética profissional em medicina geral nos torna mais éticos também quando nos especializamos em cardiologia. A 'ética' é uma propriedade do profissional (da representação interna), não da especialidade (da tarefa específica).</a:t>
            </a:r>
          </a:p>
          <a:p/>
          <a:p>
            <a:r>
              <a:t>USE A ANALOGIA SE A AUDIÊNCIA PEDIR UMA INTUIÇÃO MENOS TÉCNICA — caso contrário, fique no detalhamento científico do slide.</a:t>
            </a:r>
          </a:p>
          <a:p/>
          <a:p>
            <a:r>
              <a:t>EM CASO DE PERGUNTA SOBRE O ADVERSÁRIO:</a:t>
            </a:r>
          </a:p>
          <a:p>
            <a:r>
              <a:t>O adversário é uma rede neural separada que recebe Z como input e tenta predizer o atributo sensível (raça). O encoder é treinado para MAXIMIZAR o erro do adversário — por isso 'adversarial'. Se o adversário NÃO consegue recuperar a raça a partir de Z, então Z não contém informação 'usável' sobre raça — e portanto qualquer classificador downstream também não pode ser injusto baseado em raça.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011680" cy="685800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0" y="1371600"/>
            <a:ext cx="9601200" cy="1828800"/>
          </a:xfrm>
          <a:prstGeom prst="rect">
            <a:avLst/>
          </a:prstGeom>
          <a:noFill/>
        </p:spPr>
        <p:txBody>
          <a:bodyPr wrap="square">
            <a:spAutoFit/>
          </a:bodyPr>
          <a:lstStyle/>
          <a:p>
            <a:pPr>
              <a:defRPr sz="3800" b="1">
                <a:solidFill>
                  <a:srgbClr val="1F2A4E"/>
                </a:solidFill>
              </a:defRPr>
            </a:pPr>
            <a:r>
              <a:t>Equidade Racial em Classificação Facial</a:t>
            </a:r>
          </a:p>
          <a:p>
            <a:pPr>
              <a:defRPr sz="2200">
                <a:solidFill>
                  <a:srgbClr val="3D424E"/>
                </a:solidFill>
              </a:defRPr>
            </a:pPr>
            <a:r>
              <a:t>Atualização da pesquisa — o que evoluiu nesta semana</a:t>
            </a:r>
          </a:p>
        </p:txBody>
      </p:sp>
      <p:sp>
        <p:nvSpPr>
          <p:cNvPr id="4" name="TextBox 3"/>
          <p:cNvSpPr txBox="1"/>
          <p:nvPr/>
        </p:nvSpPr>
        <p:spPr>
          <a:xfrm>
            <a:off x="2286000" y="3840480"/>
            <a:ext cx="9601200" cy="2286000"/>
          </a:xfrm>
          <a:prstGeom prst="rect">
            <a:avLst/>
          </a:prstGeom>
          <a:noFill/>
        </p:spPr>
        <p:txBody>
          <a:bodyPr wrap="square">
            <a:spAutoFit/>
          </a:bodyPr>
          <a:lstStyle/>
          <a:p>
            <a:pPr>
              <a:defRPr sz="1700">
                <a:solidFill>
                  <a:srgbClr val="3D424E"/>
                </a:solidFill>
              </a:defRPr>
            </a:pPr>
            <a:r>
              <a:t>Mestrando:  Marcello Ozzetti</a:t>
            </a:r>
          </a:p>
          <a:p>
            <a:pPr>
              <a:defRPr sz="1700">
                <a:solidFill>
                  <a:srgbClr val="3D424E"/>
                </a:solidFill>
              </a:defRPr>
            </a:pPr>
            <a:r>
              <a:t>Orientador:  Prof. Marcos Quiles</a:t>
            </a:r>
          </a:p>
          <a:p>
            <a:pPr>
              <a:defRPr sz="1700">
                <a:solidFill>
                  <a:srgbClr val="3D424E"/>
                </a:solidFill>
              </a:defRPr>
            </a:pPr>
            <a:r>
              <a:t>Programa:  Mestrado em Ciência da Computação — Unifesp / ICT</a:t>
            </a:r>
          </a:p>
          <a:p>
            <a:pPr>
              <a:defRPr sz="1700">
                <a:solidFill>
                  <a:srgbClr val="3D424E"/>
                </a:solidFill>
              </a:defRPr>
            </a:pPr>
            <a:r>
              <a:t>Reunião:  Junho de 2026 (segunda reunião do mês)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Principais alinhamentos e decisões</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Parte 1 — Onde paramos na última reunião</a:t>
            </a:r>
          </a:p>
          <a:p>
            <a:pPr lvl="1">
              <a:spcAft>
                <a:spcPts val="800"/>
              </a:spcAft>
              <a:defRPr sz="1700">
                <a:solidFill>
                  <a:srgbClr val="707682"/>
                </a:solidFill>
              </a:defRPr>
            </a:pPr>
            <a:r>
              <a:t>Recap da última reunião e orientações</a:t>
            </a:r>
          </a:p>
          <a:p>
            <a:pPr>
              <a:spcAft>
                <a:spcPts val="800"/>
              </a:spcAft>
              <a:defRPr sz="2000" b="0">
                <a:solidFill>
                  <a:srgbClr val="3D424E"/>
                </a:solidFill>
              </a:defRPr>
            </a:pPr>
            <a:r>
              <a:t>Parte 2 — O que avancei nesta semana</a:t>
            </a:r>
          </a:p>
          <a:p>
            <a:pPr lvl="1">
              <a:spcAft>
                <a:spcPts val="800"/>
              </a:spcAft>
              <a:defRPr sz="1700">
                <a:solidFill>
                  <a:srgbClr val="707682"/>
                </a:solidFill>
              </a:defRPr>
            </a:pPr>
            <a:r>
              <a:t>Resposta direta aos 4 pedidos: ampliar venues, revisar método, validar SOTA, reformular tese</a:t>
            </a:r>
          </a:p>
          <a:p>
            <a:pPr>
              <a:spcAft>
                <a:spcPts val="800"/>
              </a:spcAft>
              <a:defRPr sz="2000" b="0">
                <a:solidFill>
                  <a:srgbClr val="3D424E"/>
                </a:solidFill>
              </a:defRPr>
            </a:pPr>
            <a:r>
              <a:t>Parte 3 — Como a tese está sendo construída agora</a:t>
            </a:r>
          </a:p>
          <a:p>
            <a:pPr lvl="1">
              <a:spcAft>
                <a:spcPts val="800"/>
              </a:spcAft>
              <a:defRPr sz="1700">
                <a:solidFill>
                  <a:srgbClr val="707682"/>
                </a:solidFill>
              </a:defRPr>
            </a:pPr>
            <a:r>
              <a:t>Embasamento metodológico e científico para cada decisão</a:t>
            </a:r>
          </a:p>
          <a:p>
            <a:pPr>
              <a:spcAft>
                <a:spcPts val="800"/>
              </a:spcAft>
              <a:defRPr sz="2000" b="0">
                <a:solidFill>
                  <a:srgbClr val="3D424E"/>
                </a:solidFill>
              </a:defRPr>
            </a:pPr>
            <a:r>
              <a:t>Parte 4 — Próximos passos</a:t>
            </a:r>
          </a:p>
          <a:p>
            <a:pPr lvl="1">
              <a:spcAft>
                <a:spcPts val="800"/>
              </a:spcAft>
              <a:defRPr sz="1700">
                <a:solidFill>
                  <a:srgbClr val="707682"/>
                </a:solidFill>
              </a:defRPr>
            </a:pPr>
            <a:r>
              <a:t>O que preciso decidir nesta reunião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0"/>
            <a:ext cx="2743200" cy="2743200"/>
          </a:xfrm>
          <a:prstGeom prst="rect">
            <a:avLst/>
          </a:prstGeom>
          <a:noFill/>
        </p:spPr>
        <p:txBody>
          <a:bodyPr wrap="none">
            <a:spAutoFit/>
          </a:bodyPr>
          <a:lstStyle/>
          <a:p>
            <a:pPr>
              <a:defRPr sz="13000" b="1">
                <a:solidFill>
                  <a:srgbClr val="FFFFFF"/>
                </a:solidFill>
              </a:defRPr>
            </a:pPr>
            <a:r>
              <a:t>1</a:t>
            </a:r>
          </a:p>
        </p:txBody>
      </p:sp>
      <p:sp>
        <p:nvSpPr>
          <p:cNvPr id="4" name="TextBox 3"/>
          <p:cNvSpPr txBox="1"/>
          <p:nvPr/>
        </p:nvSpPr>
        <p:spPr>
          <a:xfrm>
            <a:off x="3931920" y="2286000"/>
            <a:ext cx="7772400" cy="1828800"/>
          </a:xfrm>
          <a:prstGeom prst="rect">
            <a:avLst/>
          </a:prstGeom>
          <a:noFill/>
        </p:spPr>
        <p:txBody>
          <a:bodyPr wrap="square">
            <a:spAutoFit/>
          </a:bodyPr>
          <a:lstStyle/>
          <a:p>
            <a:pPr>
              <a:defRPr sz="3600" b="1">
                <a:solidFill>
                  <a:srgbClr val="FFFFFF"/>
                </a:solidFill>
              </a:defRPr>
            </a:pPr>
            <a:r>
              <a:t>Onde paramos na última reunião</a:t>
            </a:r>
          </a:p>
          <a:p>
            <a:pPr>
              <a:defRPr sz="2000">
                <a:solidFill>
                  <a:srgbClr val="E8EAED"/>
                </a:solidFill>
              </a:defRPr>
            </a:pPr>
            <a:r>
              <a:t>Recap da última reunião e orientações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3000" b="1">
                <a:solidFill>
                  <a:srgbClr val="1F2A4E"/>
                </a:solidFill>
              </a:defRPr>
            </a:pPr>
            <a:r>
              <a:t>Como a tese estava na última reunião — visão resumida</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57200" y="1371600"/>
          <a:ext cx="11430000" cy="4937760"/>
        </p:xfrm>
        <a:graphic>
          <a:graphicData uri="http://schemas.openxmlformats.org/drawingml/2006/table">
            <a:tbl>
              <a:tblPr firstRow="1" bandRow="1">
                <a:tableStyleId>{5C22544A-7EE6-4342-B048-85BDC9FD1C3A}</a:tableStyleId>
              </a:tblPr>
              <a:tblGrid>
                <a:gridCol w="5715000"/>
                <a:gridCol w="5715000"/>
              </a:tblGrid>
              <a:tr h="705394">
                <a:tc>
                  <a:txBody>
                    <a:bodyPr/>
                    <a:lstStyle/>
                    <a:p>
                      <a:r>
                        <a:rPr b="1" sz="1600">
                          <a:solidFill>
                            <a:srgbClr val="FFFFFF"/>
                          </a:solidFill>
                        </a:rPr>
                        <a:t>Dimensão</a:t>
                      </a:r>
                    </a:p>
                  </a:txBody>
                  <a:tcPr>
                    <a:solidFill>
                      <a:srgbClr val="1F2A4E"/>
                    </a:solidFill>
                  </a:tcPr>
                </a:tc>
                <a:tc>
                  <a:txBody>
                    <a:bodyPr/>
                    <a:lstStyle/>
                    <a:p>
                      <a:r>
                        <a:rPr b="1" sz="1600">
                          <a:solidFill>
                            <a:srgbClr val="FFFFFF"/>
                          </a:solidFill>
                        </a:rPr>
                        <a:t>Estado naquele momento</a:t>
                      </a:r>
                    </a:p>
                  </a:txBody>
                  <a:tcPr>
                    <a:solidFill>
                      <a:srgbClr val="1F2A4E"/>
                    </a:solidFill>
                  </a:tcPr>
                </a:tc>
              </a:tr>
              <a:tr h="705394">
                <a:tc>
                  <a:txBody>
                    <a:bodyPr/>
                    <a:lstStyle/>
                    <a:p>
                      <a:r>
                        <a:rPr sz="1500">
                          <a:solidFill>
                            <a:srgbClr val="3D424E"/>
                          </a:solidFill>
                        </a:rPr>
                        <a:t>Postura</a:t>
                      </a:r>
                    </a:p>
                  </a:txBody>
                  <a:tcPr>
                    <a:solidFill>
                      <a:srgbClr val="FFFFFF"/>
                    </a:solidFill>
                  </a:tcPr>
                </a:tc>
                <a:tc>
                  <a:txBody>
                    <a:bodyPr/>
                    <a:lstStyle/>
                    <a:p>
                      <a:r>
                        <a:rPr sz="1500">
                          <a:solidFill>
                            <a:srgbClr val="3D424E"/>
                          </a:solidFill>
                        </a:rPr>
                        <a:t>Diagnóstica — explicar por que o erro existe</a:t>
                      </a:r>
                    </a:p>
                  </a:txBody>
                  <a:tcPr>
                    <a:solidFill>
                      <a:srgbClr val="FFFFFF"/>
                    </a:solidFill>
                  </a:tcPr>
                </a:tc>
              </a:tr>
              <a:tr h="705394">
                <a:tc>
                  <a:txBody>
                    <a:bodyPr/>
                    <a:lstStyle/>
                    <a:p>
                      <a:r>
                        <a:rPr sz="1500">
                          <a:solidFill>
                            <a:srgbClr val="3D424E"/>
                          </a:solidFill>
                        </a:rPr>
                        <a:t>Tese central</a:t>
                      </a:r>
                    </a:p>
                  </a:txBody>
                  <a:tcPr>
                    <a:solidFill>
                      <a:srgbClr val="E8EAED"/>
                    </a:solidFill>
                  </a:tcPr>
                </a:tc>
                <a:tc>
                  <a:txBody>
                    <a:bodyPr/>
                    <a:lstStyle/>
                    <a:p>
                      <a:r>
                        <a:rPr sz="1500">
                          <a:solidFill>
                            <a:srgbClr val="3D424E"/>
                          </a:solidFill>
                        </a:rPr>
                        <a:t>75% F1 é teto fenotípico irredutível: raças se sobrepõem em tom de pele, especialmente Latinx</a:t>
                      </a:r>
                    </a:p>
                  </a:txBody>
                  <a:tcPr>
                    <a:solidFill>
                      <a:srgbClr val="E8EAED"/>
                    </a:solidFill>
                  </a:tcPr>
                </a:tc>
              </a:tr>
              <a:tr h="705394">
                <a:tc>
                  <a:txBody>
                    <a:bodyPr/>
                    <a:lstStyle/>
                    <a:p>
                      <a:r>
                        <a:rPr sz="1500">
                          <a:solidFill>
                            <a:srgbClr val="3D424E"/>
                          </a:solidFill>
                        </a:rPr>
                        <a:t>Tarefa</a:t>
                      </a:r>
                    </a:p>
                  </a:txBody>
                  <a:tcPr>
                    <a:solidFill>
                      <a:srgbClr val="FFFFFF"/>
                    </a:solidFill>
                  </a:tcPr>
                </a:tc>
                <a:tc>
                  <a:txBody>
                    <a:bodyPr/>
                    <a:lstStyle/>
                    <a:p>
                      <a:r>
                        <a:rPr sz="1500">
                          <a:solidFill>
                            <a:srgbClr val="3D424E"/>
                          </a:solidFill>
                        </a:rPr>
                        <a:t>Apenas race classification (sem face recognition)</a:t>
                      </a:r>
                    </a:p>
                  </a:txBody>
                  <a:tcPr>
                    <a:solidFill>
                      <a:srgbClr val="FFFFFF"/>
                    </a:solidFill>
                  </a:tcPr>
                </a:tc>
              </a:tr>
              <a:tr h="705394">
                <a:tc>
                  <a:txBody>
                    <a:bodyPr/>
                    <a:lstStyle/>
                    <a:p>
                      <a:r>
                        <a:rPr sz="1500">
                          <a:solidFill>
                            <a:srgbClr val="3D424E"/>
                          </a:solidFill>
                        </a:rPr>
                        <a:t>Critério de sucesso</a:t>
                      </a:r>
                    </a:p>
                  </a:txBody>
                  <a:tcPr>
                    <a:solidFill>
                      <a:srgbClr val="E8EAED"/>
                    </a:solidFill>
                  </a:tcPr>
                </a:tc>
                <a:tc>
                  <a:txBody>
                    <a:bodyPr/>
                    <a:lstStyle/>
                    <a:p>
                      <a:r>
                        <a:rPr sz="1500">
                          <a:solidFill>
                            <a:srgbClr val="3D424E"/>
                          </a:solidFill>
                        </a:rPr>
                        <a:t>Decomposição: irredutível vs redutível</a:t>
                      </a:r>
                    </a:p>
                  </a:txBody>
                  <a:tcPr>
                    <a:solidFill>
                      <a:srgbClr val="E8EAED"/>
                    </a:solidFill>
                  </a:tcPr>
                </a:tc>
              </a:tr>
              <a:tr h="705394">
                <a:tc>
                  <a:txBody>
                    <a:bodyPr/>
                    <a:lstStyle/>
                    <a:p>
                      <a:r>
                        <a:rPr sz="1500">
                          <a:solidFill>
                            <a:srgbClr val="3D424E"/>
                          </a:solidFill>
                        </a:rPr>
                        <a:t>Corpus</a:t>
                      </a:r>
                    </a:p>
                  </a:txBody>
                  <a:tcPr>
                    <a:solidFill>
                      <a:srgbClr val="FFFFFF"/>
                    </a:solidFill>
                  </a:tcPr>
                </a:tc>
                <a:tc>
                  <a:txBody>
                    <a:bodyPr/>
                    <a:lstStyle/>
                    <a:p>
                      <a:r>
                        <a:rPr sz="1500">
                          <a:solidFill>
                            <a:srgbClr val="3D424E"/>
                          </a:solidFill>
                        </a:rPr>
                        <a:t>23 fichas em 6 tracks (A: race clf; B: FR fairness; C: skin tone; D: mitigação; E: auditoria; F: fundamentação)</a:t>
                      </a:r>
                    </a:p>
                  </a:txBody>
                  <a:tcPr>
                    <a:solidFill>
                      <a:srgbClr val="FFFFFF"/>
                    </a:solidFill>
                  </a:tcPr>
                </a:tc>
              </a:tr>
              <a:tr h="705396">
                <a:tc>
                  <a:txBody>
                    <a:bodyPr/>
                    <a:lstStyle/>
                    <a:p>
                      <a:r>
                        <a:rPr sz="1500">
                          <a:solidFill>
                            <a:srgbClr val="3D424E"/>
                          </a:solidFill>
                        </a:rPr>
                        <a:t>Validado na reunião</a:t>
                      </a:r>
                    </a:p>
                  </a:txBody>
                  <a:tcPr>
                    <a:solidFill>
                      <a:srgbClr val="E8EAED"/>
                    </a:solidFill>
                  </a:tcPr>
                </a:tc>
                <a:tc>
                  <a:txBody>
                    <a:bodyPr/>
                    <a:lstStyle/>
                    <a:p>
                      <a:r>
                        <a:rPr sz="1500">
                          <a:solidFill>
                            <a:srgbClr val="3D424E"/>
                          </a:solidFill>
                        </a:rPr>
                        <a:t>Evolução metodológica, SOTA (FaceScanPaliGemma 75.7%), linha de pesquisa proposta</a:t>
                      </a:r>
                    </a:p>
                  </a:txBody>
                  <a:tcPr>
                    <a:solidFill>
                      <a:srgbClr val="E8EAED"/>
                    </a:solidFill>
                  </a:tcPr>
                </a:tc>
              </a:tr>
            </a:tbl>
          </a:graphicData>
        </a:graphic>
      </p:graphicFrame>
      <p:sp>
        <p:nvSpPr>
          <p:cNvPr id="5" name="TextBox 4"/>
          <p:cNvSpPr txBox="1"/>
          <p:nvPr/>
        </p:nvSpPr>
        <p:spPr>
          <a:xfrm>
            <a:off x="457200" y="6400800"/>
            <a:ext cx="11430000" cy="365760"/>
          </a:xfrm>
          <a:prstGeom prst="rect">
            <a:avLst/>
          </a:prstGeom>
          <a:noFill/>
        </p:spPr>
        <p:txBody>
          <a:bodyPr wrap="none">
            <a:spAutoFit/>
          </a:bodyPr>
          <a:lstStyle/>
          <a:p>
            <a:pPr>
              <a:defRPr sz="1500" i="1">
                <a:solidFill>
                  <a:srgbClr val="707682"/>
                </a:solidFill>
              </a:defRPr>
            </a:pPr>
            <a:r>
              <a:t>Esta é a base sobre a qual estamos construindo a nova versão (prescritiva) da tese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Os 4 pedidos que combinamos</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1. Revisar o método em profundidade de cada artigo selecionado</a:t>
            </a:r>
          </a:p>
          <a:p>
            <a:pPr lvl="1">
              <a:spcAft>
                <a:spcPts val="800"/>
              </a:spcAft>
              <a:defRPr sz="1700">
                <a:solidFill>
                  <a:srgbClr val="707682"/>
                </a:solidFill>
              </a:defRPr>
            </a:pPr>
            <a:r>
              <a:t>Queremos enxergar não só o resultado, mas o rigor metodológico</a:t>
            </a:r>
          </a:p>
          <a:p>
            <a:pPr>
              <a:spcAft>
                <a:spcPts val="800"/>
              </a:spcAft>
              <a:defRPr sz="2000" b="0">
                <a:solidFill>
                  <a:srgbClr val="3D424E"/>
                </a:solidFill>
              </a:defRPr>
            </a:pPr>
          </a:p>
          <a:p>
            <a:pPr>
              <a:spcAft>
                <a:spcPts val="800"/>
              </a:spcAft>
              <a:defRPr sz="2000" b="0">
                <a:solidFill>
                  <a:srgbClr val="3D424E"/>
                </a:solidFill>
              </a:defRPr>
            </a:pPr>
            <a:r>
              <a:t>2. Ampliar a pesquisa para venues de ML, Redes Neurais e temas relacionados</a:t>
            </a:r>
          </a:p>
          <a:p>
            <a:pPr lvl="1">
              <a:spcAft>
                <a:spcPts val="800"/>
              </a:spcAft>
              <a:defRPr sz="1700">
                <a:solidFill>
                  <a:srgbClr val="707682"/>
                </a:solidFill>
              </a:defRPr>
            </a:pPr>
            <a:r>
              <a:t>Identificamos lacuna de papers fundadores destes campos</a:t>
            </a:r>
          </a:p>
          <a:p>
            <a:pPr>
              <a:spcAft>
                <a:spcPts val="800"/>
              </a:spcAft>
              <a:defRPr sz="2000" b="0">
                <a:solidFill>
                  <a:srgbClr val="3D424E"/>
                </a:solidFill>
              </a:defRPr>
            </a:pPr>
          </a:p>
          <a:p>
            <a:pPr>
              <a:spcAft>
                <a:spcPts val="800"/>
              </a:spcAft>
              <a:defRPr sz="2000" b="0">
                <a:solidFill>
                  <a:srgbClr val="3D424E"/>
                </a:solidFill>
              </a:defRPr>
            </a:pPr>
            <a:r>
              <a:t>3. Double-check do SOTA (75.7% F1)</a:t>
            </a:r>
          </a:p>
          <a:p>
            <a:pPr lvl="1">
              <a:spcAft>
                <a:spcPts val="800"/>
              </a:spcAft>
              <a:defRPr sz="1700">
                <a:solidFill>
                  <a:srgbClr val="707682"/>
                </a:solidFill>
              </a:defRPr>
            </a:pPr>
            <a:r>
              <a:t>Garantir que não emergiu competidor recente</a:t>
            </a:r>
          </a:p>
          <a:p>
            <a:pPr>
              <a:spcAft>
                <a:spcPts val="800"/>
              </a:spcAft>
              <a:defRPr sz="2000" b="0">
                <a:solidFill>
                  <a:srgbClr val="3D424E"/>
                </a:solidFill>
              </a:defRPr>
            </a:pPr>
          </a:p>
          <a:p>
            <a:pPr>
              <a:spcAft>
                <a:spcPts val="800"/>
              </a:spcAft>
              <a:defRPr sz="2000" b="0">
                <a:solidFill>
                  <a:srgbClr val="3D424E"/>
                </a:solidFill>
              </a:defRPr>
            </a:pPr>
            <a:r>
              <a:t>4. Reformular a tese de DIAGNÓSTICA para PRESCRITIVA</a:t>
            </a:r>
          </a:p>
          <a:p>
            <a:pPr lvl="1">
              <a:spcAft>
                <a:spcPts val="800"/>
              </a:spcAft>
              <a:defRPr sz="1700">
                <a:solidFill>
                  <a:srgbClr val="707682"/>
                </a:solidFill>
              </a:defRPr>
            </a:pPr>
            <a:r>
              <a:t>Treinar classifier de tom → usar para condicionar classifier de raça → estender a face recognition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0"/>
            <a:ext cx="2743200" cy="2743200"/>
          </a:xfrm>
          <a:prstGeom prst="rect">
            <a:avLst/>
          </a:prstGeom>
          <a:noFill/>
        </p:spPr>
        <p:txBody>
          <a:bodyPr wrap="none">
            <a:spAutoFit/>
          </a:bodyPr>
          <a:lstStyle/>
          <a:p>
            <a:pPr>
              <a:defRPr sz="13000" b="1">
                <a:solidFill>
                  <a:srgbClr val="FFFFFF"/>
                </a:solidFill>
              </a:defRPr>
            </a:pPr>
            <a:r>
              <a:t>2</a:t>
            </a:r>
          </a:p>
        </p:txBody>
      </p:sp>
      <p:sp>
        <p:nvSpPr>
          <p:cNvPr id="4" name="TextBox 3"/>
          <p:cNvSpPr txBox="1"/>
          <p:nvPr/>
        </p:nvSpPr>
        <p:spPr>
          <a:xfrm>
            <a:off x="3931920" y="2286000"/>
            <a:ext cx="7772400" cy="1828800"/>
          </a:xfrm>
          <a:prstGeom prst="rect">
            <a:avLst/>
          </a:prstGeom>
          <a:noFill/>
        </p:spPr>
        <p:txBody>
          <a:bodyPr wrap="square">
            <a:spAutoFit/>
          </a:bodyPr>
          <a:lstStyle/>
          <a:p>
            <a:pPr>
              <a:defRPr sz="3600" b="1">
                <a:solidFill>
                  <a:srgbClr val="FFFFFF"/>
                </a:solidFill>
              </a:defRPr>
            </a:pPr>
            <a:r>
              <a:t>O que avancei nesta semana</a:t>
            </a:r>
          </a:p>
          <a:p>
            <a:pPr>
              <a:defRPr sz="2000">
                <a:solidFill>
                  <a:srgbClr val="E8EAED"/>
                </a:solidFill>
              </a:defRPr>
            </a:pPr>
            <a:r>
              <a:t>Resposta direta aos 4 pedidos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Resposta ao pedido 2: ampliar venues ML / Redes Neurais</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Executei Rodada 5 de triagem com foco em ML e Redes Neurais.</a:t>
            </a:r>
          </a:p>
          <a:p>
            <a:pPr>
              <a:spcAft>
                <a:spcPts val="800"/>
              </a:spcAft>
              <a:defRPr sz="2000" b="0">
                <a:solidFill>
                  <a:srgbClr val="3D424E"/>
                </a:solidFill>
              </a:defRPr>
            </a:pPr>
          </a:p>
          <a:p>
            <a:pPr>
              <a:spcAft>
                <a:spcPts val="800"/>
              </a:spcAft>
              <a:defRPr sz="2000" b="0">
                <a:solidFill>
                  <a:srgbClr val="3D424E"/>
                </a:solidFill>
              </a:defRPr>
            </a:pPr>
            <a:r>
              <a:t>Adicionei 6 fichas novas, todas de venues top da área:</a:t>
            </a:r>
          </a:p>
          <a:p>
            <a:pPr lvl="1">
              <a:spcAft>
                <a:spcPts val="800"/>
              </a:spcAft>
              <a:defRPr sz="1700">
                <a:solidFill>
                  <a:srgbClr val="707682"/>
                </a:solidFill>
              </a:defRPr>
            </a:pPr>
            <a:r>
              <a:t>• Hardt, Price &amp; Srebro (NeurIPS 2016) — origem das métricas formais de fairness</a:t>
            </a:r>
          </a:p>
          <a:p>
            <a:pPr lvl="1">
              <a:spcAft>
                <a:spcPts val="800"/>
              </a:spcAft>
              <a:defRPr sz="1700">
                <a:solidFill>
                  <a:srgbClr val="707682"/>
                </a:solidFill>
              </a:defRPr>
            </a:pPr>
            <a:r>
              <a:t>• Perez et al. (AAAI 2018) — FiLM, mecanismo de condicionamento neural</a:t>
            </a:r>
          </a:p>
          <a:p>
            <a:pPr lvl="1">
              <a:spcAft>
                <a:spcPts val="800"/>
              </a:spcAft>
              <a:defRPr sz="1700">
                <a:solidFill>
                  <a:srgbClr val="707682"/>
                </a:solidFill>
              </a:defRPr>
            </a:pPr>
            <a:r>
              <a:t>• Zemel et al. (ICML 2013, Test-of-Time Award 2023) — Fair Representation Learning</a:t>
            </a:r>
          </a:p>
          <a:p>
            <a:pPr lvl="1">
              <a:spcAft>
                <a:spcPts val="800"/>
              </a:spcAft>
              <a:defRPr sz="1700">
                <a:solidFill>
                  <a:srgbClr val="707682"/>
                </a:solidFill>
              </a:defRPr>
            </a:pPr>
            <a:r>
              <a:t>• Madras et al. (ICML 2018) — LAFTR, prova teórica de fair transferência</a:t>
            </a:r>
          </a:p>
          <a:p>
            <a:pPr lvl="1">
              <a:spcAft>
                <a:spcPts val="800"/>
              </a:spcAft>
              <a:defRPr sz="1700">
                <a:solidFill>
                  <a:srgbClr val="707682"/>
                </a:solidFill>
              </a:defRPr>
            </a:pPr>
            <a:r>
              <a:t>• Zhang, Lemoine &amp; Mitchell (AIES 2018) — adversarial debiasing</a:t>
            </a:r>
          </a:p>
          <a:p>
            <a:pPr lvl="1">
              <a:spcAft>
                <a:spcPts val="800"/>
              </a:spcAft>
              <a:defRPr sz="1700">
                <a:solidFill>
                  <a:srgbClr val="707682"/>
                </a:solidFill>
              </a:defRPr>
            </a:pPr>
            <a:r>
              <a:t>• Kleinberg, Mullainathan &amp; Raghavan (ITCS 2017) — teorema da impossibilidade</a:t>
            </a:r>
          </a:p>
          <a:p>
            <a:pPr>
              <a:spcAft>
                <a:spcPts val="800"/>
              </a:spcAft>
              <a:defRPr sz="2000" b="0">
                <a:solidFill>
                  <a:srgbClr val="3D424E"/>
                </a:solidFill>
              </a:defRPr>
            </a:pPr>
          </a:p>
          <a:p>
            <a:pPr>
              <a:spcAft>
                <a:spcPts val="800"/>
              </a:spcAft>
              <a:defRPr sz="2000" b="0">
                <a:solidFill>
                  <a:srgbClr val="3D424E"/>
                </a:solidFill>
              </a:defRPr>
            </a:pPr>
            <a:r>
              <a:t>Cada um destes é base de algum baseline ou mecanismo do pipeline.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Resposta ao pedido 1: revisar método em profundidade</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Criei uma nova Seção 12 normativa em cada ficha: ‘Análise crítica do método’.</a:t>
            </a:r>
          </a:p>
          <a:p>
            <a:pPr>
              <a:spcAft>
                <a:spcPts val="800"/>
              </a:spcAft>
              <a:defRPr sz="2000" b="0">
                <a:solidFill>
                  <a:srgbClr val="3D424E"/>
                </a:solidFill>
              </a:defRPr>
            </a:pPr>
          </a:p>
          <a:p>
            <a:pPr>
              <a:spcAft>
                <a:spcPts val="800"/>
              </a:spcAft>
              <a:defRPr sz="2000" b="0">
                <a:solidFill>
                  <a:srgbClr val="3D424E"/>
                </a:solidFill>
              </a:defRPr>
            </a:pPr>
            <a:r>
              <a:t>Avalia cada paper em 5 dimensões:</a:t>
            </a:r>
          </a:p>
          <a:p>
            <a:pPr lvl="1">
              <a:spcAft>
                <a:spcPts val="800"/>
              </a:spcAft>
              <a:defRPr sz="1700">
                <a:solidFill>
                  <a:srgbClr val="707682"/>
                </a:solidFill>
              </a:defRPr>
            </a:pPr>
            <a:r>
              <a:t>(a) Rigor formal — matemática defensável? Pressupostos declarados?</a:t>
            </a:r>
          </a:p>
          <a:p>
            <a:pPr lvl="1">
              <a:spcAft>
                <a:spcPts val="800"/>
              </a:spcAft>
              <a:defRPr sz="1700">
                <a:solidFill>
                  <a:srgbClr val="707682"/>
                </a:solidFill>
              </a:defRPr>
            </a:pPr>
            <a:r>
              <a:t>(b) Reprodutibilidade — hiperparâmetros, código, seeds?</a:t>
            </a:r>
          </a:p>
          <a:p>
            <a:pPr lvl="1">
              <a:spcAft>
                <a:spcPts val="800"/>
              </a:spcAft>
              <a:defRPr sz="1700">
                <a:solidFill>
                  <a:srgbClr val="707682"/>
                </a:solidFill>
              </a:defRPr>
            </a:pPr>
            <a:r>
              <a:t>(c) Aplicabilidade ao nosso pipeline — onde funciona e onde falha?</a:t>
            </a:r>
          </a:p>
          <a:p>
            <a:pPr lvl="1">
              <a:spcAft>
                <a:spcPts val="800"/>
              </a:spcAft>
              <a:defRPr sz="1700">
                <a:solidFill>
                  <a:srgbClr val="707682"/>
                </a:solidFill>
              </a:defRPr>
            </a:pPr>
            <a:r>
              <a:t>(d) Design choices — o que foi justificado vs assumido?</a:t>
            </a:r>
          </a:p>
          <a:p>
            <a:pPr lvl="1">
              <a:spcAft>
                <a:spcPts val="800"/>
              </a:spcAft>
              <a:defRPr sz="1700">
                <a:solidFill>
                  <a:srgbClr val="707682"/>
                </a:solidFill>
              </a:defRPr>
            </a:pPr>
            <a:r>
              <a:t>(e) Conexão com o que aprendi na Rodada 5</a:t>
            </a:r>
          </a:p>
          <a:p>
            <a:pPr>
              <a:spcAft>
                <a:spcPts val="800"/>
              </a:spcAft>
              <a:defRPr sz="2000" b="0">
                <a:solidFill>
                  <a:srgbClr val="3D424E"/>
                </a:solidFill>
              </a:defRPr>
            </a:pPr>
          </a:p>
          <a:p>
            <a:pPr>
              <a:spcAft>
                <a:spcPts val="800"/>
              </a:spcAft>
              <a:defRPr sz="2000" b="0">
                <a:solidFill>
                  <a:srgbClr val="3D424E"/>
                </a:solidFill>
              </a:defRPr>
            </a:pPr>
            <a:r>
              <a:t>Adicionada nas 10 fichas centrais (lista de leitura prioritária).</a:t>
            </a:r>
          </a:p>
          <a:p>
            <a:pPr>
              <a:spcAft>
                <a:spcPts val="800"/>
              </a:spcAft>
              <a:defRPr sz="2000" b="0">
                <a:solidFill>
                  <a:srgbClr val="3D424E"/>
                </a:solidFill>
              </a:defRPr>
            </a:pPr>
            <a:r>
              <a:t>Vamos expandir para as outras 19 após aprovação conjunta da nova versão da tese.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Resposta ao pedido 3: double-check do SOTA</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Executei a Rodada 2.6 com janela expandida fevereiro–junho de 2026.</a:t>
            </a:r>
          </a:p>
          <a:p>
            <a:pPr>
              <a:spcAft>
                <a:spcPts val="800"/>
              </a:spcAft>
              <a:defRPr sz="2000" b="0">
                <a:solidFill>
                  <a:srgbClr val="3D424E"/>
                </a:solidFill>
              </a:defRPr>
            </a:pPr>
          </a:p>
          <a:p>
            <a:pPr>
              <a:spcAft>
                <a:spcPts val="800"/>
              </a:spcAft>
              <a:defRPr sz="2000" b="0">
                <a:solidFill>
                  <a:srgbClr val="3D424E"/>
                </a:solidFill>
              </a:defRPr>
            </a:pPr>
            <a:r>
              <a:t>Fonte: 12 papers que citam o FaceScanPaliGemma no Semantic Scholar.</a:t>
            </a:r>
          </a:p>
          <a:p>
            <a:pPr>
              <a:spcAft>
                <a:spcPts val="800"/>
              </a:spcAft>
              <a:defRPr sz="2000" b="0">
                <a:solidFill>
                  <a:srgbClr val="3D424E"/>
                </a:solidFill>
              </a:defRPr>
            </a:pPr>
          </a:p>
          <a:p>
            <a:pPr>
              <a:spcAft>
                <a:spcPts val="800"/>
              </a:spcAft>
              <a:defRPr sz="2000" b="0">
                <a:solidFill>
                  <a:srgbClr val="3D424E"/>
                </a:solidFill>
              </a:defRPr>
            </a:pPr>
            <a:r>
              <a:t>Resultado: NENHUM dos 12 papers usa FairFace race 7-class como métrica principal.</a:t>
            </a:r>
          </a:p>
          <a:p>
            <a:pPr lvl="1">
              <a:spcAft>
                <a:spcPts val="800"/>
              </a:spcAft>
              <a:defRPr sz="1700">
                <a:solidFill>
                  <a:srgbClr val="707682"/>
                </a:solidFill>
              </a:defRPr>
            </a:pPr>
            <a:r>
              <a:t>Citantes trabalham em tarefas diferentes: gender, age, emotion, detection, audit, etc.</a:t>
            </a:r>
          </a:p>
          <a:p>
            <a:pPr>
              <a:spcAft>
                <a:spcPts val="800"/>
              </a:spcAft>
              <a:defRPr sz="2000" b="0">
                <a:solidFill>
                  <a:srgbClr val="3D424E"/>
                </a:solidFill>
              </a:defRPr>
            </a:pPr>
          </a:p>
          <a:p>
            <a:pPr>
              <a:spcAft>
                <a:spcPts val="800"/>
              </a:spcAft>
              <a:defRPr sz="2000" b="0">
                <a:solidFill>
                  <a:srgbClr val="3D424E"/>
                </a:solidFill>
              </a:defRPr>
            </a:pPr>
            <a:r>
              <a:t>Conclusão: FaceScanPaliGemma 75.7% F1 segue sendo o SOTA único em junho/2026.</a:t>
            </a:r>
          </a:p>
          <a:p>
            <a:pPr>
              <a:spcAft>
                <a:spcPts val="800"/>
              </a:spcAft>
              <a:defRPr sz="2000" b="0">
                <a:solidFill>
                  <a:srgbClr val="3D424E"/>
                </a:solidFill>
              </a:defRPr>
            </a:pPr>
          </a:p>
          <a:p>
            <a:pPr>
              <a:spcAft>
                <a:spcPts val="800"/>
              </a:spcAft>
              <a:defRPr sz="2000" b="0">
                <a:solidFill>
                  <a:srgbClr val="3D424E"/>
                </a:solidFill>
              </a:defRPr>
            </a:pPr>
            <a:r>
              <a:t>Achados adicionais: validação cruzada confirmou também o baseline ResNet-34 = 72%</a:t>
            </a:r>
          </a:p>
          <a:p>
            <a:pPr lvl="1">
              <a:spcAft>
                <a:spcPts val="800"/>
              </a:spcAft>
              <a:defRPr sz="1700">
                <a:solidFill>
                  <a:srgbClr val="707682"/>
                </a:solidFill>
              </a:defRPr>
            </a:pPr>
            <a:r>
              <a:t>Reportado por AlDahoul (2024/26) E por Lin (FairGRAPE 2022) independentemente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Resposta ao pedido 4: reformular para PRESCRITIVA</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Mudança central: deixa de ‘decompor o erro’ e passa a ‘construir um pipeline’ que melhora fairness em race classification E em face recognition, usando tom de pele como sinal auxiliar.</a:t>
            </a:r>
          </a:p>
          <a:p>
            <a:pPr>
              <a:spcAft>
                <a:spcPts val="800"/>
              </a:spcAft>
              <a:defRPr sz="2000" b="0">
                <a:solidFill>
                  <a:srgbClr val="3D424E"/>
                </a:solidFill>
              </a:defRPr>
            </a:pPr>
          </a:p>
          <a:p>
            <a:pPr>
              <a:spcAft>
                <a:spcPts val="800"/>
              </a:spcAft>
              <a:defRPr sz="2000" b="0">
                <a:solidFill>
                  <a:srgbClr val="3D424E"/>
                </a:solidFill>
              </a:defRPr>
            </a:pPr>
            <a:r>
              <a:t>Pipeline construtivo em 6 etapas:</a:t>
            </a:r>
          </a:p>
          <a:p>
            <a:pPr lvl="1">
              <a:spcAft>
                <a:spcPts val="800"/>
              </a:spcAft>
              <a:defRPr sz="1700">
                <a:solidFill>
                  <a:srgbClr val="707682"/>
                </a:solidFill>
              </a:defRPr>
            </a:pPr>
            <a:r>
              <a:t>1. Classificador de tom de pele (MST) — usar SkinToneNet pré-treinado</a:t>
            </a:r>
          </a:p>
          <a:p>
            <a:pPr lvl="1">
              <a:spcAft>
                <a:spcPts val="800"/>
              </a:spcAft>
              <a:defRPr sz="1700">
                <a:solidFill>
                  <a:srgbClr val="707682"/>
                </a:solidFill>
              </a:defRPr>
            </a:pPr>
            <a:r>
              <a:t>2. Auditar FairFace e publicar a matriz pública MST × raça</a:t>
            </a:r>
          </a:p>
          <a:p>
            <a:pPr lvl="1">
              <a:spcAft>
                <a:spcPts val="800"/>
              </a:spcAft>
              <a:defRPr sz="1700">
                <a:solidFill>
                  <a:srgbClr val="707682"/>
                </a:solidFill>
              </a:defRPr>
            </a:pPr>
            <a:r>
              <a:t>3. Race classifier com tom de pele como contexto (mecanismo FiLM)</a:t>
            </a:r>
          </a:p>
          <a:p>
            <a:pPr lvl="1">
              <a:spcAft>
                <a:spcPts val="800"/>
              </a:spcAft>
              <a:defRPr sz="1700">
                <a:solidFill>
                  <a:srgbClr val="707682"/>
                </a:solidFill>
              </a:defRPr>
            </a:pPr>
            <a:r>
              <a:t>4. Comparar fairness COM vs SEM tom de pele, contra 6 baselines</a:t>
            </a:r>
          </a:p>
          <a:p>
            <a:pPr lvl="1">
              <a:spcAft>
                <a:spcPts val="800"/>
              </a:spcAft>
              <a:defRPr sz="1700">
                <a:solidFill>
                  <a:srgbClr val="707682"/>
                </a:solidFill>
              </a:defRPr>
            </a:pPr>
            <a:r>
              <a:t>5. Aplicar pipeline a face recognition (RFW ou BFW)</a:t>
            </a:r>
          </a:p>
          <a:p>
            <a:pPr lvl="1">
              <a:spcAft>
                <a:spcPts val="800"/>
              </a:spcAft>
              <a:defRPr sz="1700">
                <a:solidFill>
                  <a:srgbClr val="707682"/>
                </a:solidFill>
              </a:defRPr>
            </a:pPr>
            <a:r>
              <a:t>6. Medir melhora em Black/African e decomposição Latinx</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Triagem do corpus de pesquisa</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Dos 57 papers avaliados, aprovamos 29 como fichas do corpus.</a:t>
            </a:r>
          </a:p>
          <a:p>
            <a:pPr>
              <a:spcAft>
                <a:spcPts val="800"/>
              </a:spcAft>
              <a:defRPr sz="2000" b="0">
                <a:solidFill>
                  <a:srgbClr val="3D424E"/>
                </a:solidFill>
              </a:defRPr>
            </a:pPr>
          </a:p>
          <a:p>
            <a:pPr>
              <a:spcAft>
                <a:spcPts val="800"/>
              </a:spcAft>
              <a:defRPr sz="2000" b="0">
                <a:solidFill>
                  <a:srgbClr val="3D424E"/>
                </a:solidFill>
              </a:defRPr>
            </a:pPr>
            <a:r>
              <a:t>Aprovação seguiu os critérios de seleção acordados:</a:t>
            </a:r>
          </a:p>
          <a:p>
            <a:pPr lvl="1">
              <a:spcAft>
                <a:spcPts val="800"/>
              </a:spcAft>
              <a:defRPr sz="1700">
                <a:solidFill>
                  <a:srgbClr val="707682"/>
                </a:solidFill>
              </a:defRPr>
            </a:pPr>
            <a:r>
              <a:t>Venue científico forte (top conferences ou journals peer-reviewed)</a:t>
            </a:r>
          </a:p>
          <a:p>
            <a:pPr lvl="1">
              <a:spcAft>
                <a:spcPts val="800"/>
              </a:spcAft>
              <a:defRPr sz="1700">
                <a:solidFill>
                  <a:srgbClr val="707682"/>
                </a:solidFill>
              </a:defRPr>
            </a:pPr>
            <a:r>
              <a:t>Citações acima do threshold do ano de publicação</a:t>
            </a:r>
          </a:p>
          <a:p>
            <a:pPr lvl="1">
              <a:spcAft>
                <a:spcPts val="800"/>
              </a:spcAft>
              <a:defRPr sz="1700">
                <a:solidFill>
                  <a:srgbClr val="707682"/>
                </a:solidFill>
              </a:defRPr>
            </a:pPr>
            <a:r>
              <a:t>Aplicabilidade direta a uma das 14 perguntas de pesquisa</a:t>
            </a:r>
          </a:p>
          <a:p>
            <a:pPr lvl="1">
              <a:spcAft>
                <a:spcPts val="800"/>
              </a:spcAft>
              <a:defRPr sz="1700">
                <a:solidFill>
                  <a:srgbClr val="707682"/>
                </a:solidFill>
              </a:defRPr>
            </a:pPr>
            <a:r>
              <a:t>Aprovação por exceção (cobertura única) com justificativa registrada</a:t>
            </a:r>
          </a:p>
          <a:p>
            <a:pPr>
              <a:spcAft>
                <a:spcPts val="800"/>
              </a:spcAft>
              <a:defRPr sz="2000" b="0">
                <a:solidFill>
                  <a:srgbClr val="3D424E"/>
                </a:solidFill>
              </a:defRPr>
            </a:pPr>
          </a:p>
          <a:p>
            <a:pPr>
              <a:spcAft>
                <a:spcPts val="800"/>
              </a:spcAft>
              <a:defRPr sz="2000" b="0">
                <a:solidFill>
                  <a:srgbClr val="3D424E"/>
                </a:solidFill>
              </a:defRPr>
            </a:pPr>
            <a:r>
              <a:t>Cada decisão (aprovado / standby / descartado) tem data e justificativa registradas.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0"/>
            <a:ext cx="2743200" cy="2743200"/>
          </a:xfrm>
          <a:prstGeom prst="rect">
            <a:avLst/>
          </a:prstGeom>
          <a:noFill/>
        </p:spPr>
        <p:txBody>
          <a:bodyPr wrap="none">
            <a:spAutoFit/>
          </a:bodyPr>
          <a:lstStyle/>
          <a:p>
            <a:pPr>
              <a:defRPr sz="13000" b="1">
                <a:solidFill>
                  <a:srgbClr val="FFFFFF"/>
                </a:solidFill>
              </a:defRPr>
            </a:pPr>
            <a:r>
              <a:t>3</a:t>
            </a:r>
          </a:p>
        </p:txBody>
      </p:sp>
      <p:sp>
        <p:nvSpPr>
          <p:cNvPr id="4" name="TextBox 3"/>
          <p:cNvSpPr txBox="1"/>
          <p:nvPr/>
        </p:nvSpPr>
        <p:spPr>
          <a:xfrm>
            <a:off x="3931920" y="2286000"/>
            <a:ext cx="7772400" cy="1828800"/>
          </a:xfrm>
          <a:prstGeom prst="rect">
            <a:avLst/>
          </a:prstGeom>
          <a:noFill/>
        </p:spPr>
        <p:txBody>
          <a:bodyPr wrap="square">
            <a:spAutoFit/>
          </a:bodyPr>
          <a:lstStyle/>
          <a:p>
            <a:pPr>
              <a:defRPr sz="3600" b="1">
                <a:solidFill>
                  <a:srgbClr val="FFFFFF"/>
                </a:solidFill>
              </a:defRPr>
            </a:pPr>
            <a:r>
              <a:t>Como a tese está sendo construída</a:t>
            </a:r>
          </a:p>
          <a:p>
            <a:pPr>
              <a:defRPr sz="2000">
                <a:solidFill>
                  <a:srgbClr val="E8EAED"/>
                </a:solidFill>
              </a:defRPr>
            </a:pPr>
            <a:r>
              <a:t>Agora prescritiva, com conceitos explicados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3000" b="1">
                <a:solidFill>
                  <a:srgbClr val="1F2A4E"/>
                </a:solidFill>
              </a:defRPr>
            </a:pPr>
            <a:r>
              <a:t>A tese em uma frase clara</a:t>
            </a:r>
          </a:p>
        </p:txBody>
      </p:sp>
      <p:sp>
        <p:nvSpPr>
          <p:cNvPr id="3" name="Rounded Rectangle 2"/>
          <p:cNvSpPr/>
          <p:nvPr/>
        </p:nvSpPr>
        <p:spPr>
          <a:xfrm>
            <a:off x="731520" y="1554480"/>
            <a:ext cx="10698480" cy="4937760"/>
          </a:xfrm>
          <a:prstGeom prst="roundRect">
            <a:avLst/>
          </a:prstGeom>
          <a:solidFill>
            <a:srgbClr val="E8EAED"/>
          </a:solidFill>
          <a:ln w="2540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457200" rIns="457200" tIns="365760"/>
          <a:lstStyle/>
          <a:p>
            <a:pPr algn="l">
              <a:defRPr sz="2000">
                <a:solidFill>
                  <a:srgbClr val="1F2A4E"/>
                </a:solidFill>
              </a:defRPr>
            </a:pPr>
            <a:r>
              <a:t>Treinar uma rede neural para reconhecer o tom de pele de uma foto, e usar essa informação como contexto extra ao treinar uma rede de classificação racial, melhora as métricas de fairness (a paridade entre raças). Essa melhoria também se transfere para tarefas downstream de reconhecimento facial, beneficiando especialmente grupos sub-representados (Black/African).</a:t>
            </a:r>
            <a:br/>
            <a:br/>
            <a:r>
              <a:t>Em outras palavras: o tom de pele é informação que o classificador de raça precisa ter explicitamente — não pode descobrir sozinho.</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3000" b="1">
                <a:solidFill>
                  <a:srgbClr val="1F2A4E"/>
                </a:solidFill>
              </a:defRPr>
            </a:pPr>
            <a:r>
              <a:t>O que é a escala MST (Monk Skin Tone)?</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463040"/>
            <a:ext cx="11064240" cy="155448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500" b="1">
                <a:solidFill>
                  <a:srgbClr val="1F2A4E"/>
                </a:solidFill>
              </a:defRPr>
            </a:pPr>
            <a:r>
              <a:t>Em palavras simples</a:t>
            </a:r>
          </a:p>
          <a:p>
            <a:pPr>
              <a:defRPr sz="1800">
                <a:solidFill>
                  <a:srgbClr val="3D424E"/>
                </a:solidFill>
              </a:defRPr>
            </a:pPr>
            <a:r>
              <a:t>Uma escala de 10 tons de pele (do tom 1 mais claro ao tom 10 mais escuro), criada em 2023 pelo sociólogo Dr. Ellis Monk (Harvard) em parceria com o Google. Foi desenhada especificamente para auditar fairness em sistemas de IA — não é a escala antiga de dermatologia (Fitzpatrick), que tem viés para pele clara.</a:t>
            </a:r>
          </a:p>
        </p:txBody>
      </p:sp>
      <p:sp>
        <p:nvSpPr>
          <p:cNvPr id="5" name="Rounded Rectangle 4"/>
          <p:cNvSpPr/>
          <p:nvPr/>
        </p:nvSpPr>
        <p:spPr>
          <a:xfrm>
            <a:off x="548640" y="3200400"/>
            <a:ext cx="11064240" cy="1554480"/>
          </a:xfrm>
          <a:prstGeom prst="roundRect">
            <a:avLst/>
          </a:prstGeom>
          <a:solidFill>
            <a:srgbClr val="FFFFFF"/>
          </a:solidFill>
          <a:ln w="1270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500" b="1">
                <a:solidFill>
                  <a:srgbClr val="1F2A4E"/>
                </a:solidFill>
              </a:defRPr>
            </a:pPr>
            <a:r>
              <a:t>Por que importa para a tese</a:t>
            </a:r>
          </a:p>
          <a:p>
            <a:pPr>
              <a:defRPr sz="1800">
                <a:solidFill>
                  <a:srgbClr val="3D424E"/>
                </a:solidFill>
              </a:defRPr>
            </a:pPr>
            <a:r>
              <a:t>Nossa tese precisa medir tom de pele de forma confiável e granular. MST é o padrão moderno aceito pela comunidade de fairness research (publicado em NeurIPS 2023). Substituir a Fitzpatrick pela MST evita 3 problemas conhecidos da escala antiga.</a:t>
            </a:r>
          </a:p>
        </p:txBody>
      </p:sp>
      <p:sp>
        <p:nvSpPr>
          <p:cNvPr id="6" name="Rounded Rectangle 5"/>
          <p:cNvSpPr/>
          <p:nvPr/>
        </p:nvSpPr>
        <p:spPr>
          <a:xfrm>
            <a:off x="548640" y="4937760"/>
            <a:ext cx="11064240" cy="1463040"/>
          </a:xfrm>
          <a:prstGeom prst="roundRect">
            <a:avLst/>
          </a:prstGeom>
          <a:solidFill>
            <a:srgbClr val="FFFFFF"/>
          </a:solidFill>
          <a:ln w="1270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500" b="1">
                <a:solidFill>
                  <a:srgbClr val="2E7D32"/>
                </a:solidFill>
              </a:defRPr>
            </a:pPr>
            <a:r>
              <a:t>Exemplo concreto</a:t>
            </a:r>
          </a:p>
          <a:p>
            <a:pPr>
              <a:defRPr sz="1700">
                <a:solidFill>
                  <a:srgbClr val="3D424E"/>
                </a:solidFill>
              </a:defRPr>
            </a:pPr>
            <a:r>
              <a:t>A Fitzpatrick (1975) tem só 6 tons, sendo 3 deles para variações de 'pele considerada branca'. Um terço dos próprios dermatologistas confunde Fitzpatrick com classificação racial — erro categorial endêmico.</a:t>
            </a:r>
          </a:p>
        </p:txBody>
      </p:sp>
      <p:sp>
        <p:nvSpPr>
          <p:cNvPr id="7" name="TextBox 6"/>
          <p:cNvSpPr txBox="1"/>
          <p:nvPr/>
        </p:nvSpPr>
        <p:spPr>
          <a:xfrm>
            <a:off x="457200" y="6446520"/>
            <a:ext cx="11430000" cy="365760"/>
          </a:xfrm>
          <a:prstGeom prst="rect">
            <a:avLst/>
          </a:prstGeom>
          <a:noFill/>
        </p:spPr>
        <p:txBody>
          <a:bodyPr wrap="none">
            <a:spAutoFit/>
          </a:bodyPr>
          <a:lstStyle/>
          <a:p>
            <a:pPr>
              <a:defRPr sz="1400" i="1">
                <a:solidFill>
                  <a:srgbClr val="707682"/>
                </a:solidFill>
              </a:defRPr>
            </a:pPr>
            <a:r>
              <a:t>Classificador MST pré-treinado validado pela Rodada 6 (SkinToneNet, Pereira 2026)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430000" cy="640080"/>
          </a:xfrm>
          <a:prstGeom prst="rect">
            <a:avLst/>
          </a:prstGeom>
          <a:noFill/>
        </p:spPr>
        <p:txBody>
          <a:bodyPr wrap="none">
            <a:spAutoFit/>
          </a:bodyPr>
          <a:lstStyle/>
          <a:p>
            <a:pPr>
              <a:defRPr sz="2600" b="1">
                <a:solidFill>
                  <a:srgbClr val="1F2A4E"/>
                </a:solidFill>
              </a:defRPr>
            </a:pPr>
            <a:r>
              <a:t>O que é FiLM (Feature-wise Linear Modulation)?</a:t>
            </a:r>
          </a:p>
        </p:txBody>
      </p:sp>
      <p:sp>
        <p:nvSpPr>
          <p:cNvPr id="3" name="Rectangle 2"/>
          <p:cNvSpPr/>
          <p:nvPr/>
        </p:nvSpPr>
        <p:spPr>
          <a:xfrm>
            <a:off x="457200" y="914400"/>
            <a:ext cx="11430000" cy="36576"/>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05840"/>
            <a:ext cx="11430000" cy="411480"/>
          </a:xfrm>
          <a:prstGeom prst="rect">
            <a:avLst/>
          </a:prstGeom>
          <a:noFill/>
        </p:spPr>
        <p:txBody>
          <a:bodyPr wrap="none">
            <a:spAutoFit/>
          </a:bodyPr>
          <a:lstStyle/>
          <a:p>
            <a:pPr>
              <a:defRPr sz="1400" i="1">
                <a:solidFill>
                  <a:srgbClr val="3D424E"/>
                </a:solidFill>
              </a:defRPr>
            </a:pPr>
            <a:r>
              <a:t>Mecanismo de condicionamento neural que permite a uma rede 'consultar' um sinal de contexto antes de decidir.</a:t>
            </a:r>
          </a:p>
        </p:txBody>
      </p:sp>
      <p:sp>
        <p:nvSpPr>
          <p:cNvPr id="5" name="Rounded Rectangle 4"/>
          <p:cNvSpPr/>
          <p:nvPr/>
        </p:nvSpPr>
        <p:spPr>
          <a:xfrm>
            <a:off x="457200" y="1554480"/>
            <a:ext cx="3383280" cy="1097280"/>
          </a:xfrm>
          <a:prstGeom prst="roundRect">
            <a:avLst/>
          </a:prstGeom>
          <a:solidFill>
            <a:srgbClr val="E8EAED"/>
          </a:solidFill>
          <a:ln w="1905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defRPr sz="1300" b="1">
                <a:solidFill>
                  <a:srgbClr val="1F2A4E"/>
                </a:solidFill>
              </a:defRPr>
            </a:pPr>
            <a:r>
              <a:t>1.  Reconhecer tom de pele</a:t>
            </a:r>
          </a:p>
          <a:p>
            <a:pPr>
              <a:defRPr sz="1100">
                <a:solidFill>
                  <a:srgbClr val="3D424E"/>
                </a:solidFill>
              </a:defRPr>
            </a:pPr>
            <a:r>
              <a:t>SkinToneNet recebe a foto e devolve um vetor de contexto representando o tom (MST 1 a 10).</a:t>
            </a:r>
          </a:p>
        </p:txBody>
      </p:sp>
      <p:sp>
        <p:nvSpPr>
          <p:cNvPr id="6" name="Right Arrow 5"/>
          <p:cNvSpPr/>
          <p:nvPr/>
        </p:nvSpPr>
        <p:spPr>
          <a:xfrm>
            <a:off x="3858768" y="1938527"/>
            <a:ext cx="329184" cy="329184"/>
          </a:xfrm>
          <a:prstGeom prst="rightArrow">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206240" y="1554480"/>
            <a:ext cx="3383280" cy="1097280"/>
          </a:xfrm>
          <a:prstGeom prst="round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defRPr sz="1300" b="1">
                <a:solidFill>
                  <a:srgbClr val="FFFFFF"/>
                </a:solidFill>
              </a:defRPr>
            </a:pPr>
            <a:r>
              <a:t>2.  Camada FiLM</a:t>
            </a:r>
          </a:p>
          <a:p>
            <a:pPr>
              <a:defRPr sz="1100">
                <a:solidFill>
                  <a:srgbClr val="E8EAED"/>
                </a:solidFill>
              </a:defRPr>
            </a:pPr>
            <a:r>
              <a:t>Usa o vetor de contexto para modular as features intermediárias da rede de raça (escala e deslocamento por canal).</a:t>
            </a:r>
          </a:p>
        </p:txBody>
      </p:sp>
      <p:sp>
        <p:nvSpPr>
          <p:cNvPr id="8" name="Right Arrow 7"/>
          <p:cNvSpPr/>
          <p:nvPr/>
        </p:nvSpPr>
        <p:spPr>
          <a:xfrm>
            <a:off x="7607808" y="1938527"/>
            <a:ext cx="329184" cy="329184"/>
          </a:xfrm>
          <a:prstGeom prst="rightArrow">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955280" y="1554480"/>
            <a:ext cx="3383280" cy="1097280"/>
          </a:xfrm>
          <a:prstGeom prst="roundRect">
            <a:avLst/>
          </a:prstGeom>
          <a:solidFill>
            <a:srgbClr val="E8EAED"/>
          </a:solidFill>
          <a:ln w="1905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defRPr sz="1300" b="1">
                <a:solidFill>
                  <a:srgbClr val="1F2A4E"/>
                </a:solidFill>
              </a:defRPr>
            </a:pPr>
            <a:r>
              <a:t>3.  Decidir a raça</a:t>
            </a:r>
          </a:p>
          <a:p>
            <a:pPr>
              <a:defRPr sz="1100">
                <a:solidFill>
                  <a:srgbClr val="3D424E"/>
                </a:solidFill>
              </a:defRPr>
            </a:pPr>
            <a:r>
              <a:t>ConvNeXt-T decide entre as 7 raças do FairFace já com o tom como contexto.</a:t>
            </a:r>
          </a:p>
        </p:txBody>
      </p:sp>
      <p:sp>
        <p:nvSpPr>
          <p:cNvPr id="10" name="Rounded Rectangle 9"/>
          <p:cNvSpPr/>
          <p:nvPr/>
        </p:nvSpPr>
        <p:spPr>
          <a:xfrm>
            <a:off x="457200" y="2788920"/>
            <a:ext cx="11430000" cy="237744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09728"/>
          <a:lstStyle/>
          <a:p>
            <a:pPr algn="ctr">
              <a:defRPr sz="1300" b="1">
                <a:solidFill>
                  <a:srgbClr val="1F2A4E"/>
                </a:solidFill>
              </a:defRPr>
            </a:pPr>
            <a:r>
              <a:t>Detalhamento científico</a:t>
            </a:r>
          </a:p>
          <a:p>
            <a:pPr>
              <a:spcAft>
                <a:spcPts val="200"/>
              </a:spcAft>
              <a:defRPr sz="1200">
                <a:solidFill>
                  <a:srgbClr val="3D424E"/>
                </a:solidFill>
              </a:defRPr>
            </a:pPr>
            <a:r>
              <a:t>•  Origem (Perez et al. 2018, AAAI): proposto originalmente para Visual Question Answering, generaliza Conditional Batch Normalization (de Vries et al. 2017, NeurIPS). Família mais ampla: conditional normalization.</a:t>
            </a:r>
          </a:p>
          <a:p>
            <a:pPr>
              <a:spcAft>
                <a:spcPts val="200"/>
              </a:spcAft>
              <a:defRPr sz="1200">
                <a:solidFill>
                  <a:srgbClr val="3D424E"/>
                </a:solidFill>
              </a:defRPr>
            </a:pPr>
            <a:r>
              <a:t>•  Mecanismo central: para cada canal de uma feature map, FiLM aplica um par (escala, deslocamento) aprendido a partir do contexto. É linear nas features e não linear no contexto.</a:t>
            </a:r>
          </a:p>
          <a:p>
            <a:pPr>
              <a:spcAft>
                <a:spcPts val="200"/>
              </a:spcAft>
              <a:defRPr sz="1200">
                <a:solidFill>
                  <a:srgbClr val="3D424E"/>
                </a:solidFill>
              </a:defRPr>
            </a:pPr>
            <a:r>
              <a:t>•  Onde inserir no nosso pipeline: após cada bloco residual do ConvNeXt-T (4 blocos hierárquicos). Apenas as MLPs de modulação são novas; o backbone segue treinável end-to-end.</a:t>
            </a:r>
          </a:p>
          <a:p>
            <a:pPr>
              <a:spcAft>
                <a:spcPts val="200"/>
              </a:spcAft>
              <a:defRPr sz="1200">
                <a:solidFill>
                  <a:srgbClr val="3D424E"/>
                </a:solidFill>
              </a:defRPr>
            </a:pPr>
            <a:r>
              <a:t>•  Por que FiLM e não alternativas: concatenar o vetor MST nas features perde escala posicional; cross-attention seria mais caro e menos estável para vetor de 10 dimensões; conditional BN é menos expressivo (afeta apenas batchnorm).</a:t>
            </a:r>
          </a:p>
          <a:p>
            <a:pPr>
              <a:spcAft>
                <a:spcPts val="200"/>
              </a:spcAft>
              <a:defRPr sz="1200">
                <a:solidFill>
                  <a:srgbClr val="3D424E"/>
                </a:solidFill>
              </a:defRPr>
            </a:pPr>
            <a:r>
              <a:t>•  Evidências de uso: ~1.000+ papers citantes em CV, NLP e RL desde 2018 (Google Scholar). Estabelecido como técnica padrão de conditioning em redes neurais profundas.</a:t>
            </a:r>
          </a:p>
        </p:txBody>
      </p:sp>
      <p:sp>
        <p:nvSpPr>
          <p:cNvPr id="11" name="Rounded Rectangle 10"/>
          <p:cNvSpPr/>
          <p:nvPr/>
        </p:nvSpPr>
        <p:spPr>
          <a:xfrm>
            <a:off x="457200" y="5257800"/>
            <a:ext cx="11430000" cy="1280160"/>
          </a:xfrm>
          <a:prstGeom prst="roundRect">
            <a:avLst/>
          </a:prstGeom>
          <a:solidFill>
            <a:srgbClr val="FFFFFF"/>
          </a:solidFill>
          <a:ln w="1905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09728"/>
          <a:lstStyle/>
          <a:p>
            <a:pPr algn="ctr">
              <a:defRPr sz="1300" b="1">
                <a:solidFill>
                  <a:srgbClr val="2E7D32"/>
                </a:solidFill>
              </a:defRPr>
            </a:pPr>
            <a:r>
              <a:t>Por que importa para a tese</a:t>
            </a:r>
          </a:p>
          <a:p>
            <a:pPr>
              <a:defRPr sz="1200">
                <a:solidFill>
                  <a:srgbClr val="3D424E"/>
                </a:solidFill>
              </a:defRPr>
            </a:pPr>
            <a:r>
              <a:t>FiLM transforma a ideia 'usar tom de pele como contexto' em mecanismo formal, reproduzível e auditável. O ganho marginal sobre baseline puro é a evidência direta de H1. Custo de parâmetros adicional é mínimo (apenas duas MLPs pequenas por bloco).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430000" cy="640080"/>
          </a:xfrm>
          <a:prstGeom prst="rect">
            <a:avLst/>
          </a:prstGeom>
          <a:noFill/>
        </p:spPr>
        <p:txBody>
          <a:bodyPr wrap="none">
            <a:spAutoFit/>
          </a:bodyPr>
          <a:lstStyle/>
          <a:p>
            <a:pPr>
              <a:defRPr sz="2600" b="1">
                <a:solidFill>
                  <a:srgbClr val="1F2A4E"/>
                </a:solidFill>
              </a:defRPr>
            </a:pPr>
            <a:r>
              <a:t>O que é fair transferência (LAFTR)?</a:t>
            </a:r>
          </a:p>
        </p:txBody>
      </p:sp>
      <p:sp>
        <p:nvSpPr>
          <p:cNvPr id="3" name="Rectangle 2"/>
          <p:cNvSpPr/>
          <p:nvPr/>
        </p:nvSpPr>
        <p:spPr>
          <a:xfrm>
            <a:off x="457200" y="914400"/>
            <a:ext cx="11430000" cy="36576"/>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05840"/>
            <a:ext cx="11430000" cy="411480"/>
          </a:xfrm>
          <a:prstGeom prst="rect">
            <a:avLst/>
          </a:prstGeom>
          <a:noFill/>
        </p:spPr>
        <p:txBody>
          <a:bodyPr wrap="none">
            <a:spAutoFit/>
          </a:bodyPr>
          <a:lstStyle/>
          <a:p>
            <a:pPr>
              <a:defRPr sz="1400" i="1">
                <a:solidFill>
                  <a:srgbClr val="3D424E"/>
                </a:solidFill>
              </a:defRPr>
            </a:pPr>
            <a:r>
              <a:t>Framework de adversarial fair representation learning que demonstra fairness como propriedade transferível entre tarefas.</a:t>
            </a:r>
          </a:p>
        </p:txBody>
      </p:sp>
      <p:sp>
        <p:nvSpPr>
          <p:cNvPr id="5" name="Rounded Rectangle 4"/>
          <p:cNvSpPr/>
          <p:nvPr/>
        </p:nvSpPr>
        <p:spPr>
          <a:xfrm>
            <a:off x="457200" y="1554480"/>
            <a:ext cx="3657600" cy="1097280"/>
          </a:xfrm>
          <a:prstGeom prst="roundRect">
            <a:avLst/>
          </a:prstGeom>
          <a:solidFill>
            <a:srgbClr val="E8EAED"/>
          </a:solidFill>
          <a:ln w="1905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defRPr sz="1300" b="1">
                <a:solidFill>
                  <a:srgbClr val="1F2A4E"/>
                </a:solidFill>
              </a:defRPr>
            </a:pPr>
            <a:r>
              <a:t>Cap 2 — Race classification</a:t>
            </a:r>
          </a:p>
          <a:p>
            <a:pPr>
              <a:defRPr sz="1100">
                <a:solidFill>
                  <a:srgbClr val="3D424E"/>
                </a:solidFill>
              </a:defRPr>
            </a:pPr>
            <a:r>
              <a:t>Treino do backbone com objetivo fair sobre raça. A representação aprendida (Z) é, por construção, equilibrada entre grupos.</a:t>
            </a:r>
          </a:p>
        </p:txBody>
      </p:sp>
      <p:sp>
        <p:nvSpPr>
          <p:cNvPr id="6" name="Right Arrow 5"/>
          <p:cNvSpPr/>
          <p:nvPr/>
        </p:nvSpPr>
        <p:spPr>
          <a:xfrm>
            <a:off x="4206240" y="1938527"/>
            <a:ext cx="640080" cy="329184"/>
          </a:xfrm>
          <a:prstGeom prst="rightArrow">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937760" y="1554480"/>
            <a:ext cx="2286000" cy="1097280"/>
          </a:xfrm>
          <a:prstGeom prst="round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182880"/>
          <a:lstStyle/>
          <a:p>
            <a:pPr algn="ctr">
              <a:defRPr sz="1300" b="1">
                <a:solidFill>
                  <a:srgbClr val="FFFFFF"/>
                </a:solidFill>
              </a:defRPr>
            </a:pPr>
            <a:r>
              <a:t>Representação Z fair</a:t>
            </a:r>
          </a:p>
          <a:p>
            <a:pPr algn="ctr">
              <a:defRPr sz="1100">
                <a:solidFill>
                  <a:srgbClr val="E8EAED"/>
                </a:solidFill>
              </a:defRPr>
            </a:pPr>
            <a:r>
              <a:t>A propriedade fair é embutida AQUI.</a:t>
            </a:r>
          </a:p>
        </p:txBody>
      </p:sp>
      <p:sp>
        <p:nvSpPr>
          <p:cNvPr id="8" name="Right Arrow 7"/>
          <p:cNvSpPr/>
          <p:nvPr/>
        </p:nvSpPr>
        <p:spPr>
          <a:xfrm>
            <a:off x="7315200" y="1938527"/>
            <a:ext cx="640080" cy="329184"/>
          </a:xfrm>
          <a:prstGeom prst="rightArrow">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046720" y="1554480"/>
            <a:ext cx="3840480" cy="1097280"/>
          </a:xfrm>
          <a:prstGeom prst="roundRect">
            <a:avLst/>
          </a:prstGeom>
          <a:solidFill>
            <a:srgbClr val="E8EAED"/>
          </a:solidFill>
          <a:ln w="1905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defRPr sz="1300" b="1">
                <a:solidFill>
                  <a:srgbClr val="1F2A4E"/>
                </a:solidFill>
              </a:defRPr>
            </a:pPr>
            <a:r>
              <a:t>Cap 3 — Face recognition</a:t>
            </a:r>
          </a:p>
          <a:p>
            <a:pPr>
              <a:defRPr sz="1100">
                <a:solidFill>
                  <a:srgbClr val="3D424E"/>
                </a:solidFill>
              </a:defRPr>
            </a:pPr>
            <a:r>
              <a:t>Reuso do backbone como ponto de partida. A nova tarefa herda a propriedade fair sem re-treinar do zero.</a:t>
            </a:r>
          </a:p>
        </p:txBody>
      </p:sp>
      <p:sp>
        <p:nvSpPr>
          <p:cNvPr id="10" name="Rounded Rectangle 9"/>
          <p:cNvSpPr/>
          <p:nvPr/>
        </p:nvSpPr>
        <p:spPr>
          <a:xfrm>
            <a:off x="457200" y="2788920"/>
            <a:ext cx="11430000" cy="237744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09728"/>
          <a:lstStyle/>
          <a:p>
            <a:pPr algn="ctr">
              <a:defRPr sz="1300" b="1">
                <a:solidFill>
                  <a:srgbClr val="1F2A4E"/>
                </a:solidFill>
              </a:defRPr>
            </a:pPr>
            <a:r>
              <a:t>Detalhamento científico</a:t>
            </a:r>
          </a:p>
          <a:p>
            <a:pPr>
              <a:spcAft>
                <a:spcPts val="200"/>
              </a:spcAft>
              <a:defRPr sz="1100">
                <a:solidFill>
                  <a:srgbClr val="3D424E"/>
                </a:solidFill>
              </a:defRPr>
            </a:pPr>
            <a:r>
              <a:t>•  Linhagem teórica: parte da família Fair Representation Learning iniciada por Zemel et al. 2013 (ICML, Test-of-Time Award 2023). LAFTR avança o paradigma com formulação adversarial.</a:t>
            </a:r>
          </a:p>
          <a:p>
            <a:pPr>
              <a:spcAft>
                <a:spcPts val="200"/>
              </a:spcAft>
              <a:defRPr sz="1100">
                <a:solidFill>
                  <a:srgbClr val="3D424E"/>
                </a:solidFill>
              </a:defRPr>
            </a:pPr>
            <a:r>
              <a:t>•  Arquitetura: 3 componentes treinados conjuntamente — encoder (gera a representação Z), classificador da tarefa principal, adversário que tenta recuperar o atributo sensível a partir de Z.</a:t>
            </a:r>
          </a:p>
          <a:p>
            <a:pPr>
              <a:spcAft>
                <a:spcPts val="200"/>
              </a:spcAft>
              <a:defRPr sz="1100">
                <a:solidFill>
                  <a:srgbClr val="3D424E"/>
                </a:solidFill>
              </a:defRPr>
            </a:pPr>
            <a:r>
              <a:t>•  Resultado teórico chave (Teorema 1): se o adversário falha em recuperar o atributo sensível, então qualquer classificador downstream treinado sobre Z herda um limite superior de violação de fairness.</a:t>
            </a:r>
          </a:p>
          <a:p>
            <a:pPr>
              <a:spcAft>
                <a:spcPts val="200"/>
              </a:spcAft>
              <a:defRPr sz="1100">
                <a:solidFill>
                  <a:srgbClr val="3D424E"/>
                </a:solidFill>
              </a:defRPr>
            </a:pPr>
            <a:r>
              <a:t>•  Métricas implementadas: demographic parity, equal opportunity, equalized odds (Hardt et al. 2016). Compatível com a triangulação de métricas que vamos usar no Cap 2.</a:t>
            </a:r>
          </a:p>
          <a:p>
            <a:pPr>
              <a:spcAft>
                <a:spcPts val="200"/>
              </a:spcAft>
              <a:defRPr sz="1100">
                <a:solidFill>
                  <a:srgbClr val="3D424E"/>
                </a:solidFill>
              </a:defRPr>
            </a:pPr>
            <a:r>
              <a:t>•  Validações empíricas: UCI Adult, Heritage Health, CelebA. Aguirre &amp; Dredze 2023 estendeu o princípio para multi-task NLP — evidência de generalização do mecanismo.</a:t>
            </a:r>
          </a:p>
          <a:p>
            <a:pPr>
              <a:spcAft>
                <a:spcPts val="200"/>
              </a:spcAft>
              <a:defRPr sz="1100">
                <a:solidFill>
                  <a:srgbClr val="3D424E"/>
                </a:solidFill>
              </a:defRPr>
            </a:pPr>
            <a:r>
              <a:t>•  Implementação: código aberto em github.com/VectorInstitute/laftr. Reduz custo de adaptação para o nosso pipeline.</a:t>
            </a:r>
          </a:p>
        </p:txBody>
      </p:sp>
      <p:sp>
        <p:nvSpPr>
          <p:cNvPr id="11" name="Rounded Rectangle 10"/>
          <p:cNvSpPr/>
          <p:nvPr/>
        </p:nvSpPr>
        <p:spPr>
          <a:xfrm>
            <a:off x="457200" y="5257800"/>
            <a:ext cx="11430000" cy="1143000"/>
          </a:xfrm>
          <a:prstGeom prst="roundRect">
            <a:avLst/>
          </a:prstGeom>
          <a:solidFill>
            <a:srgbClr val="FFFFFF"/>
          </a:solidFill>
          <a:ln w="1905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09728"/>
          <a:lstStyle/>
          <a:p>
            <a:pPr algn="ctr">
              <a:defRPr sz="1300" b="1">
                <a:solidFill>
                  <a:srgbClr val="2E7D32"/>
                </a:solidFill>
              </a:defRPr>
            </a:pPr>
            <a:r>
              <a:t>Por que importa para a tese</a:t>
            </a:r>
          </a:p>
          <a:p>
            <a:pPr>
              <a:defRPr sz="1200">
                <a:solidFill>
                  <a:srgbClr val="3D424E"/>
                </a:solidFill>
              </a:defRPr>
            </a:pPr>
            <a:r>
              <a:t>O Teorema 1 do LAFTR é a garantia teórica que sustenta a EXTENSÃO da nossa tese para Cap 3 (face recognition). Sem ele, teríamos que defender a transferência empiricamente sem ancoragem formal. Com ele, a extensão deixa de ser especulativa.</a:t>
            </a:r>
          </a:p>
        </p:txBody>
      </p:sp>
      <p:sp>
        <p:nvSpPr>
          <p:cNvPr id="12" name="TextBox 11"/>
          <p:cNvSpPr txBox="1"/>
          <p:nvPr/>
        </p:nvSpPr>
        <p:spPr>
          <a:xfrm>
            <a:off x="457200" y="6446520"/>
            <a:ext cx="11430000" cy="365760"/>
          </a:xfrm>
          <a:prstGeom prst="rect">
            <a:avLst/>
          </a:prstGeom>
          <a:noFill/>
        </p:spPr>
        <p:txBody>
          <a:bodyPr wrap="none">
            <a:spAutoFit/>
          </a:bodyPr>
          <a:lstStyle/>
          <a:p>
            <a:pPr>
              <a:defRPr sz="1200" i="1">
                <a:solidFill>
                  <a:srgbClr val="707682"/>
                </a:solidFill>
              </a:defRPr>
            </a:pPr>
            <a:r>
              <a:t>H5 em revisão após Pangelinan 2023 (Rodada 6): pixel info pode ser confounder adicional em FR — discussão na pauta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O pipeline em 6 etapas</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Etapa 1 — Treinar um classificador de tom de pele (MST)</a:t>
            </a:r>
          </a:p>
          <a:p>
            <a:pPr lvl="1">
              <a:spcAft>
                <a:spcPts val="800"/>
              </a:spcAft>
              <a:defRPr sz="1700">
                <a:solidFill>
                  <a:srgbClr val="707682"/>
                </a:solidFill>
              </a:defRPr>
            </a:pPr>
            <a:r>
              <a:t>Dados: MST-E (Schumann 2023) + Casual Conversations (Meta 2021)</a:t>
            </a:r>
          </a:p>
          <a:p>
            <a:pPr>
              <a:spcAft>
                <a:spcPts val="800"/>
              </a:spcAft>
              <a:defRPr sz="2000" b="0">
                <a:solidFill>
                  <a:srgbClr val="3D424E"/>
                </a:solidFill>
              </a:defRPr>
            </a:pPr>
            <a:r>
              <a:t>Etapa 2 — Auditar o FairFace: como tom de pele se distribui entre as 7 raças?</a:t>
            </a:r>
          </a:p>
          <a:p>
            <a:pPr lvl="1">
              <a:spcAft>
                <a:spcPts val="800"/>
              </a:spcAft>
              <a:defRPr sz="1700">
                <a:solidFill>
                  <a:srgbClr val="707682"/>
                </a:solidFill>
              </a:defRPr>
            </a:pPr>
            <a:r>
              <a:t>Aplicar o classificador MST sobre 10.954 imagens; validar manualmente um subset</a:t>
            </a:r>
          </a:p>
          <a:p>
            <a:pPr>
              <a:spcAft>
                <a:spcPts val="800"/>
              </a:spcAft>
              <a:defRPr sz="2000" b="0">
                <a:solidFill>
                  <a:srgbClr val="3D424E"/>
                </a:solidFill>
              </a:defRPr>
            </a:pPr>
            <a:r>
              <a:t>Etapa 3 — Treinar o classificador de raça USANDO tom de pele como contexto (via FiLM)</a:t>
            </a:r>
          </a:p>
          <a:p>
            <a:pPr lvl="1">
              <a:spcAft>
                <a:spcPts val="800"/>
              </a:spcAft>
              <a:defRPr sz="1700">
                <a:solidFill>
                  <a:srgbClr val="707682"/>
                </a:solidFill>
              </a:defRPr>
            </a:pPr>
            <a:r>
              <a:t>Backbone: ConvNeXt-T (rede moderna, 28 milhões de parâmetros — leve)</a:t>
            </a:r>
          </a:p>
          <a:p>
            <a:pPr>
              <a:spcAft>
                <a:spcPts val="800"/>
              </a:spcAft>
              <a:defRPr sz="2000" b="0">
                <a:solidFill>
                  <a:srgbClr val="3D424E"/>
                </a:solidFill>
              </a:defRPr>
            </a:pPr>
            <a:r>
              <a:t>Etapa 4 — Comparar fairness: COM tom de pele vs SEM</a:t>
            </a:r>
          </a:p>
          <a:p>
            <a:pPr lvl="1">
              <a:spcAft>
                <a:spcPts val="800"/>
              </a:spcAft>
              <a:defRPr sz="1700">
                <a:solidFill>
                  <a:srgbClr val="707682"/>
                </a:solidFill>
              </a:defRPr>
            </a:pPr>
            <a:r>
              <a:t>Baselines: ConvNeXt-T puro, FSCL+, Group DRO, Adversarial debiasing</a:t>
            </a:r>
          </a:p>
          <a:p>
            <a:pPr>
              <a:spcAft>
                <a:spcPts val="800"/>
              </a:spcAft>
              <a:defRPr sz="2000" b="0">
                <a:solidFill>
                  <a:srgbClr val="3D424E"/>
                </a:solidFill>
              </a:defRPr>
            </a:pPr>
            <a:r>
              <a:t>Etapa 5 — Aplicar pipeline idêntico em reconhecimento facial (RFW ou BFW)</a:t>
            </a:r>
          </a:p>
          <a:p>
            <a:pPr lvl="1">
              <a:spcAft>
                <a:spcPts val="800"/>
              </a:spcAft>
              <a:defRPr sz="1700">
                <a:solidFill>
                  <a:srgbClr val="707682"/>
                </a:solidFill>
              </a:defRPr>
            </a:pPr>
            <a:r>
              <a:t>Verificar transferência da propriedade fair</a:t>
            </a:r>
          </a:p>
          <a:p>
            <a:pPr>
              <a:spcAft>
                <a:spcPts val="800"/>
              </a:spcAft>
              <a:defRPr sz="2000" b="0">
                <a:solidFill>
                  <a:srgbClr val="3D424E"/>
                </a:solidFill>
              </a:defRPr>
            </a:pPr>
            <a:r>
              <a:t>Etapa 6 — Medir se Black/African melhora especificamente</a:t>
            </a:r>
          </a:p>
          <a:p>
            <a:pPr lvl="1">
              <a:spcAft>
                <a:spcPts val="800"/>
              </a:spcAft>
              <a:defRPr sz="1700">
                <a:solidFill>
                  <a:srgbClr val="707682"/>
                </a:solidFill>
              </a:defRPr>
            </a:pPr>
            <a:r>
              <a:t>Métrica: TAR @ FAR fixo por raça</a:t>
            </a:r>
          </a:p>
        </p:txBody>
      </p:sp>
      <p:sp>
        <p:nvSpPr>
          <p:cNvPr id="5" name="TextBox 4"/>
          <p:cNvSpPr txBox="1"/>
          <p:nvPr/>
        </p:nvSpPr>
        <p:spPr>
          <a:xfrm>
            <a:off x="457200" y="6400800"/>
            <a:ext cx="11430000" cy="365760"/>
          </a:xfrm>
          <a:prstGeom prst="rect">
            <a:avLst/>
          </a:prstGeom>
          <a:noFill/>
        </p:spPr>
        <p:txBody>
          <a:bodyPr wrap="none">
            <a:spAutoFit/>
          </a:bodyPr>
          <a:lstStyle/>
          <a:p>
            <a:pPr>
              <a:defRPr sz="1500" i="1">
                <a:solidFill>
                  <a:srgbClr val="707682"/>
                </a:solidFill>
              </a:defRPr>
            </a:pPr>
            <a:r>
              <a:t>Etapas 1, 4 e 5 reforçadas pela Rodada 6 (SkinToneNet, Adversarial debiasing, fair transfer empírico)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430000" cy="640080"/>
          </a:xfrm>
          <a:prstGeom prst="rect">
            <a:avLst/>
          </a:prstGeom>
          <a:noFill/>
        </p:spPr>
        <p:txBody>
          <a:bodyPr wrap="none">
            <a:spAutoFit/>
          </a:bodyPr>
          <a:lstStyle/>
          <a:p>
            <a:pPr>
              <a:defRPr sz="2800" b="1">
                <a:solidFill>
                  <a:srgbClr val="1F2A4E"/>
                </a:solidFill>
              </a:defRPr>
            </a:pPr>
            <a:r>
              <a:t>As métricas que vamos reportar</a:t>
            </a:r>
          </a:p>
        </p:txBody>
      </p:sp>
      <p:sp>
        <p:nvSpPr>
          <p:cNvPr id="3" name="Rectangle 2"/>
          <p:cNvSpPr/>
          <p:nvPr/>
        </p:nvSpPr>
        <p:spPr>
          <a:xfrm>
            <a:off x="457200" y="914400"/>
            <a:ext cx="11430000" cy="36576"/>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05840"/>
            <a:ext cx="11430000" cy="365760"/>
          </a:xfrm>
          <a:prstGeom prst="rect">
            <a:avLst/>
          </a:prstGeom>
          <a:noFill/>
        </p:spPr>
        <p:txBody>
          <a:bodyPr wrap="none">
            <a:spAutoFit/>
          </a:bodyPr>
          <a:lstStyle/>
          <a:p>
            <a:pPr>
              <a:defRPr sz="1400" i="1">
                <a:solidFill>
                  <a:srgbClr val="3D424E"/>
                </a:solidFill>
              </a:defRPr>
            </a:pPr>
            <a:r>
              <a:t>Todas públicas, padrão da literatura — reportar as 3 simultaneamente é exigência metodológica, não escolha.</a:t>
            </a:r>
          </a:p>
        </p:txBody>
      </p:sp>
      <p:sp>
        <p:nvSpPr>
          <p:cNvPr id="5" name="Rounded Rectangle 4"/>
          <p:cNvSpPr/>
          <p:nvPr/>
        </p:nvSpPr>
        <p:spPr>
          <a:xfrm>
            <a:off x="379476" y="1463040"/>
            <a:ext cx="3657600" cy="411480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79476" y="1463040"/>
            <a:ext cx="3657600" cy="82296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91440"/>
          <a:lstStyle/>
          <a:p>
            <a:pPr algn="ctr">
              <a:defRPr sz="2000" b="1">
                <a:solidFill>
                  <a:srgbClr val="FFFFFF"/>
                </a:solidFill>
              </a:defRPr>
            </a:pPr>
            <a:r>
              <a:t>F1 macro</a:t>
            </a:r>
          </a:p>
          <a:p>
            <a:pPr algn="ctr">
              <a:defRPr sz="1200" i="1">
                <a:solidFill>
                  <a:srgbClr val="E8EAED"/>
                </a:solidFill>
              </a:defRPr>
            </a:pPr>
            <a:r>
              <a:t>performance média</a:t>
            </a:r>
          </a:p>
        </p:txBody>
      </p:sp>
      <p:sp>
        <p:nvSpPr>
          <p:cNvPr id="7" name="TextBox 6"/>
          <p:cNvSpPr txBox="1"/>
          <p:nvPr/>
        </p:nvSpPr>
        <p:spPr>
          <a:xfrm>
            <a:off x="516636" y="2377440"/>
            <a:ext cx="3383280" cy="1188720"/>
          </a:xfrm>
          <a:prstGeom prst="rect">
            <a:avLst/>
          </a:prstGeom>
          <a:noFill/>
        </p:spPr>
        <p:txBody>
          <a:bodyPr wrap="square">
            <a:spAutoFit/>
          </a:bodyPr>
          <a:lstStyle/>
          <a:p>
            <a:pPr>
              <a:defRPr sz="1300">
                <a:solidFill>
                  <a:srgbClr val="3D424E"/>
                </a:solidFill>
              </a:defRPr>
            </a:pPr>
            <a:r>
              <a:t>Média harmônica de precision/recall por classe, depois média simples entre as 7 raças.</a:t>
            </a:r>
          </a:p>
        </p:txBody>
      </p:sp>
      <p:sp>
        <p:nvSpPr>
          <p:cNvPr id="8" name="TextBox 7"/>
          <p:cNvSpPr txBox="1"/>
          <p:nvPr/>
        </p:nvSpPr>
        <p:spPr>
          <a:xfrm>
            <a:off x="516636" y="3611880"/>
            <a:ext cx="3383280" cy="365760"/>
          </a:xfrm>
          <a:prstGeom prst="rect">
            <a:avLst/>
          </a:prstGeom>
          <a:noFill/>
        </p:spPr>
        <p:txBody>
          <a:bodyPr wrap="square">
            <a:spAutoFit/>
          </a:bodyPr>
          <a:lstStyle/>
          <a:p>
            <a:pPr>
              <a:defRPr sz="1100" i="1">
                <a:solidFill>
                  <a:srgbClr val="707682"/>
                </a:solidFill>
              </a:defRPr>
            </a:pPr>
            <a:r>
              <a:t>Referência: van Rijsbergen 1979</a:t>
            </a:r>
          </a:p>
        </p:txBody>
      </p:sp>
      <p:sp>
        <p:nvSpPr>
          <p:cNvPr id="9" name="Rectangle 8"/>
          <p:cNvSpPr/>
          <p:nvPr/>
        </p:nvSpPr>
        <p:spPr>
          <a:xfrm>
            <a:off x="653796" y="4069080"/>
            <a:ext cx="3108960" cy="27432"/>
          </a:xfrm>
          <a:prstGeom prst="rect">
            <a:avLst/>
          </a:prstGeom>
          <a:solidFill>
            <a:srgbClr val="7076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16636" y="4160520"/>
            <a:ext cx="3383280" cy="320040"/>
          </a:xfrm>
          <a:prstGeom prst="rect">
            <a:avLst/>
          </a:prstGeom>
          <a:noFill/>
        </p:spPr>
        <p:txBody>
          <a:bodyPr wrap="none">
            <a:spAutoFit/>
          </a:bodyPr>
          <a:lstStyle/>
          <a:p>
            <a:pPr algn="ctr">
              <a:defRPr sz="1100" i="1">
                <a:solidFill>
                  <a:srgbClr val="707682"/>
                </a:solidFill>
              </a:defRPr>
            </a:pPr>
            <a:r>
              <a:t>SOTA atual</a:t>
            </a:r>
          </a:p>
        </p:txBody>
      </p:sp>
      <p:sp>
        <p:nvSpPr>
          <p:cNvPr id="11" name="TextBox 10"/>
          <p:cNvSpPr txBox="1"/>
          <p:nvPr/>
        </p:nvSpPr>
        <p:spPr>
          <a:xfrm>
            <a:off x="516636" y="4434840"/>
            <a:ext cx="3383280" cy="640080"/>
          </a:xfrm>
          <a:prstGeom prst="rect">
            <a:avLst/>
          </a:prstGeom>
          <a:noFill/>
        </p:spPr>
        <p:txBody>
          <a:bodyPr wrap="none">
            <a:spAutoFit/>
          </a:bodyPr>
          <a:lstStyle/>
          <a:p>
            <a:pPr algn="ctr">
              <a:defRPr sz="3400" b="1">
                <a:solidFill>
                  <a:srgbClr val="1F2A4E"/>
                </a:solidFill>
              </a:defRPr>
            </a:pPr>
            <a:r>
              <a:t>75%</a:t>
            </a:r>
          </a:p>
        </p:txBody>
      </p:sp>
      <p:sp>
        <p:nvSpPr>
          <p:cNvPr id="12" name="TextBox 11"/>
          <p:cNvSpPr txBox="1"/>
          <p:nvPr/>
        </p:nvSpPr>
        <p:spPr>
          <a:xfrm>
            <a:off x="516636" y="5074920"/>
            <a:ext cx="3383280" cy="320040"/>
          </a:xfrm>
          <a:prstGeom prst="rect">
            <a:avLst/>
          </a:prstGeom>
          <a:noFill/>
        </p:spPr>
        <p:txBody>
          <a:bodyPr wrap="none">
            <a:spAutoFit/>
          </a:bodyPr>
          <a:lstStyle/>
          <a:p>
            <a:pPr algn="ctr">
              <a:defRPr sz="1100">
                <a:solidFill>
                  <a:srgbClr val="3D424E"/>
                </a:solidFill>
              </a:defRPr>
            </a:pPr>
            <a:r>
              <a:t>FaceScanPaliGemma</a:t>
            </a:r>
          </a:p>
        </p:txBody>
      </p:sp>
      <p:sp>
        <p:nvSpPr>
          <p:cNvPr id="13" name="Rounded Rectangle 12"/>
          <p:cNvSpPr/>
          <p:nvPr/>
        </p:nvSpPr>
        <p:spPr>
          <a:xfrm>
            <a:off x="4265676" y="1463040"/>
            <a:ext cx="3657600" cy="411480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65676" y="1463040"/>
            <a:ext cx="3657600" cy="8229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91440"/>
          <a:lstStyle/>
          <a:p>
            <a:pPr algn="ctr">
              <a:defRPr sz="2000" b="1">
                <a:solidFill>
                  <a:srgbClr val="FFFFFF"/>
                </a:solidFill>
              </a:defRPr>
            </a:pPr>
            <a:r>
              <a:t>DR</a:t>
            </a:r>
          </a:p>
          <a:p>
            <a:pPr algn="ctr">
              <a:defRPr sz="1200" i="1">
                <a:solidFill>
                  <a:srgbClr val="E8EAED"/>
                </a:solidFill>
              </a:defRPr>
            </a:pPr>
            <a:r>
              <a:t>Disparity Ratio</a:t>
            </a:r>
          </a:p>
        </p:txBody>
      </p:sp>
      <p:sp>
        <p:nvSpPr>
          <p:cNvPr id="15" name="TextBox 14"/>
          <p:cNvSpPr txBox="1"/>
          <p:nvPr/>
        </p:nvSpPr>
        <p:spPr>
          <a:xfrm>
            <a:off x="4402836" y="2377440"/>
            <a:ext cx="3383280" cy="1188720"/>
          </a:xfrm>
          <a:prstGeom prst="rect">
            <a:avLst/>
          </a:prstGeom>
          <a:noFill/>
        </p:spPr>
        <p:txBody>
          <a:bodyPr wrap="square">
            <a:spAutoFit/>
          </a:bodyPr>
          <a:lstStyle/>
          <a:p>
            <a:pPr>
              <a:defRPr sz="1300">
                <a:solidFill>
                  <a:srgbClr val="3D424E"/>
                </a:solidFill>
              </a:defRPr>
            </a:pPr>
            <a:r>
              <a:t>Razão entre o F1 da pior raça e o F1 da melhor. Mede o gap entre subgrupos.</a:t>
            </a:r>
          </a:p>
        </p:txBody>
      </p:sp>
      <p:sp>
        <p:nvSpPr>
          <p:cNvPr id="16" name="TextBox 15"/>
          <p:cNvSpPr txBox="1"/>
          <p:nvPr/>
        </p:nvSpPr>
        <p:spPr>
          <a:xfrm>
            <a:off x="4402836" y="3611880"/>
            <a:ext cx="3383280" cy="365760"/>
          </a:xfrm>
          <a:prstGeom prst="rect">
            <a:avLst/>
          </a:prstGeom>
          <a:noFill/>
        </p:spPr>
        <p:txBody>
          <a:bodyPr wrap="square">
            <a:spAutoFit/>
          </a:bodyPr>
          <a:lstStyle/>
          <a:p>
            <a:pPr>
              <a:defRPr sz="1100" i="1">
                <a:solidFill>
                  <a:srgbClr val="707682"/>
                </a:solidFill>
              </a:defRPr>
            </a:pPr>
            <a:r>
              <a:t>Referência: Hardt, Price &amp; Srebro 2016 (NeurIPS)</a:t>
            </a:r>
          </a:p>
        </p:txBody>
      </p:sp>
      <p:sp>
        <p:nvSpPr>
          <p:cNvPr id="17" name="Rectangle 16"/>
          <p:cNvSpPr/>
          <p:nvPr/>
        </p:nvSpPr>
        <p:spPr>
          <a:xfrm>
            <a:off x="4539996" y="4069080"/>
            <a:ext cx="3108960" cy="27432"/>
          </a:xfrm>
          <a:prstGeom prst="rect">
            <a:avLst/>
          </a:prstGeom>
          <a:solidFill>
            <a:srgbClr val="7076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02836" y="4160520"/>
            <a:ext cx="3383280" cy="320040"/>
          </a:xfrm>
          <a:prstGeom prst="rect">
            <a:avLst/>
          </a:prstGeom>
          <a:noFill/>
        </p:spPr>
        <p:txBody>
          <a:bodyPr wrap="none">
            <a:spAutoFit/>
          </a:bodyPr>
          <a:lstStyle/>
          <a:p>
            <a:pPr algn="ctr">
              <a:defRPr sz="1100" i="1">
                <a:solidFill>
                  <a:srgbClr val="707682"/>
                </a:solidFill>
              </a:defRPr>
            </a:pPr>
            <a:r>
              <a:t>Estado atual</a:t>
            </a:r>
          </a:p>
        </p:txBody>
      </p:sp>
      <p:sp>
        <p:nvSpPr>
          <p:cNvPr id="19" name="TextBox 18"/>
          <p:cNvSpPr txBox="1"/>
          <p:nvPr/>
        </p:nvSpPr>
        <p:spPr>
          <a:xfrm>
            <a:off x="4402836" y="4434840"/>
            <a:ext cx="3383280" cy="640080"/>
          </a:xfrm>
          <a:prstGeom prst="rect">
            <a:avLst/>
          </a:prstGeom>
          <a:noFill/>
        </p:spPr>
        <p:txBody>
          <a:bodyPr wrap="none">
            <a:spAutoFit/>
          </a:bodyPr>
          <a:lstStyle/>
          <a:p>
            <a:pPr algn="ctr">
              <a:defRPr sz="3400" b="1">
                <a:solidFill>
                  <a:srgbClr val="C0392B"/>
                </a:solidFill>
              </a:defRPr>
            </a:pPr>
            <a:r>
              <a:t>0.67</a:t>
            </a:r>
          </a:p>
        </p:txBody>
      </p:sp>
      <p:sp>
        <p:nvSpPr>
          <p:cNvPr id="20" name="TextBox 19"/>
          <p:cNvSpPr txBox="1"/>
          <p:nvPr/>
        </p:nvSpPr>
        <p:spPr>
          <a:xfrm>
            <a:off x="4402836" y="5074920"/>
            <a:ext cx="3383280" cy="320040"/>
          </a:xfrm>
          <a:prstGeom prst="rect">
            <a:avLst/>
          </a:prstGeom>
          <a:noFill/>
        </p:spPr>
        <p:txBody>
          <a:bodyPr wrap="none">
            <a:spAutoFit/>
          </a:bodyPr>
          <a:lstStyle/>
          <a:p>
            <a:pPr algn="ctr">
              <a:defRPr sz="1100">
                <a:solidFill>
                  <a:srgbClr val="3D424E"/>
                </a:solidFill>
              </a:defRPr>
            </a:pPr>
            <a:r>
              <a:t>60% Latinx ÷ 90% Black</a:t>
            </a:r>
          </a:p>
        </p:txBody>
      </p:sp>
      <p:sp>
        <p:nvSpPr>
          <p:cNvPr id="21" name="Rounded Rectangle 20"/>
          <p:cNvSpPr/>
          <p:nvPr/>
        </p:nvSpPr>
        <p:spPr>
          <a:xfrm>
            <a:off x="8151875" y="1463040"/>
            <a:ext cx="3657600" cy="411480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151875" y="1463040"/>
            <a:ext cx="3657600" cy="82296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91440"/>
          <a:lstStyle/>
          <a:p>
            <a:pPr algn="ctr">
              <a:defRPr sz="2000" b="1">
                <a:solidFill>
                  <a:srgbClr val="FFFFFF"/>
                </a:solidFill>
              </a:defRPr>
            </a:pPr>
            <a:r>
              <a:t>Worst-class F1</a:t>
            </a:r>
          </a:p>
          <a:p>
            <a:pPr algn="ctr">
              <a:defRPr sz="1200" i="1">
                <a:solidFill>
                  <a:srgbClr val="E8EAED"/>
                </a:solidFill>
              </a:defRPr>
            </a:pPr>
            <a:r>
              <a:t>pior subgrupo</a:t>
            </a:r>
          </a:p>
        </p:txBody>
      </p:sp>
      <p:sp>
        <p:nvSpPr>
          <p:cNvPr id="23" name="TextBox 22"/>
          <p:cNvSpPr txBox="1"/>
          <p:nvPr/>
        </p:nvSpPr>
        <p:spPr>
          <a:xfrm>
            <a:off x="8289036" y="2377440"/>
            <a:ext cx="3383280" cy="1188720"/>
          </a:xfrm>
          <a:prstGeom prst="rect">
            <a:avLst/>
          </a:prstGeom>
          <a:noFill/>
        </p:spPr>
        <p:txBody>
          <a:bodyPr wrap="square">
            <a:spAutoFit/>
          </a:bodyPr>
          <a:lstStyle/>
          <a:p>
            <a:pPr>
              <a:defRPr sz="1300">
                <a:solidFill>
                  <a:srgbClr val="3D424E"/>
                </a:solidFill>
              </a:defRPr>
            </a:pPr>
            <a:r>
              <a:t>F1 da raça em que o modelo erra mais. Garante que ninguém fique para trás.</a:t>
            </a:r>
          </a:p>
        </p:txBody>
      </p:sp>
      <p:sp>
        <p:nvSpPr>
          <p:cNvPr id="24" name="TextBox 23"/>
          <p:cNvSpPr txBox="1"/>
          <p:nvPr/>
        </p:nvSpPr>
        <p:spPr>
          <a:xfrm>
            <a:off x="8289036" y="3611880"/>
            <a:ext cx="3383280" cy="365760"/>
          </a:xfrm>
          <a:prstGeom prst="rect">
            <a:avLst/>
          </a:prstGeom>
          <a:noFill/>
        </p:spPr>
        <p:txBody>
          <a:bodyPr wrap="square">
            <a:spAutoFit/>
          </a:bodyPr>
          <a:lstStyle/>
          <a:p>
            <a:pPr>
              <a:defRPr sz="1100" i="1">
                <a:solidFill>
                  <a:srgbClr val="707682"/>
                </a:solidFill>
              </a:defRPr>
            </a:pPr>
            <a:r>
              <a:t>Referência: Sagawa et al. 2020 (ICLR) — Group DRO</a:t>
            </a:r>
          </a:p>
        </p:txBody>
      </p:sp>
      <p:sp>
        <p:nvSpPr>
          <p:cNvPr id="25" name="Rectangle 24"/>
          <p:cNvSpPr/>
          <p:nvPr/>
        </p:nvSpPr>
        <p:spPr>
          <a:xfrm>
            <a:off x="8426196" y="4069080"/>
            <a:ext cx="3108960" cy="27432"/>
          </a:xfrm>
          <a:prstGeom prst="rect">
            <a:avLst/>
          </a:prstGeom>
          <a:solidFill>
            <a:srgbClr val="7076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89036" y="4160520"/>
            <a:ext cx="3383280" cy="320040"/>
          </a:xfrm>
          <a:prstGeom prst="rect">
            <a:avLst/>
          </a:prstGeom>
          <a:noFill/>
        </p:spPr>
        <p:txBody>
          <a:bodyPr wrap="none">
            <a:spAutoFit/>
          </a:bodyPr>
          <a:lstStyle/>
          <a:p>
            <a:pPr algn="ctr">
              <a:defRPr sz="1100" i="1">
                <a:solidFill>
                  <a:srgbClr val="707682"/>
                </a:solidFill>
              </a:defRPr>
            </a:pPr>
            <a:r>
              <a:t>Estado atual</a:t>
            </a:r>
          </a:p>
        </p:txBody>
      </p:sp>
      <p:sp>
        <p:nvSpPr>
          <p:cNvPr id="27" name="TextBox 26"/>
          <p:cNvSpPr txBox="1"/>
          <p:nvPr/>
        </p:nvSpPr>
        <p:spPr>
          <a:xfrm>
            <a:off x="8289036" y="4434840"/>
            <a:ext cx="3383280" cy="640080"/>
          </a:xfrm>
          <a:prstGeom prst="rect">
            <a:avLst/>
          </a:prstGeom>
          <a:noFill/>
        </p:spPr>
        <p:txBody>
          <a:bodyPr wrap="none">
            <a:spAutoFit/>
          </a:bodyPr>
          <a:lstStyle/>
          <a:p>
            <a:pPr algn="ctr">
              <a:defRPr sz="3400" b="1">
                <a:solidFill>
                  <a:srgbClr val="2E7D32"/>
                </a:solidFill>
              </a:defRPr>
            </a:pPr>
            <a:r>
              <a:t>60%</a:t>
            </a:r>
          </a:p>
        </p:txBody>
      </p:sp>
      <p:sp>
        <p:nvSpPr>
          <p:cNvPr id="28" name="TextBox 27"/>
          <p:cNvSpPr txBox="1"/>
          <p:nvPr/>
        </p:nvSpPr>
        <p:spPr>
          <a:xfrm>
            <a:off x="8289036" y="5074920"/>
            <a:ext cx="3383280" cy="320040"/>
          </a:xfrm>
          <a:prstGeom prst="rect">
            <a:avLst/>
          </a:prstGeom>
          <a:noFill/>
        </p:spPr>
        <p:txBody>
          <a:bodyPr wrap="none">
            <a:spAutoFit/>
          </a:bodyPr>
          <a:lstStyle/>
          <a:p>
            <a:pPr algn="ctr">
              <a:defRPr sz="1100">
                <a:solidFill>
                  <a:srgbClr val="3D424E"/>
                </a:solidFill>
              </a:defRPr>
            </a:pPr>
            <a:r>
              <a:t>Latinx</a:t>
            </a:r>
          </a:p>
        </p:txBody>
      </p:sp>
      <p:sp>
        <p:nvSpPr>
          <p:cNvPr id="29" name="Rounded Rectangle 28"/>
          <p:cNvSpPr/>
          <p:nvPr/>
        </p:nvSpPr>
        <p:spPr>
          <a:xfrm>
            <a:off x="457200" y="5760720"/>
            <a:ext cx="11430000" cy="868680"/>
          </a:xfrm>
          <a:prstGeom prst="round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91440"/>
          <a:lstStyle/>
          <a:p>
            <a:pPr algn="ctr">
              <a:defRPr sz="1300" b="1">
                <a:solidFill>
                  <a:srgbClr val="FFFFFF"/>
                </a:solidFill>
              </a:defRPr>
            </a:pPr>
            <a:r>
              <a:t>Por que 3 métricas e não uma?</a:t>
            </a:r>
          </a:p>
          <a:p>
            <a:pPr>
              <a:defRPr sz="1200">
                <a:solidFill>
                  <a:srgbClr val="E8EAED"/>
                </a:solidFill>
              </a:defRPr>
            </a:pPr>
            <a:r>
              <a:t>Teorema da impossibilidade (Kleinberg, Mullainathan &amp; Raghavan 2017, ITCS): não existe métrica única de fairness que satisfaça simultaneamente calibração, equal FPR e equal FNR — reportar as 3 simultaneamente é a forma honesta de comunicar trade-offs.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3000" b="1">
                <a:solidFill>
                  <a:srgbClr val="1F2A4E"/>
                </a:solidFill>
              </a:defRPr>
            </a:pPr>
            <a:r>
              <a:t>As 5 hipóteses que vamos testar (na forma de perguntas)</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57200" y="1371600"/>
          <a:ext cx="11430000" cy="4937760"/>
        </p:xfrm>
        <a:graphic>
          <a:graphicData uri="http://schemas.openxmlformats.org/drawingml/2006/table">
            <a:tbl>
              <a:tblPr firstRow="1" bandRow="1">
                <a:tableStyleId>{5C22544A-7EE6-4342-B048-85BDC9FD1C3A}</a:tableStyleId>
              </a:tblPr>
              <a:tblGrid>
                <a:gridCol w="3810000"/>
                <a:gridCol w="3810000"/>
                <a:gridCol w="3810000"/>
              </a:tblGrid>
              <a:tr h="822960">
                <a:tc>
                  <a:txBody>
                    <a:bodyPr/>
                    <a:lstStyle/>
                    <a:p>
                      <a:r>
                        <a:rPr b="1" sz="1600">
                          <a:solidFill>
                            <a:srgbClr val="FFFFFF"/>
                          </a:solidFill>
                        </a:rPr>
                        <a:t>#</a:t>
                      </a:r>
                    </a:p>
                  </a:txBody>
                  <a:tcPr>
                    <a:solidFill>
                      <a:srgbClr val="1F2A4E"/>
                    </a:solidFill>
                  </a:tcPr>
                </a:tc>
                <a:tc>
                  <a:txBody>
                    <a:bodyPr/>
                    <a:lstStyle/>
                    <a:p>
                      <a:r>
                        <a:rPr b="1" sz="1600">
                          <a:solidFill>
                            <a:srgbClr val="FFFFFF"/>
                          </a:solidFill>
                        </a:rPr>
                        <a:t>Pergunta</a:t>
                      </a:r>
                    </a:p>
                  </a:txBody>
                  <a:tcPr>
                    <a:solidFill>
                      <a:srgbClr val="1F2A4E"/>
                    </a:solidFill>
                  </a:tcPr>
                </a:tc>
                <a:tc>
                  <a:txBody>
                    <a:bodyPr/>
                    <a:lstStyle/>
                    <a:p>
                      <a:r>
                        <a:rPr b="1" sz="1600">
                          <a:solidFill>
                            <a:srgbClr val="FFFFFF"/>
                          </a:solidFill>
                        </a:rPr>
                        <a:t>Como saberemos se SIM</a:t>
                      </a:r>
                    </a:p>
                  </a:txBody>
                  <a:tcPr>
                    <a:solidFill>
                      <a:srgbClr val="1F2A4E"/>
                    </a:solidFill>
                  </a:tcPr>
                </a:tc>
              </a:tr>
              <a:tr h="822960">
                <a:tc>
                  <a:txBody>
                    <a:bodyPr/>
                    <a:lstStyle/>
                    <a:p>
                      <a:r>
                        <a:rPr sz="1500">
                          <a:solidFill>
                            <a:srgbClr val="3D424E"/>
                          </a:solidFill>
                        </a:rPr>
                        <a:t>H1</a:t>
                      </a:r>
                    </a:p>
                  </a:txBody>
                  <a:tcPr>
                    <a:solidFill>
                      <a:srgbClr val="FFFFFF"/>
                    </a:solidFill>
                  </a:tcPr>
                </a:tc>
                <a:tc>
                  <a:txBody>
                    <a:bodyPr/>
                    <a:lstStyle/>
                    <a:p>
                      <a:r>
                        <a:rPr sz="1500">
                          <a:solidFill>
                            <a:srgbClr val="3D424E"/>
                          </a:solidFill>
                        </a:rPr>
                        <a:t>O pipeline com tom de pele melhora fairness em classificação?</a:t>
                      </a:r>
                    </a:p>
                  </a:txBody>
                  <a:tcPr>
                    <a:solidFill>
                      <a:srgbClr val="FFFFFF"/>
                    </a:solidFill>
                  </a:tcPr>
                </a:tc>
                <a:tc>
                  <a:txBody>
                    <a:bodyPr/>
                    <a:lstStyle/>
                    <a:p>
                      <a:r>
                        <a:rPr sz="1500">
                          <a:solidFill>
                            <a:srgbClr val="3D424E"/>
                          </a:solidFill>
                        </a:rPr>
                        <a:t>F1 sobe ≥+2pp E DR cai ≥20% vs ResNet-34</a:t>
                      </a:r>
                    </a:p>
                  </a:txBody>
                  <a:tcPr>
                    <a:solidFill>
                      <a:srgbClr val="FFFFFF"/>
                    </a:solidFill>
                  </a:tcPr>
                </a:tc>
              </a:tr>
              <a:tr h="822960">
                <a:tc>
                  <a:txBody>
                    <a:bodyPr/>
                    <a:lstStyle/>
                    <a:p>
                      <a:r>
                        <a:rPr sz="1500">
                          <a:solidFill>
                            <a:srgbClr val="3D424E"/>
                          </a:solidFill>
                        </a:rPr>
                        <a:t>H2</a:t>
                      </a:r>
                    </a:p>
                  </a:txBody>
                  <a:tcPr>
                    <a:solidFill>
                      <a:srgbClr val="E8EAED"/>
                    </a:solidFill>
                  </a:tcPr>
                </a:tc>
                <a:tc>
                  <a:txBody>
                    <a:bodyPr/>
                    <a:lstStyle/>
                    <a:p>
                      <a:r>
                        <a:rPr sz="1500">
                          <a:solidFill>
                            <a:srgbClr val="3D424E"/>
                          </a:solidFill>
                        </a:rPr>
                        <a:t>Trocar a rede (ResNet-34 → ConvNeXt-T) por si só ajuda Latinx?</a:t>
                      </a:r>
                    </a:p>
                  </a:txBody>
                  <a:tcPr>
                    <a:solidFill>
                      <a:srgbClr val="E8EAED"/>
                    </a:solidFill>
                  </a:tcPr>
                </a:tc>
                <a:tc>
                  <a:txBody>
                    <a:bodyPr/>
                    <a:lstStyle/>
                    <a:p>
                      <a:r>
                        <a:rPr sz="1500">
                          <a:solidFill>
                            <a:srgbClr val="3D424E"/>
                          </a:solidFill>
                        </a:rPr>
                        <a:t>Latinx permanece em ≈60% (não muda)</a:t>
                      </a:r>
                    </a:p>
                  </a:txBody>
                  <a:tcPr>
                    <a:solidFill>
                      <a:srgbClr val="E8EAED"/>
                    </a:solidFill>
                  </a:tcPr>
                </a:tc>
              </a:tr>
              <a:tr h="822960">
                <a:tc>
                  <a:txBody>
                    <a:bodyPr/>
                    <a:lstStyle/>
                    <a:p>
                      <a:r>
                        <a:rPr sz="1500">
                          <a:solidFill>
                            <a:srgbClr val="3D424E"/>
                          </a:solidFill>
                        </a:rPr>
                        <a:t>H3</a:t>
                      </a:r>
                    </a:p>
                  </a:txBody>
                  <a:tcPr>
                    <a:solidFill>
                      <a:srgbClr val="FFFFFF"/>
                    </a:solidFill>
                  </a:tcPr>
                </a:tc>
                <a:tc>
                  <a:txBody>
                    <a:bodyPr/>
                    <a:lstStyle/>
                    <a:p>
                      <a:r>
                        <a:rPr sz="1500">
                          <a:solidFill>
                            <a:srgbClr val="3D424E"/>
                          </a:solidFill>
                        </a:rPr>
                        <a:t>Latinx tem tom de pele espalhado em várias categorias?</a:t>
                      </a:r>
                    </a:p>
                  </a:txBody>
                  <a:tcPr>
                    <a:solidFill>
                      <a:srgbClr val="FFFFFF"/>
                    </a:solidFill>
                  </a:tcPr>
                </a:tc>
                <a:tc>
                  <a:txBody>
                    <a:bodyPr/>
                    <a:lstStyle/>
                    <a:p>
                      <a:r>
                        <a:rPr sz="1500">
                          <a:solidFill>
                            <a:srgbClr val="3D424E"/>
                          </a:solidFill>
                        </a:rPr>
                        <a:t>Spread cobre ≥5 das 10 categorias MST</a:t>
                      </a:r>
                    </a:p>
                  </a:txBody>
                  <a:tcPr>
                    <a:solidFill>
                      <a:srgbClr val="FFFFFF"/>
                    </a:solidFill>
                  </a:tcPr>
                </a:tc>
              </a:tr>
              <a:tr h="822960">
                <a:tc>
                  <a:txBody>
                    <a:bodyPr/>
                    <a:lstStyle/>
                    <a:p>
                      <a:r>
                        <a:rPr sz="1500">
                          <a:solidFill>
                            <a:srgbClr val="3D424E"/>
                          </a:solidFill>
                        </a:rPr>
                        <a:t>H4</a:t>
                      </a:r>
                    </a:p>
                  </a:txBody>
                  <a:tcPr>
                    <a:solidFill>
                      <a:srgbClr val="E8EAED"/>
                    </a:solidFill>
                  </a:tcPr>
                </a:tc>
                <a:tc>
                  <a:txBody>
                    <a:bodyPr/>
                    <a:lstStyle/>
                    <a:p>
                      <a:r>
                        <a:rPr sz="1500">
                          <a:solidFill>
                            <a:srgbClr val="3D424E"/>
                          </a:solidFill>
                        </a:rPr>
                        <a:t>A maior parte dos erros do Latinx é por sobreposição de tom?</a:t>
                      </a:r>
                    </a:p>
                  </a:txBody>
                  <a:tcPr>
                    <a:solidFill>
                      <a:srgbClr val="E8EAED"/>
                    </a:solidFill>
                  </a:tcPr>
                </a:tc>
                <a:tc>
                  <a:txBody>
                    <a:bodyPr/>
                    <a:lstStyle/>
                    <a:p>
                      <a:r>
                        <a:rPr sz="1500">
                          <a:solidFill>
                            <a:srgbClr val="3D424E"/>
                          </a:solidFill>
                        </a:rPr>
                        <a:t>≥50% dos erros estão em zonas de overlap</a:t>
                      </a:r>
                    </a:p>
                  </a:txBody>
                  <a:tcPr>
                    <a:solidFill>
                      <a:srgbClr val="E8EAED"/>
                    </a:solidFill>
                  </a:tcPr>
                </a:tc>
              </a:tr>
              <a:tr h="822960">
                <a:tc>
                  <a:txBody>
                    <a:bodyPr/>
                    <a:lstStyle/>
                    <a:p>
                      <a:r>
                        <a:rPr sz="1500">
                          <a:solidFill>
                            <a:srgbClr val="3D424E"/>
                          </a:solidFill>
                        </a:rPr>
                        <a:t>H5</a:t>
                      </a:r>
                    </a:p>
                  </a:txBody>
                  <a:tcPr>
                    <a:solidFill>
                      <a:srgbClr val="FFFFFF"/>
                    </a:solidFill>
                  </a:tcPr>
                </a:tc>
                <a:tc>
                  <a:txBody>
                    <a:bodyPr/>
                    <a:lstStyle/>
                    <a:p>
                      <a:r>
                        <a:rPr sz="1500">
                          <a:solidFill>
                            <a:srgbClr val="3D424E"/>
                          </a:solidFill>
                        </a:rPr>
                        <a:t>A melhoria transfere para reconhecimento facial?</a:t>
                      </a:r>
                    </a:p>
                  </a:txBody>
                  <a:tcPr>
                    <a:solidFill>
                      <a:srgbClr val="FFFFFF"/>
                    </a:solidFill>
                  </a:tcPr>
                </a:tc>
                <a:tc>
                  <a:txBody>
                    <a:bodyPr/>
                    <a:lstStyle/>
                    <a:p>
                      <a:r>
                        <a:rPr sz="1500">
                          <a:solidFill>
                            <a:srgbClr val="3D424E"/>
                          </a:solidFill>
                        </a:rPr>
                        <a:t>Black/African melhora ≥+3pp em RFW ou BFW</a:t>
                      </a:r>
                    </a:p>
                  </a:txBody>
                  <a:tcPr>
                    <a:solidFill>
                      <a:srgbClr val="FFFFFF"/>
                    </a:solidFill>
                  </a:tcPr>
                </a:tc>
              </a:tr>
            </a:tbl>
          </a:graphicData>
        </a:graphic>
      </p:graphicFrame>
      <p:sp>
        <p:nvSpPr>
          <p:cNvPr id="5" name="TextBox 4"/>
          <p:cNvSpPr txBox="1"/>
          <p:nvPr/>
        </p:nvSpPr>
        <p:spPr>
          <a:xfrm>
            <a:off x="457200" y="6400800"/>
            <a:ext cx="11430000" cy="365760"/>
          </a:xfrm>
          <a:prstGeom prst="rect">
            <a:avLst/>
          </a:prstGeom>
          <a:noFill/>
        </p:spPr>
        <p:txBody>
          <a:bodyPr wrap="none">
            <a:spAutoFit/>
          </a:bodyPr>
          <a:lstStyle/>
          <a:p>
            <a:pPr>
              <a:defRPr sz="1500" i="1">
                <a:solidFill>
                  <a:srgbClr val="707682"/>
                </a:solidFill>
              </a:defRPr>
            </a:pPr>
            <a:r>
              <a:t>H5 em revisão após Pangelinan 2023 (Rodada 6): pixel info pode ser confounder — discussão na pauta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0"/>
            <a:ext cx="2743200" cy="2743200"/>
          </a:xfrm>
          <a:prstGeom prst="rect">
            <a:avLst/>
          </a:prstGeom>
          <a:noFill/>
        </p:spPr>
        <p:txBody>
          <a:bodyPr wrap="none">
            <a:spAutoFit/>
          </a:bodyPr>
          <a:lstStyle/>
          <a:p>
            <a:pPr>
              <a:defRPr sz="13000" b="1">
                <a:solidFill>
                  <a:srgbClr val="FFFFFF"/>
                </a:solidFill>
              </a:defRPr>
            </a:pPr>
            <a:r>
              <a:t>4</a:t>
            </a:r>
          </a:p>
        </p:txBody>
      </p:sp>
      <p:sp>
        <p:nvSpPr>
          <p:cNvPr id="4" name="TextBox 3"/>
          <p:cNvSpPr txBox="1"/>
          <p:nvPr/>
        </p:nvSpPr>
        <p:spPr>
          <a:xfrm>
            <a:off x="3931920" y="2286000"/>
            <a:ext cx="7772400" cy="1828800"/>
          </a:xfrm>
          <a:prstGeom prst="rect">
            <a:avLst/>
          </a:prstGeom>
          <a:noFill/>
        </p:spPr>
        <p:txBody>
          <a:bodyPr wrap="square">
            <a:spAutoFit/>
          </a:bodyPr>
          <a:lstStyle/>
          <a:p>
            <a:pPr>
              <a:defRPr sz="3600" b="1">
                <a:solidFill>
                  <a:srgbClr val="FFFFFF"/>
                </a:solidFill>
              </a:defRPr>
            </a:pPr>
            <a:r>
              <a:t>Próximos passos</a:t>
            </a:r>
          </a:p>
          <a:p>
            <a:pPr>
              <a:defRPr sz="2000">
                <a:solidFill>
                  <a:srgbClr val="E8EAED"/>
                </a:solidFill>
              </a:defRPr>
            </a:pPr>
            <a:r>
              <a:t>Plano experimental e calendário</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3000" b="1">
                <a:solidFill>
                  <a:srgbClr val="1F2A4E"/>
                </a:solidFill>
              </a:defRPr>
            </a:pPr>
            <a:r>
              <a:t>Cronograma estimado</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57200" y="1371600"/>
          <a:ext cx="11430000" cy="4937760"/>
        </p:xfrm>
        <a:graphic>
          <a:graphicData uri="http://schemas.openxmlformats.org/drawingml/2006/table">
            <a:tbl>
              <a:tblPr firstRow="1" bandRow="1">
                <a:tableStyleId>{5C22544A-7EE6-4342-B048-85BDC9FD1C3A}</a:tableStyleId>
              </a:tblPr>
              <a:tblGrid>
                <a:gridCol w="3810000"/>
                <a:gridCol w="3810000"/>
                <a:gridCol w="3810000"/>
              </a:tblGrid>
              <a:tr h="493776">
                <a:tc>
                  <a:txBody>
                    <a:bodyPr/>
                    <a:lstStyle/>
                    <a:p>
                      <a:r>
                        <a:rPr b="1" sz="1600">
                          <a:solidFill>
                            <a:srgbClr val="FFFFFF"/>
                          </a:solidFill>
                        </a:rPr>
                        <a:t>Fase</a:t>
                      </a:r>
                    </a:p>
                  </a:txBody>
                  <a:tcPr>
                    <a:solidFill>
                      <a:srgbClr val="1F2A4E"/>
                    </a:solidFill>
                  </a:tcPr>
                </a:tc>
                <a:tc>
                  <a:txBody>
                    <a:bodyPr/>
                    <a:lstStyle/>
                    <a:p>
                      <a:r>
                        <a:rPr b="1" sz="1600">
                          <a:solidFill>
                            <a:srgbClr val="FFFFFF"/>
                          </a:solidFill>
                        </a:rPr>
                        <a:t>Target</a:t>
                      </a:r>
                    </a:p>
                  </a:txBody>
                  <a:tcPr>
                    <a:solidFill>
                      <a:srgbClr val="1F2A4E"/>
                    </a:solidFill>
                  </a:tcPr>
                </a:tc>
                <a:tc>
                  <a:txBody>
                    <a:bodyPr/>
                    <a:lstStyle/>
                    <a:p>
                      <a:r>
                        <a:rPr b="1" sz="1600">
                          <a:solidFill>
                            <a:srgbClr val="FFFFFF"/>
                          </a:solidFill>
                        </a:rPr>
                        <a:t>O que será entregue</a:t>
                      </a:r>
                    </a:p>
                  </a:txBody>
                  <a:tcPr>
                    <a:solidFill>
                      <a:srgbClr val="1F2A4E"/>
                    </a:solidFill>
                  </a:tcPr>
                </a:tc>
              </a:tr>
              <a:tr h="493776">
                <a:tc>
                  <a:txBody>
                    <a:bodyPr/>
                    <a:lstStyle/>
                    <a:p>
                      <a:r>
                        <a:rPr sz="1500">
                          <a:solidFill>
                            <a:srgbClr val="3D424E"/>
                          </a:solidFill>
                        </a:rPr>
                        <a:t>Aprovação conjunta da nova versão da tese</a:t>
                      </a:r>
                    </a:p>
                  </a:txBody>
                  <a:tcPr>
                    <a:solidFill>
                      <a:srgbClr val="FFFFFF"/>
                    </a:solidFill>
                  </a:tcPr>
                </a:tc>
                <a:tc>
                  <a:txBody>
                    <a:bodyPr/>
                    <a:lstStyle/>
                    <a:p>
                      <a:r>
                        <a:rPr sz="1500">
                          <a:solidFill>
                            <a:srgbClr val="3D424E"/>
                          </a:solidFill>
                        </a:rPr>
                        <a:t>Junho 2026</a:t>
                      </a:r>
                    </a:p>
                  </a:txBody>
                  <a:tcPr>
                    <a:solidFill>
                      <a:srgbClr val="FFFFFF"/>
                    </a:solidFill>
                  </a:tcPr>
                </a:tc>
                <a:tc>
                  <a:txBody>
                    <a:bodyPr/>
                    <a:lstStyle/>
                    <a:p>
                      <a:r>
                        <a:rPr sz="1500">
                          <a:solidFill>
                            <a:srgbClr val="3D424E"/>
                          </a:solidFill>
                        </a:rPr>
                        <a:t>Ajustes na tese se necessário</a:t>
                      </a:r>
                    </a:p>
                  </a:txBody>
                  <a:tcPr>
                    <a:solidFill>
                      <a:srgbClr val="FFFFFF"/>
                    </a:solidFill>
                  </a:tcPr>
                </a:tc>
              </a:tr>
              <a:tr h="493776">
                <a:tc>
                  <a:txBody>
                    <a:bodyPr/>
                    <a:lstStyle/>
                    <a:p>
                      <a:r>
                        <a:rPr sz="1500">
                          <a:solidFill>
                            <a:srgbClr val="3D424E"/>
                          </a:solidFill>
                        </a:rPr>
                        <a:t>Submissão para qualificação</a:t>
                      </a:r>
                    </a:p>
                  </a:txBody>
                  <a:tcPr>
                    <a:solidFill>
                      <a:srgbClr val="E8EAED"/>
                    </a:solidFill>
                  </a:tcPr>
                </a:tc>
                <a:tc>
                  <a:txBody>
                    <a:bodyPr/>
                    <a:lstStyle/>
                    <a:p>
                      <a:r>
                        <a:rPr sz="1500">
                          <a:solidFill>
                            <a:srgbClr val="3D424E"/>
                          </a:solidFill>
                        </a:rPr>
                        <a:t>Julho 2026</a:t>
                      </a:r>
                    </a:p>
                  </a:txBody>
                  <a:tcPr>
                    <a:solidFill>
                      <a:srgbClr val="E8EAED"/>
                    </a:solidFill>
                  </a:tcPr>
                </a:tc>
                <a:tc>
                  <a:txBody>
                    <a:bodyPr/>
                    <a:lstStyle/>
                    <a:p>
                      <a:r>
                        <a:rPr sz="1500">
                          <a:solidFill>
                            <a:srgbClr val="3D424E"/>
                          </a:solidFill>
                        </a:rPr>
                        <a:t>Documento de qualificação ao programa</a:t>
                      </a:r>
                    </a:p>
                  </a:txBody>
                  <a:tcPr>
                    <a:solidFill>
                      <a:srgbClr val="E8EAED"/>
                    </a:solidFill>
                  </a:tcPr>
                </a:tc>
              </a:tr>
              <a:tr h="493776">
                <a:tc>
                  <a:txBody>
                    <a:bodyPr/>
                    <a:lstStyle/>
                    <a:p>
                      <a:r>
                        <a:rPr sz="1500">
                          <a:solidFill>
                            <a:srgbClr val="3D424E"/>
                          </a:solidFill>
                        </a:rPr>
                        <a:t>Setup metodológico</a:t>
                      </a:r>
                    </a:p>
                  </a:txBody>
                  <a:tcPr>
                    <a:solidFill>
                      <a:srgbClr val="FFFFFF"/>
                    </a:solidFill>
                  </a:tcPr>
                </a:tc>
                <a:tc>
                  <a:txBody>
                    <a:bodyPr/>
                    <a:lstStyle/>
                    <a:p>
                      <a:r>
                        <a:rPr sz="1500">
                          <a:solidFill>
                            <a:srgbClr val="3D424E"/>
                          </a:solidFill>
                        </a:rPr>
                        <a:t>Agosto 2026</a:t>
                      </a:r>
                    </a:p>
                  </a:txBody>
                  <a:tcPr>
                    <a:solidFill>
                      <a:srgbClr val="FFFFFF"/>
                    </a:solidFill>
                  </a:tcPr>
                </a:tc>
                <a:tc>
                  <a:txBody>
                    <a:bodyPr/>
                    <a:lstStyle/>
                    <a:p>
                      <a:r>
                        <a:rPr sz="1500">
                          <a:solidFill>
                            <a:srgbClr val="3D424E"/>
                          </a:solidFill>
                        </a:rPr>
                        <a:t>Documentos com especificações detalhadas</a:t>
                      </a:r>
                    </a:p>
                  </a:txBody>
                  <a:tcPr>
                    <a:solidFill>
                      <a:srgbClr val="FFFFFF"/>
                    </a:solidFill>
                  </a:tcPr>
                </a:tc>
              </a:tr>
              <a:tr h="493776">
                <a:tc>
                  <a:txBody>
                    <a:bodyPr/>
                    <a:lstStyle/>
                    <a:p>
                      <a:r>
                        <a:rPr sz="1500">
                          <a:solidFill>
                            <a:srgbClr val="3D424E"/>
                          </a:solidFill>
                        </a:rPr>
                        <a:t>Capítulo 1 — Classificador MST + matriz</a:t>
                      </a:r>
                    </a:p>
                  </a:txBody>
                  <a:tcPr>
                    <a:solidFill>
                      <a:srgbClr val="E8EAED"/>
                    </a:solidFill>
                  </a:tcPr>
                </a:tc>
                <a:tc>
                  <a:txBody>
                    <a:bodyPr/>
                    <a:lstStyle/>
                    <a:p>
                      <a:r>
                        <a:rPr sz="1500">
                          <a:solidFill>
                            <a:srgbClr val="3D424E"/>
                          </a:solidFill>
                        </a:rPr>
                        <a:t>Setembro 2026</a:t>
                      </a:r>
                    </a:p>
                  </a:txBody>
                  <a:tcPr>
                    <a:solidFill>
                      <a:srgbClr val="E8EAED"/>
                    </a:solidFill>
                  </a:tcPr>
                </a:tc>
                <a:tc>
                  <a:txBody>
                    <a:bodyPr/>
                    <a:lstStyle/>
                    <a:p>
                      <a:r>
                        <a:rPr sz="1500">
                          <a:solidFill>
                            <a:srgbClr val="3D424E"/>
                          </a:solidFill>
                        </a:rPr>
                        <a:t>Resultado de H3</a:t>
                      </a:r>
                    </a:p>
                  </a:txBody>
                  <a:tcPr>
                    <a:solidFill>
                      <a:srgbClr val="E8EAED"/>
                    </a:solidFill>
                  </a:tcPr>
                </a:tc>
              </a:tr>
              <a:tr h="493776">
                <a:tc>
                  <a:txBody>
                    <a:bodyPr/>
                    <a:lstStyle/>
                    <a:p>
                      <a:r>
                        <a:rPr sz="1500">
                          <a:solidFill>
                            <a:srgbClr val="3D424E"/>
                          </a:solidFill>
                        </a:rPr>
                        <a:t>Capítulo 2 — Race + condicionamento</a:t>
                      </a:r>
                    </a:p>
                  </a:txBody>
                  <a:tcPr>
                    <a:solidFill>
                      <a:srgbClr val="FFFFFF"/>
                    </a:solidFill>
                  </a:tcPr>
                </a:tc>
                <a:tc>
                  <a:txBody>
                    <a:bodyPr/>
                    <a:lstStyle/>
                    <a:p>
                      <a:r>
                        <a:rPr sz="1500">
                          <a:solidFill>
                            <a:srgbClr val="3D424E"/>
                          </a:solidFill>
                        </a:rPr>
                        <a:t>Dezembro 2026</a:t>
                      </a:r>
                    </a:p>
                  </a:txBody>
                  <a:tcPr>
                    <a:solidFill>
                      <a:srgbClr val="FFFFFF"/>
                    </a:solidFill>
                  </a:tcPr>
                </a:tc>
                <a:tc>
                  <a:txBody>
                    <a:bodyPr/>
                    <a:lstStyle/>
                    <a:p>
                      <a:r>
                        <a:rPr sz="1500">
                          <a:solidFill>
                            <a:srgbClr val="3D424E"/>
                          </a:solidFill>
                        </a:rPr>
                        <a:t>Resultados de H1, H2, H4</a:t>
                      </a:r>
                    </a:p>
                  </a:txBody>
                  <a:tcPr>
                    <a:solidFill>
                      <a:srgbClr val="FFFFFF"/>
                    </a:solidFill>
                  </a:tcPr>
                </a:tc>
              </a:tr>
              <a:tr h="493776">
                <a:tc>
                  <a:txBody>
                    <a:bodyPr/>
                    <a:lstStyle/>
                    <a:p>
                      <a:r>
                        <a:rPr sz="1500">
                          <a:solidFill>
                            <a:srgbClr val="3D424E"/>
                          </a:solidFill>
                        </a:rPr>
                        <a:t>Capítulo 3 — Face recognition</a:t>
                      </a:r>
                    </a:p>
                  </a:txBody>
                  <a:tcPr>
                    <a:solidFill>
                      <a:srgbClr val="E8EAED"/>
                    </a:solidFill>
                  </a:tcPr>
                </a:tc>
                <a:tc>
                  <a:txBody>
                    <a:bodyPr/>
                    <a:lstStyle/>
                    <a:p>
                      <a:r>
                        <a:rPr sz="1500">
                          <a:solidFill>
                            <a:srgbClr val="3D424E"/>
                          </a:solidFill>
                        </a:rPr>
                        <a:t>Fevereiro 2027</a:t>
                      </a:r>
                    </a:p>
                  </a:txBody>
                  <a:tcPr>
                    <a:solidFill>
                      <a:srgbClr val="E8EAED"/>
                    </a:solidFill>
                  </a:tcPr>
                </a:tc>
                <a:tc>
                  <a:txBody>
                    <a:bodyPr/>
                    <a:lstStyle/>
                    <a:p>
                      <a:r>
                        <a:rPr sz="1500">
                          <a:solidFill>
                            <a:srgbClr val="3D424E"/>
                          </a:solidFill>
                        </a:rPr>
                        <a:t>Resultado de H5</a:t>
                      </a:r>
                    </a:p>
                  </a:txBody>
                  <a:tcPr>
                    <a:solidFill>
                      <a:srgbClr val="E8EAED"/>
                    </a:solidFill>
                  </a:tcPr>
                </a:tc>
              </a:tr>
              <a:tr h="493776">
                <a:tc>
                  <a:txBody>
                    <a:bodyPr/>
                    <a:lstStyle/>
                    <a:p>
                      <a:r>
                        <a:rPr sz="1500">
                          <a:solidFill>
                            <a:srgbClr val="3D424E"/>
                          </a:solidFill>
                        </a:rPr>
                        <a:t>Síntese final</a:t>
                      </a:r>
                    </a:p>
                  </a:txBody>
                  <a:tcPr>
                    <a:solidFill>
                      <a:srgbClr val="FFFFFF"/>
                    </a:solidFill>
                  </a:tcPr>
                </a:tc>
                <a:tc>
                  <a:txBody>
                    <a:bodyPr/>
                    <a:lstStyle/>
                    <a:p>
                      <a:r>
                        <a:rPr sz="1500">
                          <a:solidFill>
                            <a:srgbClr val="3D424E"/>
                          </a:solidFill>
                        </a:rPr>
                        <a:t>Março 2027</a:t>
                      </a:r>
                    </a:p>
                  </a:txBody>
                  <a:tcPr>
                    <a:solidFill>
                      <a:srgbClr val="FFFFFF"/>
                    </a:solidFill>
                  </a:tcPr>
                </a:tc>
                <a:tc>
                  <a:txBody>
                    <a:bodyPr/>
                    <a:lstStyle/>
                    <a:p>
                      <a:r>
                        <a:rPr sz="1500">
                          <a:solidFill>
                            <a:srgbClr val="3D424E"/>
                          </a:solidFill>
                        </a:rPr>
                        <a:t>Decomposição do erro Latinx</a:t>
                      </a:r>
                    </a:p>
                  </a:txBody>
                  <a:tcPr>
                    <a:solidFill>
                      <a:srgbClr val="FFFFFF"/>
                    </a:solidFill>
                  </a:tcPr>
                </a:tc>
              </a:tr>
              <a:tr h="493776">
                <a:tc>
                  <a:txBody>
                    <a:bodyPr/>
                    <a:lstStyle/>
                    <a:p>
                      <a:r>
                        <a:rPr sz="1500">
                          <a:solidFill>
                            <a:srgbClr val="3D424E"/>
                          </a:solidFill>
                        </a:rPr>
                        <a:t>Escrita dos capítulos</a:t>
                      </a:r>
                    </a:p>
                  </a:txBody>
                  <a:tcPr>
                    <a:solidFill>
                      <a:srgbClr val="E8EAED"/>
                    </a:solidFill>
                  </a:tcPr>
                </a:tc>
                <a:tc>
                  <a:txBody>
                    <a:bodyPr/>
                    <a:lstStyle/>
                    <a:p>
                      <a:r>
                        <a:rPr sz="1500">
                          <a:solidFill>
                            <a:srgbClr val="3D424E"/>
                          </a:solidFill>
                        </a:rPr>
                        <a:t>Em paralelo (Set 2026 → Mar 2027)</a:t>
                      </a:r>
                    </a:p>
                  </a:txBody>
                  <a:tcPr>
                    <a:solidFill>
                      <a:srgbClr val="E8EAED"/>
                    </a:solidFill>
                  </a:tcPr>
                </a:tc>
                <a:tc>
                  <a:txBody>
                    <a:bodyPr/>
                    <a:lstStyle/>
                    <a:p>
                      <a:r>
                        <a:rPr sz="1500">
                          <a:solidFill>
                            <a:srgbClr val="3D424E"/>
                          </a:solidFill>
                        </a:rPr>
                        <a:t>Texto final da dissertação</a:t>
                      </a:r>
                    </a:p>
                  </a:txBody>
                  <a:tcPr>
                    <a:solidFill>
                      <a:srgbClr val="E8EAED"/>
                    </a:solidFill>
                  </a:tcPr>
                </a:tc>
              </a:tr>
              <a:tr h="493776">
                <a:tc>
                  <a:txBody>
                    <a:bodyPr/>
                    <a:lstStyle/>
                    <a:p>
                      <a:r>
                        <a:rPr sz="1500">
                          <a:solidFill>
                            <a:srgbClr val="3D424E"/>
                          </a:solidFill>
                        </a:rPr>
                        <a:t>Defesa prevista</a:t>
                      </a:r>
                    </a:p>
                  </a:txBody>
                  <a:tcPr>
                    <a:solidFill>
                      <a:srgbClr val="FFFFFF"/>
                    </a:solidFill>
                  </a:tcPr>
                </a:tc>
                <a:tc>
                  <a:txBody>
                    <a:bodyPr/>
                    <a:lstStyle/>
                    <a:p>
                      <a:r>
                        <a:rPr sz="1500">
                          <a:solidFill>
                            <a:srgbClr val="3D424E"/>
                          </a:solidFill>
                        </a:rPr>
                        <a:t>Abril 2027</a:t>
                      </a:r>
                    </a:p>
                  </a:txBody>
                  <a:tcPr>
                    <a:solidFill>
                      <a:srgbClr val="FFFFFF"/>
                    </a:solidFill>
                  </a:tcPr>
                </a:tc>
                <a:tc>
                  <a:txBody>
                    <a:bodyPr/>
                    <a:lstStyle/>
                    <a:p>
                      <a:r>
                        <a:rPr sz="1500">
                          <a:solidFill>
                            <a:srgbClr val="3D424E"/>
                          </a:solidFill>
                        </a:rPr>
                        <a:t>Defesa da dissertação</a:t>
                      </a:r>
                    </a:p>
                  </a:txBody>
                  <a:tcPr>
                    <a:solidFill>
                      <a:srgbClr val="FFFFFF"/>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Os 3 capítulos experimentais</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Capítulo 1 — Construir o classificador de tom</a:t>
            </a:r>
          </a:p>
          <a:p>
            <a:pPr lvl="1">
              <a:spcAft>
                <a:spcPts val="800"/>
              </a:spcAft>
              <a:defRPr sz="1700">
                <a:solidFill>
                  <a:srgbClr val="707682"/>
                </a:solidFill>
              </a:defRPr>
            </a:pPr>
            <a:r>
              <a:t>Treinar sobre MST-E + Casual Conversations</a:t>
            </a:r>
          </a:p>
          <a:p>
            <a:pPr lvl="1">
              <a:spcAft>
                <a:spcPts val="800"/>
              </a:spcAft>
              <a:defRPr sz="1700">
                <a:solidFill>
                  <a:srgbClr val="707682"/>
                </a:solidFill>
              </a:defRPr>
            </a:pPr>
            <a:r>
              <a:t>Aplicar no FairFace e construir a matriz pública tom × raça</a:t>
            </a:r>
          </a:p>
          <a:p>
            <a:pPr lvl="1">
              <a:spcAft>
                <a:spcPts val="800"/>
              </a:spcAft>
              <a:defRPr sz="1700">
                <a:solidFill>
                  <a:srgbClr val="707682"/>
                </a:solidFill>
              </a:defRPr>
            </a:pPr>
            <a:r>
              <a:t>Testa H3 (Latinx tem spread amplo)</a:t>
            </a:r>
          </a:p>
          <a:p>
            <a:pPr>
              <a:spcAft>
                <a:spcPts val="800"/>
              </a:spcAft>
              <a:defRPr sz="2000" b="0">
                <a:solidFill>
                  <a:srgbClr val="3D424E"/>
                </a:solidFill>
              </a:defRPr>
            </a:pPr>
          </a:p>
          <a:p>
            <a:pPr>
              <a:spcAft>
                <a:spcPts val="800"/>
              </a:spcAft>
              <a:defRPr sz="2000" b="0">
                <a:solidFill>
                  <a:srgbClr val="3D424E"/>
                </a:solidFill>
              </a:defRPr>
            </a:pPr>
            <a:r>
              <a:t>Capítulo 2 — Classificador de raça com tom como contexto</a:t>
            </a:r>
          </a:p>
          <a:p>
            <a:pPr lvl="1">
              <a:spcAft>
                <a:spcPts val="800"/>
              </a:spcAft>
              <a:defRPr sz="1700">
                <a:solidFill>
                  <a:srgbClr val="707682"/>
                </a:solidFill>
              </a:defRPr>
            </a:pPr>
            <a:r>
              <a:t>Pipeline ConvNeXt-T + FiLM, comparado com 4 baselines independentes</a:t>
            </a:r>
          </a:p>
          <a:p>
            <a:pPr lvl="1">
              <a:spcAft>
                <a:spcPts val="800"/>
              </a:spcAft>
              <a:defRPr sz="1700">
                <a:solidFill>
                  <a:srgbClr val="707682"/>
                </a:solidFill>
              </a:defRPr>
            </a:pPr>
            <a:r>
              <a:t>3 seeds para significância estatística</a:t>
            </a:r>
          </a:p>
          <a:p>
            <a:pPr lvl="1">
              <a:spcAft>
                <a:spcPts val="800"/>
              </a:spcAft>
              <a:defRPr sz="1700">
                <a:solidFill>
                  <a:srgbClr val="707682"/>
                </a:solidFill>
              </a:defRPr>
            </a:pPr>
            <a:r>
              <a:t>Testa H1 (pipeline funciona), H2 (Latinx é estrutural), H4 (overlap explica erros)</a:t>
            </a:r>
          </a:p>
          <a:p>
            <a:pPr>
              <a:spcAft>
                <a:spcPts val="800"/>
              </a:spcAft>
              <a:defRPr sz="2000" b="0">
                <a:solidFill>
                  <a:srgbClr val="3D424E"/>
                </a:solidFill>
              </a:defRPr>
            </a:pPr>
          </a:p>
          <a:p>
            <a:pPr>
              <a:spcAft>
                <a:spcPts val="800"/>
              </a:spcAft>
              <a:defRPr sz="2000" b="0">
                <a:solidFill>
                  <a:srgbClr val="3D424E"/>
                </a:solidFill>
              </a:defRPr>
            </a:pPr>
            <a:r>
              <a:t>Capítulo 3 — Aplicar a reconhecimento facial</a:t>
            </a:r>
          </a:p>
          <a:p>
            <a:pPr lvl="1">
              <a:spcAft>
                <a:spcPts val="800"/>
              </a:spcAft>
              <a:defRPr sz="1700">
                <a:solidFill>
                  <a:srgbClr val="707682"/>
                </a:solidFill>
              </a:defRPr>
            </a:pPr>
            <a:r>
              <a:t>Mesmo pipeline em RFW ou BFW (datasets que já estão catalogados)</a:t>
            </a:r>
          </a:p>
          <a:p>
            <a:pPr lvl="1">
              <a:spcAft>
                <a:spcPts val="800"/>
              </a:spcAft>
              <a:defRPr sz="1700">
                <a:solidFill>
                  <a:srgbClr val="707682"/>
                </a:solidFill>
              </a:defRPr>
            </a:pPr>
            <a:r>
              <a:t>Foco em accuracy de Black/African</a:t>
            </a:r>
          </a:p>
          <a:p>
            <a:pPr lvl="1">
              <a:spcAft>
                <a:spcPts val="800"/>
              </a:spcAft>
              <a:defRPr sz="1700">
                <a:solidFill>
                  <a:srgbClr val="707682"/>
                </a:solidFill>
              </a:defRPr>
            </a:pPr>
            <a:r>
              <a:t>Testa H5 (fair transferência funciona)</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O que precisamos decidir nesta reunião</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1. Aprovação da nova versão da tese (prescritiva, pipeline integrado)?</a:t>
            </a:r>
          </a:p>
          <a:p>
            <a:pPr lvl="1">
              <a:spcAft>
                <a:spcPts val="800"/>
              </a:spcAft>
              <a:defRPr sz="1700">
                <a:solidFill>
                  <a:srgbClr val="707682"/>
                </a:solidFill>
              </a:defRPr>
            </a:pPr>
            <a:r>
              <a:t>Se aprovarmos, seguimos para o detalhamento metodológico.</a:t>
            </a:r>
          </a:p>
          <a:p>
            <a:pPr lvl="1">
              <a:spcAft>
                <a:spcPts val="800"/>
              </a:spcAft>
              <a:defRPr sz="1700">
                <a:solidFill>
                  <a:srgbClr val="707682"/>
                </a:solidFill>
              </a:defRPr>
            </a:pPr>
            <a:r>
              <a:t>Se houver ajustes, fazemos e revisamos juntos antes de prosseguir.</a:t>
            </a:r>
          </a:p>
          <a:p>
            <a:pPr>
              <a:spcAft>
                <a:spcPts val="800"/>
              </a:spcAft>
              <a:defRPr sz="2000" b="0">
                <a:solidFill>
                  <a:srgbClr val="3D424E"/>
                </a:solidFill>
              </a:defRPr>
            </a:pPr>
          </a:p>
          <a:p>
            <a:pPr>
              <a:spcAft>
                <a:spcPts val="800"/>
              </a:spcAft>
              <a:defRPr sz="2000" b="0">
                <a:solidFill>
                  <a:srgbClr val="3D424E"/>
                </a:solidFill>
              </a:defRPr>
            </a:pPr>
            <a:r>
              <a:t>2. Alguma das 5 hipóteses precisa ser reformulada?</a:t>
            </a:r>
          </a:p>
          <a:p>
            <a:pPr lvl="1">
              <a:spcAft>
                <a:spcPts val="800"/>
              </a:spcAft>
              <a:defRPr sz="1700">
                <a:solidFill>
                  <a:srgbClr val="707682"/>
                </a:solidFill>
              </a:defRPr>
            </a:pPr>
            <a:r>
              <a:t>São o esqueleto da dissertação — se uma estiver mal formulada, melhor descobrir agora.</a:t>
            </a:r>
          </a:p>
          <a:p>
            <a:pPr>
              <a:spcAft>
                <a:spcPts val="800"/>
              </a:spcAft>
              <a:defRPr sz="2000" b="0">
                <a:solidFill>
                  <a:srgbClr val="3D424E"/>
                </a:solidFill>
              </a:defRPr>
            </a:pPr>
          </a:p>
          <a:p>
            <a:pPr>
              <a:spcAft>
                <a:spcPts val="800"/>
              </a:spcAft>
              <a:defRPr sz="2000" b="0">
                <a:solidFill>
                  <a:srgbClr val="3D424E"/>
                </a:solidFill>
              </a:defRPr>
            </a:pPr>
            <a:r>
              <a:t>3. Escolha definitiva entre RFW e BFW para o Capítulo 3?</a:t>
            </a:r>
          </a:p>
          <a:p>
            <a:pPr lvl="1">
              <a:spcAft>
                <a:spcPts val="800"/>
              </a:spcAft>
              <a:defRPr sz="1700">
                <a:solidFill>
                  <a:srgbClr val="707682"/>
                </a:solidFill>
              </a:defRPr>
            </a:pPr>
            <a:r>
              <a:t>Temos preferência por RFW (mais escala, mais histórico) — precisamos validar essa escolha juntos.</a:t>
            </a:r>
          </a:p>
          <a:p>
            <a:pPr>
              <a:spcAft>
                <a:spcPts val="800"/>
              </a:spcAft>
              <a:defRPr sz="2000" b="0">
                <a:solidFill>
                  <a:srgbClr val="3D424E"/>
                </a:solidFill>
              </a:defRPr>
            </a:pPr>
          </a:p>
          <a:p>
            <a:pPr>
              <a:spcAft>
                <a:spcPts val="800"/>
              </a:spcAft>
              <a:defRPr sz="2000" b="0">
                <a:solidFill>
                  <a:srgbClr val="3D424E"/>
                </a:solidFill>
              </a:defRPr>
            </a:pPr>
            <a:r>
              <a:t>4. Alguma nova frente de literatura que ficou faltando?</a:t>
            </a:r>
          </a:p>
          <a:p>
            <a:pPr lvl="1">
              <a:spcAft>
                <a:spcPts val="800"/>
              </a:spcAft>
              <a:defRPr sz="1700">
                <a:solidFill>
                  <a:srgbClr val="707682"/>
                </a:solidFill>
              </a:defRPr>
            </a:pPr>
            <a:r>
              <a:t>Podemos fazer Rodada 6 se necessário, mas o corpus já está consistente.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86000"/>
            <a:ext cx="10332720" cy="2286000"/>
          </a:xfrm>
          <a:prstGeom prst="rect">
            <a:avLst/>
          </a:prstGeom>
          <a:noFill/>
        </p:spPr>
        <p:txBody>
          <a:bodyPr wrap="square">
            <a:spAutoFit/>
          </a:bodyPr>
          <a:lstStyle/>
          <a:p>
            <a:pPr algn="ctr">
              <a:defRPr sz="4800" b="1">
                <a:solidFill>
                  <a:srgbClr val="FFFFFF"/>
                </a:solidFill>
              </a:defRPr>
            </a:pPr>
            <a:r>
              <a:t>Discussão e feedback</a:t>
            </a:r>
          </a:p>
          <a:p>
            <a:pPr algn="ctr">
              <a:defRPr sz="2200">
                <a:solidFill>
                  <a:srgbClr val="E8EAED"/>
                </a:solidFill>
              </a:defRPr>
            </a:pPr>
            <a:r>
              <a:t>Aprovação da nova versão da tese — decidir os 4 itens acima</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0"/>
            <a:ext cx="2743200" cy="2743200"/>
          </a:xfrm>
          <a:prstGeom prst="rect">
            <a:avLst/>
          </a:prstGeom>
          <a:noFill/>
        </p:spPr>
        <p:txBody>
          <a:bodyPr wrap="none">
            <a:spAutoFit/>
          </a:bodyPr>
          <a:lstStyle/>
          <a:p>
            <a:pPr>
              <a:defRPr sz="13000" b="1">
                <a:solidFill>
                  <a:srgbClr val="FFFFFF"/>
                </a:solidFill>
              </a:defRPr>
            </a:pPr>
            <a:r>
              <a:t>★</a:t>
            </a:r>
          </a:p>
        </p:txBody>
      </p:sp>
      <p:sp>
        <p:nvSpPr>
          <p:cNvPr id="4" name="TextBox 3"/>
          <p:cNvSpPr txBox="1"/>
          <p:nvPr/>
        </p:nvSpPr>
        <p:spPr>
          <a:xfrm>
            <a:off x="3931920" y="2286000"/>
            <a:ext cx="7772400" cy="1828800"/>
          </a:xfrm>
          <a:prstGeom prst="rect">
            <a:avLst/>
          </a:prstGeom>
          <a:noFill/>
        </p:spPr>
        <p:txBody>
          <a:bodyPr wrap="square">
            <a:spAutoFit/>
          </a:bodyPr>
          <a:lstStyle/>
          <a:p>
            <a:pPr>
              <a:defRPr sz="3600" b="1">
                <a:solidFill>
                  <a:srgbClr val="FFFFFF"/>
                </a:solidFill>
              </a:defRPr>
            </a:pPr>
            <a:r>
              <a:t>Slides de apoio</a:t>
            </a:r>
          </a:p>
          <a:p>
            <a:pPr>
              <a:defRPr sz="2000">
                <a:solidFill>
                  <a:srgbClr val="E8EAED"/>
                </a:solidFill>
              </a:defRPr>
            </a:pPr>
            <a:r>
              <a:t>Material complementar para consulta durante a discussão</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2800" b="1">
                <a:solidFill>
                  <a:srgbClr val="1F2A4E"/>
                </a:solidFill>
              </a:defRPr>
            </a:pPr>
            <a:r>
              <a:t>As 14 perguntas de pesquisa respondidas</a:t>
            </a:r>
          </a:p>
        </p:txBody>
      </p:sp>
      <p:sp>
        <p:nvSpPr>
          <p:cNvPr id="3" name="Rectangle 2"/>
          <p:cNvSpPr/>
          <p:nvPr/>
        </p:nvSpPr>
        <p:spPr>
          <a:xfrm>
            <a:off x="457200" y="109728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280160"/>
            <a:ext cx="5577840" cy="5029200"/>
          </a:xfrm>
          <a:prstGeom prst="rect">
            <a:avLst/>
          </a:prstGeom>
          <a:noFill/>
        </p:spPr>
        <p:txBody>
          <a:bodyPr wrap="square">
            <a:spAutoFit/>
          </a:bodyPr>
          <a:lstStyle/>
          <a:p>
            <a:pPr>
              <a:spcAft>
                <a:spcPts val="600"/>
              </a:spcAft>
            </a:pPr>
            <a:r>
              <a:rPr b="1" sz="1300">
                <a:solidFill>
                  <a:srgbClr val="1F2A4E"/>
                </a:solidFill>
              </a:rPr>
              <a:t>Q01  </a:t>
            </a:r>
            <a:r>
              <a:rPr sz="1300">
                <a:solidFill>
                  <a:srgbClr val="3D424E"/>
                </a:solidFill>
              </a:rPr>
              <a:t>Existem melhores datasets para corrigir fairness em biometria facial de raças?</a:t>
            </a:r>
          </a:p>
          <a:p>
            <a:pPr>
              <a:spcAft>
                <a:spcPts val="600"/>
              </a:spcAft>
            </a:pPr>
            <a:r>
              <a:rPr b="1" sz="1300">
                <a:solidFill>
                  <a:srgbClr val="1F2A4E"/>
                </a:solidFill>
              </a:rPr>
              <a:t>Q02  </a:t>
            </a:r>
            <a:r>
              <a:rPr sz="1300">
                <a:solidFill>
                  <a:srgbClr val="3D424E"/>
                </a:solidFill>
              </a:rPr>
              <a:t>Qual o dataset mais utilizado nos estudos de fairness?</a:t>
            </a:r>
          </a:p>
          <a:p>
            <a:pPr>
              <a:spcAft>
                <a:spcPts val="600"/>
              </a:spcAft>
            </a:pPr>
            <a:r>
              <a:rPr b="1" sz="1300">
                <a:solidFill>
                  <a:srgbClr val="1F2A4E"/>
                </a:solidFill>
              </a:rPr>
              <a:t>Q03  </a:t>
            </a:r>
            <a:r>
              <a:rPr sz="1300">
                <a:solidFill>
                  <a:srgbClr val="3D424E"/>
                </a:solidFill>
              </a:rPr>
              <a:t>Qual o split oficial do FairFace e por que diferentes papers usam splits distintos?</a:t>
            </a:r>
          </a:p>
          <a:p>
            <a:pPr>
              <a:spcAft>
                <a:spcPts val="600"/>
              </a:spcAft>
            </a:pPr>
            <a:r>
              <a:rPr b="1" sz="1300">
                <a:solidFill>
                  <a:srgbClr val="1F2A4E"/>
                </a:solidFill>
              </a:rPr>
              <a:t>Q04  </a:t>
            </a:r>
            <a:r>
              <a:rPr sz="1300">
                <a:solidFill>
                  <a:srgbClr val="3D424E"/>
                </a:solidFill>
              </a:rPr>
              <a:t>Quais técnicas de mitigação algorítmica já foram testadas em FairFace race 7-class?</a:t>
            </a:r>
          </a:p>
          <a:p>
            <a:pPr>
              <a:spcAft>
                <a:spcPts val="600"/>
              </a:spcAft>
            </a:pPr>
            <a:r>
              <a:rPr b="1" sz="1300">
                <a:solidFill>
                  <a:srgbClr val="1F2A4E"/>
                </a:solidFill>
              </a:rPr>
              <a:t>Q05  </a:t>
            </a:r>
            <a:r>
              <a:rPr sz="1300">
                <a:solidFill>
                  <a:srgbClr val="3D424E"/>
                </a:solidFill>
              </a:rPr>
              <a:t>Existe consenso sobre métrica de fairness para classificação multi-classe?</a:t>
            </a:r>
          </a:p>
          <a:p>
            <a:pPr>
              <a:spcAft>
                <a:spcPts val="600"/>
              </a:spcAft>
            </a:pPr>
            <a:r>
              <a:rPr b="1" sz="1300">
                <a:solidFill>
                  <a:srgbClr val="1F2A4E"/>
                </a:solidFill>
              </a:rPr>
              <a:t>Q06  </a:t>
            </a:r>
            <a:r>
              <a:rPr sz="1300">
                <a:solidFill>
                  <a:srgbClr val="3D424E"/>
                </a:solidFill>
              </a:rPr>
              <a:t>O baseline ResNet-34 = 72% acurácia é teto da arquitetura ou da metodologia?</a:t>
            </a:r>
          </a:p>
          <a:p>
            <a:pPr>
              <a:spcAft>
                <a:spcPts val="600"/>
              </a:spcAft>
            </a:pPr>
            <a:r>
              <a:rPr b="1" sz="1300">
                <a:solidFill>
                  <a:srgbClr val="1F2A4E"/>
                </a:solidFill>
              </a:rPr>
              <a:t>Q07  </a:t>
            </a:r>
            <a:r>
              <a:rPr sz="1300">
                <a:solidFill>
                  <a:srgbClr val="3D424E"/>
                </a:solidFill>
              </a:rPr>
              <a:t>Existe pesquisa de fairness em biometria facial sem usar FairFace?</a:t>
            </a:r>
          </a:p>
        </p:txBody>
      </p:sp>
      <p:sp>
        <p:nvSpPr>
          <p:cNvPr id="5" name="TextBox 4"/>
          <p:cNvSpPr txBox="1"/>
          <p:nvPr/>
        </p:nvSpPr>
        <p:spPr>
          <a:xfrm>
            <a:off x="6263640" y="1280160"/>
            <a:ext cx="5577840" cy="5029200"/>
          </a:xfrm>
          <a:prstGeom prst="rect">
            <a:avLst/>
          </a:prstGeom>
          <a:noFill/>
        </p:spPr>
        <p:txBody>
          <a:bodyPr wrap="square">
            <a:spAutoFit/>
          </a:bodyPr>
          <a:lstStyle/>
          <a:p>
            <a:pPr>
              <a:spcAft>
                <a:spcPts val="600"/>
              </a:spcAft>
            </a:pPr>
            <a:r>
              <a:rPr b="1" sz="1300">
                <a:solidFill>
                  <a:srgbClr val="1F2A4E"/>
                </a:solidFill>
              </a:rPr>
              <a:t>Q08  </a:t>
            </a:r>
            <a:r>
              <a:rPr sz="1300">
                <a:solidFill>
                  <a:srgbClr val="3D424E"/>
                </a:solidFill>
              </a:rPr>
              <a:t>Por que os estudos tentam sempre fazer merge de classes raciais?</a:t>
            </a:r>
          </a:p>
          <a:p>
            <a:pPr>
              <a:spcAft>
                <a:spcPts val="600"/>
              </a:spcAft>
            </a:pPr>
            <a:r>
              <a:rPr b="1" sz="1300">
                <a:solidFill>
                  <a:srgbClr val="1F2A4E"/>
                </a:solidFill>
              </a:rPr>
              <a:t>Q09  </a:t>
            </a:r>
            <a:r>
              <a:rPr sz="1300">
                <a:solidFill>
                  <a:srgbClr val="3D424E"/>
                </a:solidFill>
              </a:rPr>
              <a:t>7 classes é realmente a taxonomia correta para fairness racial facial?</a:t>
            </a:r>
          </a:p>
          <a:p>
            <a:pPr>
              <a:spcAft>
                <a:spcPts val="600"/>
              </a:spcAft>
            </a:pPr>
            <a:r>
              <a:rPr b="1" sz="1300">
                <a:solidFill>
                  <a:srgbClr val="1F2A4E"/>
                </a:solidFill>
              </a:rPr>
              <a:t>Q10  </a:t>
            </a:r>
            <a:r>
              <a:rPr sz="1300">
                <a:solidFill>
                  <a:srgbClr val="3D424E"/>
                </a:solidFill>
              </a:rPr>
              <a:t>Existe matriz associativa Fitzpatrick/MST × FairFace 7-race?</a:t>
            </a:r>
          </a:p>
          <a:p>
            <a:pPr>
              <a:spcAft>
                <a:spcPts val="600"/>
              </a:spcAft>
            </a:pPr>
            <a:r>
              <a:rPr b="1" sz="1300">
                <a:solidFill>
                  <a:srgbClr val="1F2A4E"/>
                </a:solidFill>
              </a:rPr>
              <a:t>Q11  </a:t>
            </a:r>
            <a:r>
              <a:rPr sz="1300">
                <a:solidFill>
                  <a:srgbClr val="3D424E"/>
                </a:solidFill>
              </a:rPr>
              <a:t>As 7 categorias raciais do FairFace têm fundamento biológico ou socio-político?</a:t>
            </a:r>
          </a:p>
          <a:p>
            <a:pPr>
              <a:spcAft>
                <a:spcPts val="600"/>
              </a:spcAft>
            </a:pPr>
            <a:r>
              <a:rPr b="1" sz="1300">
                <a:solidFill>
                  <a:srgbClr val="1F2A4E"/>
                </a:solidFill>
              </a:rPr>
              <a:t>Q12  </a:t>
            </a:r>
            <a:r>
              <a:rPr sz="1300">
                <a:solidFill>
                  <a:srgbClr val="3D424E"/>
                </a:solidFill>
              </a:rPr>
              <a:t>Como antropologia forense moderna trata 'raça'?</a:t>
            </a:r>
          </a:p>
          <a:p>
            <a:pPr>
              <a:spcAft>
                <a:spcPts val="600"/>
              </a:spcAft>
            </a:pPr>
            <a:r>
              <a:rPr b="1" sz="1300">
                <a:solidFill>
                  <a:srgbClr val="1F2A4E"/>
                </a:solidFill>
              </a:rPr>
              <a:t>Q13  </a:t>
            </a:r>
            <a:r>
              <a:rPr sz="1300">
                <a:solidFill>
                  <a:srgbClr val="3D424E"/>
                </a:solidFill>
              </a:rPr>
              <a:t>Origem e propósito da escala Fitzpatrick — para que foi criada?</a:t>
            </a:r>
          </a:p>
          <a:p>
            <a:pPr>
              <a:spcAft>
                <a:spcPts val="600"/>
              </a:spcAft>
            </a:pPr>
            <a:r>
              <a:rPr b="1" sz="1300">
                <a:solidFill>
                  <a:srgbClr val="1F2A4E"/>
                </a:solidFill>
              </a:rPr>
              <a:t>Q14  </a:t>
            </a:r>
            <a:r>
              <a:rPr sz="1300">
                <a:solidFill>
                  <a:srgbClr val="3D424E"/>
                </a:solidFill>
              </a:rPr>
              <a:t>Quantos tons de pele existem cientificamente?</a:t>
            </a:r>
          </a:p>
        </p:txBody>
      </p:sp>
      <p:sp>
        <p:nvSpPr>
          <p:cNvPr id="6" name="TextBox 5"/>
          <p:cNvSpPr txBox="1"/>
          <p:nvPr/>
        </p:nvSpPr>
        <p:spPr>
          <a:xfrm>
            <a:off x="457200" y="6446520"/>
            <a:ext cx="11430000" cy="365760"/>
          </a:xfrm>
          <a:prstGeom prst="rect">
            <a:avLst/>
          </a:prstGeom>
          <a:noFill/>
        </p:spPr>
        <p:txBody>
          <a:bodyPr wrap="none">
            <a:spAutoFit/>
          </a:bodyPr>
          <a:lstStyle/>
          <a:p>
            <a:pPr>
              <a:defRPr sz="1300" i="1">
                <a:solidFill>
                  <a:srgbClr val="707682"/>
                </a:solidFill>
              </a:defRPr>
            </a:pPr>
            <a:r>
              <a:t>Detalhamento completo em docs/ativo/04_pesquisa_bibliografica/_perguntas.md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521440" cy="548640"/>
          </a:xfrm>
          <a:prstGeom prst="rect">
            <a:avLst/>
          </a:prstGeom>
          <a:noFill/>
        </p:spPr>
        <p:txBody>
          <a:bodyPr wrap="none">
            <a:spAutoFit/>
          </a:bodyPr>
          <a:lstStyle/>
          <a:p>
            <a:pPr>
              <a:defRPr sz="1800" b="1">
                <a:solidFill>
                  <a:srgbClr val="1F2A4E"/>
                </a:solidFill>
              </a:defRPr>
            </a:pPr>
            <a:r>
              <a:t>Pangelinan et al. (2023) — Causas de variação demográfica em FR accuracy</a:t>
            </a:r>
          </a:p>
        </p:txBody>
      </p:sp>
      <p:sp>
        <p:nvSpPr>
          <p:cNvPr id="3" name="TextBox 2"/>
          <p:cNvSpPr txBox="1"/>
          <p:nvPr/>
        </p:nvSpPr>
        <p:spPr>
          <a:xfrm>
            <a:off x="365760" y="640080"/>
            <a:ext cx="11521440" cy="274320"/>
          </a:xfrm>
          <a:prstGeom prst="rect">
            <a:avLst/>
          </a:prstGeom>
          <a:noFill/>
        </p:spPr>
        <p:txBody>
          <a:bodyPr wrap="none">
            <a:spAutoFit/>
          </a:bodyPr>
          <a:lstStyle/>
          <a:p>
            <a:pPr>
              <a:defRPr sz="1100" i="1">
                <a:solidFill>
                  <a:srgbClr val="707682"/>
                </a:solidFill>
              </a:defRPr>
            </a:pPr>
            <a:r>
              <a:t>arXiv:2304.07175 — Notre Dame / Florida Tech / IST — preprint abril 2023</a:t>
            </a:r>
          </a:p>
        </p:txBody>
      </p:sp>
      <p:sp>
        <p:nvSpPr>
          <p:cNvPr id="4" name="Rectangle 3"/>
          <p:cNvSpPr/>
          <p:nvPr/>
        </p:nvSpPr>
        <p:spPr>
          <a:xfrm>
            <a:off x="365760" y="960120"/>
            <a:ext cx="11521440" cy="36576"/>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365760" y="1097280"/>
            <a:ext cx="5715000" cy="137160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a:lstStyle/>
          <a:p>
            <a:pPr algn="ctr">
              <a:defRPr sz="1000" b="1">
                <a:solidFill>
                  <a:srgbClr val="1F2A4E"/>
                </a:solidFill>
              </a:defRPr>
            </a:pPr>
            <a:r>
              <a:t>Contexto teórico / motivação</a:t>
            </a:r>
          </a:p>
          <a:p>
            <a:pPr>
              <a:defRPr sz="1100">
                <a:solidFill>
                  <a:srgbClr val="3D424E"/>
                </a:solidFill>
              </a:defRPr>
            </a:pPr>
            <a:r>
              <a:t>Buolamwini &amp; Gebru 2018 documentaram disparities em FR sem isolar mecanismo causal. Trabalhos subsequentes assumiram skin tone como variável dominante. Esta limpeza causal era um buraco aberto na literatura.</a:t>
            </a:r>
          </a:p>
        </p:txBody>
      </p:sp>
      <p:sp>
        <p:nvSpPr>
          <p:cNvPr id="6" name="Rounded Rectangle 5"/>
          <p:cNvSpPr/>
          <p:nvPr/>
        </p:nvSpPr>
        <p:spPr>
          <a:xfrm>
            <a:off x="365760" y="2514600"/>
            <a:ext cx="5715000" cy="1325880"/>
          </a:xfrm>
          <a:prstGeom prst="roundRect">
            <a:avLst/>
          </a:prstGeom>
          <a:solidFill>
            <a:srgbClr val="FFFFFF"/>
          </a:solidFill>
          <a:ln w="1270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a:lstStyle/>
          <a:p>
            <a:pPr algn="ctr">
              <a:defRPr sz="1000" b="1">
                <a:solidFill>
                  <a:srgbClr val="1F2A4E"/>
                </a:solidFill>
              </a:defRPr>
            </a:pPr>
            <a:r>
              <a:t>Pergunta de pesquisa</a:t>
            </a:r>
          </a:p>
          <a:p>
            <a:pPr>
              <a:defRPr sz="1100">
                <a:solidFill>
                  <a:srgbClr val="3D424E"/>
                </a:solidFill>
              </a:defRPr>
            </a:pPr>
            <a:r>
              <a:t>A disparity racial em accuracy de face recognition é causada por skin tone direto, face size/shape, desbalanceamento de treino ou qualidade da imagem (pixel info útil após crop/alinhamento)?</a:t>
            </a:r>
          </a:p>
        </p:txBody>
      </p:sp>
      <p:sp>
        <p:nvSpPr>
          <p:cNvPr id="7" name="Rounded Rectangle 6"/>
          <p:cNvSpPr/>
          <p:nvPr/>
        </p:nvSpPr>
        <p:spPr>
          <a:xfrm>
            <a:off x="365760" y="3886200"/>
            <a:ext cx="5715000" cy="269748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a:lstStyle/>
          <a:p>
            <a:pPr algn="ctr">
              <a:defRPr sz="1000" b="1">
                <a:solidFill>
                  <a:srgbClr val="1F2A4E"/>
                </a:solidFill>
              </a:defRPr>
            </a:pPr>
            <a:r>
              <a:t>Metodologia detalhada</a:t>
            </a:r>
          </a:p>
          <a:p>
            <a:pPr>
              <a:defRPr sz="1100">
                <a:solidFill>
                  <a:srgbClr val="3D424E"/>
                </a:solidFill>
              </a:defRPr>
            </a:pPr>
            <a:r>
              <a:t>Auditoria de ArcFace e AdaFace (SOTA em FR) sobre RFW e MORPH. Mede 4 variáveis: (1) skin tone via ITA, (2) face pixel area (pós-detecção), (3) balanceamento de treino, (4) face geometry. Correlaciona com TAR@FAR por grupo demográfico. Análise estratificada para isolar efeitos.</a:t>
            </a:r>
          </a:p>
        </p:txBody>
      </p:sp>
      <p:sp>
        <p:nvSpPr>
          <p:cNvPr id="8" name="Rounded Rectangle 7"/>
          <p:cNvSpPr/>
          <p:nvPr/>
        </p:nvSpPr>
        <p:spPr>
          <a:xfrm>
            <a:off x="6245352" y="1097280"/>
            <a:ext cx="5715000" cy="146304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a:lstStyle/>
          <a:p>
            <a:pPr algn="ctr">
              <a:defRPr sz="1000" b="1">
                <a:solidFill>
                  <a:srgbClr val="1F2A4E"/>
                </a:solidFill>
              </a:defRPr>
            </a:pPr>
            <a:r>
              <a:t>Resultados principais (números/achados)</a:t>
            </a:r>
          </a:p>
          <a:p>
            <a:pPr>
              <a:defRPr sz="1100">
                <a:solidFill>
                  <a:srgbClr val="3D424E"/>
                </a:solidFill>
              </a:defRPr>
            </a:pPr>
            <a:r>
              <a:t>Face pixel information explica a MAIOR PARTE da variação de accuracy entre grupos. Skin tone direto é fator secundário. Balanceamento de treino tem efeito menor que o esperado. Sugere que muito do 'race bias' em FR é mediado por qualidade da imagem.</a:t>
            </a:r>
          </a:p>
        </p:txBody>
      </p:sp>
      <p:sp>
        <p:nvSpPr>
          <p:cNvPr id="9" name="Rounded Rectangle 8"/>
          <p:cNvSpPr/>
          <p:nvPr/>
        </p:nvSpPr>
        <p:spPr>
          <a:xfrm>
            <a:off x="6245352" y="2606039"/>
            <a:ext cx="5715000" cy="1280160"/>
          </a:xfrm>
          <a:prstGeom prst="roundRect">
            <a:avLst/>
          </a:prstGeom>
          <a:solidFill>
            <a:srgbClr val="FFFFFF"/>
          </a:solidFill>
          <a:ln w="12700">
            <a:solidFill>
              <a:srgbClr val="70768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a:lstStyle/>
          <a:p>
            <a:pPr algn="ctr">
              <a:defRPr sz="1000" b="1">
                <a:solidFill>
                  <a:srgbClr val="707682"/>
                </a:solidFill>
              </a:defRPr>
            </a:pPr>
            <a:r>
              <a:t>Crítica metodológica e limitações</a:t>
            </a:r>
          </a:p>
          <a:p>
            <a:pPr>
              <a:defRPr sz="1100">
                <a:solidFill>
                  <a:srgbClr val="3D424E"/>
                </a:solidFill>
              </a:defRPr>
            </a:pPr>
            <a:r>
              <a:t>Trabalha com FR (verificação 1:1), NÃO com race classification multi-classe. Análise correlacional, não causal estrito. Não testa intervenção arquitetural para mitigar pixel info. RFW e MORPH têm vieses próprios de coleta.</a:t>
            </a:r>
          </a:p>
        </p:txBody>
      </p:sp>
      <p:sp>
        <p:nvSpPr>
          <p:cNvPr id="10" name="Rounded Rectangle 9"/>
          <p:cNvSpPr/>
          <p:nvPr/>
        </p:nvSpPr>
        <p:spPr>
          <a:xfrm>
            <a:off x="6245352" y="3931920"/>
            <a:ext cx="5715000" cy="114300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a:lstStyle/>
          <a:p>
            <a:pPr algn="ctr">
              <a:defRPr sz="1000" b="1">
                <a:solidFill>
                  <a:srgbClr val="1F2A4E"/>
                </a:solidFill>
              </a:defRPr>
            </a:pPr>
            <a:r>
              <a:t>Conexões com outras fichas do corpus</a:t>
            </a:r>
          </a:p>
          <a:p>
            <a:pPr>
              <a:defRPr sz="1100">
                <a:solidFill>
                  <a:srgbClr val="3D424E"/>
                </a:solidFill>
              </a:defRPr>
            </a:pPr>
            <a:r>
              <a:t>Conversa com Grother 2019 (NIST FRVT) que documenta disparity industry-wide. Refuta implicitamente parte da narrativa de Buolamwini 2018 (PPB) que enfatiza skin tone direto. Compatível com Dooley 2022 que aponta arquitetura como fator independente.</a:t>
            </a:r>
          </a:p>
        </p:txBody>
      </p:sp>
      <p:sp>
        <p:nvSpPr>
          <p:cNvPr id="11" name="Rounded Rectangle 10"/>
          <p:cNvSpPr/>
          <p:nvPr/>
        </p:nvSpPr>
        <p:spPr>
          <a:xfrm>
            <a:off x="6245352" y="5120640"/>
            <a:ext cx="5715000" cy="1463040"/>
          </a:xfrm>
          <a:prstGeom prst="roundRect">
            <a:avLst/>
          </a:prstGeom>
          <a:solidFill>
            <a:srgbClr val="FFFFFF"/>
          </a:solidFill>
          <a:ln w="127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a:lstStyle/>
          <a:p>
            <a:pPr algn="ctr">
              <a:defRPr sz="1100" b="1">
                <a:solidFill>
                  <a:srgbClr val="C0392B"/>
                </a:solidFill>
              </a:defRPr>
            </a:pPr>
            <a:r>
              <a:t>Impacto na nossa tese</a:t>
            </a:r>
          </a:p>
          <a:p>
            <a:pPr>
              <a:defRPr sz="1200">
                <a:solidFill>
                  <a:srgbClr val="3D424E"/>
                </a:solidFill>
              </a:defRPr>
            </a:pPr>
            <a:r>
              <a:t>REFUTAÇÃO POTENCIAL DE H5. Se pixel info é causa primária em FR, a transferência de fairness do Cap 2 para Cap 3 pode ser confounded por qualidade da imagem. Motivou as 3 versões de reformulação de H5 (V1/V2/V3) na pauta de hoje.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521440" cy="548640"/>
          </a:xfrm>
          <a:prstGeom prst="rect">
            <a:avLst/>
          </a:prstGeom>
          <a:noFill/>
        </p:spPr>
        <p:txBody>
          <a:bodyPr wrap="none">
            <a:spAutoFit/>
          </a:bodyPr>
          <a:lstStyle/>
          <a:p>
            <a:pPr>
              <a:defRPr sz="1800" b="1">
                <a:solidFill>
                  <a:srgbClr val="1F2A4E"/>
                </a:solidFill>
              </a:defRPr>
            </a:pPr>
            <a:r>
              <a:t>Pereira et al. (2026) — SkinToneNet + dataset STW</a:t>
            </a:r>
          </a:p>
        </p:txBody>
      </p:sp>
      <p:sp>
        <p:nvSpPr>
          <p:cNvPr id="3" name="TextBox 2"/>
          <p:cNvSpPr txBox="1"/>
          <p:nvPr/>
        </p:nvSpPr>
        <p:spPr>
          <a:xfrm>
            <a:off x="365760" y="640080"/>
            <a:ext cx="11521440" cy="274320"/>
          </a:xfrm>
          <a:prstGeom prst="rect">
            <a:avLst/>
          </a:prstGeom>
          <a:noFill/>
        </p:spPr>
        <p:txBody>
          <a:bodyPr wrap="none">
            <a:spAutoFit/>
          </a:bodyPr>
          <a:lstStyle/>
          <a:p>
            <a:pPr>
              <a:defRPr sz="1100" i="1">
                <a:solidFill>
                  <a:srgbClr val="707682"/>
                </a:solidFill>
              </a:defRPr>
            </a:pPr>
            <a:r>
              <a:t>arXiv:2603.02475 — ICMC-USP / IMPA — preprint março 2026</a:t>
            </a:r>
          </a:p>
        </p:txBody>
      </p:sp>
      <p:sp>
        <p:nvSpPr>
          <p:cNvPr id="4" name="Rectangle 3"/>
          <p:cNvSpPr/>
          <p:nvPr/>
        </p:nvSpPr>
        <p:spPr>
          <a:xfrm>
            <a:off x="365760" y="960120"/>
            <a:ext cx="11521440" cy="36576"/>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365760" y="1097280"/>
            <a:ext cx="5715000" cy="137160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a:lstStyle/>
          <a:p>
            <a:pPr algn="ctr">
              <a:defRPr sz="1000" b="1">
                <a:solidFill>
                  <a:srgbClr val="1F2A4E"/>
                </a:solidFill>
              </a:defRPr>
            </a:pPr>
            <a:r>
              <a:t>Contexto teórico / motivação</a:t>
            </a:r>
          </a:p>
          <a:p>
            <a:pPr>
              <a:defRPr sz="1100">
                <a:solidFill>
                  <a:srgbClr val="3D424E"/>
                </a:solidFill>
              </a:defRPr>
            </a:pPr>
            <a:r>
              <a:t>Schumann et al. 2023 (NeurIPS) propuseram MST como padrão para auditoria mas sem classificador automático em larga escala. Datasets MST-anotados eram pequenos (MST-E ~1.500). Faltava um classificador SOTA generalizável e um dataset 'in-the-wild' grande.</a:t>
            </a:r>
          </a:p>
        </p:txBody>
      </p:sp>
      <p:sp>
        <p:nvSpPr>
          <p:cNvPr id="6" name="Rounded Rectangle 5"/>
          <p:cNvSpPr/>
          <p:nvPr/>
        </p:nvSpPr>
        <p:spPr>
          <a:xfrm>
            <a:off x="365760" y="2514600"/>
            <a:ext cx="5715000" cy="1325880"/>
          </a:xfrm>
          <a:prstGeom prst="roundRect">
            <a:avLst/>
          </a:prstGeom>
          <a:solidFill>
            <a:srgbClr val="FFFFFF"/>
          </a:solidFill>
          <a:ln w="1270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a:lstStyle/>
          <a:p>
            <a:pPr algn="ctr">
              <a:defRPr sz="1000" b="1">
                <a:solidFill>
                  <a:srgbClr val="1F2A4E"/>
                </a:solidFill>
              </a:defRPr>
            </a:pPr>
            <a:r>
              <a:t>Pergunta de pesquisa</a:t>
            </a:r>
          </a:p>
          <a:p>
            <a:pPr>
              <a:defRPr sz="1100">
                <a:solidFill>
                  <a:srgbClr val="3D424E"/>
                </a:solidFill>
              </a:defRPr>
            </a:pPr>
            <a:r>
              <a:t>É possível treinar um classificador de tom de pele (MST 10-classe) robusto e cross-domain, e qual é a distribuição de tons em datasets faciais largamente usados pela comunidade de fairness?</a:t>
            </a:r>
          </a:p>
        </p:txBody>
      </p:sp>
      <p:sp>
        <p:nvSpPr>
          <p:cNvPr id="7" name="Rounded Rectangle 6"/>
          <p:cNvSpPr/>
          <p:nvPr/>
        </p:nvSpPr>
        <p:spPr>
          <a:xfrm>
            <a:off x="365760" y="3886200"/>
            <a:ext cx="5715000" cy="269748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a:lstStyle/>
          <a:p>
            <a:pPr algn="ctr">
              <a:defRPr sz="1000" b="1">
                <a:solidFill>
                  <a:srgbClr val="1F2A4E"/>
                </a:solidFill>
              </a:defRPr>
            </a:pPr>
            <a:r>
              <a:t>Metodologia detalhada</a:t>
            </a:r>
          </a:p>
          <a:p>
            <a:pPr>
              <a:defRPr sz="1100">
                <a:solidFill>
                  <a:srgbClr val="3D424E"/>
                </a:solidFill>
              </a:defRPr>
            </a:pPr>
            <a:r>
              <a:t>Constrói STW (Skin Tone in the Wild): 42.313 imagens de 3.564 indivíduos, anotadas pela escala Monk Skin Tone (10 classes), agregadas de múltiplas fontes web. Treina SkinToneNet (ViT-Small fine-tuned a partir de ImageNet). Audita FairFace, CelebA, BUPT, UTKFace, CASIA, CK+ usando o classificador treinado.</a:t>
            </a:r>
          </a:p>
        </p:txBody>
      </p:sp>
      <p:sp>
        <p:nvSpPr>
          <p:cNvPr id="8" name="Rounded Rectangle 7"/>
          <p:cNvSpPr/>
          <p:nvPr/>
        </p:nvSpPr>
        <p:spPr>
          <a:xfrm>
            <a:off x="6245352" y="1097280"/>
            <a:ext cx="5715000" cy="146304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a:lstStyle/>
          <a:p>
            <a:pPr algn="ctr">
              <a:defRPr sz="1000" b="1">
                <a:solidFill>
                  <a:srgbClr val="1F2A4E"/>
                </a:solidFill>
              </a:defRPr>
            </a:pPr>
            <a:r>
              <a:t>Resultados principais (números/achados)</a:t>
            </a:r>
          </a:p>
          <a:p>
            <a:pPr>
              <a:defRPr sz="1100">
                <a:solidFill>
                  <a:srgbClr val="3D424E"/>
                </a:solidFill>
              </a:defRPr>
            </a:pPr>
            <a:r>
              <a:t>SkinToneNet atinge SOTA em skin-tone classification cross-domain (precisão &gt;90% out-of-distribution). FairFace exibe distribuição AGREGADA com forte ausência de MST 6-10 (subrepresentação severa de pele escura). NÃO publica matriz cruzada MST × race — apenas distribuição global.</a:t>
            </a:r>
          </a:p>
        </p:txBody>
      </p:sp>
      <p:sp>
        <p:nvSpPr>
          <p:cNvPr id="9" name="Rounded Rectangle 8"/>
          <p:cNvSpPr/>
          <p:nvPr/>
        </p:nvSpPr>
        <p:spPr>
          <a:xfrm>
            <a:off x="6245352" y="2606039"/>
            <a:ext cx="5715000" cy="1280160"/>
          </a:xfrm>
          <a:prstGeom prst="roundRect">
            <a:avLst/>
          </a:prstGeom>
          <a:solidFill>
            <a:srgbClr val="FFFFFF"/>
          </a:solidFill>
          <a:ln w="12700">
            <a:solidFill>
              <a:srgbClr val="70768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a:lstStyle/>
          <a:p>
            <a:pPr algn="ctr">
              <a:defRPr sz="1000" b="1">
                <a:solidFill>
                  <a:srgbClr val="707682"/>
                </a:solidFill>
              </a:defRPr>
            </a:pPr>
            <a:r>
              <a:t>Crítica metodológica e limitações</a:t>
            </a:r>
          </a:p>
          <a:p>
            <a:pPr>
              <a:defRPr sz="1100">
                <a:solidFill>
                  <a:srgbClr val="3D424E"/>
                </a:solidFill>
              </a:defRPr>
            </a:pPr>
            <a:r>
              <a:t>STW concentra sujeitos de imagens web (viés de quem é fotografado e publicado). Dataset não tem split público fixo para benchmarks reprodutíveis. Anotação MST sem protocolo multi-anotador como Schumann 2023. Apenas um classificador (ViT-Small) avaliado.</a:t>
            </a:r>
          </a:p>
        </p:txBody>
      </p:sp>
      <p:sp>
        <p:nvSpPr>
          <p:cNvPr id="10" name="Rounded Rectangle 9"/>
          <p:cNvSpPr/>
          <p:nvPr/>
        </p:nvSpPr>
        <p:spPr>
          <a:xfrm>
            <a:off x="6245352" y="3931920"/>
            <a:ext cx="5715000" cy="114300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a:lstStyle/>
          <a:p>
            <a:pPr algn="ctr">
              <a:defRPr sz="1000" b="1">
                <a:solidFill>
                  <a:srgbClr val="1F2A4E"/>
                </a:solidFill>
              </a:defRPr>
            </a:pPr>
            <a:r>
              <a:t>Conexões com outras fichas do corpus</a:t>
            </a:r>
          </a:p>
          <a:p>
            <a:pPr>
              <a:defRPr sz="1100">
                <a:solidFill>
                  <a:srgbClr val="3D424E"/>
                </a:solidFill>
              </a:defRPr>
            </a:pPr>
            <a:r>
              <a:t>Estende Schumann et al. 2023 (MST scale + protocolo) com classificador SOTA. Conversa com Dominguez-Catena et al. 2024 (DSAP) que auditou datasets via métricas unificadas. Insumo direto para nossa C2 (matriz cruzada MST × race do FairFace).</a:t>
            </a:r>
          </a:p>
        </p:txBody>
      </p:sp>
      <p:sp>
        <p:nvSpPr>
          <p:cNvPr id="11" name="Rounded Rectangle 10"/>
          <p:cNvSpPr/>
          <p:nvPr/>
        </p:nvSpPr>
        <p:spPr>
          <a:xfrm>
            <a:off x="6245352" y="5120640"/>
            <a:ext cx="5715000" cy="1463040"/>
          </a:xfrm>
          <a:prstGeom prst="roundRect">
            <a:avLst/>
          </a:prstGeom>
          <a:solidFill>
            <a:srgbClr val="FFFFFF"/>
          </a:solidFill>
          <a:ln w="1270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a:lstStyle/>
          <a:p>
            <a:pPr algn="ctr">
              <a:defRPr sz="1100" b="1">
                <a:solidFill>
                  <a:srgbClr val="2E7D32"/>
                </a:solidFill>
              </a:defRPr>
            </a:pPr>
            <a:r>
              <a:t>Impacto na nossa tese</a:t>
            </a:r>
          </a:p>
          <a:p>
            <a:pPr>
              <a:defRPr sz="1200">
                <a:solidFill>
                  <a:srgbClr val="3D424E"/>
                </a:solidFill>
              </a:defRPr>
            </a:pPr>
            <a:r>
              <a:t>DECISÃO TÉCNICA: usar SkinToneNet pré-treinado como insumo do pipeline (economiza ~3 semanas de cronograma). Nossa C2 (matriz cruzada MST × raça) segue contribuição original. STW pode ser dataset de validação externa do Cap 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521440" cy="548640"/>
          </a:xfrm>
          <a:prstGeom prst="rect">
            <a:avLst/>
          </a:prstGeom>
          <a:noFill/>
        </p:spPr>
        <p:txBody>
          <a:bodyPr wrap="none">
            <a:spAutoFit/>
          </a:bodyPr>
          <a:lstStyle/>
          <a:p>
            <a:pPr>
              <a:defRPr sz="1800" b="1">
                <a:solidFill>
                  <a:srgbClr val="1F2A4E"/>
                </a:solidFill>
              </a:defRPr>
            </a:pPr>
            <a:r>
              <a:t>Dooley et al. (2022/23) — Fairer architectures make for fairer FR</a:t>
            </a:r>
          </a:p>
        </p:txBody>
      </p:sp>
      <p:sp>
        <p:nvSpPr>
          <p:cNvPr id="3" name="TextBox 2"/>
          <p:cNvSpPr txBox="1"/>
          <p:nvPr/>
        </p:nvSpPr>
        <p:spPr>
          <a:xfrm>
            <a:off x="365760" y="640080"/>
            <a:ext cx="11521440" cy="274320"/>
          </a:xfrm>
          <a:prstGeom prst="rect">
            <a:avLst/>
          </a:prstGeom>
          <a:noFill/>
        </p:spPr>
        <p:txBody>
          <a:bodyPr wrap="none">
            <a:spAutoFit/>
          </a:bodyPr>
          <a:lstStyle/>
          <a:p>
            <a:pPr>
              <a:defRPr sz="1100" i="1">
                <a:solidFill>
                  <a:srgbClr val="707682"/>
                </a:solidFill>
              </a:defRPr>
            </a:pPr>
            <a:r>
              <a:t>arXiv:2210.09943 — Maryland / Bosch / ELLIS / Tübingen — versão dez 2023</a:t>
            </a:r>
          </a:p>
        </p:txBody>
      </p:sp>
      <p:sp>
        <p:nvSpPr>
          <p:cNvPr id="4" name="Rectangle 3"/>
          <p:cNvSpPr/>
          <p:nvPr/>
        </p:nvSpPr>
        <p:spPr>
          <a:xfrm>
            <a:off x="365760" y="960120"/>
            <a:ext cx="11521440" cy="36576"/>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365760" y="1097280"/>
            <a:ext cx="5715000" cy="137160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a:lstStyle/>
          <a:p>
            <a:pPr algn="ctr">
              <a:defRPr sz="1000" b="1">
                <a:solidFill>
                  <a:srgbClr val="1F2A4E"/>
                </a:solidFill>
              </a:defRPr>
            </a:pPr>
            <a:r>
              <a:t>Contexto teórico / motivação</a:t>
            </a:r>
          </a:p>
          <a:p>
            <a:pPr>
              <a:defRPr sz="1100">
                <a:solidFill>
                  <a:srgbClr val="3D424E"/>
                </a:solidFill>
              </a:defRPr>
            </a:pPr>
            <a:r>
              <a:t>A literatura de fairness mitigation focava majoritariamente em dados (re-sampling) e loss functions (FSCL, Group DRO). Arquitetura era assumida como variável neutra. Faltava investigação sobre se NAS pode encontrar arquiteturas inerentemente mais fair.</a:t>
            </a:r>
          </a:p>
        </p:txBody>
      </p:sp>
      <p:sp>
        <p:nvSpPr>
          <p:cNvPr id="6" name="Rounded Rectangle 5"/>
          <p:cNvSpPr/>
          <p:nvPr/>
        </p:nvSpPr>
        <p:spPr>
          <a:xfrm>
            <a:off x="365760" y="2514600"/>
            <a:ext cx="5715000" cy="1325880"/>
          </a:xfrm>
          <a:prstGeom prst="roundRect">
            <a:avLst/>
          </a:prstGeom>
          <a:solidFill>
            <a:srgbClr val="FFFFFF"/>
          </a:solidFill>
          <a:ln w="1270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a:lstStyle/>
          <a:p>
            <a:pPr algn="ctr">
              <a:defRPr sz="1000" b="1">
                <a:solidFill>
                  <a:srgbClr val="1F2A4E"/>
                </a:solidFill>
              </a:defRPr>
            </a:pPr>
            <a:r>
              <a:t>Pergunta de pesquisa</a:t>
            </a:r>
          </a:p>
          <a:p>
            <a:pPr>
              <a:defRPr sz="1100">
                <a:solidFill>
                  <a:srgbClr val="3D424E"/>
                </a:solidFill>
              </a:defRPr>
            </a:pPr>
            <a:r>
              <a:t>Bias em FR é apenas consequência dos dados de treino ou também emerge da arquitetura? Existe arquitetura que reduza disparity sem qualquer intervenção em dados ou loss?</a:t>
            </a:r>
          </a:p>
        </p:txBody>
      </p:sp>
      <p:sp>
        <p:nvSpPr>
          <p:cNvPr id="7" name="Rounded Rectangle 6"/>
          <p:cNvSpPr/>
          <p:nvPr/>
        </p:nvSpPr>
        <p:spPr>
          <a:xfrm>
            <a:off x="365760" y="3886200"/>
            <a:ext cx="5715000" cy="269748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a:lstStyle/>
          <a:p>
            <a:pPr algn="ctr">
              <a:defRPr sz="1000" b="1">
                <a:solidFill>
                  <a:srgbClr val="1F2A4E"/>
                </a:solidFill>
              </a:defRPr>
            </a:pPr>
            <a:r>
              <a:t>Metodologia detalhada</a:t>
            </a:r>
          </a:p>
          <a:p>
            <a:pPr>
              <a:defRPr sz="1100">
                <a:solidFill>
                  <a:srgbClr val="3D424E"/>
                </a:solidFill>
              </a:defRPr>
            </a:pPr>
            <a:r>
              <a:t>Neural Architecture Search (NAS) bi-objetivo: accuracy E fairness (medida por DR / EOD). Busca jointly arquitetura + hiperparâmetros em espaço de centenas de candidatos. Datasets de avaliação: CelebA, RFW, BFW. Métricas: TAR@FAR por grupo + Demographic Parity Difference.</a:t>
            </a:r>
          </a:p>
        </p:txBody>
      </p:sp>
      <p:sp>
        <p:nvSpPr>
          <p:cNvPr id="8" name="Rounded Rectangle 7"/>
          <p:cNvSpPr/>
          <p:nvPr/>
        </p:nvSpPr>
        <p:spPr>
          <a:xfrm>
            <a:off x="6245352" y="1097280"/>
            <a:ext cx="5715000" cy="146304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a:lstStyle/>
          <a:p>
            <a:pPr algn="ctr">
              <a:defRPr sz="1000" b="1">
                <a:solidFill>
                  <a:srgbClr val="1F2A4E"/>
                </a:solidFill>
              </a:defRPr>
            </a:pPr>
            <a:r>
              <a:t>Resultados principais (números/achados)</a:t>
            </a:r>
          </a:p>
          <a:p>
            <a:pPr>
              <a:defRPr sz="1100">
                <a:solidFill>
                  <a:srgbClr val="3D424E"/>
                </a:solidFill>
              </a:defRPr>
            </a:pPr>
            <a:r>
              <a:t>Frente de Pareto inclui arquiteturas que DOMINAM ResNet-50/100 e MobileNet em accuracy E fairness simultaneamente. Modificações arquiteturais SOZINHAS (sem dados extra, sem mitigação algorítmica) reduzem disparity em até 30%. Arquiteturas vencedoras têm padrões distintos (mais skip connections, menos depth).</a:t>
            </a:r>
          </a:p>
        </p:txBody>
      </p:sp>
      <p:sp>
        <p:nvSpPr>
          <p:cNvPr id="9" name="Rounded Rectangle 8"/>
          <p:cNvSpPr/>
          <p:nvPr/>
        </p:nvSpPr>
        <p:spPr>
          <a:xfrm>
            <a:off x="6245352" y="2606039"/>
            <a:ext cx="5715000" cy="1280160"/>
          </a:xfrm>
          <a:prstGeom prst="roundRect">
            <a:avLst/>
          </a:prstGeom>
          <a:solidFill>
            <a:srgbClr val="FFFFFF"/>
          </a:solidFill>
          <a:ln w="12700">
            <a:solidFill>
              <a:srgbClr val="70768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a:lstStyle/>
          <a:p>
            <a:pPr algn="ctr">
              <a:defRPr sz="1000" b="1">
                <a:solidFill>
                  <a:srgbClr val="707682"/>
                </a:solidFill>
              </a:defRPr>
            </a:pPr>
            <a:r>
              <a:t>Crítica metodológica e limitações</a:t>
            </a:r>
          </a:p>
          <a:p>
            <a:pPr>
              <a:defRPr sz="1100">
                <a:solidFill>
                  <a:srgbClr val="3D424E"/>
                </a:solidFill>
              </a:defRPr>
            </a:pPr>
            <a:r>
              <a:t>Custo computacional altíssimo — NAS proibitivo para a maioria dos labs. Arquiteturas vencedoras não têm interpretação semântica clara (por que essa estrutura é mais fair?). Não testa em FairFace 7-class race especificamente. ConvNeXt-T não está no espaço de busca.</a:t>
            </a:r>
          </a:p>
        </p:txBody>
      </p:sp>
      <p:sp>
        <p:nvSpPr>
          <p:cNvPr id="10" name="Rounded Rectangle 9"/>
          <p:cNvSpPr/>
          <p:nvPr/>
        </p:nvSpPr>
        <p:spPr>
          <a:xfrm>
            <a:off x="6245352" y="3931920"/>
            <a:ext cx="5715000" cy="114300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a:lstStyle/>
          <a:p>
            <a:pPr algn="ctr">
              <a:defRPr sz="1000" b="1">
                <a:solidFill>
                  <a:srgbClr val="1F2A4E"/>
                </a:solidFill>
              </a:defRPr>
            </a:pPr>
            <a:r>
              <a:t>Conexões com outras fichas do corpus</a:t>
            </a:r>
          </a:p>
          <a:p>
            <a:pPr>
              <a:defRPr sz="1100">
                <a:solidFill>
                  <a:srgbClr val="3D424E"/>
                </a:solidFill>
              </a:defRPr>
            </a:pPr>
            <a:r>
              <a:t>Conversa com Manzoor &amp; Rattani 2024 (FineFACE) que também aposta em mudança arquitetural (cross-layer attention). Implicitamente reforça preocupação de Lin et al. 2022 (FairGRAPE) com modificações estruturais. Contrasta com Park et al. 2022 (FSCL) que muda apenas a loss.</a:t>
            </a:r>
          </a:p>
        </p:txBody>
      </p:sp>
      <p:sp>
        <p:nvSpPr>
          <p:cNvPr id="11" name="Rounded Rectangle 10"/>
          <p:cNvSpPr/>
          <p:nvPr/>
        </p:nvSpPr>
        <p:spPr>
          <a:xfrm>
            <a:off x="6245352" y="5120640"/>
            <a:ext cx="5715000" cy="1463040"/>
          </a:xfrm>
          <a:prstGeom prst="roundRect">
            <a:avLst/>
          </a:prstGeom>
          <a:solidFill>
            <a:srgbClr val="FFFFFF"/>
          </a:solidFill>
          <a:ln w="1270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a:lstStyle/>
          <a:p>
            <a:pPr algn="ctr">
              <a:defRPr sz="1100" b="1">
                <a:solidFill>
                  <a:srgbClr val="1F2A4E"/>
                </a:solidFill>
              </a:defRPr>
            </a:pPr>
            <a:r>
              <a:t>Impacto na nossa tese</a:t>
            </a:r>
          </a:p>
          <a:p>
            <a:pPr>
              <a:defRPr sz="1200">
                <a:solidFill>
                  <a:srgbClr val="3D424E"/>
                </a:solidFill>
              </a:defRPr>
            </a:pPr>
            <a:r>
              <a:t>REFORÇA H2 (testar se trocar de ResNet-34 para ConvNeXt-T já reduz disparity). Justifica escolha de backbone moderno. Se H1 falhar mas ConvNeXt-T puro já reduzir disparity, parte do efeito é atribuível à arquitetura — resultado científico válido.</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521440" cy="548640"/>
          </a:xfrm>
          <a:prstGeom prst="rect">
            <a:avLst/>
          </a:prstGeom>
          <a:noFill/>
        </p:spPr>
        <p:txBody>
          <a:bodyPr wrap="none">
            <a:spAutoFit/>
          </a:bodyPr>
          <a:lstStyle/>
          <a:p>
            <a:pPr>
              <a:defRPr sz="1800" b="1">
                <a:solidFill>
                  <a:srgbClr val="1F2A4E"/>
                </a:solidFill>
              </a:defRPr>
            </a:pPr>
            <a:r>
              <a:t>Aguirre &amp; Dredze (2023) — Transferring fairness via multi-task learning</a:t>
            </a:r>
          </a:p>
        </p:txBody>
      </p:sp>
      <p:sp>
        <p:nvSpPr>
          <p:cNvPr id="3" name="TextBox 2"/>
          <p:cNvSpPr txBox="1"/>
          <p:nvPr/>
        </p:nvSpPr>
        <p:spPr>
          <a:xfrm>
            <a:off x="365760" y="640080"/>
            <a:ext cx="11521440" cy="274320"/>
          </a:xfrm>
          <a:prstGeom prst="rect">
            <a:avLst/>
          </a:prstGeom>
          <a:noFill/>
        </p:spPr>
        <p:txBody>
          <a:bodyPr wrap="none">
            <a:spAutoFit/>
          </a:bodyPr>
          <a:lstStyle/>
          <a:p>
            <a:pPr>
              <a:defRPr sz="1100" i="1">
                <a:solidFill>
                  <a:srgbClr val="707682"/>
                </a:solidFill>
              </a:defRPr>
            </a:pPr>
            <a:r>
              <a:t>arXiv:2305.12671 — Johns Hopkins (NLP) — versão revisada abr 2024</a:t>
            </a:r>
          </a:p>
        </p:txBody>
      </p:sp>
      <p:sp>
        <p:nvSpPr>
          <p:cNvPr id="4" name="Rectangle 3"/>
          <p:cNvSpPr/>
          <p:nvPr/>
        </p:nvSpPr>
        <p:spPr>
          <a:xfrm>
            <a:off x="365760" y="960120"/>
            <a:ext cx="11521440" cy="36576"/>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365760" y="1097280"/>
            <a:ext cx="5715000" cy="137160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a:lstStyle/>
          <a:p>
            <a:pPr algn="ctr">
              <a:defRPr sz="1000" b="1">
                <a:solidFill>
                  <a:srgbClr val="1F2A4E"/>
                </a:solidFill>
              </a:defRPr>
            </a:pPr>
            <a:r>
              <a:t>Contexto teórico / motivação</a:t>
            </a:r>
          </a:p>
          <a:p>
            <a:pPr>
              <a:defRPr sz="1100">
                <a:solidFill>
                  <a:srgbClr val="3D424E"/>
                </a:solidFill>
              </a:defRPr>
            </a:pPr>
            <a:r>
              <a:t>LAFTR (Madras 2018) provou teoricamente que fairness pode transferir entre tarefas via representação compartilhada, mas a validação empírica era limitada. Quando demographic labels existem em uma tarefa mas não na outra, esse princípio teórico tinha utilidade prática não explorada.</a:t>
            </a:r>
          </a:p>
        </p:txBody>
      </p:sp>
      <p:sp>
        <p:nvSpPr>
          <p:cNvPr id="6" name="Rounded Rectangle 5"/>
          <p:cNvSpPr/>
          <p:nvPr/>
        </p:nvSpPr>
        <p:spPr>
          <a:xfrm>
            <a:off x="365760" y="2514600"/>
            <a:ext cx="5715000" cy="1325880"/>
          </a:xfrm>
          <a:prstGeom prst="roundRect">
            <a:avLst/>
          </a:prstGeom>
          <a:solidFill>
            <a:srgbClr val="FFFFFF"/>
          </a:solidFill>
          <a:ln w="1270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a:lstStyle/>
          <a:p>
            <a:pPr algn="ctr">
              <a:defRPr sz="1000" b="1">
                <a:solidFill>
                  <a:srgbClr val="1F2A4E"/>
                </a:solidFill>
              </a:defRPr>
            </a:pPr>
            <a:r>
              <a:t>Pergunta de pesquisa</a:t>
            </a:r>
          </a:p>
          <a:p>
            <a:pPr>
              <a:defRPr sz="1100">
                <a:solidFill>
                  <a:srgbClr val="3D424E"/>
                </a:solidFill>
              </a:defRPr>
            </a:pPr>
            <a:r>
              <a:t>Quando demographic labels estão disponíveis APENAS em uma tarefa relacionada (não na tarefa-alvo), é possível transferir fairness via multi-task learning? Em que magnitude e sob quais condições?</a:t>
            </a:r>
          </a:p>
        </p:txBody>
      </p:sp>
      <p:sp>
        <p:nvSpPr>
          <p:cNvPr id="7" name="Rounded Rectangle 6"/>
          <p:cNvSpPr/>
          <p:nvPr/>
        </p:nvSpPr>
        <p:spPr>
          <a:xfrm>
            <a:off x="365760" y="3886200"/>
            <a:ext cx="5715000" cy="269748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a:lstStyle/>
          <a:p>
            <a:pPr algn="ctr">
              <a:defRPr sz="1000" b="1">
                <a:solidFill>
                  <a:srgbClr val="1F2A4E"/>
                </a:solidFill>
              </a:defRPr>
            </a:pPr>
            <a:r>
              <a:t>Metodologia detalhada</a:t>
            </a:r>
          </a:p>
          <a:p>
            <a:pPr>
              <a:defRPr sz="1100">
                <a:solidFill>
                  <a:srgbClr val="3D424E"/>
                </a:solidFill>
              </a:defRPr>
            </a:pPr>
            <a:r>
              <a:t>Adapta single-task fairness loss para framework multi-task. Treina classificador na tarefa-alvo SEM demographic labels, usando demographic labels APENAS na tarefa auxiliar. Avalia em datasets de NLP (toxicidade Jigsaw, sentiment Twitter) com atributos sensíveis de raça e gênero. Compara contra single-task baseline e contra multi-task sem fairness loss auxiliar.</a:t>
            </a:r>
          </a:p>
        </p:txBody>
      </p:sp>
      <p:sp>
        <p:nvSpPr>
          <p:cNvPr id="8" name="Rounded Rectangle 7"/>
          <p:cNvSpPr/>
          <p:nvPr/>
        </p:nvSpPr>
        <p:spPr>
          <a:xfrm>
            <a:off x="6245352" y="1097280"/>
            <a:ext cx="5715000" cy="146304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a:lstStyle/>
          <a:p>
            <a:pPr algn="ctr">
              <a:defRPr sz="1000" b="1">
                <a:solidFill>
                  <a:srgbClr val="1F2A4E"/>
                </a:solidFill>
              </a:defRPr>
            </a:pPr>
            <a:r>
              <a:t>Resultados principais (números/achados)</a:t>
            </a:r>
          </a:p>
          <a:p>
            <a:pPr>
              <a:defRPr sz="1100">
                <a:solidFill>
                  <a:srgbClr val="3D424E"/>
                </a:solidFill>
              </a:defRPr>
            </a:pPr>
            <a:r>
              <a:t>Objetivos de fairness demográfico se transferem empiricamente para a tarefa-alvo em todos os datasets testados. Permite intersectional fairness combinando datasets com atributos demográficos diferentes (single-axis). Magnitude da transferência: ~70-80% da redução de disparity vista em single-task fair.</a:t>
            </a:r>
          </a:p>
        </p:txBody>
      </p:sp>
      <p:sp>
        <p:nvSpPr>
          <p:cNvPr id="9" name="Rounded Rectangle 8"/>
          <p:cNvSpPr/>
          <p:nvPr/>
        </p:nvSpPr>
        <p:spPr>
          <a:xfrm>
            <a:off x="6245352" y="2606039"/>
            <a:ext cx="5715000" cy="1280160"/>
          </a:xfrm>
          <a:prstGeom prst="roundRect">
            <a:avLst/>
          </a:prstGeom>
          <a:solidFill>
            <a:srgbClr val="FFFFFF"/>
          </a:solidFill>
          <a:ln w="12700">
            <a:solidFill>
              <a:srgbClr val="70768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a:lstStyle/>
          <a:p>
            <a:pPr algn="ctr">
              <a:defRPr sz="1000" b="1">
                <a:solidFill>
                  <a:srgbClr val="707682"/>
                </a:solidFill>
              </a:defRPr>
            </a:pPr>
            <a:r>
              <a:t>Crítica metodológica e limitações</a:t>
            </a:r>
          </a:p>
          <a:p>
            <a:pPr>
              <a:defRPr sz="1100">
                <a:solidFill>
                  <a:srgbClr val="3D424E"/>
                </a:solidFill>
              </a:defRPr>
            </a:pPr>
            <a:r>
              <a:t>Experimentos em NLP — não validados em CV/face. Magnitude da transferência depende de correlação entre tarefas auxiliar e alvo. Não testa robustez sob distribution shift. Único atributo sensível por experimento.</a:t>
            </a:r>
          </a:p>
        </p:txBody>
      </p:sp>
      <p:sp>
        <p:nvSpPr>
          <p:cNvPr id="10" name="Rounded Rectangle 9"/>
          <p:cNvSpPr/>
          <p:nvPr/>
        </p:nvSpPr>
        <p:spPr>
          <a:xfrm>
            <a:off x="6245352" y="3931920"/>
            <a:ext cx="5715000" cy="114300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a:lstStyle/>
          <a:p>
            <a:pPr algn="ctr">
              <a:defRPr sz="1000" b="1">
                <a:solidFill>
                  <a:srgbClr val="1F2A4E"/>
                </a:solidFill>
              </a:defRPr>
            </a:pPr>
            <a:r>
              <a:t>Conexões com outras fichas do corpus</a:t>
            </a:r>
          </a:p>
          <a:p>
            <a:pPr>
              <a:defRPr sz="1100">
                <a:solidFill>
                  <a:srgbClr val="3D424E"/>
                </a:solidFill>
              </a:defRPr>
            </a:pPr>
            <a:r>
              <a:t>Reforço empírico direto de Madras et al. 2018 (LAFTR). Conversa com Zemel et al. 2013 (LFR — paradigma fundador). Compatível com Hardt et al. 2016 (métricas de fairness).</a:t>
            </a:r>
          </a:p>
        </p:txBody>
      </p:sp>
      <p:sp>
        <p:nvSpPr>
          <p:cNvPr id="11" name="Rounded Rectangle 10"/>
          <p:cNvSpPr/>
          <p:nvPr/>
        </p:nvSpPr>
        <p:spPr>
          <a:xfrm>
            <a:off x="6245352" y="5120640"/>
            <a:ext cx="5715000" cy="1463040"/>
          </a:xfrm>
          <a:prstGeom prst="roundRect">
            <a:avLst/>
          </a:prstGeom>
          <a:solidFill>
            <a:srgbClr val="FFFFFF"/>
          </a:solidFill>
          <a:ln w="1270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a:lstStyle/>
          <a:p>
            <a:pPr algn="ctr">
              <a:defRPr sz="1100" b="1">
                <a:solidFill>
                  <a:srgbClr val="1F2A4E"/>
                </a:solidFill>
              </a:defRPr>
            </a:pPr>
            <a:r>
              <a:t>Impacto na nossa tese</a:t>
            </a:r>
          </a:p>
          <a:p>
            <a:pPr>
              <a:defRPr sz="1200">
                <a:solidFill>
                  <a:srgbClr val="3D424E"/>
                </a:solidFill>
              </a:defRPr>
            </a:pPr>
            <a:r>
              <a:t>REFORÇO EMPÍRICO do princípio teórico do LAFTR. Suporta etapa 3 (race + tom auxiliar) e etapa 5 (transferência para FR) do pipeline. Princípio é independente da modalidade, mas precisamos validar empiricamente em face — é o que faremos no Cap 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521440" cy="548640"/>
          </a:xfrm>
          <a:prstGeom prst="rect">
            <a:avLst/>
          </a:prstGeom>
          <a:noFill/>
        </p:spPr>
        <p:txBody>
          <a:bodyPr wrap="none">
            <a:spAutoFit/>
          </a:bodyPr>
          <a:lstStyle/>
          <a:p>
            <a:pPr>
              <a:defRPr sz="1800" b="1">
                <a:solidFill>
                  <a:srgbClr val="1F2A4E"/>
                </a:solidFill>
              </a:defRPr>
            </a:pPr>
            <a:r>
              <a:t>Kolla &amp; Savadamuthu (2022/23) — Impact of racial distribution in FR training</a:t>
            </a:r>
          </a:p>
        </p:txBody>
      </p:sp>
      <p:sp>
        <p:nvSpPr>
          <p:cNvPr id="3" name="TextBox 2"/>
          <p:cNvSpPr txBox="1"/>
          <p:nvPr/>
        </p:nvSpPr>
        <p:spPr>
          <a:xfrm>
            <a:off x="365760" y="640080"/>
            <a:ext cx="11521440" cy="274320"/>
          </a:xfrm>
          <a:prstGeom prst="rect">
            <a:avLst/>
          </a:prstGeom>
          <a:noFill/>
        </p:spPr>
        <p:txBody>
          <a:bodyPr wrap="none">
            <a:spAutoFit/>
          </a:bodyPr>
          <a:lstStyle/>
          <a:p>
            <a:pPr>
              <a:defRPr sz="1100" i="1">
                <a:solidFill>
                  <a:srgbClr val="707682"/>
                </a:solidFill>
              </a:defRPr>
            </a:pPr>
            <a:r>
              <a:t>arXiv:2211.14498 — WACVW 2023 (IEEE/CVF Winter Conf. Workshops)</a:t>
            </a:r>
          </a:p>
        </p:txBody>
      </p:sp>
      <p:sp>
        <p:nvSpPr>
          <p:cNvPr id="4" name="Rectangle 3"/>
          <p:cNvSpPr/>
          <p:nvPr/>
        </p:nvSpPr>
        <p:spPr>
          <a:xfrm>
            <a:off x="365760" y="960120"/>
            <a:ext cx="11521440" cy="36576"/>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365760" y="1097280"/>
            <a:ext cx="5715000" cy="137160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a:lstStyle/>
          <a:p>
            <a:pPr algn="ctr">
              <a:defRPr sz="1000" b="1">
                <a:solidFill>
                  <a:srgbClr val="1F2A4E"/>
                </a:solidFill>
              </a:defRPr>
            </a:pPr>
            <a:r>
              <a:t>Contexto teórico / motivação</a:t>
            </a:r>
          </a:p>
          <a:p>
            <a:pPr>
              <a:defRPr sz="1100">
                <a:solidFill>
                  <a:srgbClr val="3D424E"/>
                </a:solidFill>
              </a:defRPr>
            </a:pPr>
            <a:r>
              <a:t>A linha de mitigação 'rebalancear o dataset' (Karkkainen &amp; Joo 2021 com FairFace) era assumida como suficiente. Mas se balanceamento bastasse, o gap Latinx no FairFace já estaria resolvido — e não está. Faltava investigação sistemática do limite dessa abordagem.</a:t>
            </a:r>
          </a:p>
        </p:txBody>
      </p:sp>
      <p:sp>
        <p:nvSpPr>
          <p:cNvPr id="6" name="Rounded Rectangle 5"/>
          <p:cNvSpPr/>
          <p:nvPr/>
        </p:nvSpPr>
        <p:spPr>
          <a:xfrm>
            <a:off x="365760" y="2514600"/>
            <a:ext cx="5715000" cy="1325880"/>
          </a:xfrm>
          <a:prstGeom prst="roundRect">
            <a:avLst/>
          </a:prstGeom>
          <a:solidFill>
            <a:srgbClr val="FFFFFF"/>
          </a:solidFill>
          <a:ln w="1270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a:lstStyle/>
          <a:p>
            <a:pPr algn="ctr">
              <a:defRPr sz="1000" b="1">
                <a:solidFill>
                  <a:srgbClr val="1F2A4E"/>
                </a:solidFill>
              </a:defRPr>
            </a:pPr>
            <a:r>
              <a:t>Pergunta de pesquisa</a:t>
            </a:r>
          </a:p>
          <a:p>
            <a:pPr>
              <a:defRPr sz="1100">
                <a:solidFill>
                  <a:srgbClr val="3D424E"/>
                </a:solidFill>
              </a:defRPr>
            </a:pPr>
            <a:r>
              <a:t>Balancear a distribuição racial no dataset de treino é SUFICIENTE para eliminar disparities raciais em face recognition? Em que cenários falha?</a:t>
            </a:r>
          </a:p>
        </p:txBody>
      </p:sp>
      <p:sp>
        <p:nvSpPr>
          <p:cNvPr id="7" name="Rounded Rectangle 6"/>
          <p:cNvSpPr/>
          <p:nvPr/>
        </p:nvSpPr>
        <p:spPr>
          <a:xfrm>
            <a:off x="365760" y="3886200"/>
            <a:ext cx="5715000" cy="269748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a:lstStyle/>
          <a:p>
            <a:pPr algn="ctr">
              <a:defRPr sz="1000" b="1">
                <a:solidFill>
                  <a:srgbClr val="1F2A4E"/>
                </a:solidFill>
              </a:defRPr>
            </a:pPr>
            <a:r>
              <a:t>Metodologia detalhada</a:t>
            </a:r>
          </a:p>
          <a:p>
            <a:pPr>
              <a:defRPr sz="1100">
                <a:solidFill>
                  <a:srgbClr val="3D424E"/>
                </a:solidFill>
              </a:defRPr>
            </a:pPr>
            <a:r>
              <a:t>Treina ArcFace em variantes do dataset MS1MV2 com proporções variáveis de raças: uniforme (33% cada), skewed-toward-Black (60% Black), skewed-toward-White (60% White). Introduz métrica 'racial gradation' para medir correlação intra/inter-classe. Avalia em RFW e auditoria estratificada por qualidade da imagem.</a:t>
            </a:r>
          </a:p>
        </p:txBody>
      </p:sp>
      <p:sp>
        <p:nvSpPr>
          <p:cNvPr id="8" name="Rounded Rectangle 7"/>
          <p:cNvSpPr/>
          <p:nvPr/>
        </p:nvSpPr>
        <p:spPr>
          <a:xfrm>
            <a:off x="6245352" y="1097280"/>
            <a:ext cx="5715000" cy="146304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a:lstStyle/>
          <a:p>
            <a:pPr algn="ctr">
              <a:defRPr sz="1000" b="1">
                <a:solidFill>
                  <a:srgbClr val="1F2A4E"/>
                </a:solidFill>
              </a:defRPr>
            </a:pPr>
            <a:r>
              <a:t>Resultados principais (números/achados)</a:t>
            </a:r>
          </a:p>
          <a:p>
            <a:pPr>
              <a:defRPr sz="1100">
                <a:solidFill>
                  <a:srgbClr val="3D424E"/>
                </a:solidFill>
              </a:defRPr>
            </a:pPr>
            <a:r>
              <a:t>Distribuição uniforme de raças no treino NÃO garante FR sem viés. Skewed-toward-Black supera uniforme para grupo Black em ~3pp TAR@FAR. Qualidade da imagem introduz disparity adicional que NENHUMA distribuição de treino captura. Sugere limite fundamental da estratégia 'só balancear dados'.</a:t>
            </a:r>
          </a:p>
        </p:txBody>
      </p:sp>
      <p:sp>
        <p:nvSpPr>
          <p:cNvPr id="9" name="Rounded Rectangle 8"/>
          <p:cNvSpPr/>
          <p:nvPr/>
        </p:nvSpPr>
        <p:spPr>
          <a:xfrm>
            <a:off x="6245352" y="2606039"/>
            <a:ext cx="5715000" cy="1280160"/>
          </a:xfrm>
          <a:prstGeom prst="roundRect">
            <a:avLst/>
          </a:prstGeom>
          <a:solidFill>
            <a:srgbClr val="FFFFFF"/>
          </a:solidFill>
          <a:ln w="12700">
            <a:solidFill>
              <a:srgbClr val="70768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a:lstStyle/>
          <a:p>
            <a:pPr algn="ctr">
              <a:defRPr sz="1000" b="1">
                <a:solidFill>
                  <a:srgbClr val="707682"/>
                </a:solidFill>
              </a:defRPr>
            </a:pPr>
            <a:r>
              <a:t>Crítica metodológica e limitações</a:t>
            </a:r>
          </a:p>
          <a:p>
            <a:pPr>
              <a:defRPr sz="1100">
                <a:solidFill>
                  <a:srgbClr val="3D424E"/>
                </a:solidFill>
              </a:defRPr>
            </a:pPr>
            <a:r>
              <a:t>Workshop paper — revisão menos profunda que main conference. Foco em ArcFace específico (outras losses podem se comportar diferente). Não compara contra intervenções arquiteturais. Skewed-toward-Black testado apenas com 60% (não outras proporções).</a:t>
            </a:r>
          </a:p>
        </p:txBody>
      </p:sp>
      <p:sp>
        <p:nvSpPr>
          <p:cNvPr id="10" name="Rounded Rectangle 9"/>
          <p:cNvSpPr/>
          <p:nvPr/>
        </p:nvSpPr>
        <p:spPr>
          <a:xfrm>
            <a:off x="6245352" y="3931920"/>
            <a:ext cx="5715000" cy="114300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a:lstStyle/>
          <a:p>
            <a:pPr algn="ctr">
              <a:defRPr sz="1000" b="1">
                <a:solidFill>
                  <a:srgbClr val="1F2A4E"/>
                </a:solidFill>
              </a:defRPr>
            </a:pPr>
            <a:r>
              <a:t>Conexões com outras fichas do corpus</a:t>
            </a:r>
          </a:p>
          <a:p>
            <a:pPr>
              <a:defRPr sz="1100">
                <a:solidFill>
                  <a:srgbClr val="3D424E"/>
                </a:solidFill>
              </a:defRPr>
            </a:pPr>
            <a:r>
              <a:t>Refina Karkkainen &amp; Joo 2021 (FairFace — premissa do balanceamento). Compatível com Pangelinan 2023 (pixel info como confounder). Reforça argumento de Dooley 2022 (arquitetura importa).</a:t>
            </a:r>
          </a:p>
        </p:txBody>
      </p:sp>
      <p:sp>
        <p:nvSpPr>
          <p:cNvPr id="11" name="Rounded Rectangle 10"/>
          <p:cNvSpPr/>
          <p:nvPr/>
        </p:nvSpPr>
        <p:spPr>
          <a:xfrm>
            <a:off x="6245352" y="5120640"/>
            <a:ext cx="5715000" cy="1463040"/>
          </a:xfrm>
          <a:prstGeom prst="roundRect">
            <a:avLst/>
          </a:prstGeom>
          <a:solidFill>
            <a:srgbClr val="FFFFFF"/>
          </a:solidFill>
          <a:ln w="1270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a:lstStyle/>
          <a:p>
            <a:pPr algn="ctr">
              <a:defRPr sz="1100" b="1">
                <a:solidFill>
                  <a:srgbClr val="1F2A4E"/>
                </a:solidFill>
              </a:defRPr>
            </a:pPr>
            <a:r>
              <a:t>Impacto na nossa tese</a:t>
            </a:r>
          </a:p>
          <a:p>
            <a:pPr>
              <a:defRPr sz="1200">
                <a:solidFill>
                  <a:srgbClr val="3D424E"/>
                </a:solidFill>
              </a:defRPr>
            </a:pPr>
            <a:r>
              <a:t>JUSTIFICA INTERVENÇÃO ARQUITETURAL além de balanceamento de dados. FairFace JÁ é balanceado, e o gap Latinx persiste — coerente com nossa tese de que precisamos do FiLM-conditioning. Reforça argumento contra resolver fairness apenas com dados.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521440" cy="548640"/>
          </a:xfrm>
          <a:prstGeom prst="rect">
            <a:avLst/>
          </a:prstGeom>
          <a:noFill/>
        </p:spPr>
        <p:txBody>
          <a:bodyPr wrap="none">
            <a:spAutoFit/>
          </a:bodyPr>
          <a:lstStyle/>
          <a:p>
            <a:pPr>
              <a:defRPr sz="1800" b="1">
                <a:solidFill>
                  <a:srgbClr val="1F2A4E"/>
                </a:solidFill>
              </a:defRPr>
            </a:pPr>
            <a:r>
              <a:t>Liu et al. (2025) — BNMR: Bayesian Network meta-learning para fairness</a:t>
            </a:r>
          </a:p>
        </p:txBody>
      </p:sp>
      <p:sp>
        <p:nvSpPr>
          <p:cNvPr id="3" name="TextBox 2"/>
          <p:cNvSpPr txBox="1"/>
          <p:nvPr/>
        </p:nvSpPr>
        <p:spPr>
          <a:xfrm>
            <a:off x="365760" y="640080"/>
            <a:ext cx="11521440" cy="274320"/>
          </a:xfrm>
          <a:prstGeom prst="rect">
            <a:avLst/>
          </a:prstGeom>
          <a:noFill/>
        </p:spPr>
        <p:txBody>
          <a:bodyPr wrap="none">
            <a:spAutoFit/>
          </a:bodyPr>
          <a:lstStyle/>
          <a:p>
            <a:pPr>
              <a:defRPr sz="1100" i="1">
                <a:solidFill>
                  <a:srgbClr val="707682"/>
                </a:solidFill>
              </a:defRPr>
            </a:pPr>
            <a:r>
              <a:t>arXiv:2505.01699 — ACM FAccT 2025 (top venue ética AI)</a:t>
            </a:r>
          </a:p>
        </p:txBody>
      </p:sp>
      <p:sp>
        <p:nvSpPr>
          <p:cNvPr id="4" name="Rectangle 3"/>
          <p:cNvSpPr/>
          <p:nvPr/>
        </p:nvSpPr>
        <p:spPr>
          <a:xfrm>
            <a:off x="365760" y="960120"/>
            <a:ext cx="11521440" cy="36576"/>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365760" y="1097280"/>
            <a:ext cx="5715000" cy="137160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a:lstStyle/>
          <a:p>
            <a:pPr algn="ctr">
              <a:defRPr sz="1000" b="1">
                <a:solidFill>
                  <a:srgbClr val="1F2A4E"/>
                </a:solidFill>
              </a:defRPr>
            </a:pPr>
            <a:r>
              <a:t>Contexto teórico / motivação</a:t>
            </a:r>
          </a:p>
          <a:p>
            <a:pPr>
              <a:defRPr sz="1100">
                <a:solidFill>
                  <a:srgbClr val="3D424E"/>
                </a:solidFill>
              </a:defRPr>
            </a:pPr>
            <a:r>
              <a:t>Mitigation methods existentes (FSCL, Group DRO, AdvDebias) requerem hiperparâmetros fixos a priori que controlam o trade-off accuracy×fairness. Esses hiperparâmetros são frágeis: ótimo varia por subgrupo, por época de treino e por configuração de dados. Faltava abordagem adaptativa.</a:t>
            </a:r>
          </a:p>
        </p:txBody>
      </p:sp>
      <p:sp>
        <p:nvSpPr>
          <p:cNvPr id="6" name="Rounded Rectangle 5"/>
          <p:cNvSpPr/>
          <p:nvPr/>
        </p:nvSpPr>
        <p:spPr>
          <a:xfrm>
            <a:off x="365760" y="2514600"/>
            <a:ext cx="5715000" cy="1325880"/>
          </a:xfrm>
          <a:prstGeom prst="roundRect">
            <a:avLst/>
          </a:prstGeom>
          <a:solidFill>
            <a:srgbClr val="FFFFFF"/>
          </a:solidFill>
          <a:ln w="1270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a:lstStyle/>
          <a:p>
            <a:pPr algn="ctr">
              <a:defRPr sz="1000" b="1">
                <a:solidFill>
                  <a:srgbClr val="1F2A4E"/>
                </a:solidFill>
              </a:defRPr>
            </a:pPr>
            <a:r>
              <a:t>Pergunta de pesquisa</a:t>
            </a:r>
          </a:p>
          <a:p>
            <a:pPr>
              <a:defRPr sz="1100">
                <a:solidFill>
                  <a:srgbClr val="3D424E"/>
                </a:solidFill>
              </a:defRPr>
            </a:pPr>
            <a:r>
              <a:t>É possível mitigar bias em face attribute classification de forma adaptativa, sem hiperparâmetros de fairness fixos a priori, ajustando o trade-off em tempo de treino?</a:t>
            </a:r>
          </a:p>
        </p:txBody>
      </p:sp>
      <p:sp>
        <p:nvSpPr>
          <p:cNvPr id="7" name="Rounded Rectangle 6"/>
          <p:cNvSpPr/>
          <p:nvPr/>
        </p:nvSpPr>
        <p:spPr>
          <a:xfrm>
            <a:off x="365760" y="3886200"/>
            <a:ext cx="5715000" cy="269748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a:lstStyle/>
          <a:p>
            <a:pPr algn="ctr">
              <a:defRPr sz="1000" b="1">
                <a:solidFill>
                  <a:srgbClr val="1F2A4E"/>
                </a:solidFill>
              </a:defRPr>
            </a:pPr>
            <a:r>
              <a:t>Metodologia detalhada</a:t>
            </a:r>
          </a:p>
          <a:p>
            <a:pPr>
              <a:defRPr sz="1100">
                <a:solidFill>
                  <a:srgbClr val="3D424E"/>
                </a:solidFill>
              </a:defRPr>
            </a:pPr>
            <a:r>
              <a:t>BNMR (Bayesian Network-informed Meta Reweighting): (1) rede bayesiana modela dependências entre atributos faciais (componentes); (2) meta-learning calibra reweighting de amostras durante treino; (3) tracking dinâmico de viés do modelo em cada época. Avalia em CelebA com atributos sensíveis raça e gênero. Compara contra FSCL+, Group DRO, AdvDebias.</a:t>
            </a:r>
          </a:p>
        </p:txBody>
      </p:sp>
      <p:sp>
        <p:nvSpPr>
          <p:cNvPr id="8" name="Rounded Rectangle 7"/>
          <p:cNvSpPr/>
          <p:nvPr/>
        </p:nvSpPr>
        <p:spPr>
          <a:xfrm>
            <a:off x="6245352" y="1097280"/>
            <a:ext cx="5715000" cy="146304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a:lstStyle/>
          <a:p>
            <a:pPr algn="ctr">
              <a:defRPr sz="1000" b="1">
                <a:solidFill>
                  <a:srgbClr val="1F2A4E"/>
                </a:solidFill>
              </a:defRPr>
            </a:pPr>
            <a:r>
              <a:t>Resultados principais (números/achados)</a:t>
            </a:r>
          </a:p>
          <a:p>
            <a:pPr>
              <a:defRPr sz="1100">
                <a:solidFill>
                  <a:srgbClr val="3D424E"/>
                </a:solidFill>
              </a:defRPr>
            </a:pPr>
            <a:r>
              <a:t>Supera baselines em CelebA em DEMOGRAPHIC PARITY (+12% vs FSCL+) e EQUAL OPPORTUNITY (+8% vs Group DRO). Permite calibração adaptativa do trade-off accuracy×fairness sem grid search — economiza ordens de magnitude em compute de tuning.</a:t>
            </a:r>
          </a:p>
        </p:txBody>
      </p:sp>
      <p:sp>
        <p:nvSpPr>
          <p:cNvPr id="9" name="Rounded Rectangle 8"/>
          <p:cNvSpPr/>
          <p:nvPr/>
        </p:nvSpPr>
        <p:spPr>
          <a:xfrm>
            <a:off x="6245352" y="2606039"/>
            <a:ext cx="5715000" cy="1280160"/>
          </a:xfrm>
          <a:prstGeom prst="roundRect">
            <a:avLst/>
          </a:prstGeom>
          <a:solidFill>
            <a:srgbClr val="FFFFFF"/>
          </a:solidFill>
          <a:ln w="12700">
            <a:solidFill>
              <a:srgbClr val="70768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a:lstStyle/>
          <a:p>
            <a:pPr algn="ctr">
              <a:defRPr sz="1000" b="1">
                <a:solidFill>
                  <a:srgbClr val="707682"/>
                </a:solidFill>
              </a:defRPr>
            </a:pPr>
            <a:r>
              <a:t>Crítica metodológica e limitações</a:t>
            </a:r>
          </a:p>
          <a:p>
            <a:pPr>
              <a:defRPr sz="1100">
                <a:solidFill>
                  <a:srgbClr val="3D424E"/>
                </a:solidFill>
              </a:defRPr>
            </a:pPr>
            <a:r>
              <a:t>Custo computacional adicional da rede bayesiana (precisa ser treinada conjuntamente). Testado em CelebA, NÃO em FairFace race 7-class. Pressupõe que o usuário define corretamente a estrutura causal entre atributos — pressuposto forte. Sem ablação clara do componente bayesiano.</a:t>
            </a:r>
          </a:p>
        </p:txBody>
      </p:sp>
      <p:sp>
        <p:nvSpPr>
          <p:cNvPr id="10" name="Rounded Rectangle 9"/>
          <p:cNvSpPr/>
          <p:nvPr/>
        </p:nvSpPr>
        <p:spPr>
          <a:xfrm>
            <a:off x="6245352" y="3931920"/>
            <a:ext cx="5715000" cy="114300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a:lstStyle/>
          <a:p>
            <a:pPr algn="ctr">
              <a:defRPr sz="1000" b="1">
                <a:solidFill>
                  <a:srgbClr val="1F2A4E"/>
                </a:solidFill>
              </a:defRPr>
            </a:pPr>
            <a:r>
              <a:t>Conexões com outras fichas do corpus</a:t>
            </a:r>
          </a:p>
          <a:p>
            <a:pPr>
              <a:defRPr sz="1100">
                <a:solidFill>
                  <a:srgbClr val="3D424E"/>
                </a:solidFill>
              </a:defRPr>
            </a:pPr>
            <a:r>
              <a:t>Alternativa metodológica a Park et al. 2022 (FSCL+) e Sagawa et al. 2020 (Group DRO). Estende ideia de Zhang et al. 2018 (AdvDebias) com adaptividade. Usa métricas de Hardt 2016.</a:t>
            </a:r>
          </a:p>
        </p:txBody>
      </p:sp>
      <p:sp>
        <p:nvSpPr>
          <p:cNvPr id="11" name="Rounded Rectangle 10"/>
          <p:cNvSpPr/>
          <p:nvPr/>
        </p:nvSpPr>
        <p:spPr>
          <a:xfrm>
            <a:off x="6245352" y="5120640"/>
            <a:ext cx="5715000" cy="1463040"/>
          </a:xfrm>
          <a:prstGeom prst="roundRect">
            <a:avLst/>
          </a:prstGeom>
          <a:solidFill>
            <a:srgbClr val="FFFFFF"/>
          </a:solidFill>
          <a:ln w="1270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a:lstStyle/>
          <a:p>
            <a:pPr algn="ctr">
              <a:defRPr sz="1100" b="1">
                <a:solidFill>
                  <a:srgbClr val="1F2A4E"/>
                </a:solidFill>
              </a:defRPr>
            </a:pPr>
            <a:r>
              <a:t>Impacto na nossa tese</a:t>
            </a:r>
          </a:p>
          <a:p>
            <a:pPr>
              <a:defRPr sz="1200">
                <a:solidFill>
                  <a:srgbClr val="3D424E"/>
                </a:solidFill>
              </a:defRPr>
            </a:pPr>
            <a:r>
              <a:t>BASELINE COMPETITIVO recente do Cap 2. Mecanismo ortogonal ao nosso (sample reweighting vs FiLM-conditioning) — comparação justa contra SOTA em fairness 2025. Se BNMR superar nosso pipeline, é informação útil para a tese (não falha — calibra expectativa).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