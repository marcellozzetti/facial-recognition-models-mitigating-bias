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0" y="1371600"/>
            <a:ext cx="9601200" cy="1828800"/>
          </a:xfrm>
          <a:prstGeom prst="rect">
            <a:avLst/>
          </a:prstGeom>
          <a:noFill/>
        </p:spPr>
        <p:txBody>
          <a:bodyPr wrap="square">
            <a:spAutoFit/>
          </a:bodyPr>
          <a:lstStyle/>
          <a:p>
            <a:pPr>
              <a:defRPr sz="3800" b="1">
                <a:solidFill>
                  <a:srgbClr val="1F2A4E"/>
                </a:solidFill>
              </a:defRPr>
            </a:pPr>
            <a:r>
              <a:t>Equidade Racial em Classificação Facial</a:t>
            </a:r>
          </a:p>
          <a:p>
            <a:pPr>
              <a:defRPr sz="2200">
                <a:solidFill>
                  <a:srgbClr val="3D424E"/>
                </a:solidFill>
              </a:defRPr>
            </a:pPr>
            <a:r>
              <a:t>Atualização da pesquisa — o que evoluiu nesta semana</a:t>
            </a:r>
          </a:p>
        </p:txBody>
      </p:sp>
      <p:sp>
        <p:nvSpPr>
          <p:cNvPr id="4" name="TextBox 3"/>
          <p:cNvSpPr txBox="1"/>
          <p:nvPr/>
        </p:nvSpPr>
        <p:spPr>
          <a:xfrm>
            <a:off x="2286000" y="3840480"/>
            <a:ext cx="9601200" cy="2286000"/>
          </a:xfrm>
          <a:prstGeom prst="rect">
            <a:avLst/>
          </a:prstGeom>
          <a:noFill/>
        </p:spPr>
        <p:txBody>
          <a:bodyPr wrap="square">
            <a:spAutoFit/>
          </a:bodyPr>
          <a:lstStyle/>
          <a:p>
            <a:pPr>
              <a:defRPr sz="1700">
                <a:solidFill>
                  <a:srgbClr val="3D424E"/>
                </a:solidFill>
              </a:defRPr>
            </a:pPr>
            <a:r>
              <a:t>Mestrando:  Marcello Ozzetti</a:t>
            </a:r>
          </a:p>
          <a:p>
            <a:pPr>
              <a:defRPr sz="1700">
                <a:solidFill>
                  <a:srgbClr val="3D424E"/>
                </a:solidFill>
              </a:defRPr>
            </a:pPr>
            <a:r>
              <a:t>Orientador:  Prof. Marcos Quiles</a:t>
            </a:r>
          </a:p>
          <a:p>
            <a:pPr>
              <a:defRPr sz="1700">
                <a:solidFill>
                  <a:srgbClr val="3D424E"/>
                </a:solidFill>
              </a:defRPr>
            </a:pPr>
            <a:r>
              <a:t>Programa:  Mestrado em Ciência da Computação — Unifesp / ICT</a:t>
            </a:r>
          </a:p>
          <a:p>
            <a:pPr>
              <a:defRPr sz="1700">
                <a:solidFill>
                  <a:srgbClr val="3D424E"/>
                </a:solidFill>
              </a:defRPr>
            </a:pPr>
            <a:r>
              <a:t>Reunião:  Junho de 2026 (segunda reunião do mês)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Principais alinhamentos e decisões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Parte 1 — Onde paramos na última reunião</a:t>
            </a:r>
          </a:p>
          <a:p>
            <a:pPr lvl="1">
              <a:spcAft>
                <a:spcPts val="800"/>
              </a:spcAft>
              <a:defRPr sz="1700">
                <a:solidFill>
                  <a:srgbClr val="707682"/>
                </a:solidFill>
              </a:defRPr>
            </a:pPr>
            <a:r>
              <a:t>Recap da última reunião e orientações</a:t>
            </a:r>
          </a:p>
          <a:p>
            <a:pPr>
              <a:spcAft>
                <a:spcPts val="800"/>
              </a:spcAft>
              <a:defRPr sz="2000" b="0">
                <a:solidFill>
                  <a:srgbClr val="3D424E"/>
                </a:solidFill>
              </a:defRPr>
            </a:pPr>
            <a:r>
              <a:t>Parte 2 — O que avancei nesta semana</a:t>
            </a:r>
          </a:p>
          <a:p>
            <a:pPr lvl="1">
              <a:spcAft>
                <a:spcPts val="800"/>
              </a:spcAft>
              <a:defRPr sz="1700">
                <a:solidFill>
                  <a:srgbClr val="707682"/>
                </a:solidFill>
              </a:defRPr>
            </a:pPr>
            <a:r>
              <a:t>Resposta direta aos 4 pedidos: ampliar venues, revisar método, validar SOTA, reformular tese</a:t>
            </a:r>
          </a:p>
          <a:p>
            <a:pPr>
              <a:spcAft>
                <a:spcPts val="800"/>
              </a:spcAft>
              <a:defRPr sz="2000" b="0">
                <a:solidFill>
                  <a:srgbClr val="3D424E"/>
                </a:solidFill>
              </a:defRPr>
            </a:pPr>
            <a:r>
              <a:t>Parte 3 — Como a tese está sendo construída agora</a:t>
            </a:r>
          </a:p>
          <a:p>
            <a:pPr lvl="1">
              <a:spcAft>
                <a:spcPts val="800"/>
              </a:spcAft>
              <a:defRPr sz="1700">
                <a:solidFill>
                  <a:srgbClr val="707682"/>
                </a:solidFill>
              </a:defRPr>
            </a:pPr>
            <a:r>
              <a:t>Linguagem clara: cada conceito explicado antes de usar</a:t>
            </a:r>
          </a:p>
          <a:p>
            <a:pPr>
              <a:spcAft>
                <a:spcPts val="800"/>
              </a:spcAft>
              <a:defRPr sz="2000" b="0">
                <a:solidFill>
                  <a:srgbClr val="3D424E"/>
                </a:solidFill>
              </a:defRPr>
            </a:pPr>
            <a:r>
              <a:t>Parte 4 — Próximos passos</a:t>
            </a:r>
          </a:p>
          <a:p>
            <a:pPr lvl="1">
              <a:spcAft>
                <a:spcPts val="800"/>
              </a:spcAft>
              <a:defRPr sz="1700">
                <a:solidFill>
                  <a:srgbClr val="707682"/>
                </a:solidFill>
              </a:defRPr>
            </a:pPr>
            <a:r>
              <a:t>O que preciso decidir nesta reunião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2743200" cy="2743200"/>
          </a:xfrm>
          <a:prstGeom prst="rect">
            <a:avLst/>
          </a:prstGeom>
          <a:noFill/>
        </p:spPr>
        <p:txBody>
          <a:bodyPr wrap="none">
            <a:spAutoFit/>
          </a:bodyPr>
          <a:lstStyle/>
          <a:p>
            <a:pPr>
              <a:defRPr sz="13000" b="1">
                <a:solidFill>
                  <a:srgbClr val="FFFFFF"/>
                </a:solidFill>
              </a:defRPr>
            </a:pPr>
            <a:r>
              <a:t>1</a:t>
            </a:r>
          </a:p>
        </p:txBody>
      </p:sp>
      <p:sp>
        <p:nvSpPr>
          <p:cNvPr id="4" name="TextBox 3"/>
          <p:cNvSpPr txBox="1"/>
          <p:nvPr/>
        </p:nvSpPr>
        <p:spPr>
          <a:xfrm>
            <a:off x="3931920" y="2286000"/>
            <a:ext cx="7772400" cy="1828800"/>
          </a:xfrm>
          <a:prstGeom prst="rect">
            <a:avLst/>
          </a:prstGeom>
          <a:noFill/>
        </p:spPr>
        <p:txBody>
          <a:bodyPr wrap="square">
            <a:spAutoFit/>
          </a:bodyPr>
          <a:lstStyle/>
          <a:p>
            <a:pPr>
              <a:defRPr sz="3600" b="1">
                <a:solidFill>
                  <a:srgbClr val="FFFFFF"/>
                </a:solidFill>
              </a:defRPr>
            </a:pPr>
            <a:r>
              <a:t>Onde paramos na última reunião</a:t>
            </a:r>
          </a:p>
          <a:p>
            <a:pPr>
              <a:defRPr sz="2000">
                <a:solidFill>
                  <a:srgbClr val="E8EAED"/>
                </a:solidFill>
              </a:defRPr>
            </a:pPr>
            <a:r>
              <a:t>Recap da última reunião e orientações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Como a tese estava na última reunião</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A tese era DIAGNÓSTICA — focada em explicar por que o erro existe:</a:t>
            </a:r>
          </a:p>
          <a:p>
            <a:pPr>
              <a:spcAft>
                <a:spcPts val="800"/>
              </a:spcAft>
              <a:defRPr sz="2000" b="0">
                <a:solidFill>
                  <a:srgbClr val="3D424E"/>
                </a:solidFill>
              </a:defRPr>
            </a:pPr>
          </a:p>
          <a:p>
            <a:pPr>
              <a:spcAft>
                <a:spcPts val="800"/>
              </a:spcAft>
              <a:defRPr sz="2000" b="0">
                <a:solidFill>
                  <a:srgbClr val="3D424E"/>
                </a:solidFill>
              </a:defRPr>
            </a:pPr>
            <a:r>
              <a:t>“O limite atual de 75% F1 em classificação racial sobre o FairFace não é só</a:t>
            </a:r>
          </a:p>
          <a:p>
            <a:pPr>
              <a:spcAft>
                <a:spcPts val="800"/>
              </a:spcAft>
              <a:defRPr sz="2000" b="0">
                <a:solidFill>
                  <a:srgbClr val="3D424E"/>
                </a:solidFill>
              </a:defRPr>
            </a:pPr>
            <a:r>
              <a:t>problema de arquitetura nem só problema de método. Tem um componente</a:t>
            </a:r>
          </a:p>
          <a:p>
            <a:pPr>
              <a:spcAft>
                <a:spcPts val="800"/>
              </a:spcAft>
              <a:defRPr sz="2000" b="0">
                <a:solidFill>
                  <a:srgbClr val="3D424E"/>
                </a:solidFill>
              </a:defRPr>
            </a:pPr>
            <a:r>
              <a:t>fenotípico irredutível: as raças se sobrepõem em tom de pele, especialmente</a:t>
            </a:r>
          </a:p>
          <a:p>
            <a:pPr>
              <a:spcAft>
                <a:spcPts val="800"/>
              </a:spcAft>
              <a:defRPr sz="2000" b="0">
                <a:solidFill>
                  <a:srgbClr val="3D424E"/>
                </a:solidFill>
              </a:defRPr>
            </a:pPr>
            <a:r>
              <a:t>Latinx. A dissertação ia construir a primeira matriz pública dessa</a:t>
            </a:r>
          </a:p>
          <a:p>
            <a:pPr>
              <a:spcAft>
                <a:spcPts val="800"/>
              </a:spcAft>
              <a:defRPr sz="2000" b="0">
                <a:solidFill>
                  <a:srgbClr val="3D424E"/>
                </a:solidFill>
              </a:defRPr>
            </a:pPr>
            <a:r>
              <a:t>sobreposição e quantificar o que dá para reduzir vs o que é estrutural.”</a:t>
            </a:r>
          </a:p>
          <a:p>
            <a:pPr>
              <a:spcAft>
                <a:spcPts val="800"/>
              </a:spcAft>
              <a:defRPr sz="2000" b="0">
                <a:solidFill>
                  <a:srgbClr val="3D424E"/>
                </a:solidFill>
              </a:defRPr>
            </a:pPr>
          </a:p>
          <a:p>
            <a:pPr>
              <a:spcAft>
                <a:spcPts val="800"/>
              </a:spcAft>
              <a:defRPr sz="2000" b="0">
                <a:solidFill>
                  <a:srgbClr val="3D424E"/>
                </a:solidFill>
              </a:defRPr>
            </a:pPr>
            <a:r>
              <a:t>Corpus naquele momento: 23 fichas catalogadas, 6 tracks temáticos.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O que validamos na última reunião</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  Concordamos que a evolução metodológica melhorou significativamente</a:t>
            </a:r>
          </a:p>
          <a:p>
            <a:pPr>
              <a:spcAft>
                <a:spcPts val="800"/>
              </a:spcAft>
              <a:defRPr sz="2000" b="0">
                <a:solidFill>
                  <a:srgbClr val="3D424E"/>
                </a:solidFill>
              </a:defRPr>
            </a:pPr>
          </a:p>
          <a:p>
            <a:pPr>
              <a:spcAft>
                <a:spcPts val="800"/>
              </a:spcAft>
              <a:defRPr sz="2000" b="0">
                <a:solidFill>
                  <a:srgbClr val="3D424E"/>
                </a:solidFill>
              </a:defRPr>
            </a:pPr>
            <a:r>
              <a:t>✓  Validamos que o SOTA encontrado (FaceScanPaliGemma 75.7% F1) é mesmo o atual</a:t>
            </a:r>
          </a:p>
          <a:p>
            <a:pPr>
              <a:spcAft>
                <a:spcPts val="800"/>
              </a:spcAft>
              <a:defRPr sz="2000" b="0">
                <a:solidFill>
                  <a:srgbClr val="3D424E"/>
                </a:solidFill>
              </a:defRPr>
            </a:pPr>
          </a:p>
          <a:p>
            <a:pPr>
              <a:spcAft>
                <a:spcPts val="800"/>
              </a:spcAft>
              <a:defRPr sz="2000" b="0">
                <a:solidFill>
                  <a:srgbClr val="3D424E"/>
                </a:solidFill>
              </a:defRPr>
            </a:pPr>
            <a:r>
              <a:t>✓  Alinhamos e validamos a linha de pesquisa proposta</a:t>
            </a:r>
          </a:p>
          <a:p>
            <a:pPr>
              <a:spcAft>
                <a:spcPts val="800"/>
              </a:spcAft>
              <a:defRPr sz="2000" b="0">
                <a:solidFill>
                  <a:srgbClr val="3D424E"/>
                </a:solidFill>
              </a:defRPr>
            </a:pPr>
          </a:p>
          <a:p>
            <a:pPr>
              <a:spcAft>
                <a:spcPts val="800"/>
              </a:spcAft>
              <a:defRPr sz="2000" b="0">
                <a:solidFill>
                  <a:srgbClr val="3D424E"/>
                </a:solidFill>
              </a:defRPr>
            </a:pPr>
            <a:r>
              <a:t>Estas 3 validações são a base sobre a qual estou construindo a nova versão da tese.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Os 4 pedidos que combinamos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1. Revisar o método em profundidade de cada artigo selecionado</a:t>
            </a:r>
          </a:p>
          <a:p>
            <a:pPr lvl="1">
              <a:spcAft>
                <a:spcPts val="800"/>
              </a:spcAft>
              <a:defRPr sz="1700">
                <a:solidFill>
                  <a:srgbClr val="707682"/>
                </a:solidFill>
              </a:defRPr>
            </a:pPr>
            <a:r>
              <a:t>Queremos enxergar não só o resultado, mas o rigor metodológico</a:t>
            </a:r>
          </a:p>
          <a:p>
            <a:pPr>
              <a:spcAft>
                <a:spcPts val="800"/>
              </a:spcAft>
              <a:defRPr sz="2000" b="0">
                <a:solidFill>
                  <a:srgbClr val="3D424E"/>
                </a:solidFill>
              </a:defRPr>
            </a:pPr>
          </a:p>
          <a:p>
            <a:pPr>
              <a:spcAft>
                <a:spcPts val="800"/>
              </a:spcAft>
              <a:defRPr sz="2000" b="0">
                <a:solidFill>
                  <a:srgbClr val="3D424E"/>
                </a:solidFill>
              </a:defRPr>
            </a:pPr>
            <a:r>
              <a:t>2. Ampliar a pesquisa para venues de ML, Redes Neurais e temas relacionados</a:t>
            </a:r>
          </a:p>
          <a:p>
            <a:pPr lvl="1">
              <a:spcAft>
                <a:spcPts val="800"/>
              </a:spcAft>
              <a:defRPr sz="1700">
                <a:solidFill>
                  <a:srgbClr val="707682"/>
                </a:solidFill>
              </a:defRPr>
            </a:pPr>
            <a:r>
              <a:t>Identificamos lacuna de papers fundadores destes campos</a:t>
            </a:r>
          </a:p>
          <a:p>
            <a:pPr>
              <a:spcAft>
                <a:spcPts val="800"/>
              </a:spcAft>
              <a:defRPr sz="2000" b="0">
                <a:solidFill>
                  <a:srgbClr val="3D424E"/>
                </a:solidFill>
              </a:defRPr>
            </a:pPr>
          </a:p>
          <a:p>
            <a:pPr>
              <a:spcAft>
                <a:spcPts val="800"/>
              </a:spcAft>
              <a:defRPr sz="2000" b="0">
                <a:solidFill>
                  <a:srgbClr val="3D424E"/>
                </a:solidFill>
              </a:defRPr>
            </a:pPr>
            <a:r>
              <a:t>3. Double-check do SOTA (75.7% F1)</a:t>
            </a:r>
          </a:p>
          <a:p>
            <a:pPr lvl="1">
              <a:spcAft>
                <a:spcPts val="800"/>
              </a:spcAft>
              <a:defRPr sz="1700">
                <a:solidFill>
                  <a:srgbClr val="707682"/>
                </a:solidFill>
              </a:defRPr>
            </a:pPr>
            <a:r>
              <a:t>Garantir que não emergiu competidor recente</a:t>
            </a:r>
          </a:p>
          <a:p>
            <a:pPr>
              <a:spcAft>
                <a:spcPts val="800"/>
              </a:spcAft>
              <a:defRPr sz="2000" b="0">
                <a:solidFill>
                  <a:srgbClr val="3D424E"/>
                </a:solidFill>
              </a:defRPr>
            </a:pPr>
          </a:p>
          <a:p>
            <a:pPr>
              <a:spcAft>
                <a:spcPts val="800"/>
              </a:spcAft>
              <a:defRPr sz="2000" b="0">
                <a:solidFill>
                  <a:srgbClr val="3D424E"/>
                </a:solidFill>
              </a:defRPr>
            </a:pPr>
            <a:r>
              <a:t>4. Reformular a tese de DIAGNÓSTICA para PRESCRITIVA</a:t>
            </a:r>
          </a:p>
          <a:p>
            <a:pPr lvl="1">
              <a:spcAft>
                <a:spcPts val="800"/>
              </a:spcAft>
              <a:defRPr sz="1700">
                <a:solidFill>
                  <a:srgbClr val="707682"/>
                </a:solidFill>
              </a:defRPr>
            </a:pPr>
            <a:r>
              <a:t>Treinar classifier de tom → usar para condicionar classifier de raça → estender a face recognition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2743200" cy="2743200"/>
          </a:xfrm>
          <a:prstGeom prst="rect">
            <a:avLst/>
          </a:prstGeom>
          <a:noFill/>
        </p:spPr>
        <p:txBody>
          <a:bodyPr wrap="none">
            <a:spAutoFit/>
          </a:bodyPr>
          <a:lstStyle/>
          <a:p>
            <a:pPr>
              <a:defRPr sz="13000" b="1">
                <a:solidFill>
                  <a:srgbClr val="FFFFFF"/>
                </a:solidFill>
              </a:defRPr>
            </a:pPr>
            <a:r>
              <a:t>2</a:t>
            </a:r>
          </a:p>
        </p:txBody>
      </p:sp>
      <p:sp>
        <p:nvSpPr>
          <p:cNvPr id="4" name="TextBox 3"/>
          <p:cNvSpPr txBox="1"/>
          <p:nvPr/>
        </p:nvSpPr>
        <p:spPr>
          <a:xfrm>
            <a:off x="3931920" y="2286000"/>
            <a:ext cx="7772400" cy="1828800"/>
          </a:xfrm>
          <a:prstGeom prst="rect">
            <a:avLst/>
          </a:prstGeom>
          <a:noFill/>
        </p:spPr>
        <p:txBody>
          <a:bodyPr wrap="square">
            <a:spAutoFit/>
          </a:bodyPr>
          <a:lstStyle/>
          <a:p>
            <a:pPr>
              <a:defRPr sz="3600" b="1">
                <a:solidFill>
                  <a:srgbClr val="FFFFFF"/>
                </a:solidFill>
              </a:defRPr>
            </a:pPr>
            <a:r>
              <a:t>O que avancei nesta semana</a:t>
            </a:r>
          </a:p>
          <a:p>
            <a:pPr>
              <a:defRPr sz="2000">
                <a:solidFill>
                  <a:srgbClr val="E8EAED"/>
                </a:solidFill>
              </a:defRPr>
            </a:pPr>
            <a:r>
              <a:t>Resposta direta aos 4 pedidos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Resposta ao pedido 2: ampliar venues ML / Redes Neurais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Executei Rodada 5 de triagem com foco em ML e Redes Neurais.</a:t>
            </a:r>
          </a:p>
          <a:p>
            <a:pPr>
              <a:spcAft>
                <a:spcPts val="800"/>
              </a:spcAft>
              <a:defRPr sz="2000" b="0">
                <a:solidFill>
                  <a:srgbClr val="3D424E"/>
                </a:solidFill>
              </a:defRPr>
            </a:pPr>
          </a:p>
          <a:p>
            <a:pPr>
              <a:spcAft>
                <a:spcPts val="800"/>
              </a:spcAft>
              <a:defRPr sz="2000" b="0">
                <a:solidFill>
                  <a:srgbClr val="3D424E"/>
                </a:solidFill>
              </a:defRPr>
            </a:pPr>
            <a:r>
              <a:t>Adicionei 6 fichas novas, todas de venues top da área:</a:t>
            </a:r>
          </a:p>
          <a:p>
            <a:pPr lvl="1">
              <a:spcAft>
                <a:spcPts val="800"/>
              </a:spcAft>
              <a:defRPr sz="1700">
                <a:solidFill>
                  <a:srgbClr val="707682"/>
                </a:solidFill>
              </a:defRPr>
            </a:pPr>
            <a:r>
              <a:t>• Hardt, Price &amp; Srebro (NeurIPS 2016) — origem das métricas formais de fairness</a:t>
            </a:r>
          </a:p>
          <a:p>
            <a:pPr lvl="1">
              <a:spcAft>
                <a:spcPts val="800"/>
              </a:spcAft>
              <a:defRPr sz="1700">
                <a:solidFill>
                  <a:srgbClr val="707682"/>
                </a:solidFill>
              </a:defRPr>
            </a:pPr>
            <a:r>
              <a:t>• Perez et al. (AAAI 2018) — FiLM, mecanismo de condicionamento neural</a:t>
            </a:r>
          </a:p>
          <a:p>
            <a:pPr lvl="1">
              <a:spcAft>
                <a:spcPts val="800"/>
              </a:spcAft>
              <a:defRPr sz="1700">
                <a:solidFill>
                  <a:srgbClr val="707682"/>
                </a:solidFill>
              </a:defRPr>
            </a:pPr>
            <a:r>
              <a:t>• Zemel et al. (ICML 2013, Test-of-Time Award 2023) — Fair Representation Learning</a:t>
            </a:r>
          </a:p>
          <a:p>
            <a:pPr lvl="1">
              <a:spcAft>
                <a:spcPts val="800"/>
              </a:spcAft>
              <a:defRPr sz="1700">
                <a:solidFill>
                  <a:srgbClr val="707682"/>
                </a:solidFill>
              </a:defRPr>
            </a:pPr>
            <a:r>
              <a:t>• Madras et al. (ICML 2018) — LAFTR, prova teórica de fair transferência</a:t>
            </a:r>
          </a:p>
          <a:p>
            <a:pPr lvl="1">
              <a:spcAft>
                <a:spcPts val="800"/>
              </a:spcAft>
              <a:defRPr sz="1700">
                <a:solidFill>
                  <a:srgbClr val="707682"/>
                </a:solidFill>
              </a:defRPr>
            </a:pPr>
            <a:r>
              <a:t>• Zhang, Lemoine &amp; Mitchell (AIES 2018) — adversarial debiasing</a:t>
            </a:r>
          </a:p>
          <a:p>
            <a:pPr lvl="1">
              <a:spcAft>
                <a:spcPts val="800"/>
              </a:spcAft>
              <a:defRPr sz="1700">
                <a:solidFill>
                  <a:srgbClr val="707682"/>
                </a:solidFill>
              </a:defRPr>
            </a:pPr>
            <a:r>
              <a:t>• Kleinberg, Mullainathan &amp; Raghavan (ITCS 2017) — teorema da impossibilidade</a:t>
            </a:r>
          </a:p>
          <a:p>
            <a:pPr>
              <a:spcAft>
                <a:spcPts val="800"/>
              </a:spcAft>
              <a:defRPr sz="2000" b="0">
                <a:solidFill>
                  <a:srgbClr val="3D424E"/>
                </a:solidFill>
              </a:defRPr>
            </a:pPr>
          </a:p>
          <a:p>
            <a:pPr>
              <a:spcAft>
                <a:spcPts val="800"/>
              </a:spcAft>
              <a:defRPr sz="2000" b="0">
                <a:solidFill>
                  <a:srgbClr val="3D424E"/>
                </a:solidFill>
              </a:defRPr>
            </a:pPr>
            <a:r>
              <a:t>Cada um destes é base de algum baseline ou mecanismo do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Resposta ao pedido 1: revisar método em profundidade</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Criei uma nova Seção 12 normativa em cada ficha: ‘Análise crítica do método’.</a:t>
            </a:r>
          </a:p>
          <a:p>
            <a:pPr>
              <a:spcAft>
                <a:spcPts val="800"/>
              </a:spcAft>
              <a:defRPr sz="2000" b="0">
                <a:solidFill>
                  <a:srgbClr val="3D424E"/>
                </a:solidFill>
              </a:defRPr>
            </a:pPr>
          </a:p>
          <a:p>
            <a:pPr>
              <a:spcAft>
                <a:spcPts val="800"/>
              </a:spcAft>
              <a:defRPr sz="2000" b="0">
                <a:solidFill>
                  <a:srgbClr val="3D424E"/>
                </a:solidFill>
              </a:defRPr>
            </a:pPr>
            <a:r>
              <a:t>Avalia cada paper em 5 dimensões:</a:t>
            </a:r>
          </a:p>
          <a:p>
            <a:pPr lvl="1">
              <a:spcAft>
                <a:spcPts val="800"/>
              </a:spcAft>
              <a:defRPr sz="1700">
                <a:solidFill>
                  <a:srgbClr val="707682"/>
                </a:solidFill>
              </a:defRPr>
            </a:pPr>
            <a:r>
              <a:t>(a) Rigor formal — matemática defensável? Pressupostos declarados?</a:t>
            </a:r>
          </a:p>
          <a:p>
            <a:pPr lvl="1">
              <a:spcAft>
                <a:spcPts val="800"/>
              </a:spcAft>
              <a:defRPr sz="1700">
                <a:solidFill>
                  <a:srgbClr val="707682"/>
                </a:solidFill>
              </a:defRPr>
            </a:pPr>
            <a:r>
              <a:t>(b) Reprodutibilidade — hiperparâmetros, código, seeds?</a:t>
            </a:r>
          </a:p>
          <a:p>
            <a:pPr lvl="1">
              <a:spcAft>
                <a:spcPts val="800"/>
              </a:spcAft>
              <a:defRPr sz="1700">
                <a:solidFill>
                  <a:srgbClr val="707682"/>
                </a:solidFill>
              </a:defRPr>
            </a:pPr>
            <a:r>
              <a:t>(c) Aplicabilidade ao nosso pipeline — onde funciona e onde falha?</a:t>
            </a:r>
          </a:p>
          <a:p>
            <a:pPr lvl="1">
              <a:spcAft>
                <a:spcPts val="800"/>
              </a:spcAft>
              <a:defRPr sz="1700">
                <a:solidFill>
                  <a:srgbClr val="707682"/>
                </a:solidFill>
              </a:defRPr>
            </a:pPr>
            <a:r>
              <a:t>(d) Design choices — o que foi justificado vs assumido?</a:t>
            </a:r>
          </a:p>
          <a:p>
            <a:pPr lvl="1">
              <a:spcAft>
                <a:spcPts val="800"/>
              </a:spcAft>
              <a:defRPr sz="1700">
                <a:solidFill>
                  <a:srgbClr val="707682"/>
                </a:solidFill>
              </a:defRPr>
            </a:pPr>
            <a:r>
              <a:t>(e) Conexão com o que aprendi na Rodada 5</a:t>
            </a:r>
          </a:p>
          <a:p>
            <a:pPr>
              <a:spcAft>
                <a:spcPts val="800"/>
              </a:spcAft>
              <a:defRPr sz="2000" b="0">
                <a:solidFill>
                  <a:srgbClr val="3D424E"/>
                </a:solidFill>
              </a:defRPr>
            </a:pPr>
          </a:p>
          <a:p>
            <a:pPr>
              <a:spcAft>
                <a:spcPts val="800"/>
              </a:spcAft>
              <a:defRPr sz="2000" b="0">
                <a:solidFill>
                  <a:srgbClr val="3D424E"/>
                </a:solidFill>
              </a:defRPr>
            </a:pPr>
            <a:r>
              <a:t>Adicionada nas 10 fichas centrais (lista de leitura prioritária).</a:t>
            </a:r>
          </a:p>
          <a:p>
            <a:pPr>
              <a:spcAft>
                <a:spcPts val="800"/>
              </a:spcAft>
              <a:defRPr sz="2000" b="0">
                <a:solidFill>
                  <a:srgbClr val="3D424E"/>
                </a:solidFill>
              </a:defRPr>
            </a:pPr>
            <a:r>
              <a:t>Vamos expandir para as outras 19 após aprovação conjunta da nova versão da tese.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Resposta ao pedido 3: double-check do SOTA</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Executei a Rodada 2.6 com janela expandida fevereiro–junho de 2026.</a:t>
            </a:r>
          </a:p>
          <a:p>
            <a:pPr>
              <a:spcAft>
                <a:spcPts val="800"/>
              </a:spcAft>
              <a:defRPr sz="2000" b="0">
                <a:solidFill>
                  <a:srgbClr val="3D424E"/>
                </a:solidFill>
              </a:defRPr>
            </a:pPr>
          </a:p>
          <a:p>
            <a:pPr>
              <a:spcAft>
                <a:spcPts val="800"/>
              </a:spcAft>
              <a:defRPr sz="2000" b="0">
                <a:solidFill>
                  <a:srgbClr val="3D424E"/>
                </a:solidFill>
              </a:defRPr>
            </a:pPr>
            <a:r>
              <a:t>Fonte: 12 papers que citam o FaceScanPaliGemma no Semantic Scholar.</a:t>
            </a:r>
          </a:p>
          <a:p>
            <a:pPr>
              <a:spcAft>
                <a:spcPts val="800"/>
              </a:spcAft>
              <a:defRPr sz="2000" b="0">
                <a:solidFill>
                  <a:srgbClr val="3D424E"/>
                </a:solidFill>
              </a:defRPr>
            </a:pPr>
          </a:p>
          <a:p>
            <a:pPr>
              <a:spcAft>
                <a:spcPts val="800"/>
              </a:spcAft>
              <a:defRPr sz="2000" b="0">
                <a:solidFill>
                  <a:srgbClr val="3D424E"/>
                </a:solidFill>
              </a:defRPr>
            </a:pPr>
            <a:r>
              <a:t>Resultado: NENHUM dos 12 papers usa FairFace race 7-class como métrica principal.</a:t>
            </a:r>
          </a:p>
          <a:p>
            <a:pPr lvl="1">
              <a:spcAft>
                <a:spcPts val="800"/>
              </a:spcAft>
              <a:defRPr sz="1700">
                <a:solidFill>
                  <a:srgbClr val="707682"/>
                </a:solidFill>
              </a:defRPr>
            </a:pPr>
            <a:r>
              <a:t>Citantes trabalham em tarefas diferentes: gender, age, emotion, detection, audit, etc.</a:t>
            </a:r>
          </a:p>
          <a:p>
            <a:pPr>
              <a:spcAft>
                <a:spcPts val="800"/>
              </a:spcAft>
              <a:defRPr sz="2000" b="0">
                <a:solidFill>
                  <a:srgbClr val="3D424E"/>
                </a:solidFill>
              </a:defRPr>
            </a:pPr>
          </a:p>
          <a:p>
            <a:pPr>
              <a:spcAft>
                <a:spcPts val="800"/>
              </a:spcAft>
              <a:defRPr sz="2000" b="0">
                <a:solidFill>
                  <a:srgbClr val="3D424E"/>
                </a:solidFill>
              </a:defRPr>
            </a:pPr>
            <a:r>
              <a:t>Conclusão: FaceScanPaliGemma 75.7% F1 segue sendo o SOTA único em junho/2026.</a:t>
            </a:r>
          </a:p>
          <a:p>
            <a:pPr>
              <a:spcAft>
                <a:spcPts val="800"/>
              </a:spcAft>
              <a:defRPr sz="2000" b="0">
                <a:solidFill>
                  <a:srgbClr val="3D424E"/>
                </a:solidFill>
              </a:defRPr>
            </a:pPr>
          </a:p>
          <a:p>
            <a:pPr>
              <a:spcAft>
                <a:spcPts val="800"/>
              </a:spcAft>
              <a:defRPr sz="2000" b="0">
                <a:solidFill>
                  <a:srgbClr val="3D424E"/>
                </a:solidFill>
              </a:defRPr>
            </a:pPr>
            <a:r>
              <a:t>Bônus: validação cruzada confirmou também o baseline ResNet-34 = 72%</a:t>
            </a:r>
          </a:p>
          <a:p>
            <a:pPr lvl="1">
              <a:spcAft>
                <a:spcPts val="800"/>
              </a:spcAft>
              <a:defRPr sz="1700">
                <a:solidFill>
                  <a:srgbClr val="707682"/>
                </a:solidFill>
              </a:defRPr>
            </a:pPr>
            <a:r>
              <a:t>Reportado por AlDahoul (2024/26) E por Lin (FairGRAPE 2022) independentemente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Resposta ao pedido 4: reformular para PRESCRITIVA</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Nova versão da tese escrita e disponível.</a:t>
            </a:r>
          </a:p>
          <a:p>
            <a:pPr>
              <a:spcAft>
                <a:spcPts val="800"/>
              </a:spcAft>
              <a:defRPr sz="2000" b="0">
                <a:solidFill>
                  <a:srgbClr val="3D424E"/>
                </a:solidFill>
              </a:defRPr>
            </a:pPr>
          </a:p>
          <a:p>
            <a:pPr>
              <a:spcAft>
                <a:spcPts val="800"/>
              </a:spcAft>
              <a:defRPr sz="2000" b="0">
                <a:solidFill>
                  <a:srgbClr val="3D424E"/>
                </a:solidFill>
              </a:defRPr>
            </a:pPr>
            <a:r>
              <a:t>Mudança central: deixa de ser ‘decompor o erro’ e passa a ser</a:t>
            </a:r>
          </a:p>
          <a:p>
            <a:pPr>
              <a:spcAft>
                <a:spcPts val="800"/>
              </a:spcAft>
              <a:defRPr sz="2000" b="0">
                <a:solidFill>
                  <a:srgbClr val="3D424E"/>
                </a:solidFill>
              </a:defRPr>
            </a:pPr>
            <a:r>
              <a:t>‘construir um pipeline que melhora fairness em race classification</a:t>
            </a:r>
          </a:p>
          <a:p>
            <a:pPr>
              <a:spcAft>
                <a:spcPts val="800"/>
              </a:spcAft>
              <a:defRPr sz="2000" b="0">
                <a:solidFill>
                  <a:srgbClr val="3D424E"/>
                </a:solidFill>
              </a:defRPr>
            </a:pPr>
            <a:r>
              <a:t>E em face recognition, usando tom de pele como sinal auxiliar’.</a:t>
            </a:r>
          </a:p>
          <a:p>
            <a:pPr>
              <a:spcAft>
                <a:spcPts val="800"/>
              </a:spcAft>
              <a:defRPr sz="2000" b="0">
                <a:solidFill>
                  <a:srgbClr val="3D424E"/>
                </a:solidFill>
              </a:defRPr>
            </a:pPr>
          </a:p>
          <a:p>
            <a:pPr>
              <a:spcAft>
                <a:spcPts val="800"/>
              </a:spcAft>
              <a:defRPr sz="2000" b="0">
                <a:solidFill>
                  <a:srgbClr val="3D424E"/>
                </a:solidFill>
              </a:defRPr>
            </a:pPr>
            <a:r>
              <a:t>Q04 (mitigação) e Q10 (matriz tom × raça) deixam de ser capítulos</a:t>
            </a:r>
          </a:p>
          <a:p>
            <a:pPr>
              <a:spcAft>
                <a:spcPts val="800"/>
              </a:spcAft>
              <a:defRPr sz="2000" b="0">
                <a:solidFill>
                  <a:srgbClr val="3D424E"/>
                </a:solidFill>
              </a:defRPr>
            </a:pPr>
            <a:r>
              <a:t>paralelos e viram pipeline UNIFICADO.</a:t>
            </a:r>
          </a:p>
          <a:p>
            <a:pPr>
              <a:spcAft>
                <a:spcPts val="800"/>
              </a:spcAft>
              <a:defRPr sz="2000" b="0">
                <a:solidFill>
                  <a:srgbClr val="3D424E"/>
                </a:solidFill>
              </a:defRPr>
            </a:pPr>
          </a:p>
          <a:p>
            <a:pPr>
              <a:spcAft>
                <a:spcPts val="800"/>
              </a:spcAft>
              <a:defRPr sz="2000" b="0">
                <a:solidFill>
                  <a:srgbClr val="3D424E"/>
                </a:solidFill>
              </a:defRPr>
            </a:pPr>
            <a:r>
              <a:t>Vou detalhar a nova tese na Parte 3 desta apresentação.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Big numbers da pesquisa hoje</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  29 fichas catalogadas no corpus (era 23 na semana passada)</a:t>
            </a:r>
          </a:p>
          <a:p>
            <a:pPr>
              <a:spcAft>
                <a:spcPts val="800"/>
              </a:spcAft>
              <a:defRPr sz="2000" b="0">
                <a:solidFill>
                  <a:srgbClr val="3D424E"/>
                </a:solidFill>
              </a:defRPr>
            </a:pPr>
          </a:p>
          <a:p>
            <a:pPr>
              <a:spcAft>
                <a:spcPts val="800"/>
              </a:spcAft>
              <a:defRPr sz="2000" b="0">
                <a:solidFill>
                  <a:srgbClr val="3D424E"/>
                </a:solidFill>
              </a:defRPr>
            </a:pPr>
            <a:r>
              <a:t>✓  ~57 papers avaliados ao todo (29 aprovados + 6 rejeitados explicitamente + outros descartados)</a:t>
            </a:r>
          </a:p>
          <a:p>
            <a:pPr>
              <a:spcAft>
                <a:spcPts val="800"/>
              </a:spcAft>
              <a:defRPr sz="2000" b="0">
                <a:solidFill>
                  <a:srgbClr val="3D424E"/>
                </a:solidFill>
              </a:defRPr>
            </a:pPr>
          </a:p>
          <a:p>
            <a:pPr>
              <a:spcAft>
                <a:spcPts val="800"/>
              </a:spcAft>
              <a:defRPr sz="2000" b="0">
                <a:solidFill>
                  <a:srgbClr val="3D424E"/>
                </a:solidFill>
              </a:defRPr>
            </a:pPr>
            <a:r>
              <a:t>✓  7 tracks temáticos cobertos (era 6; Track G NOVO: Mecanismos ML / Redes Neurais)</a:t>
            </a:r>
          </a:p>
          <a:p>
            <a:pPr>
              <a:spcAft>
                <a:spcPts val="800"/>
              </a:spcAft>
              <a:defRPr sz="2000" b="0">
                <a:solidFill>
                  <a:srgbClr val="3D424E"/>
                </a:solidFill>
              </a:defRPr>
            </a:pPr>
          </a:p>
          <a:p>
            <a:pPr>
              <a:spcAft>
                <a:spcPts val="800"/>
              </a:spcAft>
              <a:defRPr sz="2000" b="0">
                <a:solidFill>
                  <a:srgbClr val="3D424E"/>
                </a:solidFill>
              </a:defRPr>
            </a:pPr>
            <a:r>
              <a:t>✓  14 perguntas de pesquisa formalmente respondidas (Q01–Q14)</a:t>
            </a:r>
          </a:p>
          <a:p>
            <a:pPr>
              <a:spcAft>
                <a:spcPts val="800"/>
              </a:spcAft>
              <a:defRPr sz="2000" b="0">
                <a:solidFill>
                  <a:srgbClr val="3D424E"/>
                </a:solidFill>
              </a:defRPr>
            </a:pPr>
          </a:p>
          <a:p>
            <a:pPr>
              <a:spcAft>
                <a:spcPts val="800"/>
              </a:spcAft>
              <a:defRPr sz="2000" b="0">
                <a:solidFill>
                  <a:srgbClr val="3D424E"/>
                </a:solidFill>
              </a:defRPr>
            </a:pPr>
            <a:r>
              <a:t>✓  Cobertura temporal: 1972 a 2026 (54 anos de literatura, mediana 2020–2021)</a:t>
            </a:r>
          </a:p>
          <a:p>
            <a:pPr>
              <a:spcAft>
                <a:spcPts val="800"/>
              </a:spcAft>
              <a:defRPr sz="2000" b="0">
                <a:solidFill>
                  <a:srgbClr val="3D424E"/>
                </a:solidFill>
              </a:defRPr>
            </a:pPr>
          </a:p>
          <a:p>
            <a:pPr>
              <a:spcAft>
                <a:spcPts val="800"/>
              </a:spcAft>
              <a:defRPr sz="2000" b="0">
                <a:solidFill>
                  <a:srgbClr val="3D424E"/>
                </a:solidFill>
              </a:defRPr>
            </a:pPr>
            <a:r>
              <a:t>✓  Autoria verificada em fonte primária: 29 de 29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2743200" cy="2743200"/>
          </a:xfrm>
          <a:prstGeom prst="rect">
            <a:avLst/>
          </a:prstGeom>
          <a:noFill/>
        </p:spPr>
        <p:txBody>
          <a:bodyPr wrap="none">
            <a:spAutoFit/>
          </a:bodyPr>
          <a:lstStyle/>
          <a:p>
            <a:pPr>
              <a:defRPr sz="13000" b="1">
                <a:solidFill>
                  <a:srgbClr val="FFFFFF"/>
                </a:solidFill>
              </a:defRPr>
            </a:pPr>
            <a:r>
              <a:t>3</a:t>
            </a:r>
          </a:p>
        </p:txBody>
      </p:sp>
      <p:sp>
        <p:nvSpPr>
          <p:cNvPr id="4" name="TextBox 3"/>
          <p:cNvSpPr txBox="1"/>
          <p:nvPr/>
        </p:nvSpPr>
        <p:spPr>
          <a:xfrm>
            <a:off x="3931920" y="2286000"/>
            <a:ext cx="7772400" cy="1828800"/>
          </a:xfrm>
          <a:prstGeom prst="rect">
            <a:avLst/>
          </a:prstGeom>
          <a:noFill/>
        </p:spPr>
        <p:txBody>
          <a:bodyPr wrap="square">
            <a:spAutoFit/>
          </a:bodyPr>
          <a:lstStyle/>
          <a:p>
            <a:pPr>
              <a:defRPr sz="3600" b="1">
                <a:solidFill>
                  <a:srgbClr val="FFFFFF"/>
                </a:solidFill>
              </a:defRPr>
            </a:pPr>
            <a:r>
              <a:t>Como a tese está sendo construída</a:t>
            </a:r>
          </a:p>
          <a:p>
            <a:pPr>
              <a:defRPr sz="2000">
                <a:solidFill>
                  <a:srgbClr val="E8EAED"/>
                </a:solidFill>
              </a:defRPr>
            </a:pPr>
            <a:r>
              <a:t>Agora prescritiva, com conceitos explicados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none">
            <a:spAutoFit/>
          </a:bodyPr>
          <a:lstStyle/>
          <a:p>
            <a:pPr>
              <a:defRPr sz="3000" b="1">
                <a:solidFill>
                  <a:srgbClr val="1F2A4E"/>
                </a:solidFill>
              </a:defRPr>
            </a:pPr>
            <a:r>
              <a:t>A tese em uma frase clara</a:t>
            </a:r>
          </a:p>
        </p:txBody>
      </p:sp>
      <p:sp>
        <p:nvSpPr>
          <p:cNvPr id="3" name="Rounded Rectangle 2"/>
          <p:cNvSpPr/>
          <p:nvPr/>
        </p:nvSpPr>
        <p:spPr>
          <a:xfrm>
            <a:off x="731520" y="1554480"/>
            <a:ext cx="10698480" cy="4937760"/>
          </a:xfrm>
          <a:prstGeom prst="roundRect">
            <a:avLst/>
          </a:prstGeom>
          <a:solidFill>
            <a:srgbClr val="E8EAED"/>
          </a:solidFill>
          <a:ln w="25400">
            <a:solidFill>
              <a:srgbClr val="1F2A4E"/>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65760"/>
          <a:lstStyle/>
          <a:p>
            <a:pPr algn="l">
              <a:defRPr sz="2000">
                <a:solidFill>
                  <a:srgbClr val="1F2A4E"/>
                </a:solidFill>
              </a:defRPr>
            </a:pPr>
            <a:r>
              <a:t>Treinar uma rede neural para reconhecer o tom de pele de uma foto, e usar essa informação como contexto extra ao treinar uma rede de classificação racial, melhora as métricas de fairness (a paridade entre raças). Essa melhoria também se transfere para tarefas downstream de reconhecimento facial, beneficiando especialmente grupos sub-representados (Black/African).</a:t>
            </a:r>
            <a:br/>
            <a:br/>
            <a:r>
              <a:t>Em outras palavras: o tom de pele é informação que o classificador de raça precisa ter explicitamente — não pode descobrir sozinho.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none">
            <a:spAutoFit/>
          </a:bodyPr>
          <a:lstStyle/>
          <a:p>
            <a:pPr>
              <a:defRPr sz="3000" b="1">
                <a:solidFill>
                  <a:srgbClr val="1F2A4E"/>
                </a:solidFill>
              </a:defRPr>
            </a:pPr>
            <a:r>
              <a:t>Comparação: antes (semana passada) vs agora</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430000" cy="4937760"/>
        </p:xfrm>
        <a:graphic>
          <a:graphicData uri="http://schemas.openxmlformats.org/drawingml/2006/table">
            <a:tbl>
              <a:tblPr firstRow="1" bandRow="1">
                <a:tableStyleId>{5C22544A-7EE6-4342-B048-85BDC9FD1C3A}</a:tableStyleId>
              </a:tblPr>
              <a:tblGrid>
                <a:gridCol w="3810000"/>
                <a:gridCol w="3810000"/>
                <a:gridCol w="3810000"/>
              </a:tblGrid>
              <a:tr h="822960">
                <a:tc>
                  <a:txBody>
                    <a:bodyPr/>
                    <a:lstStyle/>
                    <a:p>
                      <a:r>
                        <a:rPr b="1" sz="1600">
                          <a:solidFill>
                            <a:srgbClr val="FFFFFF"/>
                          </a:solidFill>
                        </a:rPr>
                        <a:t>Dimensão</a:t>
                      </a:r>
                    </a:p>
                  </a:txBody>
                  <a:tcPr>
                    <a:solidFill>
                      <a:srgbClr val="1F2A4E"/>
                    </a:solidFill>
                  </a:tcPr>
                </a:tc>
                <a:tc>
                  <a:txBody>
                    <a:bodyPr/>
                    <a:lstStyle/>
                    <a:p>
                      <a:r>
                        <a:rPr b="1" sz="1600">
                          <a:solidFill>
                            <a:srgbClr val="FFFFFF"/>
                          </a:solidFill>
                        </a:rPr>
                        <a:t>Antes (diagnóstica)</a:t>
                      </a:r>
                    </a:p>
                  </a:txBody>
                  <a:tcPr>
                    <a:solidFill>
                      <a:srgbClr val="1F2A4E"/>
                    </a:solidFill>
                  </a:tcPr>
                </a:tc>
                <a:tc>
                  <a:txBody>
                    <a:bodyPr/>
                    <a:lstStyle/>
                    <a:p>
                      <a:r>
                        <a:rPr b="1" sz="1600">
                          <a:solidFill>
                            <a:srgbClr val="FFFFFF"/>
                          </a:solidFill>
                        </a:rPr>
                        <a:t>Agora (prescritiva)</a:t>
                      </a:r>
                    </a:p>
                  </a:txBody>
                  <a:tcPr>
                    <a:solidFill>
                      <a:srgbClr val="1F2A4E"/>
                    </a:solidFill>
                  </a:tcPr>
                </a:tc>
              </a:tr>
              <a:tr h="822960">
                <a:tc>
                  <a:txBody>
                    <a:bodyPr/>
                    <a:lstStyle/>
                    <a:p>
                      <a:r>
                        <a:rPr sz="1500">
                          <a:solidFill>
                            <a:srgbClr val="3D424E"/>
                          </a:solidFill>
                        </a:rPr>
                        <a:t>Postura</a:t>
                      </a:r>
                    </a:p>
                  </a:txBody>
                  <a:tcPr>
                    <a:solidFill>
                      <a:srgbClr val="FFFFFF"/>
                    </a:solidFill>
                  </a:tcPr>
                </a:tc>
                <a:tc>
                  <a:txBody>
                    <a:bodyPr/>
                    <a:lstStyle/>
                    <a:p>
                      <a:r>
                        <a:rPr sz="1500">
                          <a:solidFill>
                            <a:srgbClr val="3D424E"/>
                          </a:solidFill>
                        </a:rPr>
                        <a:t>Explicar por que o erro existe</a:t>
                      </a:r>
                    </a:p>
                  </a:txBody>
                  <a:tcPr>
                    <a:solidFill>
                      <a:srgbClr val="FFFFFF"/>
                    </a:solidFill>
                  </a:tcPr>
                </a:tc>
                <a:tc>
                  <a:txBody>
                    <a:bodyPr/>
                    <a:lstStyle/>
                    <a:p>
                      <a:r>
                        <a:rPr sz="1500">
                          <a:solidFill>
                            <a:srgbClr val="3D424E"/>
                          </a:solidFill>
                        </a:rPr>
                        <a:t>Construir um pipeline que reduz o erro</a:t>
                      </a:r>
                    </a:p>
                  </a:txBody>
                  <a:tcPr>
                    <a:solidFill>
                      <a:srgbClr val="FFFFFF"/>
                    </a:solidFill>
                  </a:tcPr>
                </a:tc>
              </a:tr>
              <a:tr h="822960">
                <a:tc>
                  <a:txBody>
                    <a:bodyPr/>
                    <a:lstStyle/>
                    <a:p>
                      <a:r>
                        <a:rPr sz="1500">
                          <a:solidFill>
                            <a:srgbClr val="3D424E"/>
                          </a:solidFill>
                        </a:rPr>
                        <a:t>Saída prática</a:t>
                      </a:r>
                    </a:p>
                  </a:txBody>
                  <a:tcPr>
                    <a:solidFill>
                      <a:srgbClr val="E8EAED"/>
                    </a:solidFill>
                  </a:tcPr>
                </a:tc>
                <a:tc>
                  <a:txBody>
                    <a:bodyPr/>
                    <a:lstStyle/>
                    <a:p>
                      <a:r>
                        <a:rPr sz="1500">
                          <a:solidFill>
                            <a:srgbClr val="3D424E"/>
                          </a:solidFill>
                        </a:rPr>
                        <a:t>Análise post-hoc</a:t>
                      </a:r>
                    </a:p>
                  </a:txBody>
                  <a:tcPr>
                    <a:solidFill>
                      <a:srgbClr val="E8EAED"/>
                    </a:solidFill>
                  </a:tcPr>
                </a:tc>
                <a:tc>
                  <a:txBody>
                    <a:bodyPr/>
                    <a:lstStyle/>
                    <a:p>
                      <a:r>
                        <a:rPr sz="1500">
                          <a:solidFill>
                            <a:srgbClr val="3D424E"/>
                          </a:solidFill>
                        </a:rPr>
                        <a:t>Modelo treinado deployável</a:t>
                      </a:r>
                    </a:p>
                  </a:txBody>
                  <a:tcPr>
                    <a:solidFill>
                      <a:srgbClr val="E8EAED"/>
                    </a:solidFill>
                  </a:tcPr>
                </a:tc>
              </a:tr>
              <a:tr h="822960">
                <a:tc>
                  <a:txBody>
                    <a:bodyPr/>
                    <a:lstStyle/>
                    <a:p>
                      <a:r>
                        <a:rPr sz="1500">
                          <a:solidFill>
                            <a:srgbClr val="3D424E"/>
                          </a:solidFill>
                        </a:rPr>
                        <a:t>Tarefa</a:t>
                      </a:r>
                    </a:p>
                  </a:txBody>
                  <a:tcPr>
                    <a:solidFill>
                      <a:srgbClr val="FFFFFF"/>
                    </a:solidFill>
                  </a:tcPr>
                </a:tc>
                <a:tc>
                  <a:txBody>
                    <a:bodyPr/>
                    <a:lstStyle/>
                    <a:p>
                      <a:r>
                        <a:rPr sz="1500">
                          <a:solidFill>
                            <a:srgbClr val="3D424E"/>
                          </a:solidFill>
                        </a:rPr>
                        <a:t>Apenas classification</a:t>
                      </a:r>
                    </a:p>
                  </a:txBody>
                  <a:tcPr>
                    <a:solidFill>
                      <a:srgbClr val="FFFFFF"/>
                    </a:solidFill>
                  </a:tcPr>
                </a:tc>
                <a:tc>
                  <a:txBody>
                    <a:bodyPr/>
                    <a:lstStyle/>
                    <a:p>
                      <a:r>
                        <a:rPr sz="1500">
                          <a:solidFill>
                            <a:srgbClr val="3D424E"/>
                          </a:solidFill>
                        </a:rPr>
                        <a:t>Classification + Face recognition</a:t>
                      </a:r>
                    </a:p>
                  </a:txBody>
                  <a:tcPr>
                    <a:solidFill>
                      <a:srgbClr val="FFFFFF"/>
                    </a:solidFill>
                  </a:tcPr>
                </a:tc>
              </a:tr>
              <a:tr h="822960">
                <a:tc>
                  <a:txBody>
                    <a:bodyPr/>
                    <a:lstStyle/>
                    <a:p>
                      <a:r>
                        <a:rPr sz="1500">
                          <a:solidFill>
                            <a:srgbClr val="3D424E"/>
                          </a:solidFill>
                        </a:rPr>
                        <a:t>Q04 e Q10</a:t>
                      </a:r>
                    </a:p>
                  </a:txBody>
                  <a:tcPr>
                    <a:solidFill>
                      <a:srgbClr val="E8EAED"/>
                    </a:solidFill>
                  </a:tcPr>
                </a:tc>
                <a:tc>
                  <a:txBody>
                    <a:bodyPr/>
                    <a:lstStyle/>
                    <a:p>
                      <a:r>
                        <a:rPr sz="1500">
                          <a:solidFill>
                            <a:srgbClr val="3D424E"/>
                          </a:solidFill>
                        </a:rPr>
                        <a:t>Capítulos paralelos</a:t>
                      </a:r>
                    </a:p>
                  </a:txBody>
                  <a:tcPr>
                    <a:solidFill>
                      <a:srgbClr val="E8EAED"/>
                    </a:solidFill>
                  </a:tcPr>
                </a:tc>
                <a:tc>
                  <a:txBody>
                    <a:bodyPr/>
                    <a:lstStyle/>
                    <a:p>
                      <a:r>
                        <a:rPr sz="1500">
                          <a:solidFill>
                            <a:srgbClr val="3D424E"/>
                          </a:solidFill>
                        </a:rPr>
                        <a:t>Pipeline unificado</a:t>
                      </a:r>
                    </a:p>
                  </a:txBody>
                  <a:tcPr>
                    <a:solidFill>
                      <a:srgbClr val="E8EAED"/>
                    </a:solidFill>
                  </a:tcPr>
                </a:tc>
              </a:tr>
              <a:tr h="822960">
                <a:tc>
                  <a:txBody>
                    <a:bodyPr/>
                    <a:lstStyle/>
                    <a:p>
                      <a:r>
                        <a:rPr sz="1500">
                          <a:solidFill>
                            <a:srgbClr val="3D424E"/>
                          </a:solidFill>
                        </a:rPr>
                        <a:t>Critério de sucesso</a:t>
                      </a:r>
                    </a:p>
                  </a:txBody>
                  <a:tcPr>
                    <a:solidFill>
                      <a:srgbClr val="FFFFFF"/>
                    </a:solidFill>
                  </a:tcPr>
                </a:tc>
                <a:tc>
                  <a:txBody>
                    <a:bodyPr/>
                    <a:lstStyle/>
                    <a:p>
                      <a:r>
                        <a:rPr sz="1500">
                          <a:solidFill>
                            <a:srgbClr val="3D424E"/>
                          </a:solidFill>
                        </a:rPr>
                        <a:t>Decomposição irredutível vs redutível</a:t>
                      </a:r>
                    </a:p>
                  </a:txBody>
                  <a:tcPr>
                    <a:solidFill>
                      <a:srgbClr val="FFFFFF"/>
                    </a:solidFill>
                  </a:tcPr>
                </a:tc>
                <a:tc>
                  <a:txBody>
                    <a:bodyPr/>
                    <a:lstStyle/>
                    <a:p>
                      <a:r>
                        <a:rPr sz="1500">
                          <a:solidFill>
                            <a:srgbClr val="3D424E"/>
                          </a:solidFill>
                        </a:rPr>
                        <a:t>Melhora mensurável em métricas concretas</a:t>
                      </a:r>
                    </a:p>
                  </a:txBody>
                  <a:tcPr>
                    <a:solidFill>
                      <a:srgbClr val="FFFFFF"/>
                    </a:solidFill>
                  </a:tcPr>
                </a:tc>
              </a:tr>
            </a:tbl>
          </a:graphicData>
        </a:graphic>
      </p:graphicFrame>
      <p:sp>
        <p:nvSpPr>
          <p:cNvPr id="5" name="TextBox 4"/>
          <p:cNvSpPr txBox="1"/>
          <p:nvPr/>
        </p:nvSpPr>
        <p:spPr>
          <a:xfrm>
            <a:off x="457200" y="6400800"/>
            <a:ext cx="11430000" cy="365760"/>
          </a:xfrm>
          <a:prstGeom prst="rect">
            <a:avLst/>
          </a:prstGeom>
          <a:noFill/>
        </p:spPr>
        <p:txBody>
          <a:bodyPr wrap="none">
            <a:spAutoFit/>
          </a:bodyPr>
          <a:lstStyle/>
          <a:p>
            <a:pPr>
              <a:defRPr sz="1500" i="1">
                <a:solidFill>
                  <a:srgbClr val="707682"/>
                </a:solidFill>
              </a:defRPr>
            </a:pPr>
            <a:r>
              <a:t>Aprovação da nova versão é o item principal desta reunião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none">
            <a:spAutoFit/>
          </a:bodyPr>
          <a:lstStyle/>
          <a:p>
            <a:pPr>
              <a:defRPr sz="3000" b="1">
                <a:solidFill>
                  <a:srgbClr val="1F2A4E"/>
                </a:solidFill>
              </a:defRPr>
            </a:pPr>
            <a:r>
              <a:t>O que é a escala MST (Monk Skin Tone)?</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11064240" cy="1554480"/>
          </a:xfrm>
          <a:prstGeom prst="roundRect">
            <a:avLst/>
          </a:prstGeom>
          <a:solidFill>
            <a:srgbClr val="E8E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1F2A4E"/>
                </a:solidFill>
              </a:defRPr>
            </a:pPr>
            <a:r>
              <a:t>Em palavras simples</a:t>
            </a:r>
          </a:p>
          <a:p>
            <a:pPr>
              <a:defRPr sz="1800">
                <a:solidFill>
                  <a:srgbClr val="3D424E"/>
                </a:solidFill>
              </a:defRPr>
            </a:pPr>
            <a:r>
              <a:t>Uma escala de 10 tons de pele (do tom 1 mais claro ao tom 10 mais escuro), criada em 2023 pelo sociólogo Dr. Ellis Monk (Harvard) em parceria com o Google. Foi desenhada especificamente para auditar fairness em sistemas de IA — não é a escala antiga de dermatologia (Fitzpatrick), que tem viés para pele clara.</a:t>
            </a:r>
          </a:p>
        </p:txBody>
      </p:sp>
      <p:sp>
        <p:nvSpPr>
          <p:cNvPr id="5" name="Rounded Rectangle 4"/>
          <p:cNvSpPr/>
          <p:nvPr/>
        </p:nvSpPr>
        <p:spPr>
          <a:xfrm>
            <a:off x="548640" y="3200400"/>
            <a:ext cx="11064240" cy="1554480"/>
          </a:xfrm>
          <a:prstGeom prst="roundRect">
            <a:avLst/>
          </a:prstGeom>
          <a:solidFill>
            <a:srgbClr val="FFFFFF"/>
          </a:solidFill>
          <a:ln w="12700">
            <a:solidFill>
              <a:srgbClr val="1F2A4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1F2A4E"/>
                </a:solidFill>
              </a:defRPr>
            </a:pPr>
            <a:r>
              <a:t>Por que importa para a tese</a:t>
            </a:r>
          </a:p>
          <a:p>
            <a:pPr>
              <a:defRPr sz="1800">
                <a:solidFill>
                  <a:srgbClr val="3D424E"/>
                </a:solidFill>
              </a:defRPr>
            </a:pPr>
            <a:r>
              <a:t>Nossa tese precisa medir tom de pele de forma confiável e granular. MST é o padrão moderno aceito pela comunidade de fairness research (publicado em NeurIPS 2023). Substituir a Fitzpatrick pela MST evita 3 problemas conhecidos da escala antiga.</a:t>
            </a:r>
          </a:p>
        </p:txBody>
      </p:sp>
      <p:sp>
        <p:nvSpPr>
          <p:cNvPr id="6" name="Rounded Rectangle 5"/>
          <p:cNvSpPr/>
          <p:nvPr/>
        </p:nvSpPr>
        <p:spPr>
          <a:xfrm>
            <a:off x="548640" y="4937760"/>
            <a:ext cx="11064240" cy="1463040"/>
          </a:xfrm>
          <a:prstGeom prst="roundRect">
            <a:avLst/>
          </a:prstGeom>
          <a:solidFill>
            <a:srgbClr val="FFFFFF"/>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2E7D32"/>
                </a:solidFill>
              </a:defRPr>
            </a:pPr>
            <a:r>
              <a:t>Exemplo concreto</a:t>
            </a:r>
          </a:p>
          <a:p>
            <a:pPr>
              <a:defRPr sz="1700">
                <a:solidFill>
                  <a:srgbClr val="3D424E"/>
                </a:solidFill>
              </a:defRPr>
            </a:pPr>
            <a:r>
              <a:t>A Fitzpatrick (1975) tem só 6 tons, sendo 3 deles para variações de 'pele considerada branca'. Um terço dos próprios dermatologistas confunde Fitzpatrick com classificação racial — erro categorial endêmico.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none">
            <a:spAutoFit/>
          </a:bodyPr>
          <a:lstStyle/>
          <a:p>
            <a:pPr>
              <a:defRPr sz="3000" b="1">
                <a:solidFill>
                  <a:srgbClr val="1F2A4E"/>
                </a:solidFill>
              </a:defRPr>
            </a:pPr>
            <a:r>
              <a:t>O que é FiLM (Feature-wise Linear Modulation)?</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11064240" cy="1554480"/>
          </a:xfrm>
          <a:prstGeom prst="roundRect">
            <a:avLst/>
          </a:prstGeom>
          <a:solidFill>
            <a:srgbClr val="E8E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1F2A4E"/>
                </a:solidFill>
              </a:defRPr>
            </a:pPr>
            <a:r>
              <a:t>Em palavras simples</a:t>
            </a:r>
          </a:p>
          <a:p>
            <a:pPr>
              <a:defRPr sz="1800">
                <a:solidFill>
                  <a:srgbClr val="3D424E"/>
                </a:solidFill>
              </a:defRPr>
            </a:pPr>
            <a:r>
              <a:t>Uma técnica de redes neurais (Perez et al., AAAI 2018) que permite uma rede ‘consultar’ uma fonte de contexto extra ao tomar decisões. Tecnicamente: ela modula as features intermediárias por uma transformação aprendida a partir do contexto. Não muda a arquitetura — é uma camada que se adiciona.</a:t>
            </a:r>
          </a:p>
        </p:txBody>
      </p:sp>
      <p:sp>
        <p:nvSpPr>
          <p:cNvPr id="5" name="Rounded Rectangle 4"/>
          <p:cNvSpPr/>
          <p:nvPr/>
        </p:nvSpPr>
        <p:spPr>
          <a:xfrm>
            <a:off x="548640" y="3200400"/>
            <a:ext cx="11064240" cy="1554480"/>
          </a:xfrm>
          <a:prstGeom prst="roundRect">
            <a:avLst/>
          </a:prstGeom>
          <a:solidFill>
            <a:srgbClr val="FFFFFF"/>
          </a:solidFill>
          <a:ln w="12700">
            <a:solidFill>
              <a:srgbClr val="1F2A4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1F2A4E"/>
                </a:solidFill>
              </a:defRPr>
            </a:pPr>
            <a:r>
              <a:t>Por que importa para a tese</a:t>
            </a:r>
          </a:p>
          <a:p>
            <a:pPr>
              <a:defRPr sz="1800">
                <a:solidFill>
                  <a:srgbClr val="3D424E"/>
                </a:solidFill>
              </a:defRPr>
            </a:pPr>
            <a:r>
              <a:t>É o mecanismo formal que torna nossa proposta operacional. Sem FiLM, a ideia 'usar tom de pele como contexto' seria vaga. Com FiLM, é matemática e código concreto. Custo computacional: menos de 1% sobre o backbone.</a:t>
            </a:r>
          </a:p>
        </p:txBody>
      </p:sp>
      <p:sp>
        <p:nvSpPr>
          <p:cNvPr id="6" name="Rounded Rectangle 5"/>
          <p:cNvSpPr/>
          <p:nvPr/>
        </p:nvSpPr>
        <p:spPr>
          <a:xfrm>
            <a:off x="548640" y="4937760"/>
            <a:ext cx="11064240" cy="1463040"/>
          </a:xfrm>
          <a:prstGeom prst="roundRect">
            <a:avLst/>
          </a:prstGeom>
          <a:solidFill>
            <a:srgbClr val="FFFFFF"/>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2E7D32"/>
                </a:solidFill>
              </a:defRPr>
            </a:pPr>
            <a:r>
              <a:t>Exemplo concreto</a:t>
            </a:r>
          </a:p>
          <a:p>
            <a:pPr>
              <a:defRPr sz="1700">
                <a:solidFill>
                  <a:srgbClr val="3D424E"/>
                </a:solidFill>
              </a:defRPr>
            </a:pPr>
            <a:r>
              <a:t>Analogia: imagine um médico fazendo diagnóstico. Antes de decidir, ele consulta o exame complementar (ECG, raio-X). FiLM faz isso para a rede de raça: antes de decidir, ela 'consulta' a rede de tom de pele.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none">
            <a:spAutoFit/>
          </a:bodyPr>
          <a:lstStyle/>
          <a:p>
            <a:pPr>
              <a:defRPr sz="3000" b="1">
                <a:solidFill>
                  <a:srgbClr val="1F2A4E"/>
                </a:solidFill>
              </a:defRPr>
            </a:pPr>
            <a:r>
              <a:t>O que é fair transferência (LAFTR)?</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11064240" cy="1554480"/>
          </a:xfrm>
          <a:prstGeom prst="roundRect">
            <a:avLst/>
          </a:prstGeom>
          <a:solidFill>
            <a:srgbClr val="E8E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1F2A4E"/>
                </a:solidFill>
              </a:defRPr>
            </a:pPr>
            <a:r>
              <a:t>Em palavras simples</a:t>
            </a:r>
          </a:p>
          <a:p>
            <a:pPr>
              <a:defRPr sz="1800">
                <a:solidFill>
                  <a:srgbClr val="3D424E"/>
                </a:solidFill>
              </a:defRPr>
            </a:pPr>
            <a:r>
              <a:t>Madras et al. (ICML 2018) provaram teoricamente e mostraram empiricamente que, ao treinar uma rede para ser justa em uma tarefa A, essa propriedade de ser justa é HERDADA por outras tarefas B que usem a mesma representação como ponto de partida.</a:t>
            </a:r>
          </a:p>
        </p:txBody>
      </p:sp>
      <p:sp>
        <p:nvSpPr>
          <p:cNvPr id="5" name="Rounded Rectangle 4"/>
          <p:cNvSpPr/>
          <p:nvPr/>
        </p:nvSpPr>
        <p:spPr>
          <a:xfrm>
            <a:off x="548640" y="3200400"/>
            <a:ext cx="11064240" cy="1554480"/>
          </a:xfrm>
          <a:prstGeom prst="roundRect">
            <a:avLst/>
          </a:prstGeom>
          <a:solidFill>
            <a:srgbClr val="FFFFFF"/>
          </a:solidFill>
          <a:ln w="12700">
            <a:solidFill>
              <a:srgbClr val="1F2A4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1F2A4E"/>
                </a:solidFill>
              </a:defRPr>
            </a:pPr>
            <a:r>
              <a:t>Por que importa para a tese</a:t>
            </a:r>
          </a:p>
          <a:p>
            <a:pPr>
              <a:defRPr sz="1800">
                <a:solidFill>
                  <a:srgbClr val="3D424E"/>
                </a:solidFill>
              </a:defRPr>
            </a:pPr>
            <a:r>
              <a:t>É o que sustenta a EXTENSÃO da nossa tese para face recognition. Se treinarmos fairness na classificação racial (Cap 2), a propriedade fair se transfere para reconhecimento facial (Cap 3) — não precisa re-treinar do zero. Esta é a demonstração empírica que combinamos.</a:t>
            </a:r>
          </a:p>
        </p:txBody>
      </p:sp>
      <p:sp>
        <p:nvSpPr>
          <p:cNvPr id="6" name="Rounded Rectangle 5"/>
          <p:cNvSpPr/>
          <p:nvPr/>
        </p:nvSpPr>
        <p:spPr>
          <a:xfrm>
            <a:off x="548640" y="4937760"/>
            <a:ext cx="11064240" cy="1463040"/>
          </a:xfrm>
          <a:prstGeom prst="roundRect">
            <a:avLst/>
          </a:prstGeom>
          <a:solidFill>
            <a:srgbClr val="FFFFFF"/>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a:lstStyle/>
          <a:p>
            <a:pPr algn="ctr">
              <a:defRPr sz="1500" b="1">
                <a:solidFill>
                  <a:srgbClr val="2E7D32"/>
                </a:solidFill>
              </a:defRPr>
            </a:pPr>
            <a:r>
              <a:t>Exemplo concreto</a:t>
            </a:r>
          </a:p>
          <a:p>
            <a:pPr>
              <a:defRPr sz="1700">
                <a:solidFill>
                  <a:srgbClr val="3D424E"/>
                </a:solidFill>
              </a:defRPr>
            </a:pPr>
            <a:r>
              <a:t>Analogia: aprender ética profissional em medicina geral nos torna mais éticos também quando nos especializamos em cardiologia. A propriedade 'ética' não depende da especialidade — está embutida no profissional.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O pipeline em 6 etapas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Etapa 1 — Treinar um classificador de tom de pele (MST)</a:t>
            </a:r>
          </a:p>
          <a:p>
            <a:pPr lvl="1">
              <a:spcAft>
                <a:spcPts val="800"/>
              </a:spcAft>
              <a:defRPr sz="1700">
                <a:solidFill>
                  <a:srgbClr val="707682"/>
                </a:solidFill>
              </a:defRPr>
            </a:pPr>
            <a:r>
              <a:t>Dados: MST-E (Schumann 2023) + Casual Conversations (Meta 2021)</a:t>
            </a:r>
          </a:p>
          <a:p>
            <a:pPr>
              <a:spcAft>
                <a:spcPts val="800"/>
              </a:spcAft>
              <a:defRPr sz="2000" b="0">
                <a:solidFill>
                  <a:srgbClr val="3D424E"/>
                </a:solidFill>
              </a:defRPr>
            </a:pPr>
            <a:r>
              <a:t>Etapa 2 — Auditar o FairFace: como tom de pele se distribui entre as 7 raças?</a:t>
            </a:r>
          </a:p>
          <a:p>
            <a:pPr lvl="1">
              <a:spcAft>
                <a:spcPts val="800"/>
              </a:spcAft>
              <a:defRPr sz="1700">
                <a:solidFill>
                  <a:srgbClr val="707682"/>
                </a:solidFill>
              </a:defRPr>
            </a:pPr>
            <a:r>
              <a:t>Aplicar o classificador MST sobre 10.954 imagens; validar manualmente um subset</a:t>
            </a:r>
          </a:p>
          <a:p>
            <a:pPr>
              <a:spcAft>
                <a:spcPts val="800"/>
              </a:spcAft>
              <a:defRPr sz="2000" b="0">
                <a:solidFill>
                  <a:srgbClr val="3D424E"/>
                </a:solidFill>
              </a:defRPr>
            </a:pPr>
            <a:r>
              <a:t>Etapa 3 — Treinar o classificador de raça USANDO tom de pele como contexto (via FiLM)</a:t>
            </a:r>
          </a:p>
          <a:p>
            <a:pPr lvl="1">
              <a:spcAft>
                <a:spcPts val="800"/>
              </a:spcAft>
              <a:defRPr sz="1700">
                <a:solidFill>
                  <a:srgbClr val="707682"/>
                </a:solidFill>
              </a:defRPr>
            </a:pPr>
            <a:r>
              <a:t>Backbone: ConvNeXt-T (rede moderna, 28 milhões de parâmetros — leve)</a:t>
            </a:r>
          </a:p>
          <a:p>
            <a:pPr>
              <a:spcAft>
                <a:spcPts val="800"/>
              </a:spcAft>
              <a:defRPr sz="2000" b="0">
                <a:solidFill>
                  <a:srgbClr val="3D424E"/>
                </a:solidFill>
              </a:defRPr>
            </a:pPr>
            <a:r>
              <a:t>Etapa 4 — Comparar fairness: COM tom de pele vs SEM</a:t>
            </a:r>
          </a:p>
          <a:p>
            <a:pPr lvl="1">
              <a:spcAft>
                <a:spcPts val="800"/>
              </a:spcAft>
              <a:defRPr sz="1700">
                <a:solidFill>
                  <a:srgbClr val="707682"/>
                </a:solidFill>
              </a:defRPr>
            </a:pPr>
            <a:r>
              <a:t>Baselines: ConvNeXt-T puro, FSCL+, Group DRO, Adversarial debiasing</a:t>
            </a:r>
          </a:p>
          <a:p>
            <a:pPr>
              <a:spcAft>
                <a:spcPts val="800"/>
              </a:spcAft>
              <a:defRPr sz="2000" b="0">
                <a:solidFill>
                  <a:srgbClr val="3D424E"/>
                </a:solidFill>
              </a:defRPr>
            </a:pPr>
            <a:r>
              <a:t>Etapa 5 — Aplicar pipeline idêntico em reconhecimento facial (RFW ou BFW)</a:t>
            </a:r>
          </a:p>
          <a:p>
            <a:pPr lvl="1">
              <a:spcAft>
                <a:spcPts val="800"/>
              </a:spcAft>
              <a:defRPr sz="1700">
                <a:solidFill>
                  <a:srgbClr val="707682"/>
                </a:solidFill>
              </a:defRPr>
            </a:pPr>
            <a:r>
              <a:t>Verificar transferência da propriedade fair</a:t>
            </a:r>
          </a:p>
          <a:p>
            <a:pPr>
              <a:spcAft>
                <a:spcPts val="800"/>
              </a:spcAft>
              <a:defRPr sz="2000" b="0">
                <a:solidFill>
                  <a:srgbClr val="3D424E"/>
                </a:solidFill>
              </a:defRPr>
            </a:pPr>
            <a:r>
              <a:t>Etapa 6 — Medir se Black/African melhora especificamente</a:t>
            </a:r>
          </a:p>
          <a:p>
            <a:pPr lvl="1">
              <a:spcAft>
                <a:spcPts val="800"/>
              </a:spcAft>
              <a:defRPr sz="1700">
                <a:solidFill>
                  <a:srgbClr val="707682"/>
                </a:solidFill>
              </a:defRPr>
            </a:pPr>
            <a:r>
              <a:t>Métrica: TAR @ FAR fixo por raça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As métricas que vamos reportar — explicação simples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F1 macro — média das pontuações em todas as 7 raças, tratando todas igualmente.</a:t>
            </a:r>
          </a:p>
          <a:p>
            <a:pPr lvl="1">
              <a:spcAft>
                <a:spcPts val="800"/>
              </a:spcAft>
              <a:defRPr sz="1700">
                <a:solidFill>
                  <a:srgbClr val="707682"/>
                </a:solidFill>
              </a:defRPr>
            </a:pPr>
            <a:r>
              <a:t>Quanto maior, melhor. SOTA atual = 75% (FaceScanPaliGemma).</a:t>
            </a:r>
          </a:p>
          <a:p>
            <a:pPr>
              <a:spcAft>
                <a:spcPts val="800"/>
              </a:spcAft>
              <a:defRPr sz="2000" b="0">
                <a:solidFill>
                  <a:srgbClr val="3D424E"/>
                </a:solidFill>
              </a:defRPr>
            </a:pPr>
          </a:p>
          <a:p>
            <a:pPr>
              <a:spcAft>
                <a:spcPts val="800"/>
              </a:spcAft>
              <a:defRPr sz="2000" b="0">
                <a:solidFill>
                  <a:srgbClr val="3D424E"/>
                </a:solidFill>
              </a:defRPr>
            </a:pPr>
            <a:r>
              <a:t>DR (Disparity Ratio) — razão entre a melhor e a pior raça.</a:t>
            </a:r>
          </a:p>
          <a:p>
            <a:pPr lvl="1">
              <a:spcAft>
                <a:spcPts val="800"/>
              </a:spcAft>
              <a:defRPr sz="1700">
                <a:solidFill>
                  <a:srgbClr val="707682"/>
                </a:solidFill>
              </a:defRPr>
            </a:pPr>
            <a:r>
              <a:t>Quanto mais perto de 1.0, mais justo. Latinx vs Black hoje = 60% / 90% = 0.67.</a:t>
            </a:r>
          </a:p>
          <a:p>
            <a:pPr>
              <a:spcAft>
                <a:spcPts val="800"/>
              </a:spcAft>
              <a:defRPr sz="2000" b="0">
                <a:solidFill>
                  <a:srgbClr val="3D424E"/>
                </a:solidFill>
              </a:defRPr>
            </a:pPr>
          </a:p>
          <a:p>
            <a:pPr>
              <a:spcAft>
                <a:spcPts val="800"/>
              </a:spcAft>
              <a:defRPr sz="2000" b="0">
                <a:solidFill>
                  <a:srgbClr val="3D424E"/>
                </a:solidFill>
              </a:defRPr>
            </a:pPr>
            <a:r>
              <a:t>Worst-class F1 — pontuação na raça em que o modelo se sai pior.</a:t>
            </a:r>
          </a:p>
          <a:p>
            <a:pPr lvl="1">
              <a:spcAft>
                <a:spcPts val="800"/>
              </a:spcAft>
              <a:defRPr sz="1700">
                <a:solidFill>
                  <a:srgbClr val="707682"/>
                </a:solidFill>
              </a:defRPr>
            </a:pPr>
            <a:r>
              <a:t>Hoje = 60% (Latinx). Quanto maior, melhor o pior caso.</a:t>
            </a:r>
          </a:p>
          <a:p>
            <a:pPr>
              <a:spcAft>
                <a:spcPts val="800"/>
              </a:spcAft>
              <a:defRPr sz="2000" b="0">
                <a:solidFill>
                  <a:srgbClr val="3D424E"/>
                </a:solidFill>
              </a:defRPr>
            </a:pPr>
          </a:p>
          <a:p>
            <a:pPr>
              <a:spcAft>
                <a:spcPts val="800"/>
              </a:spcAft>
              <a:defRPr sz="2000" b="0">
                <a:solidFill>
                  <a:srgbClr val="3D424E"/>
                </a:solidFill>
              </a:defRPr>
            </a:pPr>
            <a:r>
              <a:t>Por que 3 métricas e não uma?</a:t>
            </a:r>
          </a:p>
          <a:p>
            <a:pPr lvl="1">
              <a:spcAft>
                <a:spcPts val="800"/>
              </a:spcAft>
              <a:defRPr sz="1700">
                <a:solidFill>
                  <a:srgbClr val="707682"/>
                </a:solidFill>
              </a:defRPr>
            </a:pPr>
            <a:r>
              <a:t>Teorema da impossibilidade (Kleinberg et al. 2017): não existe métrica única</a:t>
            </a:r>
          </a:p>
          <a:p>
            <a:pPr lvl="1">
              <a:spcAft>
                <a:spcPts val="800"/>
              </a:spcAft>
              <a:defRPr sz="1700">
                <a:solidFill>
                  <a:srgbClr val="707682"/>
                </a:solidFill>
              </a:defRPr>
            </a:pPr>
            <a:r>
              <a:t>de fairness. Reportar 3 simultaneamente é a forma honesta de comunicar trade-offs.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none">
            <a:spAutoFit/>
          </a:bodyPr>
          <a:lstStyle/>
          <a:p>
            <a:pPr>
              <a:defRPr sz="3000" b="1">
                <a:solidFill>
                  <a:srgbClr val="1F2A4E"/>
                </a:solidFill>
              </a:defRPr>
            </a:pPr>
            <a:r>
              <a:t>As 5 hipóteses que vamos testar (na forma de perguntas)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430000" cy="4937760"/>
        </p:xfrm>
        <a:graphic>
          <a:graphicData uri="http://schemas.openxmlformats.org/drawingml/2006/table">
            <a:tbl>
              <a:tblPr firstRow="1" bandRow="1">
                <a:tableStyleId>{5C22544A-7EE6-4342-B048-85BDC9FD1C3A}</a:tableStyleId>
              </a:tblPr>
              <a:tblGrid>
                <a:gridCol w="3810000"/>
                <a:gridCol w="3810000"/>
                <a:gridCol w="3810000"/>
              </a:tblGrid>
              <a:tr h="822960">
                <a:tc>
                  <a:txBody>
                    <a:bodyPr/>
                    <a:lstStyle/>
                    <a:p>
                      <a:r>
                        <a:rPr b="1" sz="1600">
                          <a:solidFill>
                            <a:srgbClr val="FFFFFF"/>
                          </a:solidFill>
                        </a:rPr>
                        <a:t>#</a:t>
                      </a:r>
                    </a:p>
                  </a:txBody>
                  <a:tcPr>
                    <a:solidFill>
                      <a:srgbClr val="1F2A4E"/>
                    </a:solidFill>
                  </a:tcPr>
                </a:tc>
                <a:tc>
                  <a:txBody>
                    <a:bodyPr/>
                    <a:lstStyle/>
                    <a:p>
                      <a:r>
                        <a:rPr b="1" sz="1600">
                          <a:solidFill>
                            <a:srgbClr val="FFFFFF"/>
                          </a:solidFill>
                        </a:rPr>
                        <a:t>Pergunta</a:t>
                      </a:r>
                    </a:p>
                  </a:txBody>
                  <a:tcPr>
                    <a:solidFill>
                      <a:srgbClr val="1F2A4E"/>
                    </a:solidFill>
                  </a:tcPr>
                </a:tc>
                <a:tc>
                  <a:txBody>
                    <a:bodyPr/>
                    <a:lstStyle/>
                    <a:p>
                      <a:r>
                        <a:rPr b="1" sz="1600">
                          <a:solidFill>
                            <a:srgbClr val="FFFFFF"/>
                          </a:solidFill>
                        </a:rPr>
                        <a:t>Como saberemos se SIM</a:t>
                      </a:r>
                    </a:p>
                  </a:txBody>
                  <a:tcPr>
                    <a:solidFill>
                      <a:srgbClr val="1F2A4E"/>
                    </a:solidFill>
                  </a:tcPr>
                </a:tc>
              </a:tr>
              <a:tr h="822960">
                <a:tc>
                  <a:txBody>
                    <a:bodyPr/>
                    <a:lstStyle/>
                    <a:p>
                      <a:r>
                        <a:rPr sz="1500">
                          <a:solidFill>
                            <a:srgbClr val="3D424E"/>
                          </a:solidFill>
                        </a:rPr>
                        <a:t>H1</a:t>
                      </a:r>
                    </a:p>
                  </a:txBody>
                  <a:tcPr>
                    <a:solidFill>
                      <a:srgbClr val="FFFFFF"/>
                    </a:solidFill>
                  </a:tcPr>
                </a:tc>
                <a:tc>
                  <a:txBody>
                    <a:bodyPr/>
                    <a:lstStyle/>
                    <a:p>
                      <a:r>
                        <a:rPr sz="1500">
                          <a:solidFill>
                            <a:srgbClr val="3D424E"/>
                          </a:solidFill>
                        </a:rPr>
                        <a:t>O pipeline com tom de pele melhora fairness em classificação?</a:t>
                      </a:r>
                    </a:p>
                  </a:txBody>
                  <a:tcPr>
                    <a:solidFill>
                      <a:srgbClr val="FFFFFF"/>
                    </a:solidFill>
                  </a:tcPr>
                </a:tc>
                <a:tc>
                  <a:txBody>
                    <a:bodyPr/>
                    <a:lstStyle/>
                    <a:p>
                      <a:r>
                        <a:rPr sz="1500">
                          <a:solidFill>
                            <a:srgbClr val="3D424E"/>
                          </a:solidFill>
                        </a:rPr>
                        <a:t>F1 sobe ≥+2pp E DR cai ≥20% vs ResNet-34</a:t>
                      </a:r>
                    </a:p>
                  </a:txBody>
                  <a:tcPr>
                    <a:solidFill>
                      <a:srgbClr val="FFFFFF"/>
                    </a:solidFill>
                  </a:tcPr>
                </a:tc>
              </a:tr>
              <a:tr h="822960">
                <a:tc>
                  <a:txBody>
                    <a:bodyPr/>
                    <a:lstStyle/>
                    <a:p>
                      <a:r>
                        <a:rPr sz="1500">
                          <a:solidFill>
                            <a:srgbClr val="3D424E"/>
                          </a:solidFill>
                        </a:rPr>
                        <a:t>H2</a:t>
                      </a:r>
                    </a:p>
                  </a:txBody>
                  <a:tcPr>
                    <a:solidFill>
                      <a:srgbClr val="E8EAED"/>
                    </a:solidFill>
                  </a:tcPr>
                </a:tc>
                <a:tc>
                  <a:txBody>
                    <a:bodyPr/>
                    <a:lstStyle/>
                    <a:p>
                      <a:r>
                        <a:rPr sz="1500">
                          <a:solidFill>
                            <a:srgbClr val="3D424E"/>
                          </a:solidFill>
                        </a:rPr>
                        <a:t>Trocar a rede (ResNet-34 → ConvNeXt-T) por si só ajuda Latinx?</a:t>
                      </a:r>
                    </a:p>
                  </a:txBody>
                  <a:tcPr>
                    <a:solidFill>
                      <a:srgbClr val="E8EAED"/>
                    </a:solidFill>
                  </a:tcPr>
                </a:tc>
                <a:tc>
                  <a:txBody>
                    <a:bodyPr/>
                    <a:lstStyle/>
                    <a:p>
                      <a:r>
                        <a:rPr sz="1500">
                          <a:solidFill>
                            <a:srgbClr val="3D424E"/>
                          </a:solidFill>
                        </a:rPr>
                        <a:t>Latinx permanece em ≈60% (não muda)</a:t>
                      </a:r>
                    </a:p>
                  </a:txBody>
                  <a:tcPr>
                    <a:solidFill>
                      <a:srgbClr val="E8EAED"/>
                    </a:solidFill>
                  </a:tcPr>
                </a:tc>
              </a:tr>
              <a:tr h="822960">
                <a:tc>
                  <a:txBody>
                    <a:bodyPr/>
                    <a:lstStyle/>
                    <a:p>
                      <a:r>
                        <a:rPr sz="1500">
                          <a:solidFill>
                            <a:srgbClr val="3D424E"/>
                          </a:solidFill>
                        </a:rPr>
                        <a:t>H3</a:t>
                      </a:r>
                    </a:p>
                  </a:txBody>
                  <a:tcPr>
                    <a:solidFill>
                      <a:srgbClr val="FFFFFF"/>
                    </a:solidFill>
                  </a:tcPr>
                </a:tc>
                <a:tc>
                  <a:txBody>
                    <a:bodyPr/>
                    <a:lstStyle/>
                    <a:p>
                      <a:r>
                        <a:rPr sz="1500">
                          <a:solidFill>
                            <a:srgbClr val="3D424E"/>
                          </a:solidFill>
                        </a:rPr>
                        <a:t>Latinx tem tom de pele espalhado em várias categorias?</a:t>
                      </a:r>
                    </a:p>
                  </a:txBody>
                  <a:tcPr>
                    <a:solidFill>
                      <a:srgbClr val="FFFFFF"/>
                    </a:solidFill>
                  </a:tcPr>
                </a:tc>
                <a:tc>
                  <a:txBody>
                    <a:bodyPr/>
                    <a:lstStyle/>
                    <a:p>
                      <a:r>
                        <a:rPr sz="1500">
                          <a:solidFill>
                            <a:srgbClr val="3D424E"/>
                          </a:solidFill>
                        </a:rPr>
                        <a:t>Spread cobre ≥5 das 10 categorias MST</a:t>
                      </a:r>
                    </a:p>
                  </a:txBody>
                  <a:tcPr>
                    <a:solidFill>
                      <a:srgbClr val="FFFFFF"/>
                    </a:solidFill>
                  </a:tcPr>
                </a:tc>
              </a:tr>
              <a:tr h="822960">
                <a:tc>
                  <a:txBody>
                    <a:bodyPr/>
                    <a:lstStyle/>
                    <a:p>
                      <a:r>
                        <a:rPr sz="1500">
                          <a:solidFill>
                            <a:srgbClr val="3D424E"/>
                          </a:solidFill>
                        </a:rPr>
                        <a:t>H4</a:t>
                      </a:r>
                    </a:p>
                  </a:txBody>
                  <a:tcPr>
                    <a:solidFill>
                      <a:srgbClr val="E8EAED"/>
                    </a:solidFill>
                  </a:tcPr>
                </a:tc>
                <a:tc>
                  <a:txBody>
                    <a:bodyPr/>
                    <a:lstStyle/>
                    <a:p>
                      <a:r>
                        <a:rPr sz="1500">
                          <a:solidFill>
                            <a:srgbClr val="3D424E"/>
                          </a:solidFill>
                        </a:rPr>
                        <a:t>A maior parte dos erros do Latinx é por sobreposição de tom?</a:t>
                      </a:r>
                    </a:p>
                  </a:txBody>
                  <a:tcPr>
                    <a:solidFill>
                      <a:srgbClr val="E8EAED"/>
                    </a:solidFill>
                  </a:tcPr>
                </a:tc>
                <a:tc>
                  <a:txBody>
                    <a:bodyPr/>
                    <a:lstStyle/>
                    <a:p>
                      <a:r>
                        <a:rPr sz="1500">
                          <a:solidFill>
                            <a:srgbClr val="3D424E"/>
                          </a:solidFill>
                        </a:rPr>
                        <a:t>≥50% dos erros estão em zonas de overlap</a:t>
                      </a:r>
                    </a:p>
                  </a:txBody>
                  <a:tcPr>
                    <a:solidFill>
                      <a:srgbClr val="E8EAED"/>
                    </a:solidFill>
                  </a:tcPr>
                </a:tc>
              </a:tr>
              <a:tr h="822960">
                <a:tc>
                  <a:txBody>
                    <a:bodyPr/>
                    <a:lstStyle/>
                    <a:p>
                      <a:r>
                        <a:rPr sz="1500">
                          <a:solidFill>
                            <a:srgbClr val="3D424E"/>
                          </a:solidFill>
                        </a:rPr>
                        <a:t>H5</a:t>
                      </a:r>
                    </a:p>
                  </a:txBody>
                  <a:tcPr>
                    <a:solidFill>
                      <a:srgbClr val="FFFFFF"/>
                    </a:solidFill>
                  </a:tcPr>
                </a:tc>
                <a:tc>
                  <a:txBody>
                    <a:bodyPr/>
                    <a:lstStyle/>
                    <a:p>
                      <a:r>
                        <a:rPr sz="1500">
                          <a:solidFill>
                            <a:srgbClr val="3D424E"/>
                          </a:solidFill>
                        </a:rPr>
                        <a:t>A melhoria transfere para reconhecimento facial?</a:t>
                      </a:r>
                    </a:p>
                  </a:txBody>
                  <a:tcPr>
                    <a:solidFill>
                      <a:srgbClr val="FFFFFF"/>
                    </a:solidFill>
                  </a:tcPr>
                </a:tc>
                <a:tc>
                  <a:txBody>
                    <a:bodyPr/>
                    <a:lstStyle/>
                    <a:p>
                      <a:r>
                        <a:rPr sz="1500">
                          <a:solidFill>
                            <a:srgbClr val="3D424E"/>
                          </a:solidFill>
                        </a:rPr>
                        <a:t>Black/African melhora ≥+3pp em RFW ou BFW</a:t>
                      </a:r>
                    </a:p>
                  </a:txBody>
                  <a:tcPr>
                    <a:solidFill>
                      <a:srgbClr val="FFFFFF"/>
                    </a:solidFill>
                  </a:tcPr>
                </a:tc>
              </a:tr>
            </a:tbl>
          </a:graphicData>
        </a:graphic>
      </p:graphicFrame>
      <p:sp>
        <p:nvSpPr>
          <p:cNvPr id="5" name="TextBox 4"/>
          <p:cNvSpPr txBox="1"/>
          <p:nvPr/>
        </p:nvSpPr>
        <p:spPr>
          <a:xfrm>
            <a:off x="457200" y="6400800"/>
            <a:ext cx="11430000" cy="365760"/>
          </a:xfrm>
          <a:prstGeom prst="rect">
            <a:avLst/>
          </a:prstGeom>
          <a:noFill/>
        </p:spPr>
        <p:txBody>
          <a:bodyPr wrap="none">
            <a:spAutoFit/>
          </a:bodyPr>
          <a:lstStyle/>
          <a:p>
            <a:pPr>
              <a:defRPr sz="1500" i="1">
                <a:solidFill>
                  <a:srgbClr val="707682"/>
                </a:solidFill>
              </a:defRPr>
            </a:pPr>
            <a:r>
              <a:t>H1, H4 e H5 são as hipóteses centrais. Plano B documentado caso refutadas.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2743200" cy="2743200"/>
          </a:xfrm>
          <a:prstGeom prst="rect">
            <a:avLst/>
          </a:prstGeom>
          <a:noFill/>
        </p:spPr>
        <p:txBody>
          <a:bodyPr wrap="none">
            <a:spAutoFit/>
          </a:bodyPr>
          <a:lstStyle/>
          <a:p>
            <a:pPr>
              <a:defRPr sz="13000" b="1">
                <a:solidFill>
                  <a:srgbClr val="FFFFFF"/>
                </a:solidFill>
              </a:defRPr>
            </a:pPr>
            <a:r>
              <a:t>4</a:t>
            </a:r>
          </a:p>
        </p:txBody>
      </p:sp>
      <p:sp>
        <p:nvSpPr>
          <p:cNvPr id="4" name="TextBox 3"/>
          <p:cNvSpPr txBox="1"/>
          <p:nvPr/>
        </p:nvSpPr>
        <p:spPr>
          <a:xfrm>
            <a:off x="3931920" y="2286000"/>
            <a:ext cx="7772400" cy="1828800"/>
          </a:xfrm>
          <a:prstGeom prst="rect">
            <a:avLst/>
          </a:prstGeom>
          <a:noFill/>
        </p:spPr>
        <p:txBody>
          <a:bodyPr wrap="square">
            <a:spAutoFit/>
          </a:bodyPr>
          <a:lstStyle/>
          <a:p>
            <a:pPr>
              <a:defRPr sz="3600" b="1">
                <a:solidFill>
                  <a:srgbClr val="FFFFFF"/>
                </a:solidFill>
              </a:defRPr>
            </a:pPr>
            <a:r>
              <a:t>Próximos passos</a:t>
            </a:r>
          </a:p>
          <a:p>
            <a:pPr>
              <a:defRPr sz="2000">
                <a:solidFill>
                  <a:srgbClr val="E8EAED"/>
                </a:solidFill>
              </a:defRPr>
            </a:pPr>
            <a:r>
              <a:t>Plano experimental e calendário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Os 3 capítulos experimentais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Capítulo 1 (~4 semanas) — Construir o classificador de tom</a:t>
            </a:r>
          </a:p>
          <a:p>
            <a:pPr lvl="1">
              <a:spcAft>
                <a:spcPts val="800"/>
              </a:spcAft>
              <a:defRPr sz="1700">
                <a:solidFill>
                  <a:srgbClr val="707682"/>
                </a:solidFill>
              </a:defRPr>
            </a:pPr>
            <a:r>
              <a:t>Treinar sobre MST-E + Casual Conversations</a:t>
            </a:r>
          </a:p>
          <a:p>
            <a:pPr lvl="1">
              <a:spcAft>
                <a:spcPts val="800"/>
              </a:spcAft>
              <a:defRPr sz="1700">
                <a:solidFill>
                  <a:srgbClr val="707682"/>
                </a:solidFill>
              </a:defRPr>
            </a:pPr>
            <a:r>
              <a:t>Aplicar no FairFace e construir a matriz pública tom × raça</a:t>
            </a:r>
          </a:p>
          <a:p>
            <a:pPr lvl="1">
              <a:spcAft>
                <a:spcPts val="800"/>
              </a:spcAft>
              <a:defRPr sz="1700">
                <a:solidFill>
                  <a:srgbClr val="707682"/>
                </a:solidFill>
              </a:defRPr>
            </a:pPr>
            <a:r>
              <a:t>Testa H3 (Latinx tem spread amplo)</a:t>
            </a:r>
          </a:p>
          <a:p>
            <a:pPr>
              <a:spcAft>
                <a:spcPts val="800"/>
              </a:spcAft>
              <a:defRPr sz="2000" b="0">
                <a:solidFill>
                  <a:srgbClr val="3D424E"/>
                </a:solidFill>
              </a:defRPr>
            </a:pPr>
          </a:p>
          <a:p>
            <a:pPr>
              <a:spcAft>
                <a:spcPts val="800"/>
              </a:spcAft>
              <a:defRPr sz="2000" b="0">
                <a:solidFill>
                  <a:srgbClr val="3D424E"/>
                </a:solidFill>
              </a:defRPr>
            </a:pPr>
            <a:r>
              <a:t>Capítulo 2 (~10-12 semanas) — Classificador de raça com tom como contexto</a:t>
            </a:r>
          </a:p>
          <a:p>
            <a:pPr lvl="1">
              <a:spcAft>
                <a:spcPts val="800"/>
              </a:spcAft>
              <a:defRPr sz="1700">
                <a:solidFill>
                  <a:srgbClr val="707682"/>
                </a:solidFill>
              </a:defRPr>
            </a:pPr>
            <a:r>
              <a:t>Pipeline ConvNeXt-T + FiLM, comparado com 4 baselines independentes</a:t>
            </a:r>
          </a:p>
          <a:p>
            <a:pPr lvl="1">
              <a:spcAft>
                <a:spcPts val="800"/>
              </a:spcAft>
              <a:defRPr sz="1700">
                <a:solidFill>
                  <a:srgbClr val="707682"/>
                </a:solidFill>
              </a:defRPr>
            </a:pPr>
            <a:r>
              <a:t>3 seeds para significância estatística</a:t>
            </a:r>
          </a:p>
          <a:p>
            <a:pPr lvl="1">
              <a:spcAft>
                <a:spcPts val="800"/>
              </a:spcAft>
              <a:defRPr sz="1700">
                <a:solidFill>
                  <a:srgbClr val="707682"/>
                </a:solidFill>
              </a:defRPr>
            </a:pPr>
            <a:r>
              <a:t>Testa H1 (pipeline funciona), H2 (Latinx é estrutural), H4 (overlap explica erros)</a:t>
            </a:r>
          </a:p>
          <a:p>
            <a:pPr>
              <a:spcAft>
                <a:spcPts val="800"/>
              </a:spcAft>
              <a:defRPr sz="2000" b="0">
                <a:solidFill>
                  <a:srgbClr val="3D424E"/>
                </a:solidFill>
              </a:defRPr>
            </a:pPr>
          </a:p>
          <a:p>
            <a:pPr>
              <a:spcAft>
                <a:spcPts val="800"/>
              </a:spcAft>
              <a:defRPr sz="2000" b="0">
                <a:solidFill>
                  <a:srgbClr val="3D424E"/>
                </a:solidFill>
              </a:defRPr>
            </a:pPr>
            <a:r>
              <a:t>Capítulo 3 (~6 semanas) — Aplicar a reconhecimento facial</a:t>
            </a:r>
          </a:p>
          <a:p>
            <a:pPr lvl="1">
              <a:spcAft>
                <a:spcPts val="800"/>
              </a:spcAft>
              <a:defRPr sz="1700">
                <a:solidFill>
                  <a:srgbClr val="707682"/>
                </a:solidFill>
              </a:defRPr>
            </a:pPr>
            <a:r>
              <a:t>Mesmo pipeline em RFW ou BFW (datasets que já estão catalogados)</a:t>
            </a:r>
          </a:p>
          <a:p>
            <a:pPr lvl="1">
              <a:spcAft>
                <a:spcPts val="800"/>
              </a:spcAft>
              <a:defRPr sz="1700">
                <a:solidFill>
                  <a:srgbClr val="707682"/>
                </a:solidFill>
              </a:defRPr>
            </a:pPr>
            <a:r>
              <a:t>Foco em accuracy de Black/African</a:t>
            </a:r>
          </a:p>
          <a:p>
            <a:pPr lvl="1">
              <a:spcAft>
                <a:spcPts val="800"/>
              </a:spcAft>
              <a:defRPr sz="1700">
                <a:solidFill>
                  <a:srgbClr val="707682"/>
                </a:solidFill>
              </a:defRPr>
            </a:pPr>
            <a:r>
              <a:t>Testa H5 (fair transferência funciona)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none">
            <a:spAutoFit/>
          </a:bodyPr>
          <a:lstStyle/>
          <a:p>
            <a:pPr>
              <a:defRPr sz="3000" b="1">
                <a:solidFill>
                  <a:srgbClr val="1F2A4E"/>
                </a:solidFill>
              </a:defRPr>
            </a:pPr>
            <a:r>
              <a:t>Cronograma estimado</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430000" cy="4937760"/>
        </p:xfrm>
        <a:graphic>
          <a:graphicData uri="http://schemas.openxmlformats.org/drawingml/2006/table">
            <a:tbl>
              <a:tblPr firstRow="1" bandRow="1">
                <a:tableStyleId>{5C22544A-7EE6-4342-B048-85BDC9FD1C3A}</a:tableStyleId>
              </a:tblPr>
              <a:tblGrid>
                <a:gridCol w="3810000"/>
                <a:gridCol w="3810000"/>
                <a:gridCol w="3810000"/>
              </a:tblGrid>
              <a:tr h="548640">
                <a:tc>
                  <a:txBody>
                    <a:bodyPr/>
                    <a:lstStyle/>
                    <a:p>
                      <a:r>
                        <a:rPr b="1" sz="1600">
                          <a:solidFill>
                            <a:srgbClr val="FFFFFF"/>
                          </a:solidFill>
                        </a:rPr>
                        <a:t>Fase</a:t>
                      </a:r>
                    </a:p>
                  </a:txBody>
                  <a:tcPr>
                    <a:solidFill>
                      <a:srgbClr val="1F2A4E"/>
                    </a:solidFill>
                  </a:tcPr>
                </a:tc>
                <a:tc>
                  <a:txBody>
                    <a:bodyPr/>
                    <a:lstStyle/>
                    <a:p>
                      <a:r>
                        <a:rPr b="1" sz="1600">
                          <a:solidFill>
                            <a:srgbClr val="FFFFFF"/>
                          </a:solidFill>
                        </a:rPr>
                        <a:t>Duração</a:t>
                      </a:r>
                    </a:p>
                  </a:txBody>
                  <a:tcPr>
                    <a:solidFill>
                      <a:srgbClr val="1F2A4E"/>
                    </a:solidFill>
                  </a:tcPr>
                </a:tc>
                <a:tc>
                  <a:txBody>
                    <a:bodyPr/>
                    <a:lstStyle/>
                    <a:p>
                      <a:r>
                        <a:rPr b="1" sz="1600">
                          <a:solidFill>
                            <a:srgbClr val="FFFFFF"/>
                          </a:solidFill>
                        </a:rPr>
                        <a:t>O que será entregue</a:t>
                      </a:r>
                    </a:p>
                  </a:txBody>
                  <a:tcPr>
                    <a:solidFill>
                      <a:srgbClr val="1F2A4E"/>
                    </a:solidFill>
                  </a:tcPr>
                </a:tc>
              </a:tr>
              <a:tr h="548640">
                <a:tc>
                  <a:txBody>
                    <a:bodyPr/>
                    <a:lstStyle/>
                    <a:p>
                      <a:r>
                        <a:rPr sz="1500">
                          <a:solidFill>
                            <a:srgbClr val="3D424E"/>
                          </a:solidFill>
                        </a:rPr>
                        <a:t>Aprovação conjunta da nova versão da tese</a:t>
                      </a:r>
                    </a:p>
                  </a:txBody>
                  <a:tcPr>
                    <a:solidFill>
                      <a:srgbClr val="FFFFFF"/>
                    </a:solidFill>
                  </a:tcPr>
                </a:tc>
                <a:tc>
                  <a:txBody>
                    <a:bodyPr/>
                    <a:lstStyle/>
                    <a:p>
                      <a:r>
                        <a:rPr sz="1500">
                          <a:solidFill>
                            <a:srgbClr val="3D424E"/>
                          </a:solidFill>
                        </a:rPr>
                        <a:t>Esta reunião</a:t>
                      </a:r>
                    </a:p>
                  </a:txBody>
                  <a:tcPr>
                    <a:solidFill>
                      <a:srgbClr val="FFFFFF"/>
                    </a:solidFill>
                  </a:tcPr>
                </a:tc>
                <a:tc>
                  <a:txBody>
                    <a:bodyPr/>
                    <a:lstStyle/>
                    <a:p>
                      <a:r>
                        <a:rPr sz="1500">
                          <a:solidFill>
                            <a:srgbClr val="3D424E"/>
                          </a:solidFill>
                        </a:rPr>
                        <a:t>Ajustes na tese se necessário</a:t>
                      </a:r>
                    </a:p>
                  </a:txBody>
                  <a:tcPr>
                    <a:solidFill>
                      <a:srgbClr val="FFFFFF"/>
                    </a:solidFill>
                  </a:tcPr>
                </a:tc>
              </a:tr>
              <a:tr h="548640">
                <a:tc>
                  <a:txBody>
                    <a:bodyPr/>
                    <a:lstStyle/>
                    <a:p>
                      <a:r>
                        <a:rPr sz="1500">
                          <a:solidFill>
                            <a:srgbClr val="3D424E"/>
                          </a:solidFill>
                        </a:rPr>
                        <a:t>Setup metodológico</a:t>
                      </a:r>
                    </a:p>
                  </a:txBody>
                  <a:tcPr>
                    <a:solidFill>
                      <a:srgbClr val="E8EAED"/>
                    </a:solidFill>
                  </a:tcPr>
                </a:tc>
                <a:tc>
                  <a:txBody>
                    <a:bodyPr/>
                    <a:lstStyle/>
                    <a:p>
                      <a:r>
                        <a:rPr sz="1500">
                          <a:solidFill>
                            <a:srgbClr val="3D424E"/>
                          </a:solidFill>
                        </a:rPr>
                        <a:t>2 semanas</a:t>
                      </a:r>
                    </a:p>
                  </a:txBody>
                  <a:tcPr>
                    <a:solidFill>
                      <a:srgbClr val="E8EAED"/>
                    </a:solidFill>
                  </a:tcPr>
                </a:tc>
                <a:tc>
                  <a:txBody>
                    <a:bodyPr/>
                    <a:lstStyle/>
                    <a:p>
                      <a:r>
                        <a:rPr sz="1500">
                          <a:solidFill>
                            <a:srgbClr val="3D424E"/>
                          </a:solidFill>
                        </a:rPr>
                        <a:t>Documentos com especificações detalhadas</a:t>
                      </a:r>
                    </a:p>
                  </a:txBody>
                  <a:tcPr>
                    <a:solidFill>
                      <a:srgbClr val="E8EAED"/>
                    </a:solidFill>
                  </a:tcPr>
                </a:tc>
              </a:tr>
              <a:tr h="548640">
                <a:tc>
                  <a:txBody>
                    <a:bodyPr/>
                    <a:lstStyle/>
                    <a:p>
                      <a:r>
                        <a:rPr sz="1500">
                          <a:solidFill>
                            <a:srgbClr val="3D424E"/>
                          </a:solidFill>
                        </a:rPr>
                        <a:t>Capítulo 1 — Classificador MST + matriz</a:t>
                      </a:r>
                    </a:p>
                  </a:txBody>
                  <a:tcPr>
                    <a:solidFill>
                      <a:srgbClr val="FFFFFF"/>
                    </a:solidFill>
                  </a:tcPr>
                </a:tc>
                <a:tc>
                  <a:txBody>
                    <a:bodyPr/>
                    <a:lstStyle/>
                    <a:p>
                      <a:r>
                        <a:rPr sz="1500">
                          <a:solidFill>
                            <a:srgbClr val="3D424E"/>
                          </a:solidFill>
                        </a:rPr>
                        <a:t>4 semanas</a:t>
                      </a:r>
                    </a:p>
                  </a:txBody>
                  <a:tcPr>
                    <a:solidFill>
                      <a:srgbClr val="FFFFFF"/>
                    </a:solidFill>
                  </a:tcPr>
                </a:tc>
                <a:tc>
                  <a:txBody>
                    <a:bodyPr/>
                    <a:lstStyle/>
                    <a:p>
                      <a:r>
                        <a:rPr sz="1500">
                          <a:solidFill>
                            <a:srgbClr val="3D424E"/>
                          </a:solidFill>
                        </a:rPr>
                        <a:t>Resultado de H3</a:t>
                      </a:r>
                    </a:p>
                  </a:txBody>
                  <a:tcPr>
                    <a:solidFill>
                      <a:srgbClr val="FFFFFF"/>
                    </a:solidFill>
                  </a:tcPr>
                </a:tc>
              </a:tr>
              <a:tr h="548640">
                <a:tc>
                  <a:txBody>
                    <a:bodyPr/>
                    <a:lstStyle/>
                    <a:p>
                      <a:r>
                        <a:rPr sz="1500">
                          <a:solidFill>
                            <a:srgbClr val="3D424E"/>
                          </a:solidFill>
                        </a:rPr>
                        <a:t>Capítulo 2 — Race + condicionamento</a:t>
                      </a:r>
                    </a:p>
                  </a:txBody>
                  <a:tcPr>
                    <a:solidFill>
                      <a:srgbClr val="E8EAED"/>
                    </a:solidFill>
                  </a:tcPr>
                </a:tc>
                <a:tc>
                  <a:txBody>
                    <a:bodyPr/>
                    <a:lstStyle/>
                    <a:p>
                      <a:r>
                        <a:rPr sz="1500">
                          <a:solidFill>
                            <a:srgbClr val="3D424E"/>
                          </a:solidFill>
                        </a:rPr>
                        <a:t>10–12 semanas</a:t>
                      </a:r>
                    </a:p>
                  </a:txBody>
                  <a:tcPr>
                    <a:solidFill>
                      <a:srgbClr val="E8EAED"/>
                    </a:solidFill>
                  </a:tcPr>
                </a:tc>
                <a:tc>
                  <a:txBody>
                    <a:bodyPr/>
                    <a:lstStyle/>
                    <a:p>
                      <a:r>
                        <a:rPr sz="1500">
                          <a:solidFill>
                            <a:srgbClr val="3D424E"/>
                          </a:solidFill>
                        </a:rPr>
                        <a:t>Resultados de H1, H2, H4</a:t>
                      </a:r>
                    </a:p>
                  </a:txBody>
                  <a:tcPr>
                    <a:solidFill>
                      <a:srgbClr val="E8EAED"/>
                    </a:solidFill>
                  </a:tcPr>
                </a:tc>
              </a:tr>
              <a:tr h="548640">
                <a:tc>
                  <a:txBody>
                    <a:bodyPr/>
                    <a:lstStyle/>
                    <a:p>
                      <a:r>
                        <a:rPr sz="1500">
                          <a:solidFill>
                            <a:srgbClr val="3D424E"/>
                          </a:solidFill>
                        </a:rPr>
                        <a:t>Capítulo 3 — Face recognition</a:t>
                      </a:r>
                    </a:p>
                  </a:txBody>
                  <a:tcPr>
                    <a:solidFill>
                      <a:srgbClr val="FFFFFF"/>
                    </a:solidFill>
                  </a:tcPr>
                </a:tc>
                <a:tc>
                  <a:txBody>
                    <a:bodyPr/>
                    <a:lstStyle/>
                    <a:p>
                      <a:r>
                        <a:rPr sz="1500">
                          <a:solidFill>
                            <a:srgbClr val="3D424E"/>
                          </a:solidFill>
                        </a:rPr>
                        <a:t>6 semanas</a:t>
                      </a:r>
                    </a:p>
                  </a:txBody>
                  <a:tcPr>
                    <a:solidFill>
                      <a:srgbClr val="FFFFFF"/>
                    </a:solidFill>
                  </a:tcPr>
                </a:tc>
                <a:tc>
                  <a:txBody>
                    <a:bodyPr/>
                    <a:lstStyle/>
                    <a:p>
                      <a:r>
                        <a:rPr sz="1500">
                          <a:solidFill>
                            <a:srgbClr val="3D424E"/>
                          </a:solidFill>
                        </a:rPr>
                        <a:t>Resultado de H5</a:t>
                      </a:r>
                    </a:p>
                  </a:txBody>
                  <a:tcPr>
                    <a:solidFill>
                      <a:srgbClr val="FFFFFF"/>
                    </a:solidFill>
                  </a:tcPr>
                </a:tc>
              </a:tr>
              <a:tr h="548640">
                <a:tc>
                  <a:txBody>
                    <a:bodyPr/>
                    <a:lstStyle/>
                    <a:p>
                      <a:r>
                        <a:rPr sz="1500">
                          <a:solidFill>
                            <a:srgbClr val="3D424E"/>
                          </a:solidFill>
                        </a:rPr>
                        <a:t>Síntese final</a:t>
                      </a:r>
                    </a:p>
                  </a:txBody>
                  <a:tcPr>
                    <a:solidFill>
                      <a:srgbClr val="E8EAED"/>
                    </a:solidFill>
                  </a:tcPr>
                </a:tc>
                <a:tc>
                  <a:txBody>
                    <a:bodyPr/>
                    <a:lstStyle/>
                    <a:p>
                      <a:r>
                        <a:rPr sz="1500">
                          <a:solidFill>
                            <a:srgbClr val="3D424E"/>
                          </a:solidFill>
                        </a:rPr>
                        <a:t>4 semanas</a:t>
                      </a:r>
                    </a:p>
                  </a:txBody>
                  <a:tcPr>
                    <a:solidFill>
                      <a:srgbClr val="E8EAED"/>
                    </a:solidFill>
                  </a:tcPr>
                </a:tc>
                <a:tc>
                  <a:txBody>
                    <a:bodyPr/>
                    <a:lstStyle/>
                    <a:p>
                      <a:r>
                        <a:rPr sz="1500">
                          <a:solidFill>
                            <a:srgbClr val="3D424E"/>
                          </a:solidFill>
                        </a:rPr>
                        <a:t>Decomposição do erro Latinx</a:t>
                      </a:r>
                    </a:p>
                  </a:txBody>
                  <a:tcPr>
                    <a:solidFill>
                      <a:srgbClr val="E8EAED"/>
                    </a:solidFill>
                  </a:tcPr>
                </a:tc>
              </a:tr>
              <a:tr h="548640">
                <a:tc>
                  <a:txBody>
                    <a:bodyPr/>
                    <a:lstStyle/>
                    <a:p>
                      <a:r>
                        <a:rPr sz="1500">
                          <a:solidFill>
                            <a:srgbClr val="3D424E"/>
                          </a:solidFill>
                        </a:rPr>
                        <a:t>Escrita dos capítulos</a:t>
                      </a:r>
                    </a:p>
                  </a:txBody>
                  <a:tcPr>
                    <a:solidFill>
                      <a:srgbClr val="FFFFFF"/>
                    </a:solidFill>
                  </a:tcPr>
                </a:tc>
                <a:tc>
                  <a:txBody>
                    <a:bodyPr/>
                    <a:lstStyle/>
                    <a:p>
                      <a:r>
                        <a:rPr sz="1500">
                          <a:solidFill>
                            <a:srgbClr val="3D424E"/>
                          </a:solidFill>
                        </a:rPr>
                        <a:t>8–12 semanas (paralelo)</a:t>
                      </a:r>
                    </a:p>
                  </a:txBody>
                  <a:tcPr>
                    <a:solidFill>
                      <a:srgbClr val="FFFFFF"/>
                    </a:solidFill>
                  </a:tcPr>
                </a:tc>
                <a:tc>
                  <a:txBody>
                    <a:bodyPr/>
                    <a:lstStyle/>
                    <a:p>
                      <a:r>
                        <a:rPr sz="1500">
                          <a:solidFill>
                            <a:srgbClr val="3D424E"/>
                          </a:solidFill>
                        </a:rPr>
                        <a:t>Texto final da dissertação</a:t>
                      </a:r>
                    </a:p>
                  </a:txBody>
                  <a:tcPr>
                    <a:solidFill>
                      <a:srgbClr val="FFFFFF"/>
                    </a:solidFill>
                  </a:tcPr>
                </a:tc>
              </a:tr>
              <a:tr h="548640">
                <a:tc>
                  <a:txBody>
                    <a:bodyPr/>
                    <a:lstStyle/>
                    <a:p>
                      <a:r>
                        <a:rPr sz="1500">
                          <a:solidFill>
                            <a:srgbClr val="3D424E"/>
                          </a:solidFill>
                        </a:rPr>
                        <a:t>Defesa prevista</a:t>
                      </a:r>
                    </a:p>
                  </a:txBody>
                  <a:tcPr>
                    <a:solidFill>
                      <a:srgbClr val="E8EAED"/>
                    </a:solidFill>
                  </a:tcPr>
                </a:tc>
                <a:tc>
                  <a:txBody>
                    <a:bodyPr/>
                    <a:lstStyle/>
                    <a:p>
                      <a:r>
                        <a:rPr sz="1500">
                          <a:solidFill>
                            <a:srgbClr val="3D424E"/>
                          </a:solidFill>
                        </a:rPr>
                        <a:t>~ Janeiro–Março de 2027</a:t>
                      </a:r>
                    </a:p>
                  </a:txBody>
                  <a:tcPr>
                    <a:solidFill>
                      <a:srgbClr val="E8EAED"/>
                    </a:solidFill>
                  </a:tcPr>
                </a:tc>
                <a:tc>
                  <a:txBody>
                    <a:bodyPr/>
                    <a:lstStyle/>
                    <a:p>
                      <a:r>
                        <a:rPr sz="1500">
                          <a:solidFill>
                            <a:srgbClr val="3D424E"/>
                          </a:solidFill>
                        </a:rPr>
                        <a:t>Total: ~28–32 semanas ativas</a:t>
                      </a:r>
                    </a:p>
                  </a:txBody>
                  <a:tcPr>
                    <a:solidFill>
                      <a:srgbClr val="E8EAED"/>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Riscos identificados e como mitigá-los</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Risco 1 — Alguma hipótese ser refutada</a:t>
            </a:r>
          </a:p>
          <a:p>
            <a:pPr lvl="1">
              <a:spcAft>
                <a:spcPts val="800"/>
              </a:spcAft>
              <a:defRPr sz="1700">
                <a:solidFill>
                  <a:srgbClr val="707682"/>
                </a:solidFill>
              </a:defRPr>
            </a:pPr>
            <a:r>
              <a:t>Plano B documentado. Observação negativa é resultado científico válido.</a:t>
            </a:r>
          </a:p>
          <a:p>
            <a:pPr>
              <a:spcAft>
                <a:spcPts val="800"/>
              </a:spcAft>
              <a:defRPr sz="2000" b="0">
                <a:solidFill>
                  <a:srgbClr val="3D424E"/>
                </a:solidFill>
              </a:defRPr>
            </a:pPr>
          </a:p>
          <a:p>
            <a:pPr>
              <a:spcAft>
                <a:spcPts val="800"/>
              </a:spcAft>
              <a:defRPr sz="2000" b="0">
                <a:solidFill>
                  <a:srgbClr val="3D424E"/>
                </a:solidFill>
              </a:defRPr>
            </a:pPr>
            <a:r>
              <a:t>Risco 2 — Recrutar anotadores diversos para validação manual MST</a:t>
            </a:r>
          </a:p>
          <a:p>
            <a:pPr lvl="1">
              <a:spcAft>
                <a:spcPts val="800"/>
              </a:spcAft>
              <a:defRPr sz="1700">
                <a:solidFill>
                  <a:srgbClr val="707682"/>
                </a:solidFill>
              </a:defRPr>
            </a:pPr>
            <a:r>
              <a:t>Vou usar Prolific Academic com filtros regionais. Custo estimado: $1400 para 700 imagens × 3 anotadores.</a:t>
            </a:r>
          </a:p>
          <a:p>
            <a:pPr>
              <a:spcAft>
                <a:spcPts val="800"/>
              </a:spcAft>
              <a:defRPr sz="2000" b="0">
                <a:solidFill>
                  <a:srgbClr val="3D424E"/>
                </a:solidFill>
              </a:defRPr>
            </a:pPr>
          </a:p>
          <a:p>
            <a:pPr>
              <a:spcAft>
                <a:spcPts val="800"/>
              </a:spcAft>
              <a:defRPr sz="2000" b="0">
                <a:solidFill>
                  <a:srgbClr val="3D424E"/>
                </a:solidFill>
              </a:defRPr>
            </a:pPr>
            <a:r>
              <a:t>Risco 3 — Adaptação multi-classe das técnicas baseline</a:t>
            </a:r>
          </a:p>
          <a:p>
            <a:pPr lvl="1">
              <a:spcAft>
                <a:spcPts val="800"/>
              </a:spcAft>
              <a:defRPr sz="1700">
                <a:solidFill>
                  <a:srgbClr val="707682"/>
                </a:solidFill>
              </a:defRPr>
            </a:pPr>
            <a:r>
              <a:t>Código open-source disponível para todos: FSCL+, Group DRO, FineFACE, Adversarial.</a:t>
            </a:r>
          </a:p>
          <a:p>
            <a:pPr>
              <a:spcAft>
                <a:spcPts val="800"/>
              </a:spcAft>
              <a:defRPr sz="2000" b="0">
                <a:solidFill>
                  <a:srgbClr val="3D424E"/>
                </a:solidFill>
              </a:defRPr>
            </a:pPr>
          </a:p>
          <a:p>
            <a:pPr>
              <a:spcAft>
                <a:spcPts val="800"/>
              </a:spcAft>
              <a:defRPr sz="2000" b="0">
                <a:solidFill>
                  <a:srgbClr val="3D424E"/>
                </a:solidFill>
              </a:defRPr>
            </a:pPr>
            <a:r>
              <a:t>Risco 4 — Compute</a:t>
            </a:r>
          </a:p>
          <a:p>
            <a:pPr lvl="1">
              <a:spcAft>
                <a:spcPts val="800"/>
              </a:spcAft>
              <a:defRPr sz="1700">
                <a:solidFill>
                  <a:srgbClr val="707682"/>
                </a:solidFill>
              </a:defRPr>
            </a:pPr>
            <a:r>
              <a:t>ConvNeXt-T é leve (28M parâmetros). Estimativa ~200–400 GPU-horas para Cap 2 completo.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430000" cy="822960"/>
          </a:xfrm>
          <a:prstGeom prst="rect">
            <a:avLst/>
          </a:prstGeom>
          <a:noFill/>
        </p:spPr>
        <p:txBody>
          <a:bodyPr wrap="square">
            <a:spAutoFit/>
          </a:bodyPr>
          <a:lstStyle/>
          <a:p>
            <a:pPr>
              <a:defRPr sz="3000" b="1">
                <a:solidFill>
                  <a:srgbClr val="1F2A4E"/>
                </a:solidFill>
              </a:defRPr>
            </a:pPr>
            <a:r>
              <a:t>O que precisamos decidir nesta reunião</a:t>
            </a:r>
          </a:p>
        </p:txBody>
      </p:sp>
      <p:sp>
        <p:nvSpPr>
          <p:cNvPr id="3" name="Rectangle 2"/>
          <p:cNvSpPr/>
          <p:nvPr/>
        </p:nvSpPr>
        <p:spPr>
          <a:xfrm>
            <a:off x="457200" y="1143000"/>
            <a:ext cx="11430000" cy="4572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247120" cy="4937760"/>
          </a:xfrm>
          <a:prstGeom prst="rect">
            <a:avLst/>
          </a:prstGeom>
          <a:noFill/>
        </p:spPr>
        <p:txBody>
          <a:bodyPr wrap="square">
            <a:spAutoFit/>
          </a:bodyPr>
          <a:lstStyle/>
          <a:p>
            <a:pPr>
              <a:spcAft>
                <a:spcPts val="800"/>
              </a:spcAft>
              <a:defRPr sz="2000" b="0">
                <a:solidFill>
                  <a:srgbClr val="3D424E"/>
                </a:solidFill>
              </a:defRPr>
            </a:pPr>
            <a:r>
              <a:t>1. Aprovação da nova versão da tese (prescritiva, pipeline integrado)?</a:t>
            </a:r>
          </a:p>
          <a:p>
            <a:pPr lvl="1">
              <a:spcAft>
                <a:spcPts val="800"/>
              </a:spcAft>
              <a:defRPr sz="1700">
                <a:solidFill>
                  <a:srgbClr val="707682"/>
                </a:solidFill>
              </a:defRPr>
            </a:pPr>
            <a:r>
              <a:t>Se aprovarmos, seguimos para o detalhamento metodológico.</a:t>
            </a:r>
          </a:p>
          <a:p>
            <a:pPr lvl="1">
              <a:spcAft>
                <a:spcPts val="800"/>
              </a:spcAft>
              <a:defRPr sz="1700">
                <a:solidFill>
                  <a:srgbClr val="707682"/>
                </a:solidFill>
              </a:defRPr>
            </a:pPr>
            <a:r>
              <a:t>Se houver ajustes, fazemos e revisamos juntos antes de prosseguir.</a:t>
            </a:r>
          </a:p>
          <a:p>
            <a:pPr>
              <a:spcAft>
                <a:spcPts val="800"/>
              </a:spcAft>
              <a:defRPr sz="2000" b="0">
                <a:solidFill>
                  <a:srgbClr val="3D424E"/>
                </a:solidFill>
              </a:defRPr>
            </a:pPr>
          </a:p>
          <a:p>
            <a:pPr>
              <a:spcAft>
                <a:spcPts val="800"/>
              </a:spcAft>
              <a:defRPr sz="2000" b="0">
                <a:solidFill>
                  <a:srgbClr val="3D424E"/>
                </a:solidFill>
              </a:defRPr>
            </a:pPr>
            <a:r>
              <a:t>2. Alguma das 5 hipóteses precisa ser reformulada?</a:t>
            </a:r>
          </a:p>
          <a:p>
            <a:pPr lvl="1">
              <a:spcAft>
                <a:spcPts val="800"/>
              </a:spcAft>
              <a:defRPr sz="1700">
                <a:solidFill>
                  <a:srgbClr val="707682"/>
                </a:solidFill>
              </a:defRPr>
            </a:pPr>
            <a:r>
              <a:t>São o esqueleto da dissertação — se uma estiver mal formulada, melhor descobrir agora.</a:t>
            </a:r>
          </a:p>
          <a:p>
            <a:pPr>
              <a:spcAft>
                <a:spcPts val="800"/>
              </a:spcAft>
              <a:defRPr sz="2000" b="0">
                <a:solidFill>
                  <a:srgbClr val="3D424E"/>
                </a:solidFill>
              </a:defRPr>
            </a:pPr>
          </a:p>
          <a:p>
            <a:pPr>
              <a:spcAft>
                <a:spcPts val="800"/>
              </a:spcAft>
              <a:defRPr sz="2000" b="0">
                <a:solidFill>
                  <a:srgbClr val="3D424E"/>
                </a:solidFill>
              </a:defRPr>
            </a:pPr>
            <a:r>
              <a:t>3. Escolha definitiva entre RFW e BFW para o Capítulo 3?</a:t>
            </a:r>
          </a:p>
          <a:p>
            <a:pPr lvl="1">
              <a:spcAft>
                <a:spcPts val="800"/>
              </a:spcAft>
              <a:defRPr sz="1700">
                <a:solidFill>
                  <a:srgbClr val="707682"/>
                </a:solidFill>
              </a:defRPr>
            </a:pPr>
            <a:r>
              <a:t>Temos preferência por RFW (mais escala, mais histórico) — precisamos validar essa escolha juntos.</a:t>
            </a:r>
          </a:p>
          <a:p>
            <a:pPr>
              <a:spcAft>
                <a:spcPts val="800"/>
              </a:spcAft>
              <a:defRPr sz="2000" b="0">
                <a:solidFill>
                  <a:srgbClr val="3D424E"/>
                </a:solidFill>
              </a:defRPr>
            </a:pPr>
          </a:p>
          <a:p>
            <a:pPr>
              <a:spcAft>
                <a:spcPts val="800"/>
              </a:spcAft>
              <a:defRPr sz="2000" b="0">
                <a:solidFill>
                  <a:srgbClr val="3D424E"/>
                </a:solidFill>
              </a:defRPr>
            </a:pPr>
            <a:r>
              <a:t>4. Alguma nova frente de literatura que ficou faltando?</a:t>
            </a:r>
          </a:p>
          <a:p>
            <a:pPr lvl="1">
              <a:spcAft>
                <a:spcPts val="800"/>
              </a:spcAft>
              <a:defRPr sz="1700">
                <a:solidFill>
                  <a:srgbClr val="707682"/>
                </a:solidFill>
              </a:defRPr>
            </a:pPr>
            <a:r>
              <a:t>Podemos fazer Rodada 6 se necessário, mas o corpus já está consistente.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2286000"/>
          </a:xfrm>
          <a:prstGeom prst="rect">
            <a:avLst/>
          </a:prstGeom>
          <a:noFill/>
        </p:spPr>
        <p:txBody>
          <a:bodyPr wrap="square">
            <a:spAutoFit/>
          </a:bodyPr>
          <a:lstStyle/>
          <a:p>
            <a:pPr algn="ctr">
              <a:defRPr sz="4800" b="1">
                <a:solidFill>
                  <a:srgbClr val="FFFFFF"/>
                </a:solidFill>
              </a:defRPr>
            </a:pPr>
            <a:r>
              <a:t>Discussão e feedback</a:t>
            </a:r>
          </a:p>
          <a:p>
            <a:pPr algn="ctr">
              <a:defRPr sz="2200">
                <a:solidFill>
                  <a:srgbClr val="E8EAED"/>
                </a:solidFill>
              </a:defRPr>
            </a:pPr>
            <a:r>
              <a:t>Aprovação da nova versão da tese — decidir os 4 itens acima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