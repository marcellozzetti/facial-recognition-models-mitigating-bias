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3716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F2A4E"/>
                </a:solidFill>
              </a:defRPr>
            </a:pPr>
            <a:r>
              <a:t>Equidade Racial em Classificação Facial</a:t>
            </a:r>
          </a:p>
          <a:p>
            <a:pPr>
              <a:defRPr sz="2000">
                <a:solidFill>
                  <a:srgbClr val="3D424E"/>
                </a:solidFill>
              </a:defRPr>
            </a:pPr>
            <a:r>
              <a:t>Auditoria de viés em sistemas de visão computacional sobre o dataset FairFace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84048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6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6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600">
                <a:solidFill>
                  <a:srgbClr val="3D424E"/>
                </a:solidFill>
              </a:defRPr>
            </a:pPr>
            <a:r>
              <a:t>Reunião:  Junho de 2026</a:t>
            </a:r>
          </a:p>
          <a:p>
            <a:pPr>
              <a:defRPr sz="1600">
                <a:solidFill>
                  <a:srgbClr val="3D424E"/>
                </a:solidFill>
              </a:defRPr>
            </a:pPr>
            <a:r>
              <a:t>Versão da tese:  v3.1 — pós-reestruturação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Sumário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1. Metodologia de pesquisa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2. Racional — historyline da evolução da pesquisa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3. Visão dos principais artigos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4. Gaps, considerações e achados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5. Próximos passos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Anexo A — Perguntas antecipadas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Anexo B — Tabela de relevância dos 23 papers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23 fichas catalogadas | 14 perguntas respondidas | 5 frentes de pesquisa identificadas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Metodologia de pesquisa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5 critérios + 4 fases + rigor de citação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1.1  Gatilho da reestruturação (25/05/2026)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Três problemas estruturais identificados pelo orientador: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(i) Síntese baseada em abstracts, não leitura integral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(ii) Autoria incorreta em parte das citações principais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(iii) Framing 'evolução do MBA' recusado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Resposta: protocolo formal de Pesquisa Bibliográfica em 4 fases, com: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Critérios de seleção explícitos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Verificação de autoria em fonte primária (arXiv DOI)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Leitura integral obrigatória dos PDFs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Catalogação normativa em fichas estruturadas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1.2  Os 5 critérios de seleção (ordem hierárquica)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1. Escopo temático — fairness / biometria / raça / auditoria em sistemas faciais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2. Recência — 2019–2026 (10 anos pós-Buolamwini &amp; Gebru) + exceções seminais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3. Verificabilidade — autoria/ano/venue confirmáveis em fonte primária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4. Relevância editorial — CVPR, NeurIPS, ICCV, ECCV, ICML, ICLR, FAccT, TBIOM, TPAMI, ACM CSur, Information Fusion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5. Impacto (citações) — ≥50 (≥3 anos), ≥20 (2024), aberto para 2025–26 com cobertura única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Preprints arXiv aceitos apenas com cobertura única OU impacto demonstrado.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1.3  Fluxo de trabalho em 4 fases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Fase A — Coleta sistemática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Google Scholar, Semantic Scholar, arXiv, DBLP, anais de venues-alvo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Fase B — Triagem editorial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Critérios 1–5 aplicados; decisões registradas em _triagem.md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Decisões: APROVADO | STANDBY | DESCARTADO com justificativa explícita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Fase C — Leitura integral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Download PDF; extração de texto via Python (pypdf)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Ficha normativa em 11 seções por paper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Fase D — Síntese transversal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Cross-reference matricial; identificação de gaps; thesis statement 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1.4  Template de ficha — 11 seções normativas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Toda ficha segue estrutura idêntica: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1. Frontmatter YAML (metadata: autores, venue, citações, status)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2. Resumo do problema atacado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3. Método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4. Datasets e setup experimental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5. Métricas reportadas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6. Resultados principais (valores numéricos)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7. Limitações declaradas pelos autores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8. Limitações que identifiquei (leitura crítica)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9. Relação com nossa pesquisa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10. Pontos para citar / posicionar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11. Trabalhos sugeridos pelos autores (Future Work)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 Seção 11 foi incorporada na Rodada 4 para mapear 'gaps endossados pelo campo'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1.5  Metodologia Q&amp;A e protocolo de rigor bibliográfico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Metodologia Q&amp;A — interrogação ativa do corpus: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14 perguntas de pesquisa formuladas e respondidas em _perguntas.md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Status: ANSWERED | PARTIAL | OPEN | NEW RESEARCH FRONT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• 5 perguntas geraram frentes de pesquisa (alimentam 06_gap.md)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Verificação de autoria — toda citação passa por: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1. Download do PDF original (arXiv ou DOI editorial)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2. Inspeção da primeira página para confirmação visual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3. Cross-check em Semantic Scholar (citações + venue)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4. Registro em 00_referencias.md com status VERIFIED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Princípio operacional: sem verificação, sem citação.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Racional / Historyline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Evolução da pesquisa em 4 rodadas + 2.5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2.1  Mapa temporal das 4 rodadas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Rodada 1 (25/05) — 9 seeds iniciais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FairFace, Gender Shades, U-FaTE, RFW, DSAP, NISTIR 8280, AlDahoul, FineFACE, Lafargue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Rodada 2 — snowballing das R1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+5 papers: FSCL (Park), FairGRAPE (Lin), Bhaskaruni, Group DRO (Sagawa), Mehrabi survey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Rodada 2.5 — verificação dedicada de SOTA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Triangulação em fonte primária; FaceScanPaliGemma confirmado como SOTA atual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Rodada 3 — broadening (não-FairFace)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Crítica metodológica: corpus muito FairFace-cêntrico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+5 papers: BFW, Casual Conversations, MST-E, Continuous Labels (Neto), Kotwal survey TBIOM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Rodada 4 — fundamentação científica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Perguntas fundamentais: as 7 raças existem cientificamente?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+4 papers fundadores: AAPA 2019, Lewontin 1972, Fitzpatrick 1988, Massey-Martin 2003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2.2  Decisões críticas em cada rodada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8382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Rodada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Decisão chave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Resultado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Selecionar 9 seeds em vez de 50+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Leitura integral viável; padrão de qualidade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Snowballing das R1 antes de surveys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5 papers metodológicos cruciais identificados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Verificar SOTA antes de qualquer claim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FaceScanPaliGemma 75.7% confirmado SEM competidor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Expandir para tracks paralelos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Tracks B (recognition) e C (skin tone) mapeados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Buscar fundamento teórico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AAPA + Lewontin fundamentam tese v3.1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2.3  Aprendizados metodológicos do processo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1. A literatura confirma o problema mas raramente executa a solução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7 papers sugerem mitigação em race classification multi-classe; ZERO executam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2. Categorias raciais são instrumentais, não biológicas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A escolha do FairFace 7-class é pragmática e alinhada com a literatura dominante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Mesma escolha que AlDahoul (SOTA), FairGRAPE, FineFACE etc.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3. A confusão Fitzpatrick ↔ race é endêmica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1/3 dos próprios dermatologistas confunde. Adotar MST resolve no nível instrumental.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4. O método Q&amp;A é o ativo principal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Transformou leitura passiva em 5 hipóteses falsificáveis (H1–H5)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Visão dos principais artigos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10 papers centrais detalhados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3.0  Corpus final: 23 papers em 6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Track A — Race classification (3 papers): FairFace, AlDahoul, FairGRAPE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Track B — Face recognition (4 papers): RFW, BFW, NIST FRVT, Neto continuous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Track C — Skin tone (4 papers): Gender Shades, Casual Conversations, Schumann MST, Lafargue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Track D — Mitigação algorítmica (6 papers): FSCL, Group DRO, FineFACE, U-FaTE, Bhaskaruni, FairGRAPE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Track E — Auditoria &amp; metodologia (4 papers): DSAP, Lafargue, Mehrabi survey, Kotwal survey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Track F — Fundamentação científica (4 papers): AAPA 2019, Lewontin 1972, Fitzpatrick 1988, Massey-Martin 2003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(Alguns papers aparecem em mais de um track — natureza interdisciplinar)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 seguir: 10 papers detalhados | tabela completa no Anexo 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Fuentes et al. 2019 — AAPA Statement on Race and Racism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Am J Phys Anthropol, vol 169, no 3 | Statement institucional AABA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FUNDAMENTO TEÓRICO — 'race is not biology'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Citação central: 'Race does not provide an accurate representation of human biological variation'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Posição consolidada da comunidade de antropologia biológica desde 1996, atualizada 2019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Sustenta a limitação reconhecida em §6.1 da tese v3.1 com citação institucional formal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Lewontin 1972 — The Apportionment of Human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Evolutionary Biology vol 6, Springer | 5000+ citações, 50+ anos de literatura derivada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FUNDAMENTO GENÉTICO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Partição clássica: 85.4% intra-pop / 8.3% between-pop within-race / 6.3% between-race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Confirmado por estudos genômicos modernos (Rosenberg 2002, Bergstrom 2020)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Sobreposição fenotípica entre 7 classes FairFace, especialmente Latinx, é previsão direta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Caveat: Edwards 2003 ('Lewontin's Fallacy') — classificação possível com loci suficientes, mas isso não justifica taxonomia binária discreta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Buolamwini &amp; Gebru 2018 — Gender Shades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PMLR vol 81 / ACM FAccT | 4 933 citações Semantic Scholar (VERIFICADO)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MARCO FUNDADOR do campo de auditoria de fairness em CV comercial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Achado-bandeira: gap de 34.7 pp na taxa de erro (lighter male 0% vs darker female 34.7% em IBM)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Decisão metodológica: escolhem Fitzpatrick (não race) por argumento de instabilidade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Precedente direto da nossa Q11 (race não tem fundamento biológico)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Kärkkäinen &amp; Joo 2021 — FairFace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WACV 2021 IEEE/CVF | 263+ citações Google Scholar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DATASET CENTRAL — toda execução experimental ocorre sobre FairFace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Estrutura: 108 501 imagens; 7 categorias raciais; origem YFCC-100M Flickr; anotação MTurk 3-anotador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Caveat crítico: cross-dataset evaluation usa só 4 raças — não 7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7-class evaluation só aparece em external sets (Twitter/Media/Protest), com Latino F1 = 0.247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AlDahoul et al. 2024/2026 — FaceScanPaliGemma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Nature Scientific Reports 2026 (DOI 10.1038/s41598-026-39584-3) + arXiv 2410.24148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SOTA ATUAL para FairFace race 7-class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Achado: 75.7% accuracy / 75% F1 macro — número que precisamos alcançar/superar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Baseline FairFace ResNet-34 confirmado em 72% (single seed, sem CI)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Per-class: Black 90% | White 80% | Indian 79% | East Asian 78% | ME 73% | SE Asian 67% | LATINX 60% (pior)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Lin, Kim &amp; Joo 2022 — FairGRAPE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ECCV 2022 | 49 citações Semantic Scholar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VALIDAÇÃO CRUZADA do baseline 72% + documentação independente do gap Hispanic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Confirmação: ResNet-34 baseline = 72.0% sobre FairFace race 7-class (Tabela 2)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Per-class: Hispanic 59.6% | Black 83.2% | White 73.9% — MESMO padrão hierárquico que AlDahoul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Implicação metodológica: 72% é número robusto através de splits e seeds independentes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Schumann et al. 2023 — MST Annotation Consensus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NeurIPS 2023 Datasets and Benchmarks Track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PROTOCOLO DE ANOTAÇÃO MST para a frente Q10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Contribuições: (i) Monk Skin Tone Scale 10 pontos; (ii) MST-E dataset (1 515 imgs)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Achado: anotadores de diferentes regiões geográficas têm variação SISTEMÁTICA em MST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Recomendação operacional: pool diverso + alta replicação — importável para Q10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Hazirbas et al. 2021 — Casual Conversations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CVPRW 2021 (Meta / Facebook AI)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PARADIGMA ALTERNATIVO de anotação — self-reported demographics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Estrutura: 3 011 sujeitos pagos, 45 000+ vídeos; age + gender SELF-REPORTED; Fitzpatrick anotado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Argumento explícito contra race labels: 'Raters may have unconscious biases'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Justifica adotar MST + self-identification como gold standard para Q01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Park et al. 2022 — Fair Supervised Contrastive Learning (FSCL)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CVPR 2022 | 116 citações Semantic Scholar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TÉCNICA CENTRAL do Capítulo 2 (mitigação)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Teorema 1: SupCon (Khosla 2020) incentiva encoder a aprender atributos sensíveis em datasets enviesados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FSCL+: restringir negativos a mesmo grupo sensível + group-wise normalization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Resultado em CelebA: reduz EO de 30.5 → 6.5 (4.7× menor), perdendo só 1.4 pp de accuracy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Lacuna crítica: NÃO testado em FairFace race 7-class — exatamente nosso gap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Sagawa et al. 2020 — Group DRO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ICLR 2020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Papel na tese: TÉCNICA ALTERNATIVA do Capítulo 2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Achado paradoxal: DRO naive ≈ ERM em redes overparameterized — ambos memorizam treino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Solução: strong ℓ2 regularization (λ ∈ [0.1, 1.0], 4 ordens de magnitude acima do default) OU early stopping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Resultado em CelebA hair color: worst-group accuracy 41.1 → 86.7 (+45 pp); só 1.3 pp perdidos em média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Implicação: se aplicarmos a race 7-class, precisamos sweep de λ — não plug-and-play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Gaps, considerações e achados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5 frentes de pesquisa identificadas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4.1  Achados convergentes da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8382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Achado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Papers endossando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Implicação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Balanceamento de dataset não basta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8+ (Karkkainen, Wang, Grother, Lin, AlDahoul, Kotwal, Sagawa, Klare)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Mitigação algorítmica é necessária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Latinx/Hispanic é estruturalmente mais difícil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4 (Karkkainen .247, AlDahoul .60, Lin 59.6%, Buolamwini)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Sugere causa estrutural (Q10)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Race é construto social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AAPA 2019, Lewontin 1972, Karkkainen explícito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Tese reconhece e cita formalmente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Ensembles naive não funcionam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Bhaskaruni 2019, Sagawa 2020, Park 2022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Mitigação exige ponderação demográfica explícita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Métricas multi-classe são fragmentadas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7 papers com métricas diferentes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Q05 — triangulação DR + worst-class + CV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4.2  Achados não-óbvios da Rodada 4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1. As 7 categorias do FairFace NÃO têm fundamento biológico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Construto socio-político derivado do US Census + ajustes Karkkainen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AAPA 2019 (statement institucional) + Lewontin 1972 (85% intra-pop) sustentam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2. Fitzpatrick scale foi criada em 1975 para dosimetria PUVA, NÃO para classificação racial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1/3 dos dermatologistas ainda confunde — erro categorial endêmico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3. Não há 'número correto' de tons de pele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5 escalas em uso, cada uma para propósito específico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MST 10-pt é a correta para fairness research (Schumann 2023, padrão Google)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4. A 'dificuldade Latinx' tem fundamento estatístico previsível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85% da variação genética é intra-populacional (Lewontin)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Latinx abrange múltiplos clusters geográficos — sobreposição é previsão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4.3  As 5 frentes de pesquisa — ranqueamento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8382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Frente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Pergunta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Score O+V+I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Mitigação algorítmica em race 7-class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Qual técnica de Track D funciona melhor em FairFace 7-class?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13/15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CAPÍTULO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Q10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Matriz MST × FairFace 7-race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Como o tom de pele se distribui entre as 7 categorias raciais?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13/15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CAPÍTULO PRINCIPAL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Métrica fairness multi-classe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Triangulação DR + worst-class + CV é robusta?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11/15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Adotar transversalmente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Q06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Decomposição do ceiling 72%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Quanto é arquitetura vs metodologia vs dados?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10/15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Ablação dentro de Q04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Q01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Confiabilidade anotação Latinx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Inter-annotator agreement é uniforme entre classes?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9/15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Fundir com Q10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O = Originalidade | V = Viabilidade | I = Impacto (cada de 0–5)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4.4  Decisão de escopo: Q04 + Q10 são complementares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Q04 ataca o 'como mitigar' (técnicas algorítmicas)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Forte endosso da literatura: 7 papers sugerem essa direção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Execução zero: ninguém testou em FairFace race 7-class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Q10 ataca o 'por que existe erro' (diagnóstico fenotípico)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Zero precedentes: matriz MST × race nunca foi construída em contexto de fairness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Originalidade total — Draelos 2025 é dermatologia, dados não-públicos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Combinadas — decomposição inédita na literatura de race classification: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Q04 mostra QUANTO se pode reduzir do erro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Q10 mostra QUANTO sobra como irredutível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Síntese: erro_total = erro_fenotípico_irredutível + erro_redutível_modelo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Próximos passos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Tese v3.1 + plano experimental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5.1  Tese v3.1 — formulação central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4572000"/>
          </a:xfrm>
          <a:prstGeom prst="roundRect">
            <a:avLst/>
          </a:prstGeom>
          <a:solidFill>
            <a:srgbClr val="E8EAED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 bIns="365760"/>
          <a:lstStyle/>
          <a:p>
            <a:pPr algn="l">
              <a:defRPr sz="1800" i="1">
                <a:solidFill>
                  <a:srgbClr val="1F2A4E"/>
                </a:solidFill>
              </a:defRPr>
            </a:pPr>
            <a:r>
              <a:t>"O ceiling de 72–75.7% F1 macro em classificação racial 7-class sobre FairFace não é primariamente arquitetural nem metodologicamente solúvel apenas via mitigação algorítmica.</a:t>
            </a:r>
            <a:br/>
            <a:br/>
            <a:r>
              <a:t>Existe componente fenotípico irredutível — sobreposição distribucional de tom de pele entre categorias raciais — particularmente aguda para Latinx/Hispanic.</a:t>
            </a:r>
            <a:br/>
            <a:br/>
            <a:r>
              <a:t>A dissertação contribui originalmente com: (1) primeira matriz pública MST × FairFace 7-race; (2) primeira benchmark sistemática de mitigações algorítmicas em race 7-class; (3) decomposição empírica do erro Latinx; (4) triangulação DR + worst-class + CV como métrica padrão."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5.2  Hipóteses falsificáveis (H1–H5)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8382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Hipótese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Critério de confirmação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≥1 técnica algorítmica (FSCL+ multi-classe, Group DRO, ensemble) reduz DR em ≥30% sem perder &gt;2 pp F1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DR↓30% E F1↓≤2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ResNet-34 → ConvNeXt-T ganha +2 a +5 pp F1; Latinx F1 permanece ≈ 60% sem mitigação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Ganho 2–5 pp E Latinx invariante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Spread MST de Latinx em FairFace cobre ≥5 categorias MST com sobreposição forte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Spread ≥5 categorias, distribuição não-concentrada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H4 (CENTRAL)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≥50% das misclassificações Latinx→outras estão em zonas MST de sobreposição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%_overlap ≥ 50%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Ceiling efetivo F1 macro em FairFace race 7-class é 80–82% (não 99%)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Maior modelo testado fica ≤ 82%; plateau visível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H4 é a hipótese CENTRAL: se refutada, tese precisa reformulação (plano B documentado em tese §6.3)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5.3  Três capítulos experimentais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Capítulo 1 — Decomposição do ceiling (Q06) — ~4 semanas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ResNet-34 (baseline) vs ConvNeXt-T mantendo pipeline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3 seeds casados (42, 1, 2); HPO modesto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Teste de H2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Capítulo 2 — Mitigação algorítmica (Q04) — ~8-10 semanas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3 técnicas testadas: FSCL+ multi-classe, Group DRO + strong ℓ2, ensemble + reweighting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3 seeds × 3 técnicas = 9 runs comparáveis a baseline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Teste de H1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Capítulo 3 — Matriz MST × race (Q10) — ~4 semanas + 6 paralelo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Fase 1: classifier MST automatizado (Schumann/Google) sobre FairFace val (10 954 imgs)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Fase 2: anotação manual subset (500–700 × 3 anotadores regionalmente diversos)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Fase 3+4: construção matriz + cross-reference com confusion matrix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Teste de H3 e H4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5.4  Cronograma estimado (6–8 meses)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5588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Bloco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Duração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Marco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Aprovação tese v3.1 + plano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Esta reunião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Ajustes do orientador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Setup metodológico (02, 03, 08)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2 semanas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Especificações executáveis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Cap 1 (Q06) — decomposição ceiling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4 semanas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Resultados 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Cap 2 (Q04) — benchmark mitigações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8–10 semanas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Resultados H1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Cap 3 (Q10) Fases 1+3+4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4 semanas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Matriz construída + diagnóstico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Cap 3 (Q10) Fase 2 — validação manual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6 semanas (paralelo)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Subset anotado por 3 anotadores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Escrita capítulos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8–12 semanas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Defesa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Total estimado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6–8 meses ativos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~Dez 2026 / Fev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5.5  Riscos identificados 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8382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Probabilidade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H4 (50% overlap) refutada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Médio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Plano B na tese §6.3 — observação negativa é cientificamente válida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Recrutamento de anotadores manuais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Alto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Começar com Fase 1 (MST automatizado) como proof-of-concept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Adaptação multi-classe das técnicas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Médio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Github code disponível: FSCL+, Group DRO, FineFACE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Compute para 3 seeds × N técnicas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Baixo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ConvNeXt-T (28M params) é leve; cada run ~horas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FairFace test set não-público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Baixo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Usar val como test (convenção AlDahoul)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5.6  Outputs esperados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Acadêmicos: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3 capítulos de dissertação completos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1 paper standalone sobre matriz MST × race (Q10) — submeter a CVPRW Fair AI, FAccT ou IEEE TBIOM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Recursos públicos: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Código open-source dos experimentos no GitHub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Matriz MST × race pública como CSV (primeira do tipo)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Dataset auxiliar: MST labels para subset do FairFace val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Cronograma de submissões: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Cap 3 (Q10) decoupled — submeter durante escrita dos demais capítulos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Tese completa: Dez 2026 / Fev 2027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Anexo A — Perguntas antecipadas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25 perguntas com respostas preparadas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Perguntas antecipadas — distribuição por categoria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Total: 25 perguntas com respostas preparadas (documento completo no repositório):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A.1 — Sobre metodologia da pesquisa bibliográfica (4 perguntas)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A.2 — Sobre a tese teórica (4 perguntas)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A.3 — Sobre o plano experimental (5 perguntas)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A.4 — Sobre originalidade (3 perguntas)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A.5 — Logística e ética (4 perguntas)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A.6 — Riscos e contingências (5 perguntas)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 seguir: as 5 perguntas com maior probabilidade.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Material completo: docs/ativo/material_reuniao_orientador_2026-06.md (Anexo A)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Q-A6: Se race não é biologia, por que estudar classificação racial?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Distinção fundamental (Fuentes 2019):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Race é biologicamente vazia MAS socialmente operativa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Sistemas faciais reificam categorias raciais com consequências de deployment: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NIST FRVT 8280 — diferenciais de 10–100× FPR entre raças em sistemas comerciais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EU AI Act (2024) exige auditoria sistemática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Nossa pesquisa AUDITA esse exercício classificatório, não o valida.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 tese v3.1 reconhece esta tensão explicitamente em §6.1 (limitações estruturais).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Q-A9: Por que ConvNeXt-T (28M) e não ViT-L (300M) ou DINOv2 (1B)?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ConvNeXt-T é Pareto-eficiente: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Competitivo em ImageNet com fração do compute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Hipótese H4 da tese: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Se ceiling é fenotípico (não arquitetural), backbones maiores não ajudam proporcionalmente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Evidência empírica: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AlDahoul confirma: PaliGemma 3B (150× ResNet-34) ganha SÓ 3.7 pp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Diminishing returns em FairFace já documentados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Se H2 for refutada (ConvNeXt-T não ajuda), achado interessante per se — aprofundamos.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Q-A14: Qual sua contribuição vs FaceScanPaliGemma (SOTA)?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AlDahoul: ALCANÇA o SOTA via fine-tuning de modelo gigante (PaliGemma 3B) sem mitigação algorítmica explícita.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Nós: INVESTIGAMOS DUAS PERGUNTAS QUE ELES NÃO RESPONDEM: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(a) Modelo 100× menor (ConvNeXt-T 28M) com mitigação atinge o quê?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(b) Quanto do gap restante é fenotipicamente irredutível?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Posicionamento: COOPERATIVA, não competitiva.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AlDahoul fornece SOTA empírico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Nós oferecemos diagnóstico estrutural do que esse SOTA representa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Q-A21: E se H4 (Latinx ≥50% overlap MST) for refutada?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Plano B na tese §6.3: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Refutação NÃO inviabiliza a dissertação. Mantemos: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C2 — Benchmark sistemática de mitigações algorítmicas (independente de H4)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C5 — Triangulação DR + worst-class + CV como métrica padrão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Reformulamos C1+C3 como OBSERVAÇÃO NEGATIVA: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'Matriz construída e diagnóstico não confirma hipótese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Erro é majoritariamente algorítmico, não fenotípico'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Cientificamente válido — observação negativa é informação útil para o campo.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Q-A24: Cronograma de 6–8 meses é realista?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4572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Apertado mas viável dado: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(i) Infra experimental já existe (Rodada 1 do MBA — agora em historico/)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(ii) Técnicas têm código open-source (FSCL+, Group DRO, FineFACE — todos no GitHub)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(iii) Escrita em paralelo aos experimentos</a:t>
            </a:r>
          </a:p>
          <a:p>
            <a:pPr lvl="1">
              <a:spcAft>
                <a:spcPts val="800"/>
              </a:spcAft>
              <a:defRPr sz="1500">
                <a:solidFill>
                  <a:srgbClr val="707682"/>
                </a:solidFill>
              </a:defRPr>
            </a:pPr>
            <a:r>
              <a:t>(iv) PDFs e fichas já centralizados — pesquisa bibliográfica encerrada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Buffer recomendado: +2 meses para imprevistos = 8–10 meses total.</a:t>
            </a: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3D424E"/>
                </a:solidFill>
              </a:defRPr>
            </a:pPr>
            <a:r>
              <a:t>Marco de descontinuação: se Cap 1 (Q06) não fechar em 6 semanas, repensar escopo.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Discussão e feedback</a:t>
            </a:r>
          </a:p>
          <a:p>
            <a:pPr algn="ctr">
              <a:defRPr sz="2200">
                <a:solidFill>
                  <a:srgbClr val="E8EAED"/>
                </a:solidFill>
              </a:defRPr>
            </a:pPr>
            <a:r>
              <a:t>Aprovação da tese v3.1 e plano experimental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