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Evolução das últimas 2 semanas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Revisão completa, cross-reference e validação externa via NotebookLM</a:t>
            </a:r>
          </a:p>
          <a:p>
            <a:pPr>
              <a:defRPr sz="1500" i="1">
                <a:solidFill>
                  <a:srgbClr val="707682"/>
                </a:solidFill>
              </a:defRPr>
            </a:pPr>
            <a:r>
              <a:t>Corpus 99 % verificado · Tese fundamentada · Pronta para escrita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28 de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Agenda da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Status das decisões da reunião anterior (15/jun)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Revisão bibliográfica concluída — 103 de 104 fichas verificadas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Cross-reference sistemático tese × 104 fichas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Validação externa via NotebookLM (Google AI Plus) — segunda opinião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Rodada 8 — fundamentação Latinx (Telles, Bryc, Pew)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 </a:t>
            </a:r>
            <a:r>
              <a:rPr sz="1600">
                <a:solidFill>
                  <a:srgbClr val="3D424E"/>
                </a:solidFill>
              </a:rPr>
              <a:t>Estudo comparativo Cap 2 — 4 configurações de conditioning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7.  </a:t>
            </a:r>
            <a:r>
              <a:rPr sz="1600">
                <a:solidFill>
                  <a:srgbClr val="3D424E"/>
                </a:solidFill>
              </a:rPr>
              <a:t>Decisões a alinhar + próximos passos da escrita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Status das decisões anteriores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Reunião 15/jun/2026 — 4 decisões registradas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Status das 4 decisões da reunião anterior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1645920"/>
                <a:gridCol w="475488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Observações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Embasamento aprovado — escrita liberada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expandido para 104 fichas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Deadline 15/jul/2026 (primeira revisão)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 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17 dias restantes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ResNet+FiLM tradicional + CLIP avaliação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Formalizado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 configurações no Cap 2 definidas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Mais uma passada no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Camadas 2-5 completadas + auditoria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Resultado: 4 de 4 decisões executadas conforme planejado.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Revisão bibliográfica concluída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Corpus de 104 fichas com auditoria sistemática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Evolução do corpus em 2 semanas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2743200"/>
                <a:gridCol w="365760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15/jun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28/jun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Variação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Fichas no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+3 (Rodada 8 Latinx)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Fichas VERIFIED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 (Camada 1)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103 (99 %)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+89 fichas verificadas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PDFs no repositório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+77 PDFs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Autoria correta verificada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100 % das fichas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Bibliografia consolidada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104 entradas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Pronta para Overleaf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Auditoria de qualidade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29 A / 14 B / 57 C / 4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Sistemática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Detalhamento em _auditoria_fichas_relatorio.md.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Cross-reference sistemático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Auditoria tese × 104 fichas — todos os elementos cruzados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Cross-reference: o que foi auditado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Objetivo geral:  </a:t>
            </a:r>
            <a:r>
              <a:rPr sz="1600">
                <a:solidFill>
                  <a:srgbClr val="3D424E"/>
                </a:solidFill>
              </a:rPr>
              <a:t>fundamentado por mais de 12 fichas centrais sem conflito não endereçado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Pipeline de 6 etapas:  </a:t>
            </a:r>
            <a:r>
              <a:rPr sz="1600">
                <a:solidFill>
                  <a:srgbClr val="3D424E"/>
                </a:solidFill>
              </a:rPr>
              <a:t>cada etapa cruzada com fichas que fundamentam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7 contribuições (C1-C7):  </a:t>
            </a:r>
            <a:r>
              <a:rPr sz="1600">
                <a:solidFill>
                  <a:srgbClr val="3D424E"/>
                </a:solidFill>
              </a:rPr>
              <a:t>originalidade verificada para cada uma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 hipóteses (H1-H6):  </a:t>
            </a:r>
            <a:r>
              <a:rPr sz="1600">
                <a:solidFill>
                  <a:srgbClr val="3D424E"/>
                </a:solidFill>
              </a:rPr>
              <a:t>fichas que sustentam + fichas em conflito + status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Storytelling em 6 partes:  </a:t>
            </a:r>
            <a:r>
              <a:rPr sz="1600">
                <a:solidFill>
                  <a:srgbClr val="3D424E"/>
                </a:solidFill>
              </a:rPr>
              <a:t>mapeamento ficha-por-ficha de cada seção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Decisão arquitetural FiLM:  </a:t>
            </a:r>
            <a:r>
              <a:rPr sz="1600">
                <a:solidFill>
                  <a:srgbClr val="3D424E"/>
                </a:solidFill>
              </a:rPr>
              <a:t>justificada vs 8 alternativas avaliadas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Veredito:  </a:t>
            </a:r>
            <a:r>
              <a:rPr sz="1600">
                <a:solidFill>
                  <a:srgbClr val="3D424E"/>
                </a:solidFill>
              </a:rPr>
              <a:t>tese fundamentada, sem conflitos não endereçados, pronta para escrita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Documento: _validacao_cross_reference_v3.md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Validação externa via NotebookLM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Segunda opinião independente — Google AI Plus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Por que validar com NotebookLM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Independência:  </a:t>
            </a:r>
            <a:r>
              <a:rPr sz="1600">
                <a:solidFill>
                  <a:srgbClr val="3D424E"/>
                </a:solidFill>
              </a:rPr>
              <a:t>segunda opinião externa, não enviesada pela construção interna do argumento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Operacionalização:  </a:t>
            </a:r>
            <a:r>
              <a:rPr sz="1600">
                <a:solidFill>
                  <a:srgbClr val="3D424E"/>
                </a:solidFill>
              </a:rPr>
              <a:t>corpus organizado em 4 tiers de relevância para importação seletiva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Auditabilidade:  </a:t>
            </a:r>
            <a:r>
              <a:rPr sz="1600">
                <a:solidFill>
                  <a:srgbClr val="3D424E"/>
                </a:solidFill>
              </a:rPr>
              <a:t>cada resposta cita as fontes específicas do corpus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Cobertura da análise:  </a:t>
            </a:r>
            <a:r>
              <a:rPr sz="1600">
                <a:solidFill>
                  <a:srgbClr val="3D424E"/>
                </a:solidFill>
              </a:rPr>
              <a:t>7 perguntas-chave sobre originalidade, valor científico, divergências, gaps, recência, defensibilidade do pipeline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Resultado:  </a:t>
            </a:r>
            <a:r>
              <a:rPr sz="1600">
                <a:solidFill>
                  <a:srgbClr val="3D424E"/>
                </a:solidFill>
              </a:rPr>
              <a:t>convergente com a análise interna em 6 dimensões + 2 sugestões novas valiosas incorporadas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Documento de tiers: _tiers_relevancia_pdfs.md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Convergência: análise interna × NotebookLM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514600"/>
                <a:gridCol w="251460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Asserção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Análise interna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NotebookLM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em fairness é inédito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Matriz MST × FairFace preenche gap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Pangelinan 2023 é refutação 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tem sequenciamento lógico defensável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Decomposição erro Latinx é maior diferencial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na fronteira (papers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6 de 6 asserções convergentes — alta confiabilidade da análise interna.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Veredito do NotebookLM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"O trabalho está muito bem estruturado, possui contribuições claras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e está fundamentado em literatura de ponta. O ponto crítico da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defesa será a decomposição do erro Latinx, que é onde reside a sua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>maior contribuição intelectual e diagnóstica."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Fonte:  </a:t>
            </a:r>
            <a:r>
              <a:rPr sz="1600">
                <a:solidFill>
                  <a:srgbClr val="3D424E"/>
                </a:solidFill>
              </a:rPr>
              <a:t>análise paralela conduzida em NotebookLM (Google AI Plus, 2026-06-16) sobre as 100 fichas do corpus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2 sugestões novas — todas incorporadas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114800"/>
                <a:gridCol w="2743200"/>
              </a:tblGrid>
              <a:tr h="15849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Sugestão do NotebookLM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Ação tomada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Onde está documentada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Heterogeneidade intra-Latinx — categoria tratada como bloco monolítico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Rodada 8 com 3 fichas integradas (Telles, Bryc, Pew)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Seção 5 desta apresentação</a:t>
                      </a:r>
                    </a:p>
                  </a:txBody>
                  <a:tcPr/>
                </a:tc>
              </a:tr>
              <a:tr h="1584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Sensitivity analysis SkinToneNet — risco de propagação de viés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OE-2 expandido — validação com 2 a 3 classificadores MST alternativos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Objetivo da tese v3.5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Furos identificados pelo NotebookLM — respondidos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1) Dependência do SkinToneNet:  </a:t>
            </a:r>
            <a:r>
              <a:rPr sz="1600">
                <a:solidFill>
                  <a:srgbClr val="3D424E"/>
                </a:solidFill>
              </a:rPr>
              <a:t>mitigado por sensitivity analysis no OE-2 (validar conclusões com 2 a 3 classificadores MST diferentes)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2) Escalabilidade industrial:  </a:t>
            </a:r>
            <a:r>
              <a:rPr sz="1600">
                <a:solidFill>
                  <a:srgbClr val="3D424E"/>
                </a:solidFill>
              </a:rPr>
              <a:t>FairFace 108 mil imagens vs NIST FRVT 18 milhões — limite reconhecido formalmente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Posicionamento:  </a:t>
            </a:r>
            <a:r>
              <a:rPr sz="1600">
                <a:solidFill>
                  <a:srgbClr val="3D424E"/>
                </a:solidFill>
              </a:rPr>
              <a:t>esta dissertação é demonstração metodológica de viabilidade (mestrado), não recomendação de deploy comercial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Trabalho futuro:  </a:t>
            </a:r>
            <a:r>
              <a:rPr sz="1600">
                <a:solidFill>
                  <a:srgbClr val="3D424E"/>
                </a:solidFill>
              </a:rPr>
              <a:t>replicação em escala industrial declarada como direção subsequente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Reconhecimento formal nas Seções 9 e 10 do _objetivo_tese v3.5.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Rodada 8 — fundamentação Latinx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Tripé empírico antropologia + genética + sociologia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Motivação da Rodada 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observado:  </a:t>
            </a:r>
            <a:r>
              <a:rPr sz="1600">
                <a:solidFill>
                  <a:srgbClr val="3D424E"/>
                </a:solidFill>
              </a:rPr>
              <a:t>F1 Latinx aproximadamente 60 % persistente em modelos do estado da arte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Gap no corpus original:  </a:t>
            </a:r>
            <a:r>
              <a:rPr sz="1600">
                <a:solidFill>
                  <a:srgbClr val="3D424E"/>
                </a:solidFill>
              </a:rPr>
              <a:t>categoria Latinx tratada como bloco monolítico sem fundamentação empírica explícita de heterogeneidade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Resposta:  </a:t>
            </a:r>
            <a:r>
              <a:rPr sz="1600">
                <a:solidFill>
                  <a:srgbClr val="3D424E"/>
                </a:solidFill>
              </a:rPr>
              <a:t>Rodada 8 enxuta — 3 fichas integradas para sustentar empíricamente a hipótese H3 e a contribuição C6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Aporte específico:  </a:t>
            </a:r>
            <a:r>
              <a:rPr sz="1600">
                <a:solidFill>
                  <a:srgbClr val="3D424E"/>
                </a:solidFill>
              </a:rPr>
              <a:t>permite defender o erro Latinx como tendo componente estrutural irredutível (overlap MST), não apenas algorítmico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3 fichas integradas na Rodada 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Ficha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Autor / Venue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Aporte ao argumento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telles_2014 (Pigmentocracies)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Edward Telles + PERLA — UNC Press, 320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Antropologia — pigmentocracia em 4 países LatAm (Brasil, Colômbia, México, Peru)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bryc_2015 (Genetic Ancestry)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Bryc, Reich et al — AJHG (Harvard + 23andMe)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Genética — 162 mil indivíduos, heterogeneidade Native + European + African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pew_2017_hispanic_identity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Lopez, Gonzalez-Barrera et al — Pew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Sociologia — identidade Hispanic declina 97 % para 50 % cross 4 gerações nos EUA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Tripé empírico que sustenta H3 + C6 com 3 disciplinas independentes convergentes.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Estudo comparativo do Capítulo 2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4 configurações de conditioning — proposta + alternativa moderna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4 configurações de conditioning comparadas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365760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Arquitetura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Sinal de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Origem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Controle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→ γ, β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Proposta principal (linha tradicional)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Gated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→ γ, β não-lineares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Ablação metodológica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512-dim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Avaliação alternativa (orientador)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Atende recomendação da reunião 15/jun: linha tradicional + avaliação CLIP.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Decisões a alinhar e próximos passos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Reta final para a primeira revisão em 15/jul/2026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Decisões a alinhar hoje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Promover H6 para OE-6 formal — decomposição quantitativa pixel info × skin tone?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Estudo comparativo com 4 configurações atende à recomendação anterior?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Há template Overleaf institucional Unifesp / ICT ou seguimos com o padrão?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Co-orientador — alguma definição?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Sugestões para a banca preliminar?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Próximas 3 semanas — plano de escrita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777240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Semana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Período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Entregável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 (esta)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29/jun - 05/jul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Setup Overleaf + Capítulo 1 (Introdução)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06 - 12/jul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Capítulo 2 (Revisão) + Capítulo 3 (Objetivos)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13 - 14/jul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Capítulo 4 (Metodologia) + Capítulo 5 (Cronograma) + revisão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15/jul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Entrega da primeira revisão ao orientador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Plano enxuto — 17 dias para entregar 5 capítulos + revisão final.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Próximos passos imediatos (esta semana)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Setup Overleaf com template institucional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Importar bibliografia consolidada — referencias.bib com 104 entradas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Iniciar escrita do Capítulo 1 — Introdução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 </a:t>
            </a:r>
            <a:r>
              <a:rPr sz="1600">
                <a:solidFill>
                  <a:srgbClr val="3D424E"/>
                </a:solidFill>
              </a:rPr>
              <a:t>Promover OE-6 se aprovado nesta reunião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 </a:t>
            </a:r>
            <a:r>
              <a:rPr sz="1600">
                <a:solidFill>
                  <a:srgbClr val="3D424E"/>
                </a:solidFill>
              </a:rPr>
              <a:t>Continuar leitura aprofundada da Camada 2 em paralelo à escrita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Entrega para próxima reunião:  </a:t>
            </a:r>
            <a:r>
              <a:rPr sz="1600">
                <a:solidFill>
                  <a:srgbClr val="3D424E"/>
                </a:solidFill>
              </a:rPr>
              <a:t>Capítulo 1 escrito em LaTeX + estrutura dos capítulos 2 a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Discussão livre — dúvidas e alinhamento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