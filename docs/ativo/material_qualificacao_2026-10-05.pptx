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Módulo FiLM/MST pré-treinado transfere via feature-freeze para RFW/BFW  </a:t>
            </a:r>
            <a:r>
              <a:rPr sz="1300" i="1">
                <a:solidFill>
                  <a:srgbClr val="707682"/>
                </a:solidFill>
              </a:rPr>
              <a:t>[ΔTAR@FAR=1e-4 ≥ +3 pp (African)]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 – 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f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25002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Rebalanceamento amostral e novos
repositórios biométricos.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RFW (Wang et al., 2019)</a:t>
            </a:r>
          </a:p>
          <a:p>
            <a:r>
              <a:rPr sz="1050">
                <a:solidFill>
                  <a:srgbClr val="1F2A4E"/>
                </a:solidFill>
              </a:rPr>
              <a:t>•  BFW (Robinson et al., 2020)</a:t>
            </a:r>
          </a:p>
          <a:p>
            <a:r>
              <a:rPr sz="1050">
                <a:solidFill>
                  <a:srgbClr val="1F2A4E"/>
                </a:solidFill>
              </a:rPr>
              <a:t>•  FairFace (Kärkkäinen &amp; Joo, 2021)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Equilíbrio amostral é necessário mas insuficiente em
populações heterogêneas (Latinx). Uso restrito ao
Fitzpatrick I–VI.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0327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Intervenções na otimização e nas
funções de perda.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Group DRO (Sagawa et al., 2020)</a:t>
            </a:r>
          </a:p>
          <a:p>
            <a:r>
              <a:rPr sz="1050">
                <a:solidFill>
                  <a:srgbClr val="1F2A4E"/>
                </a:solidFill>
              </a:rPr>
              <a:t>•  FSCL+ (Park et al., 2022)</a:t>
            </a:r>
          </a:p>
          <a:p>
            <a:r>
              <a:rPr sz="1050">
                <a:solidFill>
                  <a:srgbClr val="1F2A4E"/>
                </a:solidFill>
              </a:rPr>
              <a:t>•  FairGRAPE (Lin et al., 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043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Conflito severo entre acurácia global e paridade
demográfica (Teorema da Impossibilidade,
Kleinberg et al., 2017).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934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Modelos visão-linguagem e
transição à escala Monk (MST).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FaceScanPaliGemma (AlDahoul et al., 2024)</a:t>
            </a:r>
          </a:p>
          <a:p>
            <a:r>
              <a:rPr sz="1050">
                <a:solidFill>
                  <a:srgbClr val="1F2A4E"/>
                </a:solidFill>
              </a:rPr>
              <a:t>•  FairCLIP (Luo et al., 2024)</a:t>
            </a:r>
          </a:p>
          <a:p>
            <a:r>
              <a:rPr sz="1050">
                <a:solidFill>
                  <a:srgbClr val="1F2A4E"/>
                </a:solidFill>
              </a:rPr>
              <a:t>•  MST (Schumann et al., 2023; Pereira,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Acurácia agregada sobe (75,7 %) mas persiste gap
de ~30 pp em Latinx (F1 ≈ 60 %); vieses herdados
da web.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410" y="3154680"/>
            <a:ext cx="64008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257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Injeção de MST como sinal arquitetural
intermediário via FiLM.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57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FiLM · ConvNeXt-T (Perez et al., 2018)</a:t>
            </a:r>
          </a:p>
          <a:p>
            <a:r>
              <a:rPr sz="1050">
                <a:solidFill>
                  <a:srgbClr val="1F2A4E"/>
                </a:solidFill>
              </a:rPr>
              <a:t>•  Triangulação ISO/IEC 19795-10:2024</a:t>
            </a:r>
          </a:p>
          <a:p>
            <a:r>
              <a:rPr sz="1050">
                <a:solidFill>
                  <a:srgbClr val="1F2A4E"/>
                </a:solidFill>
              </a:rPr>
              <a:t>•  Decomposição fenotípico × pixel (H6)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57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DIFERENCIAL</a:t>
            </a:r>
          </a:p>
          <a:p>
            <a:r>
              <a:rPr sz="1050" i="1">
                <a:solidFill>
                  <a:srgbClr val="3D424E"/>
                </a:solidFill>
              </a:rPr>
              <a:t>Modulação do fluxo de features pelo tom contínuo —
supera rótulos raciais nominais sem exigir modelos
de bilhões de parâmetros.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Fluxo cronológico: dados balanceados → funções de perda → modelos visão-linguagem com MST → condicionamento arquitetural.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5" y="1325880"/>
            <a:ext cx="3758184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A.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3" y="1325880"/>
            <a:ext cx="1828800" cy="384048"/>
          </a:xfrm>
          <a:prstGeom prst="roundRect">
            <a:avLst/>
          </a:prstGeom>
          <a:solidFill>
            <a:srgbClr val="B4C4E8"/>
          </a:solidFill>
          <a:ln w="9525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1F2A4E"/>
                </a:solidFill>
              </a:rPr>
              <a:t>B. MÉTODO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4768" y="1325880"/>
            <a:ext cx="5687567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C. VALIDAÇÃO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1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Classificador MST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Treina rede 10-tons sobre MSTE + CCv2.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5999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2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Matriz MST × raça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Tabula tons preditos pelas 7 classes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920240"/>
            <a:ext cx="1828800" cy="3931920"/>
          </a:xfrm>
          <a:prstGeom prst="roundRect">
            <a:avLst/>
          </a:prstGeom>
          <a:solidFill>
            <a:srgbClr val="1F2A4E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B4C4E8"/>
                </a:solidFill>
              </a:rPr>
              <a:t>ETAPA 3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</a:rPr>
              <a:t>FiLM + ConvNeXt-T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B4C4E8"/>
                </a:solidFill>
              </a:rPr>
              <a:t>Rede condiciona features ao vetor MST (método proposto).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4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Baselines e cenários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Confronta a proposta com seis famílias já publicadas.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Transferência RFW/BFW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Verifica herança do condicionamento em reconhecimento.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Decomposição do erro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Separa componente fenotípico de componente algorítmico.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14800" y="3886200"/>
            <a:ext cx="100583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44183" y="3886200"/>
            <a:ext cx="100585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73567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2951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em três fases: diagnóstico (etapas 1 e 2), método proposto (etapa 3, destacada) e validação e síntese (etapas 4 a 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965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puro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" y="3502152"/>
            <a:ext cx="1250899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8392" y="3502152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ConvNeXt-T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7535" y="3694176"/>
            <a:ext cx="460857" cy="0"/>
          </a:xfrm>
          <a:prstGeom prst="bentConnector3">
            <a:avLst/>
          </a:prstGeom>
          <a:ln w="2540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1663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Controle arquitetural
sem condicionamento.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6" y="1325880"/>
            <a:ext cx="3657600" cy="4617720"/>
          </a:xfrm>
          <a:prstGeom prst="roundRect">
            <a:avLst/>
          </a:prstGeom>
          <a:solidFill>
            <a:srgbClr val="1F2A4E"/>
          </a:solidFill>
          <a:ln w="304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51576" y="15544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1F2A4E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3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ConvNeXt-T + FiLM
(MST direto, 10-dim)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8556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8556" y="3749039"/>
            <a:ext cx="1382572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MST (10-dim)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0312" y="3520439"/>
            <a:ext cx="1580083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112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31128" y="3712463"/>
            <a:ext cx="329184" cy="228600"/>
          </a:xfrm>
          <a:prstGeom prst="bentConnector3">
            <a:avLst/>
          </a:prstGeom>
          <a:ln w="2286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4855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B4C4E8"/>
                </a:solidFill>
              </a:rPr>
              <a:t>Proposta principal — tom
de pele contínuo como
contexto arquitetural.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855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B4C4E8"/>
                </a:solidFill>
              </a:rPr>
              <a:t>Perez et al. (2018) + Monk
(Schumann et al., 2023)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8349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+ FiLM
(CLIP-text, 512-dim)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0475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0475" y="3749039"/>
            <a:ext cx="1382572" cy="384048"/>
          </a:xfrm>
          <a:prstGeom prst="roundRect">
            <a:avLst/>
          </a:prstGeom>
          <a:solidFill>
            <a:srgbClr val="3D68BB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CLIP-text (512-dim)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92232" y="3520439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6304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763048" y="3712463"/>
            <a:ext cx="329184" cy="228600"/>
          </a:xfrm>
          <a:prstGeom prst="bentConnector3">
            <a:avLst/>
          </a:prstGeom>
          <a:ln w="22860">
            <a:solidFill>
              <a:srgbClr val="3D68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0475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Alternativa moderna —
embedding textual rico
como sinal condicionante.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475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Radford et al. (2021) +
Dehdashtian et al.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Ceteris paribus: mesmo backbone (ConvNeXt-T), mesmo dataset (FairFace), mesmas três sementes, mesma receita de treino — varia-se apenas o sinal condicionante.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Três perguntas, três respostas pré-registradas — nenhum ajuste pós-resultado.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 QUE AVALIO?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2A4E"/>
                </a:solidFill>
              </a:rPr>
              <a:t>A ·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dois cenários estratificados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6636" y="3840480"/>
            <a:ext cx="320040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7091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A — reporte pelas 7 classes raciais do FairFace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B — reporte pelos 8 subgrupos raça × gênero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Protocolo interseccional (Buolamwini &amp; Gebru, 2018)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995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COM QUE RIGOR?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995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711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2A4E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711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sementes · IC 95 % · comparação pareada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9427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Sementes independentes: 42, 1 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Bootstrap não-paramétrico · norma ISO/IEC 19795-10:2024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Padrão biométrico internacional estratificado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759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ONDE GENERALIZA?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2A4E"/>
                </a:solidFill>
              </a:rPr>
              <a:t>RFW · BFW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dois datasets externos de verificação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7191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2619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RFW — 4 raças, pares oficiais 1 : 1 (Wang et al., 2019)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19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BFW — 4 raças × 2 gêneros, balanceado (Robinson et al., 2020)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619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Transferência arquitetural via feature-freeze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Critério definido antes do experimento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Para cada hipótese da pesquisa, o valor-limite de aprovação foi fixado antes de rodar os experimentos — o resultado só pode confirmar ou refutar, sem reinterpretar a métrica depois dos dados.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As métricas que vamos reportar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Padrão da literatura — valores reportados: SOTA FaceScanPaliGemma (AlDahoul et al., 2024) sobre FairFace 7-class in-domain.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F1 macro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performance média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Média harmônica de precision/recall por
classe, depois média simples entre as
7 raças do FairFace.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van Rijsbergen 1979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3796" y="4251960"/>
            <a:ext cx="310896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23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75 %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FaceScanPaliGemma  ·  baseline ResNet-34 = 72 %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DR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Disparity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56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85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Razão F1_min / F1_max entre raças.
Mede o gap entre o pior e o melhor
subgrupo (0 = total disparidade, 1 = paridade).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85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Hardt, Price &amp; Srebro 2016 (NeurIPS)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99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0,67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F1 Latinx 60 %  ÷  F1 Black 90 %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1875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Worst-class F1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pior subgrupo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1875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F1 da raça em que o modelo erra mais.
Garante que ninguém fique para trás,
mesmo quando a média agregada é alta.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Sagawa et al. 2020 (ICLR) — Group DRO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261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34755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4755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60 %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4755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Latinx  ·  FaceScanPaliGemma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Por que três métricas e não uma?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Teorema da Impossibilidade (Kleinberg et al., 2017): quando as prevalências diferem entre grupos, nenhuma métrica única satisfaz ao mesmo tempo (1) acertar a probabilidade predita por grupo, (2) mesma taxa de falso positivo entre grupos e (3) mesma taxa de falso negativo entre grupos. Reportar múltiplas é o único jeito honesto.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