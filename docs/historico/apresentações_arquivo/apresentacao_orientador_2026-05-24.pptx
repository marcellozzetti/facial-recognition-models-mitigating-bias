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4" r:id="rId19"/>
    <p:sldId id="273" r:id="rId20"/>
  </p:sldIdLst>
  <p:sldSz cx="14630400" cy="82296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27" d="100"/>
          <a:sy n="127" d="100"/>
        </p:scale>
        <p:origin x="596" y="10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5/25/2026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‹nº›</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F3A68"/>
        </a:solidFill>
        <a:effectLst/>
      </p:bgPr>
    </p:bg>
    <p:spTree>
      <p:nvGrpSpPr>
        <p:cNvPr id="1" name=""/>
        <p:cNvGrpSpPr/>
        <p:nvPr/>
      </p:nvGrpSpPr>
      <p:grpSpPr>
        <a:xfrm>
          <a:off x="0" y="0"/>
          <a:ext cx="0" cy="0"/>
          <a:chOff x="0" y="0"/>
          <a:chExt cx="0" cy="0"/>
        </a:xfrm>
      </p:grpSpPr>
      <p:sp>
        <p:nvSpPr>
          <p:cNvPr id="2" name="TextBox 1"/>
          <p:cNvSpPr txBox="1"/>
          <p:nvPr/>
        </p:nvSpPr>
        <p:spPr>
          <a:xfrm>
            <a:off x="457200" y="1828800"/>
            <a:ext cx="13716000" cy="2286000"/>
          </a:xfrm>
          <a:prstGeom prst="rect">
            <a:avLst/>
          </a:prstGeom>
          <a:noFill/>
        </p:spPr>
        <p:txBody>
          <a:bodyPr wrap="square">
            <a:spAutoFit/>
          </a:bodyPr>
          <a:lstStyle/>
          <a:p>
            <a:pPr>
              <a:defRPr sz="3600" b="1">
                <a:solidFill>
                  <a:srgbClr val="FFFFFF"/>
                </a:solidFill>
              </a:defRPr>
            </a:pPr>
            <a:r>
              <a:rPr dirty="0" err="1"/>
              <a:t>Atribuição</a:t>
            </a:r>
            <a:r>
              <a:rPr dirty="0"/>
              <a:t> Causal e </a:t>
            </a:r>
            <a:r>
              <a:rPr dirty="0" err="1"/>
              <a:t>Pareamento</a:t>
            </a:r>
            <a:r>
              <a:rPr dirty="0"/>
              <a:t> </a:t>
            </a:r>
            <a:r>
              <a:rPr dirty="0" err="1"/>
              <a:t>Metodológico</a:t>
            </a:r>
            <a:r>
              <a:rPr dirty="0"/>
              <a:t> </a:t>
            </a:r>
            <a:r>
              <a:rPr dirty="0" err="1"/>
              <a:t>em</a:t>
            </a:r>
            <a:r>
              <a:rPr dirty="0"/>
              <a:t> </a:t>
            </a:r>
            <a:r>
              <a:rPr dirty="0" err="1"/>
              <a:t>Classificação</a:t>
            </a:r>
            <a:r>
              <a:rPr dirty="0"/>
              <a:t> de </a:t>
            </a:r>
            <a:r>
              <a:rPr dirty="0" err="1"/>
              <a:t>Raça</a:t>
            </a:r>
            <a:r>
              <a:rPr dirty="0"/>
              <a:t> 7-classes no </a:t>
            </a:r>
            <a:r>
              <a:rPr dirty="0" err="1"/>
              <a:t>FairFace</a:t>
            </a:r>
            <a:endParaRPr dirty="0"/>
          </a:p>
        </p:txBody>
      </p:sp>
      <p:sp>
        <p:nvSpPr>
          <p:cNvPr id="3" name="TextBox 2"/>
          <p:cNvSpPr txBox="1"/>
          <p:nvPr/>
        </p:nvSpPr>
        <p:spPr>
          <a:xfrm>
            <a:off x="457200" y="5029200"/>
            <a:ext cx="13716000" cy="731520"/>
          </a:xfrm>
          <a:prstGeom prst="rect">
            <a:avLst/>
          </a:prstGeom>
          <a:noFill/>
        </p:spPr>
        <p:txBody>
          <a:bodyPr wrap="none">
            <a:spAutoFit/>
          </a:bodyPr>
          <a:lstStyle/>
          <a:p>
            <a:pPr>
              <a:defRPr sz="2200">
                <a:solidFill>
                  <a:srgbClr val="E0E8F5"/>
                </a:solidFill>
              </a:defRPr>
            </a:pPr>
            <a:r>
              <a:t>Reunião de progresso — atividades de 10 a 24 de maio de 2026</a:t>
            </a:r>
          </a:p>
        </p:txBody>
      </p:sp>
      <p:sp>
        <p:nvSpPr>
          <p:cNvPr id="4" name="TextBox 3"/>
          <p:cNvSpPr txBox="1"/>
          <p:nvPr/>
        </p:nvSpPr>
        <p:spPr>
          <a:xfrm>
            <a:off x="457200" y="6400800"/>
            <a:ext cx="13716000" cy="1371600"/>
          </a:xfrm>
          <a:prstGeom prst="rect">
            <a:avLst/>
          </a:prstGeom>
          <a:noFill/>
        </p:spPr>
        <p:txBody>
          <a:bodyPr wrap="none">
            <a:spAutoFit/>
          </a:bodyPr>
          <a:lstStyle/>
          <a:p>
            <a:pPr>
              <a:defRPr sz="1800">
                <a:solidFill>
                  <a:srgbClr val="FFFFFF"/>
                </a:solidFill>
              </a:defRPr>
            </a:pPr>
            <a:r>
              <a:t>Autor: Marcello Ozzetti</a:t>
            </a:r>
          </a:p>
          <a:p>
            <a:pPr>
              <a:defRPr sz="1800">
                <a:solidFill>
                  <a:srgbClr val="FFFFFF"/>
                </a:solidFill>
              </a:defRPr>
            </a:pPr>
            <a:r>
              <a:t>Orientador: Prof. Marcos Quiles</a:t>
            </a:r>
          </a:p>
          <a:p>
            <a:pPr>
              <a:defRPr sz="1800">
                <a:solidFill>
                  <a:srgbClr val="FFFFFF"/>
                </a:solidFill>
              </a:defRPr>
            </a:pPr>
            <a:r>
              <a:t>Programa: Mestrado em Ciência da Computação — Unifesp/ICT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4630400" cy="822960"/>
          </a:xfrm>
          <a:prstGeom prst="rect">
            <a:avLst/>
          </a:prstGeom>
          <a:solidFill>
            <a:srgbClr val="1F3A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3716000" y="182880"/>
            <a:ext cx="914400" cy="457200"/>
          </a:xfrm>
          <a:prstGeom prst="rect">
            <a:avLst/>
          </a:prstGeom>
          <a:noFill/>
        </p:spPr>
        <p:txBody>
          <a:bodyPr wrap="none">
            <a:spAutoFit/>
          </a:bodyPr>
          <a:lstStyle/>
          <a:p>
            <a:pPr>
              <a:defRPr sz="1400">
                <a:solidFill>
                  <a:srgbClr val="CCD8EE"/>
                </a:solidFill>
              </a:defRPr>
            </a:pPr>
            <a:r>
              <a:t>2 / 19</a:t>
            </a:r>
          </a:p>
        </p:txBody>
      </p:sp>
      <p:sp>
        <p:nvSpPr>
          <p:cNvPr id="4" name="TextBox 3"/>
          <p:cNvSpPr txBox="1"/>
          <p:nvPr/>
        </p:nvSpPr>
        <p:spPr>
          <a:xfrm>
            <a:off x="457200" y="182880"/>
            <a:ext cx="12801600" cy="548640"/>
          </a:xfrm>
          <a:prstGeom prst="rect">
            <a:avLst/>
          </a:prstGeom>
          <a:noFill/>
        </p:spPr>
        <p:txBody>
          <a:bodyPr wrap="none">
            <a:spAutoFit/>
          </a:bodyPr>
          <a:lstStyle/>
          <a:p>
            <a:pPr>
              <a:defRPr sz="2400" b="1">
                <a:solidFill>
                  <a:srgbClr val="FFFFFF"/>
                </a:solidFill>
              </a:defRPr>
            </a:pPr>
            <a:r>
              <a:t>Status do mestrado — programa, créditos e prazos</a:t>
            </a:r>
          </a:p>
        </p:txBody>
      </p:sp>
      <p:graphicFrame>
        <p:nvGraphicFramePr>
          <p:cNvPr id="5" name="Table 4"/>
          <p:cNvGraphicFramePr>
            <a:graphicFrameLocks noGrp="1"/>
          </p:cNvGraphicFramePr>
          <p:nvPr>
            <p:extLst>
              <p:ext uri="{D42A27DB-BD31-4B8C-83A1-F6EECF244321}">
                <p14:modId xmlns:p14="http://schemas.microsoft.com/office/powerpoint/2010/main" val="340958448"/>
              </p:ext>
            </p:extLst>
          </p:nvPr>
        </p:nvGraphicFramePr>
        <p:xfrm>
          <a:off x="457200" y="1097280"/>
          <a:ext cx="13716000" cy="3657600"/>
        </p:xfrm>
        <a:graphic>
          <a:graphicData uri="http://schemas.openxmlformats.org/drawingml/2006/table">
            <a:tbl>
              <a:tblPr firstRow="1" bandRow="1">
                <a:tableStyleId>{5C22544A-7EE6-4342-B048-85BDC9FD1C3A}</a:tableStyleId>
              </a:tblPr>
              <a:tblGrid>
                <a:gridCol w="3200400">
                  <a:extLst>
                    <a:ext uri="{9D8B030D-6E8A-4147-A177-3AD203B41FA5}">
                      <a16:colId xmlns:a16="http://schemas.microsoft.com/office/drawing/2014/main" val="20000"/>
                    </a:ext>
                  </a:extLst>
                </a:gridCol>
                <a:gridCol w="5029200">
                  <a:extLst>
                    <a:ext uri="{9D8B030D-6E8A-4147-A177-3AD203B41FA5}">
                      <a16:colId xmlns:a16="http://schemas.microsoft.com/office/drawing/2014/main" val="20001"/>
                    </a:ext>
                  </a:extLst>
                </a:gridCol>
                <a:gridCol w="5486400">
                  <a:extLst>
                    <a:ext uri="{9D8B030D-6E8A-4147-A177-3AD203B41FA5}">
                      <a16:colId xmlns:a16="http://schemas.microsoft.com/office/drawing/2014/main" val="20002"/>
                    </a:ext>
                  </a:extLst>
                </a:gridCol>
              </a:tblGrid>
              <a:tr h="406400">
                <a:tc>
                  <a:txBody>
                    <a:bodyPr/>
                    <a:lstStyle/>
                    <a:p>
                      <a:r>
                        <a:rPr sz="1100" b="1">
                          <a:solidFill>
                            <a:srgbClr val="FFFFFF"/>
                          </a:solidFill>
                        </a:rPr>
                        <a:t>Item</a:t>
                      </a:r>
                    </a:p>
                  </a:txBody>
                  <a:tcPr>
                    <a:solidFill>
                      <a:srgbClr val="1F3A68"/>
                    </a:solidFill>
                  </a:tcPr>
                </a:tc>
                <a:tc>
                  <a:txBody>
                    <a:bodyPr/>
                    <a:lstStyle/>
                    <a:p>
                      <a:r>
                        <a:rPr sz="1100" b="1">
                          <a:solidFill>
                            <a:srgbClr val="FFFFFF"/>
                          </a:solidFill>
                        </a:rPr>
                        <a:t>Status atual</a:t>
                      </a:r>
                    </a:p>
                  </a:txBody>
                  <a:tcPr>
                    <a:solidFill>
                      <a:srgbClr val="1F3A68"/>
                    </a:solidFill>
                  </a:tcPr>
                </a:tc>
                <a:tc>
                  <a:txBody>
                    <a:bodyPr/>
                    <a:lstStyle/>
                    <a:p>
                      <a:r>
                        <a:rPr sz="1100" b="1">
                          <a:solidFill>
                            <a:srgbClr val="FFFFFF"/>
                          </a:solidFill>
                        </a:rPr>
                        <a:t>Observação</a:t>
                      </a:r>
                    </a:p>
                  </a:txBody>
                  <a:tcPr>
                    <a:solidFill>
                      <a:srgbClr val="1F3A68"/>
                    </a:solidFill>
                  </a:tcPr>
                </a:tc>
                <a:extLst>
                  <a:ext uri="{0D108BD9-81ED-4DB2-BD59-A6C34878D82A}">
                    <a16:rowId xmlns:a16="http://schemas.microsoft.com/office/drawing/2014/main" val="10000"/>
                  </a:ext>
                </a:extLst>
              </a:tr>
              <a:tr h="406400">
                <a:tc>
                  <a:txBody>
                    <a:bodyPr/>
                    <a:lstStyle/>
                    <a:p>
                      <a:r>
                        <a:rPr sz="1000">
                          <a:solidFill>
                            <a:srgbClr val="555555"/>
                          </a:solidFill>
                        </a:rPr>
                        <a:t>Programa</a:t>
                      </a:r>
                    </a:p>
                  </a:txBody>
                  <a:tcPr>
                    <a:solidFill>
                      <a:srgbClr val="FFFFFF"/>
                    </a:solidFill>
                  </a:tcPr>
                </a:tc>
                <a:tc>
                  <a:txBody>
                    <a:bodyPr/>
                    <a:lstStyle/>
                    <a:p>
                      <a:r>
                        <a:rPr sz="1000">
                          <a:solidFill>
                            <a:srgbClr val="555555"/>
                          </a:solidFill>
                        </a:rPr>
                        <a:t>Mestrado em Ciência da Computação — Unifesp/ICT</a:t>
                      </a:r>
                    </a:p>
                  </a:txBody>
                  <a:tcPr>
                    <a:solidFill>
                      <a:srgbClr val="FFFFFF"/>
                    </a:solidFill>
                  </a:tcPr>
                </a:tc>
                <a:tc>
                  <a:txBody>
                    <a:bodyPr/>
                    <a:lstStyle/>
                    <a:p>
                      <a:r>
                        <a:rPr sz="1000">
                          <a:solidFill>
                            <a:srgbClr val="555555"/>
                          </a:solidFill>
                        </a:rPr>
                        <a:t>Linha de pesquisa: Visão Computacional e Equidade Algorítmica</a:t>
                      </a:r>
                    </a:p>
                  </a:txBody>
                  <a:tcPr>
                    <a:solidFill>
                      <a:srgbClr val="FFFFFF"/>
                    </a:solidFill>
                  </a:tcPr>
                </a:tc>
                <a:extLst>
                  <a:ext uri="{0D108BD9-81ED-4DB2-BD59-A6C34878D82A}">
                    <a16:rowId xmlns:a16="http://schemas.microsoft.com/office/drawing/2014/main" val="10001"/>
                  </a:ext>
                </a:extLst>
              </a:tr>
              <a:tr h="406400">
                <a:tc>
                  <a:txBody>
                    <a:bodyPr/>
                    <a:lstStyle/>
                    <a:p>
                      <a:r>
                        <a:rPr sz="1000">
                          <a:solidFill>
                            <a:srgbClr val="555555"/>
                          </a:solidFill>
                        </a:rPr>
                        <a:t>Orientador</a:t>
                      </a:r>
                    </a:p>
                  </a:txBody>
                  <a:tcPr>
                    <a:solidFill>
                      <a:srgbClr val="F5F5F5"/>
                    </a:solidFill>
                  </a:tcPr>
                </a:tc>
                <a:tc>
                  <a:txBody>
                    <a:bodyPr/>
                    <a:lstStyle/>
                    <a:p>
                      <a:r>
                        <a:rPr sz="1000">
                          <a:solidFill>
                            <a:srgbClr val="555555"/>
                          </a:solidFill>
                        </a:rPr>
                        <a:t>Prof. Dr. Marcos Quiles</a:t>
                      </a:r>
                    </a:p>
                  </a:txBody>
                  <a:tcPr>
                    <a:solidFill>
                      <a:srgbClr val="F5F5F5"/>
                    </a:solidFill>
                  </a:tcPr>
                </a:tc>
                <a:tc>
                  <a:txBody>
                    <a:bodyPr/>
                    <a:lstStyle/>
                    <a:p>
                      <a:r>
                        <a:rPr sz="1000">
                          <a:solidFill>
                            <a:srgbClr val="555555"/>
                          </a:solidFill>
                        </a:rPr>
                        <a:t>Coordenador da disciplina de Redes Neurais</a:t>
                      </a:r>
                    </a:p>
                  </a:txBody>
                  <a:tcPr>
                    <a:solidFill>
                      <a:srgbClr val="F5F5F5"/>
                    </a:solidFill>
                  </a:tcPr>
                </a:tc>
                <a:extLst>
                  <a:ext uri="{0D108BD9-81ED-4DB2-BD59-A6C34878D82A}">
                    <a16:rowId xmlns:a16="http://schemas.microsoft.com/office/drawing/2014/main" val="10002"/>
                  </a:ext>
                </a:extLst>
              </a:tr>
              <a:tr h="406400">
                <a:tc>
                  <a:txBody>
                    <a:bodyPr/>
                    <a:lstStyle/>
                    <a:p>
                      <a:r>
                        <a:rPr sz="1000">
                          <a:solidFill>
                            <a:srgbClr val="555555"/>
                          </a:solidFill>
                        </a:rPr>
                        <a:t>Créditos obtidos</a:t>
                      </a:r>
                    </a:p>
                  </a:txBody>
                  <a:tcPr>
                    <a:solidFill>
                      <a:srgbClr val="FFFFFF"/>
                    </a:solidFill>
                  </a:tcPr>
                </a:tc>
                <a:tc>
                  <a:txBody>
                    <a:bodyPr/>
                    <a:lstStyle/>
                    <a:p>
                      <a:r>
                        <a:rPr sz="1000">
                          <a:solidFill>
                            <a:srgbClr val="555555"/>
                          </a:solidFill>
                        </a:rPr>
                        <a:t>20 / 26 (~ 77%)</a:t>
                      </a:r>
                    </a:p>
                  </a:txBody>
                  <a:tcPr>
                    <a:solidFill>
                      <a:srgbClr val="FFFFFF"/>
                    </a:solidFill>
                  </a:tcPr>
                </a:tc>
                <a:tc>
                  <a:txBody>
                    <a:bodyPr/>
                    <a:lstStyle/>
                    <a:p>
                      <a:r>
                        <a:rPr sz="1000">
                          <a:solidFill>
                            <a:srgbClr val="555555"/>
                          </a:solidFill>
                        </a:rPr>
                        <a:t>Acima do mínimo de 75% exigido pelo Art. 49 — habilitado a qualificar</a:t>
                      </a:r>
                    </a:p>
                  </a:txBody>
                  <a:tcPr>
                    <a:solidFill>
                      <a:srgbClr val="FFFFFF"/>
                    </a:solidFill>
                  </a:tcPr>
                </a:tc>
                <a:extLst>
                  <a:ext uri="{0D108BD9-81ED-4DB2-BD59-A6C34878D82A}">
                    <a16:rowId xmlns:a16="http://schemas.microsoft.com/office/drawing/2014/main" val="10003"/>
                  </a:ext>
                </a:extLst>
              </a:tr>
              <a:tr h="406400">
                <a:tc>
                  <a:txBody>
                    <a:bodyPr/>
                    <a:lstStyle/>
                    <a:p>
                      <a:r>
                        <a:rPr sz="1000">
                          <a:solidFill>
                            <a:srgbClr val="555555"/>
                          </a:solidFill>
                        </a:rPr>
                        <a:t>Disciplinas restantes</a:t>
                      </a:r>
                    </a:p>
                  </a:txBody>
                  <a:tcPr>
                    <a:solidFill>
                      <a:srgbClr val="F5F5F5"/>
                    </a:solidFill>
                  </a:tcPr>
                </a:tc>
                <a:tc>
                  <a:txBody>
                    <a:bodyPr/>
                    <a:lstStyle/>
                    <a:p>
                      <a:r>
                        <a:rPr sz="1000" dirty="0" err="1">
                          <a:solidFill>
                            <a:srgbClr val="555555"/>
                          </a:solidFill>
                        </a:rPr>
                        <a:t>Estudos</a:t>
                      </a:r>
                      <a:r>
                        <a:rPr sz="1000" dirty="0">
                          <a:solidFill>
                            <a:srgbClr val="555555"/>
                          </a:solidFill>
                        </a:rPr>
                        <a:t> </a:t>
                      </a:r>
                      <a:r>
                        <a:rPr sz="1000" dirty="0" err="1">
                          <a:solidFill>
                            <a:srgbClr val="555555"/>
                          </a:solidFill>
                        </a:rPr>
                        <a:t>Dirigidos</a:t>
                      </a:r>
                      <a:r>
                        <a:rPr sz="1000" dirty="0">
                          <a:solidFill>
                            <a:srgbClr val="555555"/>
                          </a:solidFill>
                        </a:rPr>
                        <a:t> I (2026.</a:t>
                      </a:r>
                      <a:r>
                        <a:rPr lang="pt-BR" sz="1000" dirty="0">
                          <a:solidFill>
                            <a:srgbClr val="555555"/>
                          </a:solidFill>
                        </a:rPr>
                        <a:t>2</a:t>
                      </a:r>
                      <a:r>
                        <a:rPr sz="1000" dirty="0">
                          <a:solidFill>
                            <a:srgbClr val="555555"/>
                          </a:solidFill>
                        </a:rPr>
                        <a:t>) — </a:t>
                      </a:r>
                      <a:r>
                        <a:rPr lang="pt-BR" sz="1000" dirty="0">
                          <a:solidFill>
                            <a:srgbClr val="555555"/>
                          </a:solidFill>
                        </a:rPr>
                        <a:t>não iniciado</a:t>
                      </a:r>
                      <a:endParaRPr sz="1000" dirty="0">
                        <a:solidFill>
                          <a:srgbClr val="555555"/>
                        </a:solidFill>
                      </a:endParaRPr>
                    </a:p>
                  </a:txBody>
                  <a:tcPr>
                    <a:solidFill>
                      <a:srgbClr val="F5F5F5"/>
                    </a:solidFill>
                  </a:tcPr>
                </a:tc>
                <a:tc>
                  <a:txBody>
                    <a:bodyPr/>
                    <a:lstStyle/>
                    <a:p>
                      <a:r>
                        <a:rPr sz="1000" dirty="0" err="1">
                          <a:solidFill>
                            <a:srgbClr val="555555"/>
                          </a:solidFill>
                        </a:rPr>
                        <a:t>Conclusão</a:t>
                      </a:r>
                      <a:r>
                        <a:rPr sz="1000" dirty="0">
                          <a:solidFill>
                            <a:srgbClr val="555555"/>
                          </a:solidFill>
                        </a:rPr>
                        <a:t> </a:t>
                      </a:r>
                      <a:r>
                        <a:rPr sz="1000" dirty="0" err="1">
                          <a:solidFill>
                            <a:srgbClr val="555555"/>
                          </a:solidFill>
                        </a:rPr>
                        <a:t>prevista</a:t>
                      </a:r>
                      <a:r>
                        <a:rPr sz="1000" dirty="0">
                          <a:solidFill>
                            <a:srgbClr val="555555"/>
                          </a:solidFill>
                        </a:rPr>
                        <a:t> </a:t>
                      </a:r>
                      <a:r>
                        <a:rPr sz="1000" dirty="0" err="1">
                          <a:solidFill>
                            <a:srgbClr val="555555"/>
                          </a:solidFill>
                        </a:rPr>
                        <a:t>em</a:t>
                      </a:r>
                      <a:r>
                        <a:rPr sz="1000" dirty="0">
                          <a:solidFill>
                            <a:srgbClr val="555555"/>
                          </a:solidFill>
                        </a:rPr>
                        <a:t> </a:t>
                      </a:r>
                      <a:r>
                        <a:rPr sz="1000" dirty="0" err="1">
                          <a:solidFill>
                            <a:srgbClr val="555555"/>
                          </a:solidFill>
                        </a:rPr>
                        <a:t>julho</a:t>
                      </a:r>
                      <a:r>
                        <a:rPr sz="1000" dirty="0">
                          <a:solidFill>
                            <a:srgbClr val="555555"/>
                          </a:solidFill>
                        </a:rPr>
                        <a:t> de 202</a:t>
                      </a:r>
                      <a:r>
                        <a:rPr lang="pt-BR" sz="1000" dirty="0">
                          <a:solidFill>
                            <a:srgbClr val="555555"/>
                          </a:solidFill>
                        </a:rPr>
                        <a:t>7</a:t>
                      </a:r>
                      <a:endParaRPr sz="1000" dirty="0">
                        <a:solidFill>
                          <a:srgbClr val="555555"/>
                        </a:solidFill>
                      </a:endParaRPr>
                    </a:p>
                  </a:txBody>
                  <a:tcPr>
                    <a:solidFill>
                      <a:srgbClr val="F5F5F5"/>
                    </a:solidFill>
                  </a:tcPr>
                </a:tc>
                <a:extLst>
                  <a:ext uri="{0D108BD9-81ED-4DB2-BD59-A6C34878D82A}">
                    <a16:rowId xmlns:a16="http://schemas.microsoft.com/office/drawing/2014/main" val="10004"/>
                  </a:ext>
                </a:extLst>
              </a:tr>
              <a:tr h="406400">
                <a:tc>
                  <a:txBody>
                    <a:bodyPr/>
                    <a:lstStyle/>
                    <a:p>
                      <a:r>
                        <a:rPr sz="1000">
                          <a:solidFill>
                            <a:srgbClr val="555555"/>
                          </a:solidFill>
                        </a:rPr>
                        <a:t>Qualificação</a:t>
                      </a:r>
                    </a:p>
                  </a:txBody>
                  <a:tcPr>
                    <a:solidFill>
                      <a:srgbClr val="FFFFFF"/>
                    </a:solidFill>
                  </a:tcPr>
                </a:tc>
                <a:tc>
                  <a:txBody>
                    <a:bodyPr/>
                    <a:lstStyle/>
                    <a:p>
                      <a:r>
                        <a:rPr sz="1000">
                          <a:solidFill>
                            <a:srgbClr val="555555"/>
                          </a:solidFill>
                        </a:rPr>
                        <a:t>Prevista para agosto de 2026</a:t>
                      </a:r>
                    </a:p>
                  </a:txBody>
                  <a:tcPr>
                    <a:solidFill>
                      <a:srgbClr val="FFFFFF"/>
                    </a:solidFill>
                  </a:tcPr>
                </a:tc>
                <a:tc>
                  <a:txBody>
                    <a:bodyPr/>
                    <a:lstStyle/>
                    <a:p>
                      <a:r>
                        <a:rPr sz="1000">
                          <a:solidFill>
                            <a:srgbClr val="555555"/>
                          </a:solidFill>
                        </a:rPr>
                        <a:t>Habilitada via Art. 49 do Regulamento de Mestrado Unifesp/ICT</a:t>
                      </a:r>
                    </a:p>
                  </a:txBody>
                  <a:tcPr>
                    <a:solidFill>
                      <a:srgbClr val="FFFFFF"/>
                    </a:solidFill>
                  </a:tcPr>
                </a:tc>
                <a:extLst>
                  <a:ext uri="{0D108BD9-81ED-4DB2-BD59-A6C34878D82A}">
                    <a16:rowId xmlns:a16="http://schemas.microsoft.com/office/drawing/2014/main" val="10005"/>
                  </a:ext>
                </a:extLst>
              </a:tr>
              <a:tr h="406400">
                <a:tc>
                  <a:txBody>
                    <a:bodyPr/>
                    <a:lstStyle/>
                    <a:p>
                      <a:r>
                        <a:rPr sz="1000">
                          <a:solidFill>
                            <a:srgbClr val="555555"/>
                          </a:solidFill>
                        </a:rPr>
                        <a:t>Defesa final</a:t>
                      </a:r>
                    </a:p>
                  </a:txBody>
                  <a:tcPr>
                    <a:solidFill>
                      <a:srgbClr val="F5F5F5"/>
                    </a:solidFill>
                  </a:tcPr>
                </a:tc>
                <a:tc>
                  <a:txBody>
                    <a:bodyPr/>
                    <a:lstStyle/>
                    <a:p>
                      <a:r>
                        <a:rPr sz="1000">
                          <a:solidFill>
                            <a:srgbClr val="555555"/>
                          </a:solidFill>
                        </a:rPr>
                        <a:t>Prazo-limite: fevereiro de 2028</a:t>
                      </a:r>
                    </a:p>
                  </a:txBody>
                  <a:tcPr>
                    <a:solidFill>
                      <a:srgbClr val="F5F5F5"/>
                    </a:solidFill>
                  </a:tcPr>
                </a:tc>
                <a:tc>
                  <a:txBody>
                    <a:bodyPr/>
                    <a:lstStyle/>
                    <a:p>
                      <a:r>
                        <a:rPr sz="1000">
                          <a:solidFill>
                            <a:srgbClr val="555555"/>
                          </a:solidFill>
                        </a:rPr>
                        <a:t>Art. 30 do Regulamento (24 meses após a qualificação)</a:t>
                      </a:r>
                    </a:p>
                  </a:txBody>
                  <a:tcPr>
                    <a:solidFill>
                      <a:srgbClr val="F5F5F5"/>
                    </a:solidFill>
                  </a:tcPr>
                </a:tc>
                <a:extLst>
                  <a:ext uri="{0D108BD9-81ED-4DB2-BD59-A6C34878D82A}">
                    <a16:rowId xmlns:a16="http://schemas.microsoft.com/office/drawing/2014/main" val="10006"/>
                  </a:ext>
                </a:extLst>
              </a:tr>
              <a:tr h="406400">
                <a:tc>
                  <a:txBody>
                    <a:bodyPr/>
                    <a:lstStyle/>
                    <a:p>
                      <a:r>
                        <a:rPr sz="1000">
                          <a:solidFill>
                            <a:srgbClr val="555555"/>
                          </a:solidFill>
                        </a:rPr>
                        <a:t>Fase atual do trabalho</a:t>
                      </a:r>
                    </a:p>
                  </a:txBody>
                  <a:tcPr>
                    <a:solidFill>
                      <a:srgbClr val="FFFFFF"/>
                    </a:solidFill>
                  </a:tcPr>
                </a:tc>
                <a:tc>
                  <a:txBody>
                    <a:bodyPr/>
                    <a:lstStyle/>
                    <a:p>
                      <a:r>
                        <a:rPr sz="1000">
                          <a:solidFill>
                            <a:srgbClr val="555555"/>
                          </a:solidFill>
                        </a:rPr>
                        <a:t>Bateria experimental encerrada — entrando em redação</a:t>
                      </a:r>
                    </a:p>
                  </a:txBody>
                  <a:tcPr>
                    <a:solidFill>
                      <a:srgbClr val="FFFFFF"/>
                    </a:solidFill>
                  </a:tcPr>
                </a:tc>
                <a:tc>
                  <a:txBody>
                    <a:bodyPr/>
                    <a:lstStyle/>
                    <a:p>
                      <a:r>
                        <a:rPr sz="1000" dirty="0" err="1">
                          <a:solidFill>
                            <a:srgbClr val="555555"/>
                          </a:solidFill>
                        </a:rPr>
                        <a:t>Redação</a:t>
                      </a:r>
                      <a:r>
                        <a:rPr sz="1000" dirty="0">
                          <a:solidFill>
                            <a:srgbClr val="555555"/>
                          </a:solidFill>
                        </a:rPr>
                        <a:t> </a:t>
                      </a:r>
                      <a:r>
                        <a:rPr sz="1000" dirty="0" err="1">
                          <a:solidFill>
                            <a:srgbClr val="555555"/>
                          </a:solidFill>
                        </a:rPr>
                        <a:t>prevista</a:t>
                      </a:r>
                      <a:r>
                        <a:rPr sz="1000" dirty="0">
                          <a:solidFill>
                            <a:srgbClr val="555555"/>
                          </a:solidFill>
                        </a:rPr>
                        <a:t> para </a:t>
                      </a:r>
                      <a:r>
                        <a:rPr sz="1000" dirty="0" err="1">
                          <a:solidFill>
                            <a:srgbClr val="555555"/>
                          </a:solidFill>
                        </a:rPr>
                        <a:t>junho</a:t>
                      </a:r>
                      <a:r>
                        <a:rPr sz="1000" dirty="0">
                          <a:solidFill>
                            <a:srgbClr val="555555"/>
                          </a:solidFill>
                        </a:rPr>
                        <a:t> de 2026</a:t>
                      </a:r>
                    </a:p>
                  </a:txBody>
                  <a:tcPr>
                    <a:solidFill>
                      <a:srgbClr val="FFFFFF"/>
                    </a:solidFill>
                  </a:tcPr>
                </a:tc>
                <a:extLst>
                  <a:ext uri="{0D108BD9-81ED-4DB2-BD59-A6C34878D82A}">
                    <a16:rowId xmlns:a16="http://schemas.microsoft.com/office/drawing/2014/main" val="10007"/>
                  </a:ext>
                </a:extLst>
              </a:tr>
              <a:tr h="406400">
                <a:tc>
                  <a:txBody>
                    <a:bodyPr/>
                    <a:lstStyle/>
                    <a:p>
                      <a:r>
                        <a:rPr sz="1000">
                          <a:solidFill>
                            <a:srgbClr val="555555"/>
                          </a:solidFill>
                        </a:rPr>
                        <a:t>Histórico de origem</a:t>
                      </a:r>
                    </a:p>
                  </a:txBody>
                  <a:tcPr>
                    <a:solidFill>
                      <a:srgbClr val="F5F5F5"/>
                    </a:solidFill>
                  </a:tcPr>
                </a:tc>
                <a:tc>
                  <a:txBody>
                    <a:bodyPr/>
                    <a:lstStyle/>
                    <a:p>
                      <a:r>
                        <a:rPr sz="1000">
                          <a:solidFill>
                            <a:srgbClr val="555555"/>
                          </a:solidFill>
                        </a:rPr>
                        <a:t>Evolução do MBA-USP em Inteligência Artificial e Big Data</a:t>
                      </a:r>
                    </a:p>
                  </a:txBody>
                  <a:tcPr>
                    <a:solidFill>
                      <a:srgbClr val="F5F5F5"/>
                    </a:solidFill>
                  </a:tcPr>
                </a:tc>
                <a:tc>
                  <a:txBody>
                    <a:bodyPr/>
                    <a:lstStyle/>
                    <a:p>
                      <a:r>
                        <a:rPr sz="1000" dirty="0" err="1">
                          <a:solidFill>
                            <a:srgbClr val="555555"/>
                          </a:solidFill>
                        </a:rPr>
                        <a:t>Capítulo</a:t>
                      </a:r>
                      <a:r>
                        <a:rPr sz="1000" dirty="0">
                          <a:solidFill>
                            <a:srgbClr val="555555"/>
                          </a:solidFill>
                        </a:rPr>
                        <a:t> 4 do MBA </a:t>
                      </a:r>
                      <a:r>
                        <a:rPr sz="1000" dirty="0" err="1">
                          <a:solidFill>
                            <a:srgbClr val="555555"/>
                          </a:solidFill>
                        </a:rPr>
                        <a:t>estabeleceu</a:t>
                      </a:r>
                      <a:r>
                        <a:rPr sz="1000" dirty="0">
                          <a:solidFill>
                            <a:srgbClr val="555555"/>
                          </a:solidFill>
                        </a:rPr>
                        <a:t> a baseline </a:t>
                      </a:r>
                      <a:r>
                        <a:rPr sz="1000" dirty="0" err="1">
                          <a:solidFill>
                            <a:srgbClr val="555555"/>
                          </a:solidFill>
                        </a:rPr>
                        <a:t>reaproveitada</a:t>
                      </a:r>
                      <a:endParaRPr sz="1000" dirty="0">
                        <a:solidFill>
                          <a:srgbClr val="555555"/>
                        </a:solidFill>
                      </a:endParaRPr>
                    </a:p>
                  </a:txBody>
                  <a:tcPr>
                    <a:solidFill>
                      <a:srgbClr val="F5F5F5"/>
                    </a:solidFill>
                  </a:tcPr>
                </a:tc>
                <a:extLst>
                  <a:ext uri="{0D108BD9-81ED-4DB2-BD59-A6C34878D82A}">
                    <a16:rowId xmlns:a16="http://schemas.microsoft.com/office/drawing/2014/main" val="10008"/>
                  </a:ext>
                </a:extLst>
              </a:tr>
            </a:tbl>
          </a:graphicData>
        </a:graphic>
      </p:graphicFrame>
      <p:sp>
        <p:nvSpPr>
          <p:cNvPr id="6" name="TextBox 5"/>
          <p:cNvSpPr txBox="1"/>
          <p:nvPr/>
        </p:nvSpPr>
        <p:spPr>
          <a:xfrm>
            <a:off x="457200" y="7498079"/>
            <a:ext cx="13716000" cy="640080"/>
          </a:xfrm>
          <a:prstGeom prst="rect">
            <a:avLst/>
          </a:prstGeom>
          <a:noFill/>
        </p:spPr>
        <p:txBody>
          <a:bodyPr wrap="none">
            <a:spAutoFit/>
          </a:bodyPr>
          <a:lstStyle/>
          <a:p>
            <a:pPr>
              <a:defRPr sz="1100" i="1">
                <a:solidFill>
                  <a:srgbClr val="4A6B9E"/>
                </a:solidFill>
              </a:defRPr>
            </a:pPr>
            <a:r>
              <a:t>O cronograma deixa folga significativa entre qualificação (agosto/2026) e defesa final (fevereiro/2028), permitindo eventual expansão da tese com técnicas modernas adicionais (ver Roadmap Caminho 1: Group DRO + DINOv2).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4630400" cy="822960"/>
          </a:xfrm>
          <a:prstGeom prst="rect">
            <a:avLst/>
          </a:prstGeom>
          <a:solidFill>
            <a:srgbClr val="1F3A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3716000" y="182880"/>
            <a:ext cx="914400" cy="457200"/>
          </a:xfrm>
          <a:prstGeom prst="rect">
            <a:avLst/>
          </a:prstGeom>
          <a:noFill/>
        </p:spPr>
        <p:txBody>
          <a:bodyPr wrap="none">
            <a:spAutoFit/>
          </a:bodyPr>
          <a:lstStyle/>
          <a:p>
            <a:pPr>
              <a:defRPr sz="1400">
                <a:solidFill>
                  <a:srgbClr val="CCD8EE"/>
                </a:solidFill>
              </a:defRPr>
            </a:pPr>
            <a:r>
              <a:t>3 / 19</a:t>
            </a:r>
          </a:p>
        </p:txBody>
      </p:sp>
      <p:sp>
        <p:nvSpPr>
          <p:cNvPr id="4" name="TextBox 3"/>
          <p:cNvSpPr txBox="1"/>
          <p:nvPr/>
        </p:nvSpPr>
        <p:spPr>
          <a:xfrm>
            <a:off x="457200" y="182880"/>
            <a:ext cx="12801600" cy="548640"/>
          </a:xfrm>
          <a:prstGeom prst="rect">
            <a:avLst/>
          </a:prstGeom>
          <a:noFill/>
        </p:spPr>
        <p:txBody>
          <a:bodyPr wrap="none">
            <a:spAutoFit/>
          </a:bodyPr>
          <a:lstStyle/>
          <a:p>
            <a:pPr>
              <a:defRPr sz="2400" b="1">
                <a:solidFill>
                  <a:srgbClr val="FFFFFF"/>
                </a:solidFill>
              </a:defRPr>
            </a:pPr>
            <a:r>
              <a:t>Decisões estratégicas do projeto (sumário)</a:t>
            </a:r>
          </a:p>
        </p:txBody>
      </p:sp>
      <p:graphicFrame>
        <p:nvGraphicFramePr>
          <p:cNvPr id="5" name="Table 4"/>
          <p:cNvGraphicFramePr>
            <a:graphicFrameLocks noGrp="1"/>
          </p:cNvGraphicFramePr>
          <p:nvPr>
            <p:extLst>
              <p:ext uri="{D42A27DB-BD31-4B8C-83A1-F6EECF244321}">
                <p14:modId xmlns:p14="http://schemas.microsoft.com/office/powerpoint/2010/main" val="3022904341"/>
              </p:ext>
            </p:extLst>
          </p:nvPr>
        </p:nvGraphicFramePr>
        <p:xfrm>
          <a:off x="457200" y="1097280"/>
          <a:ext cx="13716000" cy="365760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gridCol w="6858000">
                  <a:extLst>
                    <a:ext uri="{9D8B030D-6E8A-4147-A177-3AD203B41FA5}">
                      <a16:colId xmlns:a16="http://schemas.microsoft.com/office/drawing/2014/main" val="20002"/>
                    </a:ext>
                  </a:extLst>
                </a:gridCol>
              </a:tblGrid>
              <a:tr h="406400">
                <a:tc>
                  <a:txBody>
                    <a:bodyPr/>
                    <a:lstStyle/>
                    <a:p>
                      <a:r>
                        <a:rPr sz="1100" b="1">
                          <a:solidFill>
                            <a:srgbClr val="FFFFFF"/>
                          </a:solidFill>
                        </a:rPr>
                        <a:t>Dimensão</a:t>
                      </a:r>
                    </a:p>
                  </a:txBody>
                  <a:tcPr>
                    <a:solidFill>
                      <a:srgbClr val="1F3A68"/>
                    </a:solidFill>
                  </a:tcPr>
                </a:tc>
                <a:tc>
                  <a:txBody>
                    <a:bodyPr/>
                    <a:lstStyle/>
                    <a:p>
                      <a:r>
                        <a:rPr sz="1100" b="1">
                          <a:solidFill>
                            <a:srgbClr val="FFFFFF"/>
                          </a:solidFill>
                        </a:rPr>
                        <a:t>Decisão</a:t>
                      </a:r>
                    </a:p>
                  </a:txBody>
                  <a:tcPr>
                    <a:solidFill>
                      <a:srgbClr val="1F3A68"/>
                    </a:solidFill>
                  </a:tcPr>
                </a:tc>
                <a:tc>
                  <a:txBody>
                    <a:bodyPr/>
                    <a:lstStyle/>
                    <a:p>
                      <a:r>
                        <a:rPr sz="1100" b="1">
                          <a:solidFill>
                            <a:srgbClr val="FFFFFF"/>
                          </a:solidFill>
                        </a:rPr>
                        <a:t>Justificativa</a:t>
                      </a:r>
                    </a:p>
                  </a:txBody>
                  <a:tcPr>
                    <a:solidFill>
                      <a:srgbClr val="1F3A68"/>
                    </a:solidFill>
                  </a:tcPr>
                </a:tc>
                <a:extLst>
                  <a:ext uri="{0D108BD9-81ED-4DB2-BD59-A6C34878D82A}">
                    <a16:rowId xmlns:a16="http://schemas.microsoft.com/office/drawing/2014/main" val="10000"/>
                  </a:ext>
                </a:extLst>
              </a:tr>
              <a:tr h="406400">
                <a:tc>
                  <a:txBody>
                    <a:bodyPr/>
                    <a:lstStyle/>
                    <a:p>
                      <a:r>
                        <a:rPr sz="900">
                          <a:solidFill>
                            <a:srgbClr val="555555"/>
                          </a:solidFill>
                        </a:rPr>
                        <a:t>Conjunto de dados</a:t>
                      </a:r>
                    </a:p>
                  </a:txBody>
                  <a:tcPr>
                    <a:solidFill>
                      <a:srgbClr val="FFFFFF"/>
                    </a:solidFill>
                  </a:tcPr>
                </a:tc>
                <a:tc>
                  <a:txBody>
                    <a:bodyPr/>
                    <a:lstStyle/>
                    <a:p>
                      <a:r>
                        <a:rPr sz="900">
                          <a:solidFill>
                            <a:srgbClr val="555555"/>
                          </a:solidFill>
                        </a:rPr>
                        <a:t>Manter FairFace (97k imagens brutas / 72k após limpeza)</a:t>
                      </a:r>
                    </a:p>
                  </a:txBody>
                  <a:tcPr>
                    <a:solidFill>
                      <a:srgbClr val="FFFFFF"/>
                    </a:solidFill>
                  </a:tcPr>
                </a:tc>
                <a:tc>
                  <a:txBody>
                    <a:bodyPr/>
                    <a:lstStyle/>
                    <a:p>
                      <a:r>
                        <a:rPr sz="900">
                          <a:solidFill>
                            <a:srgbClr val="555555"/>
                          </a:solidFill>
                        </a:rPr>
                        <a:t>Único conjunto facial público explicitamente balanceado por raça (Kärkkäinen &amp; Joo, 2021); padrão consolidado na literatura de equidade em reconhecimento facial.</a:t>
                      </a:r>
                    </a:p>
                  </a:txBody>
                  <a:tcPr>
                    <a:solidFill>
                      <a:srgbClr val="FFFFFF"/>
                    </a:solidFill>
                  </a:tcPr>
                </a:tc>
                <a:extLst>
                  <a:ext uri="{0D108BD9-81ED-4DB2-BD59-A6C34878D82A}">
                    <a16:rowId xmlns:a16="http://schemas.microsoft.com/office/drawing/2014/main" val="10001"/>
                  </a:ext>
                </a:extLst>
              </a:tr>
              <a:tr h="406400">
                <a:tc>
                  <a:txBody>
                    <a:bodyPr/>
                    <a:lstStyle/>
                    <a:p>
                      <a:r>
                        <a:rPr sz="900">
                          <a:solidFill>
                            <a:srgbClr val="555555"/>
                          </a:solidFill>
                        </a:rPr>
                        <a:t>Reaproveitamento do MBA</a:t>
                      </a:r>
                    </a:p>
                  </a:txBody>
                  <a:tcPr>
                    <a:solidFill>
                      <a:srgbClr val="F5F5F5"/>
                    </a:solidFill>
                  </a:tcPr>
                </a:tc>
                <a:tc>
                  <a:txBody>
                    <a:bodyPr/>
                    <a:lstStyle/>
                    <a:p>
                      <a:r>
                        <a:rPr sz="900">
                          <a:solidFill>
                            <a:srgbClr val="555555"/>
                          </a:solidFill>
                        </a:rPr>
                        <a:t>Pipeline pré-existente + ganho de +1.35pp F1 (limpeza multi-face)</a:t>
                      </a:r>
                    </a:p>
                  </a:txBody>
                  <a:tcPr>
                    <a:solidFill>
                      <a:srgbClr val="F5F5F5"/>
                    </a:solidFill>
                  </a:tcPr>
                </a:tc>
                <a:tc>
                  <a:txBody>
                    <a:bodyPr/>
                    <a:lstStyle/>
                    <a:p>
                      <a:r>
                        <a:rPr sz="900">
                          <a:solidFill>
                            <a:srgbClr val="555555"/>
                          </a:solidFill>
                        </a:rPr>
                        <a:t>Reuso do investimento metodológico realizado no Capítulo 4 do MBA-USP, que estabeleceu uma linha de base reproduzível para comparações subsequentes.</a:t>
                      </a:r>
                    </a:p>
                  </a:txBody>
                  <a:tcPr>
                    <a:solidFill>
                      <a:srgbClr val="F5F5F5"/>
                    </a:solidFill>
                  </a:tcPr>
                </a:tc>
                <a:extLst>
                  <a:ext uri="{0D108BD9-81ED-4DB2-BD59-A6C34878D82A}">
                    <a16:rowId xmlns:a16="http://schemas.microsoft.com/office/drawing/2014/main" val="10002"/>
                  </a:ext>
                </a:extLst>
              </a:tr>
              <a:tr h="406400">
                <a:tc>
                  <a:txBody>
                    <a:bodyPr/>
                    <a:lstStyle/>
                    <a:p>
                      <a:r>
                        <a:rPr sz="900">
                          <a:solidFill>
                            <a:srgbClr val="555555"/>
                          </a:solidFill>
                        </a:rPr>
                        <a:t>Tarefa de classificação</a:t>
                      </a:r>
                    </a:p>
                  </a:txBody>
                  <a:tcPr>
                    <a:solidFill>
                      <a:srgbClr val="FFFFFF"/>
                    </a:solidFill>
                  </a:tcPr>
                </a:tc>
                <a:tc>
                  <a:txBody>
                    <a:bodyPr/>
                    <a:lstStyle/>
                    <a:p>
                      <a:r>
                        <a:rPr sz="900">
                          <a:solidFill>
                            <a:srgbClr val="555555"/>
                          </a:solidFill>
                        </a:rPr>
                        <a:t>Raça em 7 categorias, cenário no-domain (treino e teste no FairFace)</a:t>
                      </a:r>
                    </a:p>
                  </a:txBody>
                  <a:tcPr>
                    <a:solidFill>
                      <a:srgbClr val="FFFFFF"/>
                    </a:solidFill>
                  </a:tcPr>
                </a:tc>
                <a:tc>
                  <a:txBody>
                    <a:bodyPr/>
                    <a:lstStyle/>
                    <a:p>
                      <a:r>
                        <a:rPr sz="900">
                          <a:solidFill>
                            <a:srgbClr val="555555"/>
                          </a:solidFill>
                        </a:rPr>
                        <a:t>Existe uma publicação contemporânea (Hassanpour et al., 2024) reportando essa tarefa, porém sem ecossistema saturado de baselines competindo entre si — situação favorável a uma contribuição em atribuição causal entre fatores algorítmicos.</a:t>
                      </a:r>
                    </a:p>
                  </a:txBody>
                  <a:tcPr>
                    <a:solidFill>
                      <a:srgbClr val="FFFFFF"/>
                    </a:solidFill>
                  </a:tcPr>
                </a:tc>
                <a:extLst>
                  <a:ext uri="{0D108BD9-81ED-4DB2-BD59-A6C34878D82A}">
                    <a16:rowId xmlns:a16="http://schemas.microsoft.com/office/drawing/2014/main" val="10003"/>
                  </a:ext>
                </a:extLst>
              </a:tr>
              <a:tr h="406400">
                <a:tc>
                  <a:txBody>
                    <a:bodyPr/>
                    <a:lstStyle/>
                    <a:p>
                      <a:r>
                        <a:rPr sz="900">
                          <a:solidFill>
                            <a:srgbClr val="555555"/>
                          </a:solidFill>
                        </a:rPr>
                        <a:t>Arquitetura padrão</a:t>
                      </a:r>
                    </a:p>
                  </a:txBody>
                  <a:tcPr>
                    <a:solidFill>
                      <a:srgbClr val="F5F5F5"/>
                    </a:solidFill>
                  </a:tcPr>
                </a:tc>
                <a:tc>
                  <a:txBody>
                    <a:bodyPr/>
                    <a:lstStyle/>
                    <a:p>
                      <a:r>
                        <a:rPr sz="900">
                          <a:solidFill>
                            <a:srgbClr val="555555"/>
                          </a:solidFill>
                        </a:rPr>
                        <a:t>ResNet-50 pré-treinada em ImageNet</a:t>
                      </a:r>
                    </a:p>
                  </a:txBody>
                  <a:tcPr>
                    <a:solidFill>
                      <a:srgbClr val="F5F5F5"/>
                    </a:solidFill>
                  </a:tcPr>
                </a:tc>
                <a:tc>
                  <a:txBody>
                    <a:bodyPr/>
                    <a:lstStyle/>
                    <a:p>
                      <a:r>
                        <a:rPr sz="900">
                          <a:solidFill>
                            <a:srgbClr val="555555"/>
                          </a:solidFill>
                        </a:rPr>
                        <a:t>Equivalente arquitetural ao baseline de Hassanpour (ResNet-34): rede convolucional pura discriminativa, aproximadamente 25 milhões de parâmetros, pré-treinamento em ImageNet-1k.</a:t>
                      </a:r>
                    </a:p>
                  </a:txBody>
                  <a:tcPr>
                    <a:solidFill>
                      <a:srgbClr val="F5F5F5"/>
                    </a:solidFill>
                  </a:tcPr>
                </a:tc>
                <a:extLst>
                  <a:ext uri="{0D108BD9-81ED-4DB2-BD59-A6C34878D82A}">
                    <a16:rowId xmlns:a16="http://schemas.microsoft.com/office/drawing/2014/main" val="10004"/>
                  </a:ext>
                </a:extLst>
              </a:tr>
              <a:tr h="406400">
                <a:tc>
                  <a:txBody>
                    <a:bodyPr/>
                    <a:lstStyle/>
                    <a:p>
                      <a:r>
                        <a:rPr sz="900">
                          <a:solidFill>
                            <a:srgbClr val="555555"/>
                          </a:solidFill>
                        </a:rPr>
                        <a:t>Recipe de treinamento</a:t>
                      </a:r>
                    </a:p>
                  </a:txBody>
                  <a:tcPr>
                    <a:solidFill>
                      <a:srgbClr val="FFFFFF"/>
                    </a:solidFill>
                  </a:tcPr>
                </a:tc>
                <a:tc>
                  <a:txBody>
                    <a:bodyPr/>
                    <a:lstStyle/>
                    <a:p>
                      <a:r>
                        <a:rPr sz="900">
                          <a:solidFill>
                            <a:srgbClr val="555555"/>
                          </a:solidFill>
                        </a:rPr>
                        <a:t>AdamW lr=1e-3, 224×224, 25 epochs, escalonador cosseno com restart</a:t>
                      </a:r>
                    </a:p>
                  </a:txBody>
                  <a:tcPr>
                    <a:solidFill>
                      <a:srgbClr val="FFFFFF"/>
                    </a:solidFill>
                  </a:tcPr>
                </a:tc>
                <a:tc>
                  <a:txBody>
                    <a:bodyPr/>
                    <a:lstStyle/>
                    <a:p>
                      <a:r>
                        <a:rPr sz="900">
                          <a:solidFill>
                            <a:srgbClr val="555555"/>
                          </a:solidFill>
                        </a:rPr>
                        <a:t>Modernização incremental da recipe original do FairFace (Adam lr=1e-4 com ResNet-34). Early stopping por paciência limita sobreajuste.</a:t>
                      </a:r>
                    </a:p>
                  </a:txBody>
                  <a:tcPr>
                    <a:solidFill>
                      <a:srgbClr val="FFFFFF"/>
                    </a:solidFill>
                  </a:tcPr>
                </a:tc>
                <a:extLst>
                  <a:ext uri="{0D108BD9-81ED-4DB2-BD59-A6C34878D82A}">
                    <a16:rowId xmlns:a16="http://schemas.microsoft.com/office/drawing/2014/main" val="10005"/>
                  </a:ext>
                </a:extLst>
              </a:tr>
              <a:tr h="406400">
                <a:tc>
                  <a:txBody>
                    <a:bodyPr/>
                    <a:lstStyle/>
                    <a:p>
                      <a:r>
                        <a:rPr sz="900">
                          <a:solidFill>
                            <a:srgbClr val="555555"/>
                          </a:solidFill>
                        </a:rPr>
                        <a:t>Protocolo experimental casado</a:t>
                      </a:r>
                    </a:p>
                  </a:txBody>
                  <a:tcPr>
                    <a:solidFill>
                      <a:srgbClr val="F5F5F5"/>
                    </a:solidFill>
                  </a:tcPr>
                </a:tc>
                <a:tc>
                  <a:txBody>
                    <a:bodyPr/>
                    <a:lstStyle/>
                    <a:p>
                      <a:r>
                        <a:rPr sz="900">
                          <a:solidFill>
                            <a:srgbClr val="555555"/>
                          </a:solidFill>
                        </a:rPr>
                        <a:t>Três seeds aleatórias (42, 1 e 2) utilizadas em todos os experimentos</a:t>
                      </a:r>
                    </a:p>
                  </a:txBody>
                  <a:tcPr>
                    <a:solidFill>
                      <a:srgbClr val="F5F5F5"/>
                    </a:solidFill>
                  </a:tcPr>
                </a:tc>
                <a:tc>
                  <a:txBody>
                    <a:bodyPr/>
                    <a:lstStyle/>
                    <a:p>
                      <a:r>
                        <a:rPr lang="pt-BR" sz="900" dirty="0">
                          <a:solidFill>
                            <a:srgbClr val="555555"/>
                          </a:solidFill>
                        </a:rPr>
                        <a:t>A</a:t>
                      </a:r>
                      <a:r>
                        <a:rPr sz="900" dirty="0">
                          <a:solidFill>
                            <a:srgbClr val="555555"/>
                          </a:solidFill>
                        </a:rPr>
                        <a:t>s </a:t>
                      </a:r>
                      <a:r>
                        <a:rPr sz="900" dirty="0" err="1">
                          <a:solidFill>
                            <a:srgbClr val="555555"/>
                          </a:solidFill>
                        </a:rPr>
                        <a:t>mesmas</a:t>
                      </a:r>
                      <a:r>
                        <a:rPr sz="900" dirty="0">
                          <a:solidFill>
                            <a:srgbClr val="555555"/>
                          </a:solidFill>
                        </a:rPr>
                        <a:t> seeds </a:t>
                      </a:r>
                      <a:r>
                        <a:rPr sz="900" dirty="0" err="1">
                          <a:solidFill>
                            <a:srgbClr val="555555"/>
                          </a:solidFill>
                        </a:rPr>
                        <a:t>são</a:t>
                      </a:r>
                      <a:r>
                        <a:rPr sz="900" dirty="0">
                          <a:solidFill>
                            <a:srgbClr val="555555"/>
                          </a:solidFill>
                        </a:rPr>
                        <a:t> </a:t>
                      </a:r>
                      <a:r>
                        <a:rPr sz="900" dirty="0" err="1">
                          <a:solidFill>
                            <a:srgbClr val="555555"/>
                          </a:solidFill>
                        </a:rPr>
                        <a:t>reaplicadas</a:t>
                      </a:r>
                      <a:r>
                        <a:rPr sz="900" dirty="0">
                          <a:solidFill>
                            <a:srgbClr val="555555"/>
                          </a:solidFill>
                        </a:rPr>
                        <a:t> </a:t>
                      </a:r>
                      <a:r>
                        <a:rPr sz="900" dirty="0" err="1">
                          <a:solidFill>
                            <a:srgbClr val="555555"/>
                          </a:solidFill>
                        </a:rPr>
                        <a:t>em</a:t>
                      </a:r>
                      <a:r>
                        <a:rPr sz="900" dirty="0">
                          <a:solidFill>
                            <a:srgbClr val="555555"/>
                          </a:solidFill>
                        </a:rPr>
                        <a:t> </a:t>
                      </a:r>
                      <a:r>
                        <a:rPr sz="900" dirty="0" err="1">
                          <a:solidFill>
                            <a:srgbClr val="555555"/>
                          </a:solidFill>
                        </a:rPr>
                        <a:t>cada</a:t>
                      </a:r>
                      <a:r>
                        <a:rPr sz="900" dirty="0">
                          <a:solidFill>
                            <a:srgbClr val="555555"/>
                          </a:solidFill>
                        </a:rPr>
                        <a:t> </a:t>
                      </a:r>
                      <a:r>
                        <a:rPr sz="900" dirty="0" err="1">
                          <a:solidFill>
                            <a:srgbClr val="555555"/>
                          </a:solidFill>
                        </a:rPr>
                        <a:t>experimento</a:t>
                      </a:r>
                      <a:r>
                        <a:rPr sz="900" dirty="0">
                          <a:solidFill>
                            <a:srgbClr val="555555"/>
                          </a:solidFill>
                        </a:rPr>
                        <a:t>. </a:t>
                      </a:r>
                      <a:r>
                        <a:rPr sz="900" dirty="0" err="1">
                          <a:solidFill>
                            <a:srgbClr val="555555"/>
                          </a:solidFill>
                        </a:rPr>
                        <a:t>Isso</a:t>
                      </a:r>
                      <a:r>
                        <a:rPr sz="900" dirty="0">
                          <a:solidFill>
                            <a:srgbClr val="555555"/>
                          </a:solidFill>
                        </a:rPr>
                        <a:t> </a:t>
                      </a:r>
                      <a:r>
                        <a:rPr sz="900" dirty="0" err="1">
                          <a:solidFill>
                            <a:srgbClr val="555555"/>
                          </a:solidFill>
                        </a:rPr>
                        <a:t>elimina</a:t>
                      </a:r>
                      <a:r>
                        <a:rPr sz="900" dirty="0">
                          <a:solidFill>
                            <a:srgbClr val="555555"/>
                          </a:solidFill>
                        </a:rPr>
                        <a:t> a </a:t>
                      </a:r>
                      <a:r>
                        <a:rPr sz="900" dirty="0" err="1">
                          <a:solidFill>
                            <a:srgbClr val="555555"/>
                          </a:solidFill>
                        </a:rPr>
                        <a:t>inicialização</a:t>
                      </a:r>
                      <a:r>
                        <a:rPr sz="900" dirty="0">
                          <a:solidFill>
                            <a:srgbClr val="555555"/>
                          </a:solidFill>
                        </a:rPr>
                        <a:t> </a:t>
                      </a:r>
                      <a:r>
                        <a:rPr sz="900" dirty="0" err="1">
                          <a:solidFill>
                            <a:srgbClr val="555555"/>
                          </a:solidFill>
                        </a:rPr>
                        <a:t>como</a:t>
                      </a:r>
                      <a:r>
                        <a:rPr sz="900" dirty="0">
                          <a:solidFill>
                            <a:srgbClr val="555555"/>
                          </a:solidFill>
                        </a:rPr>
                        <a:t> </a:t>
                      </a:r>
                      <a:r>
                        <a:rPr sz="900" dirty="0" err="1">
                          <a:solidFill>
                            <a:srgbClr val="555555"/>
                          </a:solidFill>
                        </a:rPr>
                        <a:t>variável</a:t>
                      </a:r>
                      <a:r>
                        <a:rPr sz="900" dirty="0">
                          <a:solidFill>
                            <a:srgbClr val="555555"/>
                          </a:solidFill>
                        </a:rPr>
                        <a:t> </a:t>
                      </a:r>
                      <a:r>
                        <a:rPr sz="900" dirty="0" err="1">
                          <a:solidFill>
                            <a:srgbClr val="555555"/>
                          </a:solidFill>
                        </a:rPr>
                        <a:t>confundidora</a:t>
                      </a:r>
                      <a:r>
                        <a:rPr sz="900" dirty="0">
                          <a:solidFill>
                            <a:srgbClr val="555555"/>
                          </a:solidFill>
                        </a:rPr>
                        <a:t> e </a:t>
                      </a:r>
                      <a:r>
                        <a:rPr sz="900" dirty="0" err="1">
                          <a:solidFill>
                            <a:srgbClr val="555555"/>
                          </a:solidFill>
                        </a:rPr>
                        <a:t>permite</a:t>
                      </a:r>
                      <a:r>
                        <a:rPr sz="900" dirty="0">
                          <a:solidFill>
                            <a:srgbClr val="555555"/>
                          </a:solidFill>
                        </a:rPr>
                        <a:t> </a:t>
                      </a:r>
                      <a:r>
                        <a:rPr sz="900" dirty="0" err="1">
                          <a:solidFill>
                            <a:srgbClr val="555555"/>
                          </a:solidFill>
                        </a:rPr>
                        <a:t>comparação</a:t>
                      </a:r>
                      <a:r>
                        <a:rPr sz="900" dirty="0">
                          <a:solidFill>
                            <a:srgbClr val="555555"/>
                          </a:solidFill>
                        </a:rPr>
                        <a:t> </a:t>
                      </a:r>
                      <a:r>
                        <a:rPr sz="900" dirty="0" err="1">
                          <a:solidFill>
                            <a:srgbClr val="555555"/>
                          </a:solidFill>
                        </a:rPr>
                        <a:t>direta</a:t>
                      </a:r>
                      <a:r>
                        <a:rPr sz="900" dirty="0">
                          <a:solidFill>
                            <a:srgbClr val="555555"/>
                          </a:solidFill>
                        </a:rPr>
                        <a:t> via </a:t>
                      </a:r>
                      <a:r>
                        <a:rPr sz="900" dirty="0" err="1">
                          <a:solidFill>
                            <a:srgbClr val="555555"/>
                          </a:solidFill>
                        </a:rPr>
                        <a:t>regra</a:t>
                      </a:r>
                      <a:r>
                        <a:rPr sz="900" dirty="0">
                          <a:solidFill>
                            <a:srgbClr val="555555"/>
                          </a:solidFill>
                        </a:rPr>
                        <a:t> do 1-σ entre </a:t>
                      </a:r>
                      <a:r>
                        <a:rPr sz="900" dirty="0" err="1">
                          <a:solidFill>
                            <a:srgbClr val="555555"/>
                          </a:solidFill>
                        </a:rPr>
                        <a:t>médias</a:t>
                      </a:r>
                      <a:r>
                        <a:rPr sz="900" dirty="0">
                          <a:solidFill>
                            <a:srgbClr val="555555"/>
                          </a:solidFill>
                        </a:rPr>
                        <a:t> </a:t>
                      </a:r>
                      <a:r>
                        <a:rPr sz="900" dirty="0" err="1">
                          <a:solidFill>
                            <a:srgbClr val="555555"/>
                          </a:solidFill>
                        </a:rPr>
                        <a:t>amostrais</a:t>
                      </a:r>
                      <a:r>
                        <a:rPr sz="900" dirty="0">
                          <a:solidFill>
                            <a:srgbClr val="555555"/>
                          </a:solidFill>
                        </a:rPr>
                        <a:t> (n=3).</a:t>
                      </a:r>
                    </a:p>
                  </a:txBody>
                  <a:tcPr>
                    <a:solidFill>
                      <a:srgbClr val="F5F5F5"/>
                    </a:solidFill>
                  </a:tcPr>
                </a:tc>
                <a:extLst>
                  <a:ext uri="{0D108BD9-81ED-4DB2-BD59-A6C34878D82A}">
                    <a16:rowId xmlns:a16="http://schemas.microsoft.com/office/drawing/2014/main" val="10006"/>
                  </a:ext>
                </a:extLst>
              </a:tr>
              <a:tr h="406400">
                <a:tc>
                  <a:txBody>
                    <a:bodyPr/>
                    <a:lstStyle/>
                    <a:p>
                      <a:r>
                        <a:rPr sz="900">
                          <a:solidFill>
                            <a:srgbClr val="555555"/>
                          </a:solidFill>
                        </a:rPr>
                        <a:t>Critério de seleção de modelo</a:t>
                      </a:r>
                    </a:p>
                  </a:txBody>
                  <a:tcPr>
                    <a:solidFill>
                      <a:srgbClr val="FFFFFF"/>
                    </a:solidFill>
                  </a:tcPr>
                </a:tc>
                <a:tc>
                  <a:txBody>
                    <a:bodyPr/>
                    <a:lstStyle/>
                    <a:p>
                      <a:r>
                        <a:rPr sz="900" dirty="0">
                          <a:solidFill>
                            <a:srgbClr val="555555"/>
                          </a:solidFill>
                        </a:rPr>
                        <a:t>max(val_f1_macro) </a:t>
                      </a:r>
                      <a:r>
                        <a:rPr sz="900" dirty="0" err="1">
                          <a:solidFill>
                            <a:srgbClr val="555555"/>
                          </a:solidFill>
                        </a:rPr>
                        <a:t>em</a:t>
                      </a:r>
                      <a:r>
                        <a:rPr sz="900" dirty="0">
                          <a:solidFill>
                            <a:srgbClr val="555555"/>
                          </a:solidFill>
                        </a:rPr>
                        <a:t> </a:t>
                      </a:r>
                      <a:r>
                        <a:rPr sz="900" dirty="0" err="1">
                          <a:solidFill>
                            <a:srgbClr val="555555"/>
                          </a:solidFill>
                        </a:rPr>
                        <a:t>vez</a:t>
                      </a:r>
                      <a:r>
                        <a:rPr sz="900" dirty="0">
                          <a:solidFill>
                            <a:srgbClr val="555555"/>
                          </a:solidFill>
                        </a:rPr>
                        <a:t> do </a:t>
                      </a:r>
                      <a:r>
                        <a:rPr sz="900" dirty="0" err="1">
                          <a:solidFill>
                            <a:srgbClr val="555555"/>
                          </a:solidFill>
                        </a:rPr>
                        <a:t>padrão</a:t>
                      </a:r>
                      <a:r>
                        <a:rPr sz="900" dirty="0">
                          <a:solidFill>
                            <a:srgbClr val="555555"/>
                          </a:solidFill>
                        </a:rPr>
                        <a:t> min(</a:t>
                      </a:r>
                      <a:r>
                        <a:rPr sz="900" dirty="0" err="1">
                          <a:solidFill>
                            <a:srgbClr val="555555"/>
                          </a:solidFill>
                        </a:rPr>
                        <a:t>val_loss</a:t>
                      </a:r>
                      <a:r>
                        <a:rPr sz="900" dirty="0">
                          <a:solidFill>
                            <a:srgbClr val="555555"/>
                          </a:solidFill>
                        </a:rPr>
                        <a:t>)</a:t>
                      </a:r>
                    </a:p>
                  </a:txBody>
                  <a:tcPr>
                    <a:solidFill>
                      <a:srgbClr val="FFFFFF"/>
                    </a:solidFill>
                  </a:tcPr>
                </a:tc>
                <a:tc>
                  <a:txBody>
                    <a:bodyPr/>
                    <a:lstStyle/>
                    <a:p>
                      <a:r>
                        <a:rPr sz="900">
                          <a:solidFill>
                            <a:srgbClr val="555555"/>
                          </a:solidFill>
                        </a:rPr>
                        <a:t>Frameworks padrão (PyTorch Lightning, Keras) adotam min(val_loss). Constatou-se empiricamente que, para heads com margem angular (ArcFace, AdaFace, MagFace), val_loss apresenta correlação inversa com F1 macro — Linha B da dissertação.</a:t>
                      </a:r>
                    </a:p>
                  </a:txBody>
                  <a:tcPr>
                    <a:solidFill>
                      <a:srgbClr val="FFFFFF"/>
                    </a:solidFill>
                  </a:tcPr>
                </a:tc>
                <a:extLst>
                  <a:ext uri="{0D108BD9-81ED-4DB2-BD59-A6C34878D82A}">
                    <a16:rowId xmlns:a16="http://schemas.microsoft.com/office/drawing/2014/main" val="10007"/>
                  </a:ext>
                </a:extLst>
              </a:tr>
              <a:tr h="406400">
                <a:tc>
                  <a:txBody>
                    <a:bodyPr/>
                    <a:lstStyle/>
                    <a:p>
                      <a:r>
                        <a:rPr sz="900">
                          <a:solidFill>
                            <a:srgbClr val="555555"/>
                          </a:solidFill>
                        </a:rPr>
                        <a:t>Posicionamento estratégico</a:t>
                      </a:r>
                    </a:p>
                  </a:txBody>
                  <a:tcPr>
                    <a:solidFill>
                      <a:srgbClr val="F5F5F5"/>
                    </a:solidFill>
                  </a:tcPr>
                </a:tc>
                <a:tc>
                  <a:txBody>
                    <a:bodyPr/>
                    <a:lstStyle/>
                    <a:p>
                      <a:r>
                        <a:rPr sz="900">
                          <a:solidFill>
                            <a:srgbClr val="555555"/>
                          </a:solidFill>
                        </a:rPr>
                        <a:t>Contribuir em atribuição causal, não competir por SOTA absoluta</a:t>
                      </a:r>
                    </a:p>
                  </a:txBody>
                  <a:tcPr>
                    <a:solidFill>
                      <a:srgbClr val="F5F5F5"/>
                    </a:solidFill>
                  </a:tcPr>
                </a:tc>
                <a:tc>
                  <a:txBody>
                    <a:bodyPr/>
                    <a:lstStyle/>
                    <a:p>
                      <a:r>
                        <a:rPr sz="900" dirty="0">
                          <a:solidFill>
                            <a:srgbClr val="555555"/>
                          </a:solidFill>
                        </a:rPr>
                        <a:t>Hassanpour (2024) </a:t>
                      </a:r>
                      <a:r>
                        <a:rPr sz="900" dirty="0" err="1">
                          <a:solidFill>
                            <a:srgbClr val="555555"/>
                          </a:solidFill>
                        </a:rPr>
                        <a:t>já</a:t>
                      </a:r>
                      <a:r>
                        <a:rPr sz="900" dirty="0">
                          <a:solidFill>
                            <a:srgbClr val="555555"/>
                          </a:solidFill>
                        </a:rPr>
                        <a:t> </a:t>
                      </a:r>
                      <a:r>
                        <a:rPr sz="900" dirty="0" err="1">
                          <a:solidFill>
                            <a:srgbClr val="555555"/>
                          </a:solidFill>
                        </a:rPr>
                        <a:t>estabelece</a:t>
                      </a:r>
                      <a:r>
                        <a:rPr sz="900" dirty="0">
                          <a:solidFill>
                            <a:srgbClr val="555555"/>
                          </a:solidFill>
                        </a:rPr>
                        <a:t> </a:t>
                      </a:r>
                      <a:r>
                        <a:rPr sz="900" dirty="0" err="1">
                          <a:solidFill>
                            <a:srgbClr val="555555"/>
                          </a:solidFill>
                        </a:rPr>
                        <a:t>referência</a:t>
                      </a:r>
                      <a:r>
                        <a:rPr sz="900" dirty="0">
                          <a:solidFill>
                            <a:srgbClr val="555555"/>
                          </a:solidFill>
                        </a:rPr>
                        <a:t> </a:t>
                      </a:r>
                      <a:r>
                        <a:rPr sz="900" dirty="0" err="1">
                          <a:solidFill>
                            <a:srgbClr val="555555"/>
                          </a:solidFill>
                        </a:rPr>
                        <a:t>absoluta</a:t>
                      </a:r>
                      <a:r>
                        <a:rPr sz="900" dirty="0">
                          <a:solidFill>
                            <a:srgbClr val="555555"/>
                          </a:solidFill>
                        </a:rPr>
                        <a:t>. Nossa </a:t>
                      </a:r>
                      <a:r>
                        <a:rPr sz="900" dirty="0" err="1">
                          <a:solidFill>
                            <a:srgbClr val="555555"/>
                          </a:solidFill>
                        </a:rPr>
                        <a:t>contribuição</a:t>
                      </a:r>
                      <a:r>
                        <a:rPr sz="900" dirty="0">
                          <a:solidFill>
                            <a:srgbClr val="555555"/>
                          </a:solidFill>
                        </a:rPr>
                        <a:t>: </a:t>
                      </a:r>
                      <a:r>
                        <a:rPr sz="900" dirty="0" err="1">
                          <a:solidFill>
                            <a:srgbClr val="555555"/>
                          </a:solidFill>
                        </a:rPr>
                        <a:t>atribuição</a:t>
                      </a:r>
                      <a:r>
                        <a:rPr sz="900" dirty="0">
                          <a:solidFill>
                            <a:srgbClr val="555555"/>
                          </a:solidFill>
                        </a:rPr>
                        <a:t> entre </a:t>
                      </a:r>
                      <a:r>
                        <a:rPr sz="900" dirty="0" err="1">
                          <a:solidFill>
                            <a:srgbClr val="555555"/>
                          </a:solidFill>
                        </a:rPr>
                        <a:t>cinco</a:t>
                      </a:r>
                      <a:r>
                        <a:rPr sz="900" dirty="0">
                          <a:solidFill>
                            <a:srgbClr val="555555"/>
                          </a:solidFill>
                        </a:rPr>
                        <a:t> </a:t>
                      </a:r>
                      <a:r>
                        <a:rPr sz="900" dirty="0" err="1">
                          <a:solidFill>
                            <a:srgbClr val="555555"/>
                          </a:solidFill>
                        </a:rPr>
                        <a:t>fatores</a:t>
                      </a:r>
                      <a:r>
                        <a:rPr sz="900" dirty="0">
                          <a:solidFill>
                            <a:srgbClr val="555555"/>
                          </a:solidFill>
                        </a:rPr>
                        <a:t> </a:t>
                      </a:r>
                      <a:r>
                        <a:rPr sz="900" dirty="0" err="1">
                          <a:solidFill>
                            <a:srgbClr val="555555"/>
                          </a:solidFill>
                        </a:rPr>
                        <a:t>algorítmicos</a:t>
                      </a:r>
                      <a:r>
                        <a:rPr sz="900" dirty="0">
                          <a:solidFill>
                            <a:srgbClr val="555555"/>
                          </a:solidFill>
                        </a:rPr>
                        <a:t> sob </a:t>
                      </a:r>
                      <a:r>
                        <a:rPr sz="900" dirty="0" err="1">
                          <a:solidFill>
                            <a:srgbClr val="555555"/>
                          </a:solidFill>
                        </a:rPr>
                        <a:t>protocolo</a:t>
                      </a:r>
                      <a:r>
                        <a:rPr sz="900" dirty="0">
                          <a:solidFill>
                            <a:srgbClr val="555555"/>
                          </a:solidFill>
                        </a:rPr>
                        <a:t> </a:t>
                      </a:r>
                      <a:r>
                        <a:rPr sz="900" dirty="0" err="1">
                          <a:solidFill>
                            <a:srgbClr val="555555"/>
                          </a:solidFill>
                        </a:rPr>
                        <a:t>casado</a:t>
                      </a:r>
                      <a:r>
                        <a:rPr sz="900" dirty="0">
                          <a:solidFill>
                            <a:srgbClr val="555555"/>
                          </a:solidFill>
                        </a:rPr>
                        <a:t> + </a:t>
                      </a:r>
                      <a:r>
                        <a:rPr sz="900" dirty="0" err="1">
                          <a:solidFill>
                            <a:srgbClr val="555555"/>
                          </a:solidFill>
                        </a:rPr>
                        <a:t>critério</a:t>
                      </a:r>
                      <a:r>
                        <a:rPr sz="900" dirty="0">
                          <a:solidFill>
                            <a:srgbClr val="555555"/>
                          </a:solidFill>
                        </a:rPr>
                        <a:t> Pareto-aware (</a:t>
                      </a:r>
                      <a:r>
                        <a:rPr sz="900" dirty="0" err="1">
                          <a:solidFill>
                            <a:srgbClr val="555555"/>
                          </a:solidFill>
                        </a:rPr>
                        <a:t>replicável</a:t>
                      </a:r>
                      <a:r>
                        <a:rPr sz="900" dirty="0">
                          <a:solidFill>
                            <a:srgbClr val="555555"/>
                          </a:solidFill>
                        </a:rPr>
                        <a:t> </a:t>
                      </a:r>
                      <a:r>
                        <a:rPr sz="900" dirty="0" err="1">
                          <a:solidFill>
                            <a:srgbClr val="555555"/>
                          </a:solidFill>
                        </a:rPr>
                        <a:t>em</a:t>
                      </a:r>
                      <a:r>
                        <a:rPr sz="900" dirty="0">
                          <a:solidFill>
                            <a:srgbClr val="555555"/>
                          </a:solidFill>
                        </a:rPr>
                        <a:t> outros pipelines).</a:t>
                      </a:r>
                    </a:p>
                  </a:txBody>
                  <a:tcPr>
                    <a:solidFill>
                      <a:srgbClr val="F5F5F5"/>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4630400" cy="822960"/>
          </a:xfrm>
          <a:prstGeom prst="rect">
            <a:avLst/>
          </a:prstGeom>
          <a:solidFill>
            <a:srgbClr val="1F3A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3716000" y="182880"/>
            <a:ext cx="914400" cy="457200"/>
          </a:xfrm>
          <a:prstGeom prst="rect">
            <a:avLst/>
          </a:prstGeom>
          <a:noFill/>
        </p:spPr>
        <p:txBody>
          <a:bodyPr wrap="none">
            <a:spAutoFit/>
          </a:bodyPr>
          <a:lstStyle/>
          <a:p>
            <a:pPr>
              <a:defRPr sz="1400">
                <a:solidFill>
                  <a:srgbClr val="CCD8EE"/>
                </a:solidFill>
              </a:defRPr>
            </a:pPr>
            <a:r>
              <a:t>4 / 19</a:t>
            </a:r>
          </a:p>
        </p:txBody>
      </p:sp>
      <p:sp>
        <p:nvSpPr>
          <p:cNvPr id="4" name="TextBox 3"/>
          <p:cNvSpPr txBox="1"/>
          <p:nvPr/>
        </p:nvSpPr>
        <p:spPr>
          <a:xfrm>
            <a:off x="457200" y="182880"/>
            <a:ext cx="12801600" cy="548640"/>
          </a:xfrm>
          <a:prstGeom prst="rect">
            <a:avLst/>
          </a:prstGeom>
          <a:noFill/>
        </p:spPr>
        <p:txBody>
          <a:bodyPr wrap="none">
            <a:spAutoFit/>
          </a:bodyPr>
          <a:lstStyle/>
          <a:p>
            <a:pPr>
              <a:defRPr sz="2400" b="1">
                <a:solidFill>
                  <a:srgbClr val="FFFFFF"/>
                </a:solidFill>
              </a:defRPr>
            </a:pPr>
            <a:r>
              <a:t>Metodologia adotada (práticas científicas aplicadas)</a:t>
            </a:r>
          </a:p>
        </p:txBody>
      </p:sp>
      <p:sp>
        <p:nvSpPr>
          <p:cNvPr id="5" name="TextBox 4"/>
          <p:cNvSpPr txBox="1"/>
          <p:nvPr/>
        </p:nvSpPr>
        <p:spPr>
          <a:xfrm>
            <a:off x="640080" y="1097280"/>
            <a:ext cx="13716000" cy="6858000"/>
          </a:xfrm>
          <a:prstGeom prst="rect">
            <a:avLst/>
          </a:prstGeom>
          <a:noFill/>
        </p:spPr>
        <p:txBody>
          <a:bodyPr wrap="square">
            <a:spAutoFit/>
          </a:bodyPr>
          <a:lstStyle/>
          <a:p>
            <a:pPr>
              <a:spcAft>
                <a:spcPts val="500"/>
              </a:spcAft>
              <a:defRPr sz="1500" b="1">
                <a:solidFill>
                  <a:srgbClr val="1F3A68"/>
                </a:solidFill>
              </a:defRPr>
            </a:pPr>
            <a:r>
              <a:t>Rigor experimental</a:t>
            </a:r>
          </a:p>
          <a:p>
            <a:pPr lvl="1">
              <a:spcAft>
                <a:spcPts val="500"/>
              </a:spcAft>
              <a:defRPr sz="1300" b="0">
                <a:solidFill>
                  <a:srgbClr val="555555"/>
                </a:solidFill>
              </a:defRPr>
            </a:pPr>
            <a:r>
              <a:t>Três seeds aleatórias casadas (42, 1, 2): todos os experimentos compartilham as mesmas seeds, eliminando a inicialização como variável confundidora.</a:t>
            </a:r>
          </a:p>
          <a:p>
            <a:pPr lvl="1">
              <a:spcAft>
                <a:spcPts val="500"/>
              </a:spcAft>
              <a:defRPr sz="1300" b="0">
                <a:solidFill>
                  <a:srgbClr val="555555"/>
                </a:solidFill>
              </a:defRPr>
            </a:pPr>
            <a:r>
              <a:t>Reporte de média (μ) ± desvio-padrão (σ) entre as três seeds, quantificando a incerteza da estimativa.</a:t>
            </a:r>
          </a:p>
          <a:p>
            <a:pPr lvl="1">
              <a:spcAft>
                <a:spcPts val="500"/>
              </a:spcAft>
              <a:defRPr sz="1300" b="0">
                <a:solidFill>
                  <a:srgbClr val="555555"/>
                </a:solidFill>
              </a:defRPr>
            </a:pPr>
            <a:r>
              <a:t>Regra do 1-σ entre médias: ao comparar duas configurações A e B, a diferença observada Δ = μ_A − μ_B deve exceder o desvio-padrão combinado σ_comb para ser considerada estatisticamente significativa.</a:t>
            </a:r>
          </a:p>
          <a:p>
            <a:pPr lvl="2">
              <a:spcAft>
                <a:spcPts val="500"/>
              </a:spcAft>
              <a:defRPr sz="1300" b="0">
                <a:solidFill>
                  <a:srgbClr val="555555"/>
                </a:solidFill>
              </a:defRPr>
            </a:pPr>
            <a:r>
              <a:t>σ_comb = √(σ_A² + σ_B²) — soma das variâncias amostrais.</a:t>
            </a:r>
          </a:p>
          <a:p>
            <a:pPr lvl="2">
              <a:spcAft>
                <a:spcPts val="500"/>
              </a:spcAft>
              <a:defRPr sz="1300" b="0">
                <a:solidFill>
                  <a:srgbClr val="555555"/>
                </a:solidFill>
              </a:defRPr>
            </a:pPr>
            <a:r>
              <a:t>Se |Δ| &gt; 1·σ_comb, a diferença é considerada real; se |Δ| &lt; 1·σ_comb, atribui-se a ruído inerente à variação entre seeds.</a:t>
            </a:r>
          </a:p>
          <a:p>
            <a:pPr lvl="1">
              <a:spcAft>
                <a:spcPts val="500"/>
              </a:spcAft>
              <a:defRPr sz="1300" b="0">
                <a:solidFill>
                  <a:srgbClr val="555555"/>
                </a:solidFill>
              </a:defRPr>
            </a:pPr>
            <a:r>
              <a:t>Determinismo CUDA ativado (deterministic=True), permitindo reprodução exata de execuções com mesma seed.</a:t>
            </a:r>
          </a:p>
          <a:p>
            <a:pPr>
              <a:spcAft>
                <a:spcPts val="500"/>
              </a:spcAft>
              <a:defRPr sz="1500" b="0">
                <a:solidFill>
                  <a:srgbClr val="555555"/>
                </a:solidFill>
              </a:defRPr>
            </a:pPr>
            <a:endParaRPr/>
          </a:p>
          <a:p>
            <a:pPr>
              <a:spcAft>
                <a:spcPts val="500"/>
              </a:spcAft>
              <a:defRPr sz="1500" b="1">
                <a:solidFill>
                  <a:srgbClr val="1F3A68"/>
                </a:solidFill>
              </a:defRPr>
            </a:pPr>
            <a:r>
              <a:t>Critério de seleção de modelo: por que adotar val_f1_macro em vez de val_loss</a:t>
            </a:r>
          </a:p>
          <a:p>
            <a:pPr lvl="1">
              <a:spcAft>
                <a:spcPts val="500"/>
              </a:spcAft>
              <a:defRPr sz="1300" b="0">
                <a:solidFill>
                  <a:srgbClr val="555555"/>
                </a:solidFill>
              </a:defRPr>
            </a:pPr>
            <a:r>
              <a:t>Para heads lineares com Cross-Entropy puro, val_loss e val_F1 são monotonicamente correlacionados — qualquer um dos dois critérios é válido.</a:t>
            </a:r>
          </a:p>
          <a:p>
            <a:pPr lvl="1">
              <a:spcAft>
                <a:spcPts val="500"/>
              </a:spcAft>
              <a:defRPr sz="1300" b="0">
                <a:solidFill>
                  <a:srgbClr val="555555"/>
                </a:solidFill>
              </a:defRPr>
            </a:pPr>
            <a:r>
              <a:t>Para heads com margem angular (ArcFace, AdaFace, MagFace), o val_loss incorpora a penalidade da margem como parte do cálculo:</a:t>
            </a:r>
          </a:p>
          <a:p>
            <a:pPr lvl="2">
              <a:spcAft>
                <a:spcPts val="500"/>
              </a:spcAft>
              <a:defRPr sz="1300" b="0">
                <a:solidFill>
                  <a:srgbClr val="555555"/>
                </a:solidFill>
              </a:defRPr>
            </a:pPr>
            <a:r>
              <a:t>Nas epochs iniciais, o modelo aprende margens angulares relativamente agressivas, reduzindo val_loss antes que F1 atinja seu pico.</a:t>
            </a:r>
          </a:p>
          <a:p>
            <a:pPr lvl="2">
              <a:spcAft>
                <a:spcPts val="500"/>
              </a:spcAft>
              <a:defRPr sz="1300" b="0">
                <a:solidFill>
                  <a:srgbClr val="555555"/>
                </a:solidFill>
              </a:defRPr>
            </a:pPr>
            <a:r>
              <a:t>Em epochs posteriores, F1 continua subindo enquanto val_loss flutua (saturação da margem).</a:t>
            </a:r>
          </a:p>
          <a:p>
            <a:pPr lvl="2">
              <a:spcAft>
                <a:spcPts val="500"/>
              </a:spcAft>
              <a:defRPr sz="1300" b="0">
                <a:solidFill>
                  <a:srgbClr val="555555"/>
                </a:solidFill>
              </a:defRPr>
            </a:pPr>
            <a:r>
              <a:t>O critério min(val_loss) seleciona uma epoch precoce, anterior ao pico de F1 — escolha sistematicamente subótima para essa família de heads.</a:t>
            </a:r>
          </a:p>
          <a:p>
            <a:pPr lvl="1">
              <a:spcAft>
                <a:spcPts val="500"/>
              </a:spcAft>
              <a:defRPr sz="1300" b="0">
                <a:solidFill>
                  <a:srgbClr val="555555"/>
                </a:solidFill>
              </a:defRPr>
            </a:pPr>
            <a:r>
              <a:t>A correção do critério (Linha B) eleva o F1 do AdaFace em +0.146 sob protocolo casado.</a:t>
            </a:r>
          </a:p>
          <a:p>
            <a:pPr>
              <a:spcAft>
                <a:spcPts val="500"/>
              </a:spcAft>
              <a:defRPr sz="1500" b="0">
                <a:solidFill>
                  <a:srgbClr val="555555"/>
                </a:solidFill>
              </a:defRPr>
            </a:pPr>
            <a:endParaRPr/>
          </a:p>
          <a:p>
            <a:pPr>
              <a:spcAft>
                <a:spcPts val="500"/>
              </a:spcAft>
              <a:defRPr sz="1500" b="1">
                <a:solidFill>
                  <a:srgbClr val="1F3A68"/>
                </a:solidFill>
              </a:defRPr>
            </a:pPr>
            <a:r>
              <a:t>Replicabilidade alinhada com diretrizes contemporâneas</a:t>
            </a:r>
          </a:p>
          <a:p>
            <a:pPr lvl="1">
              <a:spcAft>
                <a:spcPts val="500"/>
              </a:spcAft>
              <a:defRPr sz="1300" b="0">
                <a:solidFill>
                  <a:srgbClr val="555555"/>
                </a:solidFill>
              </a:defRPr>
            </a:pPr>
            <a:r>
              <a:t>Pineau et al. (JMLR 2021): múltiplas seeds e intervalos de confiança são exigências oficiais de submissão em ICLR e NeurIPS.</a:t>
            </a:r>
          </a:p>
          <a:p>
            <a:pPr lvl="1">
              <a:spcAft>
                <a:spcPts val="500"/>
              </a:spcAft>
              <a:defRPr sz="1300" b="0">
                <a:solidFill>
                  <a:srgbClr val="555555"/>
                </a:solidFill>
              </a:defRPr>
            </a:pPr>
            <a:r>
              <a:t>Henderson et al. (AAAI 2018): single-seed em deep learning conduz a conclusões irreproduzíveis.</a:t>
            </a:r>
          </a:p>
          <a:p>
            <a:pPr lvl="1">
              <a:spcAft>
                <a:spcPts val="500"/>
              </a:spcAft>
              <a:defRPr sz="1300" b="0">
                <a:solidFill>
                  <a:srgbClr val="555555"/>
                </a:solidFill>
              </a:defRPr>
            </a:pPr>
            <a:r>
              <a:t>Bouthillier et al. (MLSys 2021): em benchmarks de imagem, diferenças inferiores a 2 pontos percentuais frequentemente são ruído entre seeds, não sinal real.</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4630400" cy="822960"/>
          </a:xfrm>
          <a:prstGeom prst="rect">
            <a:avLst/>
          </a:prstGeom>
          <a:solidFill>
            <a:srgbClr val="1F3A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3716000" y="182880"/>
            <a:ext cx="914400" cy="457200"/>
          </a:xfrm>
          <a:prstGeom prst="rect">
            <a:avLst/>
          </a:prstGeom>
          <a:noFill/>
        </p:spPr>
        <p:txBody>
          <a:bodyPr wrap="none">
            <a:spAutoFit/>
          </a:bodyPr>
          <a:lstStyle/>
          <a:p>
            <a:pPr>
              <a:defRPr sz="1400">
                <a:solidFill>
                  <a:srgbClr val="CCD8EE"/>
                </a:solidFill>
              </a:defRPr>
            </a:pPr>
            <a:r>
              <a:t>5 / 19</a:t>
            </a:r>
          </a:p>
        </p:txBody>
      </p:sp>
      <p:sp>
        <p:nvSpPr>
          <p:cNvPr id="4" name="TextBox 3"/>
          <p:cNvSpPr txBox="1"/>
          <p:nvPr/>
        </p:nvSpPr>
        <p:spPr>
          <a:xfrm>
            <a:off x="457200" y="182880"/>
            <a:ext cx="12801600" cy="548640"/>
          </a:xfrm>
          <a:prstGeom prst="rect">
            <a:avLst/>
          </a:prstGeom>
          <a:noFill/>
        </p:spPr>
        <p:txBody>
          <a:bodyPr wrap="none">
            <a:spAutoFit/>
          </a:bodyPr>
          <a:lstStyle/>
          <a:p>
            <a:pPr>
              <a:defRPr sz="2400" b="1">
                <a:solidFill>
                  <a:srgbClr val="FFFFFF"/>
                </a:solidFill>
              </a:defRPr>
            </a:pPr>
            <a:r>
              <a:t>Métricas adotadas</a:t>
            </a:r>
          </a:p>
        </p:txBody>
      </p:sp>
      <p:graphicFrame>
        <p:nvGraphicFramePr>
          <p:cNvPr id="5" name="Table 4"/>
          <p:cNvGraphicFramePr>
            <a:graphicFrameLocks noGrp="1"/>
          </p:cNvGraphicFramePr>
          <p:nvPr>
            <p:extLst>
              <p:ext uri="{D42A27DB-BD31-4B8C-83A1-F6EECF244321}">
                <p14:modId xmlns:p14="http://schemas.microsoft.com/office/powerpoint/2010/main" val="664102568"/>
              </p:ext>
            </p:extLst>
          </p:nvPr>
        </p:nvGraphicFramePr>
        <p:xfrm>
          <a:off x="457200" y="1097280"/>
          <a:ext cx="13716000" cy="182880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5029200">
                  <a:extLst>
                    <a:ext uri="{9D8B030D-6E8A-4147-A177-3AD203B41FA5}">
                      <a16:colId xmlns:a16="http://schemas.microsoft.com/office/drawing/2014/main" val="20001"/>
                    </a:ext>
                  </a:extLst>
                </a:gridCol>
                <a:gridCol w="5943600">
                  <a:extLst>
                    <a:ext uri="{9D8B030D-6E8A-4147-A177-3AD203B41FA5}">
                      <a16:colId xmlns:a16="http://schemas.microsoft.com/office/drawing/2014/main" val="20002"/>
                    </a:ext>
                  </a:extLst>
                </a:gridCol>
              </a:tblGrid>
              <a:tr h="457200">
                <a:tc>
                  <a:txBody>
                    <a:bodyPr/>
                    <a:lstStyle/>
                    <a:p>
                      <a:r>
                        <a:rPr sz="1100" b="1">
                          <a:solidFill>
                            <a:srgbClr val="FFFFFF"/>
                          </a:solidFill>
                        </a:rPr>
                        <a:t>Métrica</a:t>
                      </a:r>
                    </a:p>
                  </a:txBody>
                  <a:tcPr>
                    <a:solidFill>
                      <a:srgbClr val="1F3A68"/>
                    </a:solidFill>
                  </a:tcPr>
                </a:tc>
                <a:tc>
                  <a:txBody>
                    <a:bodyPr/>
                    <a:lstStyle/>
                    <a:p>
                      <a:r>
                        <a:rPr sz="1100" b="1">
                          <a:solidFill>
                            <a:srgbClr val="FFFFFF"/>
                          </a:solidFill>
                        </a:rPr>
                        <a:t>Fórmula</a:t>
                      </a:r>
                    </a:p>
                  </a:txBody>
                  <a:tcPr>
                    <a:solidFill>
                      <a:srgbClr val="1F3A68"/>
                    </a:solidFill>
                  </a:tcPr>
                </a:tc>
                <a:tc>
                  <a:txBody>
                    <a:bodyPr/>
                    <a:lstStyle/>
                    <a:p>
                      <a:r>
                        <a:rPr sz="1100" b="1">
                          <a:solidFill>
                            <a:srgbClr val="FFFFFF"/>
                          </a:solidFill>
                        </a:rPr>
                        <a:t>O que mede</a:t>
                      </a:r>
                    </a:p>
                  </a:txBody>
                  <a:tcPr>
                    <a:solidFill>
                      <a:srgbClr val="1F3A68"/>
                    </a:solidFill>
                  </a:tcPr>
                </a:tc>
                <a:extLst>
                  <a:ext uri="{0D108BD9-81ED-4DB2-BD59-A6C34878D82A}">
                    <a16:rowId xmlns:a16="http://schemas.microsoft.com/office/drawing/2014/main" val="10000"/>
                  </a:ext>
                </a:extLst>
              </a:tr>
              <a:tr h="457200">
                <a:tc>
                  <a:txBody>
                    <a:bodyPr/>
                    <a:lstStyle/>
                    <a:p>
                      <a:r>
                        <a:rPr sz="1000">
                          <a:solidFill>
                            <a:srgbClr val="555555"/>
                          </a:solidFill>
                        </a:rPr>
                        <a:t>F1 macro</a:t>
                      </a:r>
                    </a:p>
                  </a:txBody>
                  <a:tcPr>
                    <a:solidFill>
                      <a:srgbClr val="FFFFFF"/>
                    </a:solidFill>
                  </a:tcPr>
                </a:tc>
                <a:tc>
                  <a:txBody>
                    <a:bodyPr/>
                    <a:lstStyle/>
                    <a:p>
                      <a:r>
                        <a:rPr sz="1000">
                          <a:solidFill>
                            <a:srgbClr val="555555"/>
                          </a:solidFill>
                        </a:rPr>
                        <a:t>F1_macro = (1/C) · Σ_c F1_c    (sendo C = 7 e c ∈ {1,…,7} indexa cada classe)</a:t>
                      </a:r>
                    </a:p>
                  </a:txBody>
                  <a:tcPr>
                    <a:solidFill>
                      <a:srgbClr val="FFFFFF"/>
                    </a:solidFill>
                  </a:tcPr>
                </a:tc>
                <a:tc>
                  <a:txBody>
                    <a:bodyPr/>
                    <a:lstStyle/>
                    <a:p>
                      <a:r>
                        <a:rPr sz="1000" dirty="0" err="1">
                          <a:solidFill>
                            <a:srgbClr val="555555"/>
                          </a:solidFill>
                        </a:rPr>
                        <a:t>Média</a:t>
                      </a:r>
                      <a:r>
                        <a:rPr sz="1000" dirty="0">
                          <a:solidFill>
                            <a:srgbClr val="555555"/>
                          </a:solidFill>
                        </a:rPr>
                        <a:t> </a:t>
                      </a:r>
                      <a:r>
                        <a:rPr sz="1000" dirty="0" err="1">
                          <a:solidFill>
                            <a:srgbClr val="555555"/>
                          </a:solidFill>
                        </a:rPr>
                        <a:t>aritmética</a:t>
                      </a:r>
                      <a:r>
                        <a:rPr sz="1000" dirty="0">
                          <a:solidFill>
                            <a:srgbClr val="555555"/>
                          </a:solidFill>
                        </a:rPr>
                        <a:t> dos </a:t>
                      </a:r>
                      <a:r>
                        <a:rPr lang="pt-BR" sz="1000" dirty="0">
                          <a:solidFill>
                            <a:srgbClr val="555555"/>
                          </a:solidFill>
                        </a:rPr>
                        <a:t>scores</a:t>
                      </a:r>
                      <a:r>
                        <a:rPr sz="1000" dirty="0">
                          <a:solidFill>
                            <a:srgbClr val="555555"/>
                          </a:solidFill>
                        </a:rPr>
                        <a:t> F1 </a:t>
                      </a:r>
                      <a:r>
                        <a:rPr sz="1000" dirty="0" err="1">
                          <a:solidFill>
                            <a:srgbClr val="555555"/>
                          </a:solidFill>
                        </a:rPr>
                        <a:t>por</a:t>
                      </a:r>
                      <a:r>
                        <a:rPr sz="1000" dirty="0">
                          <a:solidFill>
                            <a:srgbClr val="555555"/>
                          </a:solidFill>
                        </a:rPr>
                        <a:t> </a:t>
                      </a:r>
                      <a:r>
                        <a:rPr sz="1000" dirty="0" err="1">
                          <a:solidFill>
                            <a:srgbClr val="555555"/>
                          </a:solidFill>
                        </a:rPr>
                        <a:t>classe</a:t>
                      </a:r>
                      <a:r>
                        <a:rPr sz="1000" dirty="0">
                          <a:solidFill>
                            <a:srgbClr val="555555"/>
                          </a:solidFill>
                        </a:rPr>
                        <a:t>, </a:t>
                      </a:r>
                      <a:r>
                        <a:rPr sz="1000" dirty="0" err="1">
                          <a:solidFill>
                            <a:srgbClr val="555555"/>
                          </a:solidFill>
                        </a:rPr>
                        <a:t>sem</a:t>
                      </a:r>
                      <a:r>
                        <a:rPr sz="1000" dirty="0">
                          <a:solidFill>
                            <a:srgbClr val="555555"/>
                          </a:solidFill>
                        </a:rPr>
                        <a:t> </a:t>
                      </a:r>
                      <a:r>
                        <a:rPr sz="1000" dirty="0" err="1">
                          <a:solidFill>
                            <a:srgbClr val="555555"/>
                          </a:solidFill>
                        </a:rPr>
                        <a:t>ponderação</a:t>
                      </a:r>
                      <a:r>
                        <a:rPr sz="1000" dirty="0">
                          <a:solidFill>
                            <a:srgbClr val="555555"/>
                          </a:solidFill>
                        </a:rPr>
                        <a:t> </a:t>
                      </a:r>
                      <a:r>
                        <a:rPr sz="1000" dirty="0" err="1">
                          <a:solidFill>
                            <a:srgbClr val="555555"/>
                          </a:solidFill>
                        </a:rPr>
                        <a:t>por</a:t>
                      </a:r>
                      <a:r>
                        <a:rPr sz="1000" dirty="0">
                          <a:solidFill>
                            <a:srgbClr val="555555"/>
                          </a:solidFill>
                        </a:rPr>
                        <a:t> </a:t>
                      </a:r>
                      <a:r>
                        <a:rPr sz="1000" dirty="0" err="1">
                          <a:solidFill>
                            <a:srgbClr val="555555"/>
                          </a:solidFill>
                        </a:rPr>
                        <a:t>suporte</a:t>
                      </a:r>
                      <a:r>
                        <a:rPr sz="1000" dirty="0">
                          <a:solidFill>
                            <a:srgbClr val="555555"/>
                          </a:solidFill>
                        </a:rPr>
                        <a:t>. </a:t>
                      </a:r>
                      <a:r>
                        <a:rPr sz="1000" dirty="0" err="1">
                          <a:solidFill>
                            <a:srgbClr val="555555"/>
                          </a:solidFill>
                        </a:rPr>
                        <a:t>Equaliza</a:t>
                      </a:r>
                      <a:r>
                        <a:rPr sz="1000" dirty="0">
                          <a:solidFill>
                            <a:srgbClr val="555555"/>
                          </a:solidFill>
                        </a:rPr>
                        <a:t> a </a:t>
                      </a:r>
                      <a:r>
                        <a:rPr sz="1000" dirty="0" err="1">
                          <a:solidFill>
                            <a:srgbClr val="555555"/>
                          </a:solidFill>
                        </a:rPr>
                        <a:t>importância</a:t>
                      </a:r>
                      <a:r>
                        <a:rPr sz="1000" dirty="0">
                          <a:solidFill>
                            <a:srgbClr val="555555"/>
                          </a:solidFill>
                        </a:rPr>
                        <a:t> de </a:t>
                      </a:r>
                      <a:r>
                        <a:rPr sz="1000" dirty="0" err="1">
                          <a:solidFill>
                            <a:srgbClr val="555555"/>
                          </a:solidFill>
                        </a:rPr>
                        <a:t>todas</a:t>
                      </a:r>
                      <a:r>
                        <a:rPr sz="1000" dirty="0">
                          <a:solidFill>
                            <a:srgbClr val="555555"/>
                          </a:solidFill>
                        </a:rPr>
                        <a:t> as 7 </a:t>
                      </a:r>
                      <a:r>
                        <a:rPr sz="1000" dirty="0" err="1">
                          <a:solidFill>
                            <a:srgbClr val="555555"/>
                          </a:solidFill>
                        </a:rPr>
                        <a:t>categorias</a:t>
                      </a:r>
                      <a:r>
                        <a:rPr sz="1000" dirty="0">
                          <a:solidFill>
                            <a:srgbClr val="555555"/>
                          </a:solidFill>
                        </a:rPr>
                        <a:t> </a:t>
                      </a:r>
                      <a:r>
                        <a:rPr sz="1000" dirty="0" err="1">
                          <a:solidFill>
                            <a:srgbClr val="555555"/>
                          </a:solidFill>
                        </a:rPr>
                        <a:t>raciais</a:t>
                      </a:r>
                      <a:r>
                        <a:rPr sz="1000" dirty="0">
                          <a:solidFill>
                            <a:srgbClr val="555555"/>
                          </a:solidFill>
                        </a:rPr>
                        <a:t>.</a:t>
                      </a:r>
                    </a:p>
                  </a:txBody>
                  <a:tcPr>
                    <a:solidFill>
                      <a:srgbClr val="FFFFFF"/>
                    </a:solidFill>
                  </a:tcPr>
                </a:tc>
                <a:extLst>
                  <a:ext uri="{0D108BD9-81ED-4DB2-BD59-A6C34878D82A}">
                    <a16:rowId xmlns:a16="http://schemas.microsoft.com/office/drawing/2014/main" val="10001"/>
                  </a:ext>
                </a:extLst>
              </a:tr>
              <a:tr h="457200">
                <a:tc>
                  <a:txBody>
                    <a:bodyPr/>
                    <a:lstStyle/>
                    <a:p>
                      <a:r>
                        <a:rPr sz="1000" dirty="0" err="1">
                          <a:solidFill>
                            <a:srgbClr val="555555"/>
                          </a:solidFill>
                        </a:rPr>
                        <a:t>Razão</a:t>
                      </a:r>
                      <a:r>
                        <a:rPr sz="1000" dirty="0">
                          <a:solidFill>
                            <a:srgbClr val="555555"/>
                          </a:solidFill>
                        </a:rPr>
                        <a:t> de </a:t>
                      </a:r>
                      <a:r>
                        <a:rPr sz="1000" dirty="0" err="1">
                          <a:solidFill>
                            <a:srgbClr val="555555"/>
                          </a:solidFill>
                        </a:rPr>
                        <a:t>disparidade</a:t>
                      </a:r>
                      <a:endParaRPr sz="1000" dirty="0">
                        <a:solidFill>
                          <a:srgbClr val="555555"/>
                        </a:solidFill>
                      </a:endParaRPr>
                    </a:p>
                  </a:txBody>
                  <a:tcPr>
                    <a:solidFill>
                      <a:srgbClr val="F5F5F5"/>
                    </a:solidFill>
                  </a:tcPr>
                </a:tc>
                <a:tc>
                  <a:txBody>
                    <a:bodyPr/>
                    <a:lstStyle/>
                    <a:p>
                      <a:r>
                        <a:rPr sz="1000">
                          <a:solidFill>
                            <a:srgbClr val="555555"/>
                          </a:solidFill>
                        </a:rPr>
                        <a:t>DR = max_c(F1_c) / min_c(F1_c)    (entre as 7 classes)</a:t>
                      </a:r>
                    </a:p>
                  </a:txBody>
                  <a:tcPr>
                    <a:solidFill>
                      <a:srgbClr val="F5F5F5"/>
                    </a:solidFill>
                  </a:tcPr>
                </a:tc>
                <a:tc>
                  <a:txBody>
                    <a:bodyPr/>
                    <a:lstStyle/>
                    <a:p>
                      <a:r>
                        <a:rPr sz="1000">
                          <a:solidFill>
                            <a:srgbClr val="555555"/>
                          </a:solidFill>
                        </a:rPr>
                        <a:t>Razão entre a F1 da classe mais bem atendida e a F1 da classe pior atendida. DR = 1.0 indica equidade perfeita; valores maiores indicam disparidade crescente.</a:t>
                      </a:r>
                    </a:p>
                  </a:txBody>
                  <a:tcPr>
                    <a:solidFill>
                      <a:srgbClr val="F5F5F5"/>
                    </a:solidFill>
                  </a:tcPr>
                </a:tc>
                <a:extLst>
                  <a:ext uri="{0D108BD9-81ED-4DB2-BD59-A6C34878D82A}">
                    <a16:rowId xmlns:a16="http://schemas.microsoft.com/office/drawing/2014/main" val="10002"/>
                  </a:ext>
                </a:extLst>
              </a:tr>
              <a:tr h="457200">
                <a:tc>
                  <a:txBody>
                    <a:bodyPr/>
                    <a:lstStyle/>
                    <a:p>
                      <a:r>
                        <a:rPr sz="1000">
                          <a:solidFill>
                            <a:srgbClr val="555555"/>
                          </a:solidFill>
                        </a:rPr>
                        <a:t>Acurácia</a:t>
                      </a:r>
                    </a:p>
                  </a:txBody>
                  <a:tcPr>
                    <a:solidFill>
                      <a:srgbClr val="FFFFFF"/>
                    </a:solidFill>
                  </a:tcPr>
                </a:tc>
                <a:tc>
                  <a:txBody>
                    <a:bodyPr/>
                    <a:lstStyle/>
                    <a:p>
                      <a:r>
                        <a:rPr sz="1000">
                          <a:solidFill>
                            <a:srgbClr val="555555"/>
                          </a:solidFill>
                        </a:rPr>
                        <a:t>Acc = (predições corretas) / (total de exemplos)</a:t>
                      </a:r>
                    </a:p>
                  </a:txBody>
                  <a:tcPr>
                    <a:solidFill>
                      <a:srgbClr val="FFFFFF"/>
                    </a:solidFill>
                  </a:tcPr>
                </a:tc>
                <a:tc>
                  <a:txBody>
                    <a:bodyPr/>
                    <a:lstStyle/>
                    <a:p>
                      <a:r>
                        <a:rPr sz="1000" dirty="0" err="1">
                          <a:solidFill>
                            <a:srgbClr val="555555"/>
                          </a:solidFill>
                        </a:rPr>
                        <a:t>Métrica</a:t>
                      </a:r>
                      <a:r>
                        <a:rPr sz="1000" dirty="0">
                          <a:solidFill>
                            <a:srgbClr val="555555"/>
                          </a:solidFill>
                        </a:rPr>
                        <a:t> </a:t>
                      </a:r>
                      <a:r>
                        <a:rPr sz="1000" dirty="0" err="1">
                          <a:solidFill>
                            <a:srgbClr val="555555"/>
                          </a:solidFill>
                        </a:rPr>
                        <a:t>agregada</a:t>
                      </a:r>
                      <a:r>
                        <a:rPr sz="1000" dirty="0">
                          <a:solidFill>
                            <a:srgbClr val="555555"/>
                          </a:solidFill>
                        </a:rPr>
                        <a:t> </a:t>
                      </a:r>
                      <a:r>
                        <a:rPr sz="1000" dirty="0" err="1">
                          <a:solidFill>
                            <a:srgbClr val="555555"/>
                          </a:solidFill>
                        </a:rPr>
                        <a:t>não-balanceada</a:t>
                      </a:r>
                      <a:r>
                        <a:rPr sz="1000" dirty="0">
                          <a:solidFill>
                            <a:srgbClr val="555555"/>
                          </a:solidFill>
                        </a:rPr>
                        <a:t>. </a:t>
                      </a:r>
                      <a:r>
                        <a:rPr sz="1000" dirty="0" err="1">
                          <a:solidFill>
                            <a:srgbClr val="555555"/>
                          </a:solidFill>
                        </a:rPr>
                        <a:t>Reportada</a:t>
                      </a:r>
                      <a:r>
                        <a:rPr sz="1000" dirty="0">
                          <a:solidFill>
                            <a:srgbClr val="555555"/>
                          </a:solidFill>
                        </a:rPr>
                        <a:t> </a:t>
                      </a:r>
                      <a:r>
                        <a:rPr sz="1000" dirty="0" err="1">
                          <a:solidFill>
                            <a:srgbClr val="555555"/>
                          </a:solidFill>
                        </a:rPr>
                        <a:t>apenas</a:t>
                      </a:r>
                      <a:r>
                        <a:rPr sz="1000" dirty="0">
                          <a:solidFill>
                            <a:srgbClr val="555555"/>
                          </a:solidFill>
                        </a:rPr>
                        <a:t> </a:t>
                      </a:r>
                      <a:r>
                        <a:rPr sz="1000" dirty="0" err="1">
                          <a:solidFill>
                            <a:srgbClr val="555555"/>
                          </a:solidFill>
                        </a:rPr>
                        <a:t>como</a:t>
                      </a:r>
                      <a:r>
                        <a:rPr sz="1000" dirty="0">
                          <a:solidFill>
                            <a:srgbClr val="555555"/>
                          </a:solidFill>
                        </a:rPr>
                        <a:t> </a:t>
                      </a:r>
                      <a:r>
                        <a:rPr sz="1000" dirty="0" err="1">
                          <a:solidFill>
                            <a:srgbClr val="555555"/>
                          </a:solidFill>
                        </a:rPr>
                        <a:t>referência</a:t>
                      </a:r>
                      <a:r>
                        <a:rPr sz="1000" dirty="0">
                          <a:solidFill>
                            <a:srgbClr val="555555"/>
                          </a:solidFill>
                        </a:rPr>
                        <a:t> </a:t>
                      </a:r>
                      <a:r>
                        <a:rPr sz="1000" dirty="0" err="1">
                          <a:solidFill>
                            <a:srgbClr val="555555"/>
                          </a:solidFill>
                        </a:rPr>
                        <a:t>comparativa</a:t>
                      </a:r>
                      <a:r>
                        <a:rPr sz="1000" dirty="0">
                          <a:solidFill>
                            <a:srgbClr val="555555"/>
                          </a:solidFill>
                        </a:rPr>
                        <a:t> — </a:t>
                      </a:r>
                      <a:r>
                        <a:rPr sz="1000" dirty="0" err="1">
                          <a:solidFill>
                            <a:srgbClr val="555555"/>
                          </a:solidFill>
                        </a:rPr>
                        <a:t>não</a:t>
                      </a:r>
                      <a:r>
                        <a:rPr sz="1000" dirty="0">
                          <a:solidFill>
                            <a:srgbClr val="555555"/>
                          </a:solidFill>
                        </a:rPr>
                        <a:t> é </a:t>
                      </a:r>
                      <a:r>
                        <a:rPr sz="1000" dirty="0" err="1">
                          <a:solidFill>
                            <a:srgbClr val="555555"/>
                          </a:solidFill>
                        </a:rPr>
                        <a:t>critério</a:t>
                      </a:r>
                      <a:r>
                        <a:rPr sz="1000" dirty="0">
                          <a:solidFill>
                            <a:srgbClr val="555555"/>
                          </a:solidFill>
                        </a:rPr>
                        <a:t> </a:t>
                      </a:r>
                      <a:r>
                        <a:rPr sz="1000" dirty="0" err="1">
                          <a:solidFill>
                            <a:srgbClr val="555555"/>
                          </a:solidFill>
                        </a:rPr>
                        <a:t>primário</a:t>
                      </a:r>
                      <a:r>
                        <a:rPr sz="1000" dirty="0">
                          <a:solidFill>
                            <a:srgbClr val="555555"/>
                          </a:solidFill>
                        </a:rPr>
                        <a:t> do </a:t>
                      </a:r>
                      <a:r>
                        <a:rPr sz="1000" dirty="0" err="1">
                          <a:solidFill>
                            <a:srgbClr val="555555"/>
                          </a:solidFill>
                        </a:rPr>
                        <a:t>projeto</a:t>
                      </a:r>
                      <a:r>
                        <a:rPr sz="1000" dirty="0">
                          <a:solidFill>
                            <a:srgbClr val="555555"/>
                          </a:solidFill>
                        </a:rPr>
                        <a:t>.</a:t>
                      </a:r>
                    </a:p>
                  </a:txBody>
                  <a:tcPr>
                    <a:solidFill>
                      <a:srgbClr val="FFFFFF"/>
                    </a:solidFill>
                  </a:tcPr>
                </a:tc>
                <a:extLst>
                  <a:ext uri="{0D108BD9-81ED-4DB2-BD59-A6C34878D82A}">
                    <a16:rowId xmlns:a16="http://schemas.microsoft.com/office/drawing/2014/main" val="10003"/>
                  </a:ext>
                </a:extLst>
              </a:tr>
            </a:tbl>
          </a:graphicData>
        </a:graphic>
      </p:graphicFrame>
      <p:sp>
        <p:nvSpPr>
          <p:cNvPr id="6" name="TextBox 5"/>
          <p:cNvSpPr txBox="1"/>
          <p:nvPr/>
        </p:nvSpPr>
        <p:spPr>
          <a:xfrm>
            <a:off x="457200" y="7498079"/>
            <a:ext cx="10153742" cy="430887"/>
          </a:xfrm>
          <a:prstGeom prst="rect">
            <a:avLst/>
          </a:prstGeom>
          <a:noFill/>
        </p:spPr>
        <p:txBody>
          <a:bodyPr wrap="none">
            <a:spAutoFit/>
          </a:bodyPr>
          <a:lstStyle/>
          <a:p>
            <a:pPr>
              <a:defRPr sz="1100" i="1">
                <a:solidFill>
                  <a:srgbClr val="4A6B9E"/>
                </a:solidFill>
              </a:defRPr>
            </a:pPr>
            <a:r>
              <a:rPr dirty="0"/>
              <a:t>Convenção de </a:t>
            </a:r>
            <a:r>
              <a:rPr dirty="0" err="1"/>
              <a:t>notação</a:t>
            </a:r>
            <a:r>
              <a:rPr dirty="0"/>
              <a:t>: o </a:t>
            </a:r>
            <a:r>
              <a:rPr dirty="0" err="1"/>
              <a:t>subscrito</a:t>
            </a:r>
            <a:r>
              <a:rPr dirty="0"/>
              <a:t> _c indica </a:t>
            </a:r>
            <a:r>
              <a:rPr dirty="0" err="1"/>
              <a:t>métrica</a:t>
            </a:r>
            <a:r>
              <a:rPr dirty="0"/>
              <a:t> </a:t>
            </a:r>
            <a:r>
              <a:rPr dirty="0" err="1"/>
              <a:t>calculada</a:t>
            </a:r>
            <a:r>
              <a:rPr dirty="0"/>
              <a:t> </a:t>
            </a:r>
            <a:r>
              <a:rPr dirty="0" err="1"/>
              <a:t>por</a:t>
            </a:r>
            <a:r>
              <a:rPr dirty="0"/>
              <a:t> </a:t>
            </a:r>
            <a:r>
              <a:rPr dirty="0" err="1"/>
              <a:t>classe</a:t>
            </a:r>
            <a:r>
              <a:rPr dirty="0"/>
              <a:t> (c </a:t>
            </a:r>
            <a:r>
              <a:rPr dirty="0" err="1"/>
              <a:t>representa</a:t>
            </a:r>
            <a:r>
              <a:rPr dirty="0"/>
              <a:t> </a:t>
            </a:r>
            <a:r>
              <a:rPr dirty="0" err="1"/>
              <a:t>uma</a:t>
            </a:r>
            <a:r>
              <a:rPr dirty="0"/>
              <a:t> das 7 </a:t>
            </a:r>
            <a:r>
              <a:rPr dirty="0" err="1"/>
              <a:t>categorias</a:t>
            </a:r>
            <a:r>
              <a:rPr dirty="0"/>
              <a:t> </a:t>
            </a:r>
            <a:r>
              <a:rPr dirty="0" err="1"/>
              <a:t>raciais</a:t>
            </a:r>
            <a:r>
              <a:rPr dirty="0"/>
              <a:t>). F1_c, </a:t>
            </a:r>
            <a:r>
              <a:rPr dirty="0" err="1"/>
              <a:t>por</a:t>
            </a:r>
            <a:r>
              <a:rPr dirty="0"/>
              <a:t> </a:t>
            </a:r>
            <a:r>
              <a:rPr dirty="0" err="1"/>
              <a:t>exemplo</a:t>
            </a:r>
            <a:r>
              <a:rPr dirty="0"/>
              <a:t>, </a:t>
            </a:r>
            <a:r>
              <a:rPr dirty="0" err="1"/>
              <a:t>denota</a:t>
            </a:r>
            <a:r>
              <a:rPr dirty="0"/>
              <a:t> o </a:t>
            </a:r>
            <a:r>
              <a:rPr dirty="0" err="1"/>
              <a:t>escore</a:t>
            </a:r>
            <a:r>
              <a:rPr dirty="0"/>
              <a:t> F1 </a:t>
            </a:r>
            <a:r>
              <a:rPr dirty="0" err="1"/>
              <a:t>restrito</a:t>
            </a:r>
            <a:r>
              <a:rPr dirty="0"/>
              <a:t> à </a:t>
            </a:r>
            <a:r>
              <a:rPr dirty="0" err="1"/>
              <a:t>classe</a:t>
            </a:r>
            <a:r>
              <a:rPr dirty="0"/>
              <a:t> c. </a:t>
            </a:r>
            <a:endParaRPr lang="pt-BR" dirty="0"/>
          </a:p>
          <a:p>
            <a:pPr>
              <a:defRPr sz="1100" i="1">
                <a:solidFill>
                  <a:srgbClr val="4A6B9E"/>
                </a:solidFill>
              </a:defRPr>
            </a:pPr>
            <a:r>
              <a:rPr dirty="0" err="1"/>
              <a:t>Procedência</a:t>
            </a:r>
            <a:r>
              <a:rPr dirty="0"/>
              <a:t>: </a:t>
            </a:r>
            <a:r>
              <a:rPr dirty="0" err="1"/>
              <a:t>razão</a:t>
            </a:r>
            <a:r>
              <a:rPr dirty="0"/>
              <a:t> de </a:t>
            </a:r>
            <a:r>
              <a:rPr dirty="0" err="1"/>
              <a:t>disparidade</a:t>
            </a:r>
            <a:r>
              <a:rPr dirty="0"/>
              <a:t> equivale à "Max-Min Ratio" </a:t>
            </a:r>
            <a:r>
              <a:rPr dirty="0" err="1"/>
              <a:t>usada</a:t>
            </a:r>
            <a:r>
              <a:rPr dirty="0"/>
              <a:t> </a:t>
            </a:r>
            <a:r>
              <a:rPr dirty="0" err="1"/>
              <a:t>por</a:t>
            </a:r>
            <a:r>
              <a:rPr dirty="0"/>
              <a:t> Hassanpour (2024) e Liu et al. (</a:t>
            </a:r>
            <a:r>
              <a:rPr dirty="0" err="1"/>
              <a:t>FineFACE</a:t>
            </a:r>
            <a:r>
              <a:rPr dirty="0"/>
              <a:t>, 2024).</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4630400" cy="822960"/>
          </a:xfrm>
          <a:prstGeom prst="rect">
            <a:avLst/>
          </a:prstGeom>
          <a:solidFill>
            <a:srgbClr val="1F3A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3716000" y="182880"/>
            <a:ext cx="914400" cy="457200"/>
          </a:xfrm>
          <a:prstGeom prst="rect">
            <a:avLst/>
          </a:prstGeom>
          <a:noFill/>
        </p:spPr>
        <p:txBody>
          <a:bodyPr wrap="none">
            <a:spAutoFit/>
          </a:bodyPr>
          <a:lstStyle/>
          <a:p>
            <a:pPr>
              <a:defRPr sz="1400">
                <a:solidFill>
                  <a:srgbClr val="CCD8EE"/>
                </a:solidFill>
              </a:defRPr>
            </a:pPr>
            <a:r>
              <a:t>6 / 19</a:t>
            </a:r>
          </a:p>
        </p:txBody>
      </p:sp>
      <p:sp>
        <p:nvSpPr>
          <p:cNvPr id="4" name="TextBox 3"/>
          <p:cNvSpPr txBox="1"/>
          <p:nvPr/>
        </p:nvSpPr>
        <p:spPr>
          <a:xfrm>
            <a:off x="457200" y="182880"/>
            <a:ext cx="12801600" cy="548640"/>
          </a:xfrm>
          <a:prstGeom prst="rect">
            <a:avLst/>
          </a:prstGeom>
          <a:noFill/>
        </p:spPr>
        <p:txBody>
          <a:bodyPr wrap="none">
            <a:spAutoFit/>
          </a:bodyPr>
          <a:lstStyle/>
          <a:p>
            <a:pPr>
              <a:defRPr sz="2400" b="1">
                <a:solidFill>
                  <a:srgbClr val="FFFFFF"/>
                </a:solidFill>
              </a:defRPr>
            </a:pPr>
            <a:r>
              <a:t>Arquiteturas comparadas: ResNet-50 e ConvNeXt-T</a:t>
            </a:r>
          </a:p>
        </p:txBody>
      </p:sp>
      <p:graphicFrame>
        <p:nvGraphicFramePr>
          <p:cNvPr id="5" name="Table 4"/>
          <p:cNvGraphicFramePr>
            <a:graphicFrameLocks noGrp="1"/>
          </p:cNvGraphicFramePr>
          <p:nvPr/>
        </p:nvGraphicFramePr>
        <p:xfrm>
          <a:off x="457200" y="1097280"/>
          <a:ext cx="13716000" cy="4023360"/>
        </p:xfrm>
        <a:graphic>
          <a:graphicData uri="http://schemas.openxmlformats.org/drawingml/2006/table">
            <a:tbl>
              <a:tblPr firstRow="1" bandRow="1">
                <a:tableStyleId>{5C22544A-7EE6-4342-B048-85BDC9FD1C3A}</a:tableStyleId>
              </a:tblPr>
              <a:tblGrid>
                <a:gridCol w="3200400">
                  <a:extLst>
                    <a:ext uri="{9D8B030D-6E8A-4147-A177-3AD203B41FA5}">
                      <a16:colId xmlns:a16="http://schemas.microsoft.com/office/drawing/2014/main" val="20000"/>
                    </a:ext>
                  </a:extLst>
                </a:gridCol>
                <a:gridCol w="5029200">
                  <a:extLst>
                    <a:ext uri="{9D8B030D-6E8A-4147-A177-3AD203B41FA5}">
                      <a16:colId xmlns:a16="http://schemas.microsoft.com/office/drawing/2014/main" val="20001"/>
                    </a:ext>
                  </a:extLst>
                </a:gridCol>
                <a:gridCol w="5486400">
                  <a:extLst>
                    <a:ext uri="{9D8B030D-6E8A-4147-A177-3AD203B41FA5}">
                      <a16:colId xmlns:a16="http://schemas.microsoft.com/office/drawing/2014/main" val="20002"/>
                    </a:ext>
                  </a:extLst>
                </a:gridCol>
              </a:tblGrid>
              <a:tr h="402336">
                <a:tc>
                  <a:txBody>
                    <a:bodyPr/>
                    <a:lstStyle/>
                    <a:p>
                      <a:r>
                        <a:rPr sz="1100" b="1">
                          <a:solidFill>
                            <a:srgbClr val="FFFFFF"/>
                          </a:solidFill>
                        </a:rPr>
                        <a:t>Característica</a:t>
                      </a:r>
                    </a:p>
                  </a:txBody>
                  <a:tcPr>
                    <a:solidFill>
                      <a:srgbClr val="1F3A68"/>
                    </a:solidFill>
                  </a:tcPr>
                </a:tc>
                <a:tc>
                  <a:txBody>
                    <a:bodyPr/>
                    <a:lstStyle/>
                    <a:p>
                      <a:r>
                        <a:rPr sz="1100" b="1">
                          <a:solidFill>
                            <a:srgbClr val="FFFFFF"/>
                          </a:solidFill>
                        </a:rPr>
                        <a:t>ResNet-50 (He et al., CVPR 2016)</a:t>
                      </a:r>
                    </a:p>
                  </a:txBody>
                  <a:tcPr>
                    <a:solidFill>
                      <a:srgbClr val="1F3A68"/>
                    </a:solidFill>
                  </a:tcPr>
                </a:tc>
                <a:tc>
                  <a:txBody>
                    <a:bodyPr/>
                    <a:lstStyle/>
                    <a:p>
                      <a:r>
                        <a:rPr sz="1100" b="1">
                          <a:solidFill>
                            <a:srgbClr val="FFFFFF"/>
                          </a:solidFill>
                        </a:rPr>
                        <a:t>ConvNeXt-T (Liu et al., CVPR 2022)</a:t>
                      </a:r>
                    </a:p>
                  </a:txBody>
                  <a:tcPr>
                    <a:solidFill>
                      <a:srgbClr val="1F3A68"/>
                    </a:solidFill>
                  </a:tcPr>
                </a:tc>
                <a:extLst>
                  <a:ext uri="{0D108BD9-81ED-4DB2-BD59-A6C34878D82A}">
                    <a16:rowId xmlns:a16="http://schemas.microsoft.com/office/drawing/2014/main" val="10000"/>
                  </a:ext>
                </a:extLst>
              </a:tr>
              <a:tr h="402336">
                <a:tc>
                  <a:txBody>
                    <a:bodyPr/>
                    <a:lstStyle/>
                    <a:p>
                      <a:r>
                        <a:rPr sz="1000">
                          <a:solidFill>
                            <a:srgbClr val="555555"/>
                          </a:solidFill>
                        </a:rPr>
                        <a:t>Parâmetros</a:t>
                      </a:r>
                    </a:p>
                  </a:txBody>
                  <a:tcPr>
                    <a:solidFill>
                      <a:srgbClr val="FFFFFF"/>
                    </a:solidFill>
                  </a:tcPr>
                </a:tc>
                <a:tc>
                  <a:txBody>
                    <a:bodyPr/>
                    <a:lstStyle/>
                    <a:p>
                      <a:r>
                        <a:rPr sz="1000">
                          <a:solidFill>
                            <a:srgbClr val="555555"/>
                          </a:solidFill>
                        </a:rPr>
                        <a:t>~25.6 milhões</a:t>
                      </a:r>
                    </a:p>
                  </a:txBody>
                  <a:tcPr>
                    <a:solidFill>
                      <a:srgbClr val="FFFFFF"/>
                    </a:solidFill>
                  </a:tcPr>
                </a:tc>
                <a:tc>
                  <a:txBody>
                    <a:bodyPr/>
                    <a:lstStyle/>
                    <a:p>
                      <a:r>
                        <a:rPr sz="1000">
                          <a:solidFill>
                            <a:srgbClr val="555555"/>
                          </a:solidFill>
                        </a:rPr>
                        <a:t>~28.6 milhões (escala comparável)</a:t>
                      </a:r>
                    </a:p>
                  </a:txBody>
                  <a:tcPr>
                    <a:solidFill>
                      <a:srgbClr val="FFFFFF"/>
                    </a:solidFill>
                  </a:tcPr>
                </a:tc>
                <a:extLst>
                  <a:ext uri="{0D108BD9-81ED-4DB2-BD59-A6C34878D82A}">
                    <a16:rowId xmlns:a16="http://schemas.microsoft.com/office/drawing/2014/main" val="10001"/>
                  </a:ext>
                </a:extLst>
              </a:tr>
              <a:tr h="402336">
                <a:tc>
                  <a:txBody>
                    <a:bodyPr/>
                    <a:lstStyle/>
                    <a:p>
                      <a:r>
                        <a:rPr sz="1000">
                          <a:solidFill>
                            <a:srgbClr val="555555"/>
                          </a:solidFill>
                        </a:rPr>
                        <a:t>Normalização</a:t>
                      </a:r>
                    </a:p>
                  </a:txBody>
                  <a:tcPr>
                    <a:solidFill>
                      <a:srgbClr val="F5F5F5"/>
                    </a:solidFill>
                  </a:tcPr>
                </a:tc>
                <a:tc>
                  <a:txBody>
                    <a:bodyPr/>
                    <a:lstStyle/>
                    <a:p>
                      <a:r>
                        <a:rPr sz="1000">
                          <a:solidFill>
                            <a:srgbClr val="555555"/>
                          </a:solidFill>
                        </a:rPr>
                        <a:t>BatchNorm (estatísticas dependentes do batch)</a:t>
                      </a:r>
                    </a:p>
                  </a:txBody>
                  <a:tcPr>
                    <a:solidFill>
                      <a:srgbClr val="F5F5F5"/>
                    </a:solidFill>
                  </a:tcPr>
                </a:tc>
                <a:tc>
                  <a:txBody>
                    <a:bodyPr/>
                    <a:lstStyle/>
                    <a:p>
                      <a:r>
                        <a:rPr sz="1000">
                          <a:solidFill>
                            <a:srgbClr val="555555"/>
                          </a:solidFill>
                        </a:rPr>
                        <a:t>LayerNorm (estatísticas por amostra)</a:t>
                      </a:r>
                    </a:p>
                  </a:txBody>
                  <a:tcPr>
                    <a:solidFill>
                      <a:srgbClr val="F5F5F5"/>
                    </a:solidFill>
                  </a:tcPr>
                </a:tc>
                <a:extLst>
                  <a:ext uri="{0D108BD9-81ED-4DB2-BD59-A6C34878D82A}">
                    <a16:rowId xmlns:a16="http://schemas.microsoft.com/office/drawing/2014/main" val="10002"/>
                  </a:ext>
                </a:extLst>
              </a:tr>
              <a:tr h="402336">
                <a:tc>
                  <a:txBody>
                    <a:bodyPr/>
                    <a:lstStyle/>
                    <a:p>
                      <a:r>
                        <a:rPr sz="1000">
                          <a:solidFill>
                            <a:srgbClr val="555555"/>
                          </a:solidFill>
                        </a:rPr>
                        <a:t>Função de ativação</a:t>
                      </a:r>
                    </a:p>
                  </a:txBody>
                  <a:tcPr>
                    <a:solidFill>
                      <a:srgbClr val="FFFFFF"/>
                    </a:solidFill>
                  </a:tcPr>
                </a:tc>
                <a:tc>
                  <a:txBody>
                    <a:bodyPr/>
                    <a:lstStyle/>
                    <a:p>
                      <a:r>
                        <a:rPr sz="1000">
                          <a:solidFill>
                            <a:srgbClr val="555555"/>
                          </a:solidFill>
                        </a:rPr>
                        <a:t>ReLU</a:t>
                      </a:r>
                    </a:p>
                  </a:txBody>
                  <a:tcPr>
                    <a:solidFill>
                      <a:srgbClr val="FFFFFF"/>
                    </a:solidFill>
                  </a:tcPr>
                </a:tc>
                <a:tc>
                  <a:txBody>
                    <a:bodyPr/>
                    <a:lstStyle/>
                    <a:p>
                      <a:r>
                        <a:rPr sz="1000">
                          <a:solidFill>
                            <a:srgbClr val="555555"/>
                          </a:solidFill>
                        </a:rPr>
                        <a:t>GELU (mais suave, gradientes melhor distribuídos)</a:t>
                      </a:r>
                    </a:p>
                  </a:txBody>
                  <a:tcPr>
                    <a:solidFill>
                      <a:srgbClr val="FFFFFF"/>
                    </a:solidFill>
                  </a:tcPr>
                </a:tc>
                <a:extLst>
                  <a:ext uri="{0D108BD9-81ED-4DB2-BD59-A6C34878D82A}">
                    <a16:rowId xmlns:a16="http://schemas.microsoft.com/office/drawing/2014/main" val="10003"/>
                  </a:ext>
                </a:extLst>
              </a:tr>
              <a:tr h="402336">
                <a:tc>
                  <a:txBody>
                    <a:bodyPr/>
                    <a:lstStyle/>
                    <a:p>
                      <a:r>
                        <a:rPr sz="1000">
                          <a:solidFill>
                            <a:srgbClr val="555555"/>
                          </a:solidFill>
                        </a:rPr>
                        <a:t>Bloco residual</a:t>
                      </a:r>
                    </a:p>
                  </a:txBody>
                  <a:tcPr>
                    <a:solidFill>
                      <a:srgbClr val="F5F5F5"/>
                    </a:solidFill>
                  </a:tcPr>
                </a:tc>
                <a:tc>
                  <a:txBody>
                    <a:bodyPr/>
                    <a:lstStyle/>
                    <a:p>
                      <a:r>
                        <a:rPr sz="1000">
                          <a:solidFill>
                            <a:srgbClr val="555555"/>
                          </a:solidFill>
                        </a:rPr>
                        <a:t>Bottleneck 1×1 → 3×3 → 1×1 (Inverted no ConvNeXt)</a:t>
                      </a:r>
                    </a:p>
                  </a:txBody>
                  <a:tcPr>
                    <a:solidFill>
                      <a:srgbClr val="F5F5F5"/>
                    </a:solidFill>
                  </a:tcPr>
                </a:tc>
                <a:tc>
                  <a:txBody>
                    <a:bodyPr/>
                    <a:lstStyle/>
                    <a:p>
                      <a:r>
                        <a:rPr sz="1000">
                          <a:solidFill>
                            <a:srgbClr val="555555"/>
                          </a:solidFill>
                        </a:rPr>
                        <a:t>Depthwise 7×7 → LayerNorm → 1×1 → GELU → 1×1</a:t>
                      </a:r>
                    </a:p>
                  </a:txBody>
                  <a:tcPr>
                    <a:solidFill>
                      <a:srgbClr val="F5F5F5"/>
                    </a:solidFill>
                  </a:tcPr>
                </a:tc>
                <a:extLst>
                  <a:ext uri="{0D108BD9-81ED-4DB2-BD59-A6C34878D82A}">
                    <a16:rowId xmlns:a16="http://schemas.microsoft.com/office/drawing/2014/main" val="10004"/>
                  </a:ext>
                </a:extLst>
              </a:tr>
              <a:tr h="402336">
                <a:tc>
                  <a:txBody>
                    <a:bodyPr/>
                    <a:lstStyle/>
                    <a:p>
                      <a:r>
                        <a:rPr sz="1000">
                          <a:solidFill>
                            <a:srgbClr val="555555"/>
                          </a:solidFill>
                        </a:rPr>
                        <a:t>Kernel principal</a:t>
                      </a:r>
                    </a:p>
                  </a:txBody>
                  <a:tcPr>
                    <a:solidFill>
                      <a:srgbClr val="FFFFFF"/>
                    </a:solidFill>
                  </a:tcPr>
                </a:tc>
                <a:tc>
                  <a:txBody>
                    <a:bodyPr/>
                    <a:lstStyle/>
                    <a:p>
                      <a:r>
                        <a:rPr sz="1000">
                          <a:solidFill>
                            <a:srgbClr val="555555"/>
                          </a:solidFill>
                        </a:rPr>
                        <a:t>3×3 (acumulado por profundidade)</a:t>
                      </a:r>
                    </a:p>
                  </a:txBody>
                  <a:tcPr>
                    <a:solidFill>
                      <a:srgbClr val="FFFFFF"/>
                    </a:solidFill>
                  </a:tcPr>
                </a:tc>
                <a:tc>
                  <a:txBody>
                    <a:bodyPr/>
                    <a:lstStyle/>
                    <a:p>
                      <a:r>
                        <a:rPr sz="1000">
                          <a:solidFill>
                            <a:srgbClr val="555555"/>
                          </a:solidFill>
                        </a:rPr>
                        <a:t>7×7 depthwise (kernel grande, single layer)</a:t>
                      </a:r>
                    </a:p>
                  </a:txBody>
                  <a:tcPr>
                    <a:solidFill>
                      <a:srgbClr val="FFFFFF"/>
                    </a:solidFill>
                  </a:tcPr>
                </a:tc>
                <a:extLst>
                  <a:ext uri="{0D108BD9-81ED-4DB2-BD59-A6C34878D82A}">
                    <a16:rowId xmlns:a16="http://schemas.microsoft.com/office/drawing/2014/main" val="10005"/>
                  </a:ext>
                </a:extLst>
              </a:tr>
              <a:tr h="402336">
                <a:tc>
                  <a:txBody>
                    <a:bodyPr/>
                    <a:lstStyle/>
                    <a:p>
                      <a:r>
                        <a:rPr sz="1000">
                          <a:solidFill>
                            <a:srgbClr val="555555"/>
                          </a:solidFill>
                        </a:rPr>
                        <a:t>Estágios</a:t>
                      </a:r>
                    </a:p>
                  </a:txBody>
                  <a:tcPr>
                    <a:solidFill>
                      <a:srgbClr val="F5F5F5"/>
                    </a:solidFill>
                  </a:tcPr>
                </a:tc>
                <a:tc>
                  <a:txBody>
                    <a:bodyPr/>
                    <a:lstStyle/>
                    <a:p>
                      <a:r>
                        <a:rPr sz="1000">
                          <a:solidFill>
                            <a:srgbClr val="555555"/>
                          </a:solidFill>
                        </a:rPr>
                        <a:t>4 estágios (stem + conv2_x ... conv5_x)</a:t>
                      </a:r>
                    </a:p>
                  </a:txBody>
                  <a:tcPr>
                    <a:solidFill>
                      <a:srgbClr val="F5F5F5"/>
                    </a:solidFill>
                  </a:tcPr>
                </a:tc>
                <a:tc>
                  <a:txBody>
                    <a:bodyPr/>
                    <a:lstStyle/>
                    <a:p>
                      <a:r>
                        <a:rPr sz="1000">
                          <a:solidFill>
                            <a:srgbClr val="555555"/>
                          </a:solidFill>
                        </a:rPr>
                        <a:t>4 estágios (com fator de downsample similar)</a:t>
                      </a:r>
                    </a:p>
                  </a:txBody>
                  <a:tcPr>
                    <a:solidFill>
                      <a:srgbClr val="F5F5F5"/>
                    </a:solidFill>
                  </a:tcPr>
                </a:tc>
                <a:extLst>
                  <a:ext uri="{0D108BD9-81ED-4DB2-BD59-A6C34878D82A}">
                    <a16:rowId xmlns:a16="http://schemas.microsoft.com/office/drawing/2014/main" val="10006"/>
                  </a:ext>
                </a:extLst>
              </a:tr>
              <a:tr h="402336">
                <a:tc>
                  <a:txBody>
                    <a:bodyPr/>
                    <a:lstStyle/>
                    <a:p>
                      <a:r>
                        <a:rPr sz="1000">
                          <a:solidFill>
                            <a:srgbClr val="555555"/>
                          </a:solidFill>
                        </a:rPr>
                        <a:t>Saída da feature map</a:t>
                      </a:r>
                    </a:p>
                  </a:txBody>
                  <a:tcPr>
                    <a:solidFill>
                      <a:srgbClr val="FFFFFF"/>
                    </a:solidFill>
                  </a:tcPr>
                </a:tc>
                <a:tc>
                  <a:txBody>
                    <a:bodyPr/>
                    <a:lstStyle/>
                    <a:p>
                      <a:r>
                        <a:rPr sz="1000">
                          <a:solidFill>
                            <a:srgbClr val="555555"/>
                          </a:solidFill>
                        </a:rPr>
                        <a:t>2048-d (após pooling global)</a:t>
                      </a:r>
                    </a:p>
                  </a:txBody>
                  <a:tcPr>
                    <a:solidFill>
                      <a:srgbClr val="FFFFFF"/>
                    </a:solidFill>
                  </a:tcPr>
                </a:tc>
                <a:tc>
                  <a:txBody>
                    <a:bodyPr/>
                    <a:lstStyle/>
                    <a:p>
                      <a:r>
                        <a:rPr sz="1000">
                          <a:solidFill>
                            <a:srgbClr val="555555"/>
                          </a:solidFill>
                        </a:rPr>
                        <a:t>768-d (após pooling global + LayerNorm)</a:t>
                      </a:r>
                    </a:p>
                  </a:txBody>
                  <a:tcPr>
                    <a:solidFill>
                      <a:srgbClr val="FFFFFF"/>
                    </a:solidFill>
                  </a:tcPr>
                </a:tc>
                <a:extLst>
                  <a:ext uri="{0D108BD9-81ED-4DB2-BD59-A6C34878D82A}">
                    <a16:rowId xmlns:a16="http://schemas.microsoft.com/office/drawing/2014/main" val="10007"/>
                  </a:ext>
                </a:extLst>
              </a:tr>
              <a:tr h="402336">
                <a:tc>
                  <a:txBody>
                    <a:bodyPr/>
                    <a:lstStyle/>
                    <a:p>
                      <a:r>
                        <a:rPr sz="1000">
                          <a:solidFill>
                            <a:srgbClr val="555555"/>
                          </a:solidFill>
                        </a:rPr>
                        <a:t>Pré-treinamento ImageNet</a:t>
                      </a:r>
                    </a:p>
                  </a:txBody>
                  <a:tcPr>
                    <a:solidFill>
                      <a:srgbClr val="F5F5F5"/>
                    </a:solidFill>
                  </a:tcPr>
                </a:tc>
                <a:tc>
                  <a:txBody>
                    <a:bodyPr/>
                    <a:lstStyle/>
                    <a:p>
                      <a:r>
                        <a:rPr sz="1000">
                          <a:solidFill>
                            <a:srgbClr val="555555"/>
                          </a:solidFill>
                        </a:rPr>
                        <a:t>Recipe clássica (SGD + step LR + crop simples, 2016)</a:t>
                      </a:r>
                    </a:p>
                  </a:txBody>
                  <a:tcPr>
                    <a:solidFill>
                      <a:srgbClr val="F5F5F5"/>
                    </a:solidFill>
                  </a:tcPr>
                </a:tc>
                <a:tc>
                  <a:txBody>
                    <a:bodyPr/>
                    <a:lstStyle/>
                    <a:p>
                      <a:r>
                        <a:rPr sz="1000">
                          <a:solidFill>
                            <a:srgbClr val="555555"/>
                          </a:solidFill>
                        </a:rPr>
                        <a:t>Recipe moderna (AdamW + RandAugment + Mixup + LayerScale + EMA, 2022)</a:t>
                      </a:r>
                    </a:p>
                  </a:txBody>
                  <a:tcPr>
                    <a:solidFill>
                      <a:srgbClr val="F5F5F5"/>
                    </a:solidFill>
                  </a:tcPr>
                </a:tc>
                <a:extLst>
                  <a:ext uri="{0D108BD9-81ED-4DB2-BD59-A6C34878D82A}">
                    <a16:rowId xmlns:a16="http://schemas.microsoft.com/office/drawing/2014/main" val="10008"/>
                  </a:ext>
                </a:extLst>
              </a:tr>
              <a:tr h="402336">
                <a:tc>
                  <a:txBody>
                    <a:bodyPr/>
                    <a:lstStyle/>
                    <a:p>
                      <a:r>
                        <a:rPr sz="1000">
                          <a:solidFill>
                            <a:srgbClr val="555555"/>
                          </a:solidFill>
                        </a:rPr>
                        <a:t>Top-1 ImageNet (referência)</a:t>
                      </a:r>
                    </a:p>
                  </a:txBody>
                  <a:tcPr>
                    <a:solidFill>
                      <a:srgbClr val="FFFFFF"/>
                    </a:solidFill>
                  </a:tcPr>
                </a:tc>
                <a:tc>
                  <a:txBody>
                    <a:bodyPr/>
                    <a:lstStyle/>
                    <a:p>
                      <a:r>
                        <a:rPr sz="1000">
                          <a:solidFill>
                            <a:srgbClr val="555555"/>
                          </a:solidFill>
                        </a:rPr>
                        <a:t>~76.1%</a:t>
                      </a:r>
                    </a:p>
                  </a:txBody>
                  <a:tcPr>
                    <a:solidFill>
                      <a:srgbClr val="FFFFFF"/>
                    </a:solidFill>
                  </a:tcPr>
                </a:tc>
                <a:tc>
                  <a:txBody>
                    <a:bodyPr/>
                    <a:lstStyle/>
                    <a:p>
                      <a:r>
                        <a:rPr sz="1000">
                          <a:solidFill>
                            <a:srgbClr val="555555"/>
                          </a:solidFill>
                        </a:rPr>
                        <a:t>~82.1%</a:t>
                      </a:r>
                    </a:p>
                  </a:txBody>
                  <a:tcPr>
                    <a:solidFill>
                      <a:srgbClr val="FFFFFF"/>
                    </a:solidFill>
                  </a:tcPr>
                </a:tc>
                <a:extLst>
                  <a:ext uri="{0D108BD9-81ED-4DB2-BD59-A6C34878D82A}">
                    <a16:rowId xmlns:a16="http://schemas.microsoft.com/office/drawing/2014/main" val="10009"/>
                  </a:ext>
                </a:extLst>
              </a:tr>
            </a:tbl>
          </a:graphicData>
        </a:graphic>
      </p:graphicFrame>
      <p:sp>
        <p:nvSpPr>
          <p:cNvPr id="6" name="TextBox 5"/>
          <p:cNvSpPr txBox="1"/>
          <p:nvPr/>
        </p:nvSpPr>
        <p:spPr>
          <a:xfrm>
            <a:off x="457200" y="7498079"/>
            <a:ext cx="13572946" cy="430887"/>
          </a:xfrm>
          <a:prstGeom prst="rect">
            <a:avLst/>
          </a:prstGeom>
          <a:noFill/>
        </p:spPr>
        <p:txBody>
          <a:bodyPr wrap="none">
            <a:spAutoFit/>
          </a:bodyPr>
          <a:lstStyle/>
          <a:p>
            <a:pPr>
              <a:defRPr sz="1100" i="1">
                <a:solidFill>
                  <a:srgbClr val="4A6B9E"/>
                </a:solidFill>
              </a:defRPr>
            </a:pPr>
            <a:r>
              <a:rPr dirty="0" err="1"/>
              <a:t>Hipóteses</a:t>
            </a:r>
            <a:r>
              <a:rPr dirty="0"/>
              <a:t> </a:t>
            </a:r>
            <a:r>
              <a:rPr dirty="0" err="1"/>
              <a:t>mecanísticas</a:t>
            </a:r>
            <a:r>
              <a:rPr dirty="0"/>
              <a:t> para o </a:t>
            </a:r>
            <a:r>
              <a:rPr dirty="0" err="1"/>
              <a:t>ganho</a:t>
            </a:r>
            <a:r>
              <a:rPr dirty="0"/>
              <a:t> do </a:t>
            </a:r>
            <a:r>
              <a:rPr dirty="0" err="1"/>
              <a:t>ConvNeXt</a:t>
            </a:r>
            <a:r>
              <a:rPr dirty="0"/>
              <a:t>-T </a:t>
            </a:r>
            <a:r>
              <a:rPr dirty="0" err="1"/>
              <a:t>em</a:t>
            </a:r>
            <a:r>
              <a:rPr dirty="0"/>
              <a:t> </a:t>
            </a:r>
            <a:r>
              <a:rPr dirty="0" err="1"/>
              <a:t>equidade</a:t>
            </a:r>
            <a:r>
              <a:rPr dirty="0"/>
              <a:t> </a:t>
            </a:r>
            <a:r>
              <a:rPr dirty="0" err="1"/>
              <a:t>demográfica</a:t>
            </a:r>
            <a:r>
              <a:rPr dirty="0"/>
              <a:t>: (H1) </a:t>
            </a:r>
            <a:r>
              <a:rPr dirty="0" err="1"/>
              <a:t>LayerNorm</a:t>
            </a:r>
            <a:r>
              <a:rPr dirty="0"/>
              <a:t> é </a:t>
            </a:r>
            <a:r>
              <a:rPr dirty="0" err="1"/>
              <a:t>menos</a:t>
            </a:r>
            <a:r>
              <a:rPr dirty="0"/>
              <a:t> </a:t>
            </a:r>
            <a:r>
              <a:rPr dirty="0" err="1"/>
              <a:t>sensível</a:t>
            </a:r>
            <a:r>
              <a:rPr dirty="0"/>
              <a:t> a batches </a:t>
            </a:r>
            <a:r>
              <a:rPr dirty="0" err="1"/>
              <a:t>demograficamente</a:t>
            </a:r>
            <a:r>
              <a:rPr dirty="0"/>
              <a:t> </a:t>
            </a:r>
            <a:r>
              <a:rPr dirty="0" err="1"/>
              <a:t>assimétricos</a:t>
            </a:r>
            <a:r>
              <a:rPr dirty="0"/>
              <a:t> </a:t>
            </a:r>
            <a:r>
              <a:rPr dirty="0" err="1"/>
              <a:t>que</a:t>
            </a:r>
            <a:r>
              <a:rPr dirty="0"/>
              <a:t> </a:t>
            </a:r>
            <a:r>
              <a:rPr dirty="0" err="1"/>
              <a:t>BatchNorm</a:t>
            </a:r>
            <a:r>
              <a:rPr dirty="0"/>
              <a:t>; (H2) kernel </a:t>
            </a:r>
            <a:r>
              <a:rPr dirty="0" err="1"/>
              <a:t>depthwise</a:t>
            </a:r>
            <a:r>
              <a:rPr dirty="0"/>
              <a:t> 7×7 </a:t>
            </a:r>
            <a:r>
              <a:rPr dirty="0" err="1"/>
              <a:t>captura</a:t>
            </a:r>
            <a:r>
              <a:rPr dirty="0"/>
              <a:t> </a:t>
            </a:r>
            <a:r>
              <a:rPr dirty="0" err="1"/>
              <a:t>características</a:t>
            </a:r>
            <a:r>
              <a:rPr dirty="0"/>
              <a:t> </a:t>
            </a:r>
            <a:r>
              <a:rPr dirty="0" err="1"/>
              <a:t>faciais</a:t>
            </a:r>
            <a:r>
              <a:rPr dirty="0"/>
              <a:t> </a:t>
            </a:r>
            <a:r>
              <a:rPr dirty="0" err="1"/>
              <a:t>em</a:t>
            </a:r>
            <a:r>
              <a:rPr dirty="0"/>
              <a:t> </a:t>
            </a:r>
            <a:endParaRPr lang="pt-BR" dirty="0"/>
          </a:p>
          <a:p>
            <a:pPr>
              <a:defRPr sz="1100" i="1">
                <a:solidFill>
                  <a:srgbClr val="4A6B9E"/>
                </a:solidFill>
              </a:defRPr>
            </a:pPr>
            <a:r>
              <a:rPr dirty="0" err="1"/>
              <a:t>escala</a:t>
            </a:r>
            <a:r>
              <a:rPr dirty="0"/>
              <a:t> </a:t>
            </a:r>
            <a:r>
              <a:rPr dirty="0" err="1"/>
              <a:t>intermediária</a:t>
            </a:r>
            <a:r>
              <a:rPr dirty="0"/>
              <a:t> (20–40 pixels </a:t>
            </a:r>
            <a:r>
              <a:rPr dirty="0" err="1"/>
              <a:t>em</a:t>
            </a:r>
            <a:r>
              <a:rPr dirty="0"/>
              <a:t> 224×224); (H3) recipe de </a:t>
            </a:r>
            <a:r>
              <a:rPr dirty="0" err="1"/>
              <a:t>pré-treinamento</a:t>
            </a:r>
            <a:r>
              <a:rPr dirty="0"/>
              <a:t> </a:t>
            </a:r>
            <a:r>
              <a:rPr dirty="0" err="1"/>
              <a:t>moderno</a:t>
            </a:r>
            <a:r>
              <a:rPr dirty="0"/>
              <a:t> </a:t>
            </a:r>
            <a:r>
              <a:rPr dirty="0" err="1"/>
              <a:t>produz</a:t>
            </a:r>
            <a:r>
              <a:rPr dirty="0"/>
              <a:t> </a:t>
            </a:r>
            <a:r>
              <a:rPr dirty="0" err="1"/>
              <a:t>representações</a:t>
            </a:r>
            <a:r>
              <a:rPr dirty="0"/>
              <a:t> </a:t>
            </a:r>
            <a:r>
              <a:rPr dirty="0" err="1"/>
              <a:t>mais</a:t>
            </a:r>
            <a:r>
              <a:rPr dirty="0"/>
              <a:t> robustas a </a:t>
            </a:r>
            <a:r>
              <a:rPr dirty="0" err="1"/>
              <a:t>variações</a:t>
            </a:r>
            <a:r>
              <a:rPr dirty="0"/>
              <a:t> de </a:t>
            </a:r>
            <a:r>
              <a:rPr dirty="0" err="1"/>
              <a:t>iluminação</a:t>
            </a:r>
            <a:r>
              <a:rPr dirty="0"/>
              <a:t> e pose.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4630400" cy="822960"/>
          </a:xfrm>
          <a:prstGeom prst="rect">
            <a:avLst/>
          </a:prstGeom>
          <a:solidFill>
            <a:srgbClr val="1F3A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3716000" y="182880"/>
            <a:ext cx="914400" cy="457200"/>
          </a:xfrm>
          <a:prstGeom prst="rect">
            <a:avLst/>
          </a:prstGeom>
          <a:noFill/>
        </p:spPr>
        <p:txBody>
          <a:bodyPr wrap="none">
            <a:spAutoFit/>
          </a:bodyPr>
          <a:lstStyle/>
          <a:p>
            <a:pPr>
              <a:defRPr sz="1400">
                <a:solidFill>
                  <a:srgbClr val="CCD8EE"/>
                </a:solidFill>
              </a:defRPr>
            </a:pPr>
            <a:r>
              <a:t>7 / 19</a:t>
            </a:r>
          </a:p>
        </p:txBody>
      </p:sp>
      <p:sp>
        <p:nvSpPr>
          <p:cNvPr id="4" name="TextBox 3"/>
          <p:cNvSpPr txBox="1"/>
          <p:nvPr/>
        </p:nvSpPr>
        <p:spPr>
          <a:xfrm>
            <a:off x="457200" y="182880"/>
            <a:ext cx="12801600" cy="548640"/>
          </a:xfrm>
          <a:prstGeom prst="rect">
            <a:avLst/>
          </a:prstGeom>
          <a:noFill/>
        </p:spPr>
        <p:txBody>
          <a:bodyPr wrap="none">
            <a:spAutoFit/>
          </a:bodyPr>
          <a:lstStyle/>
          <a:p>
            <a:pPr>
              <a:defRPr sz="2400" b="1">
                <a:solidFill>
                  <a:srgbClr val="FFFFFF"/>
                </a:solidFill>
              </a:defRPr>
            </a:pPr>
            <a:r>
              <a:t>Os 5 fatores executados (Linha A — atribuição causal)</a:t>
            </a:r>
          </a:p>
        </p:txBody>
      </p:sp>
      <p:graphicFrame>
        <p:nvGraphicFramePr>
          <p:cNvPr id="5" name="Table 4"/>
          <p:cNvGraphicFramePr>
            <a:graphicFrameLocks noGrp="1"/>
          </p:cNvGraphicFramePr>
          <p:nvPr/>
        </p:nvGraphicFramePr>
        <p:xfrm>
          <a:off x="457200" y="1097280"/>
          <a:ext cx="13716000" cy="2560320"/>
        </p:xfrm>
        <a:graphic>
          <a:graphicData uri="http://schemas.openxmlformats.org/drawingml/2006/table">
            <a:tbl>
              <a:tblPr firstRow="1" bandRow="1">
                <a:tableStyleId>{5C22544A-7EE6-4342-B048-85BDC9FD1C3A}</a:tableStyleId>
              </a:tblPr>
              <a:tblGrid>
                <a:gridCol w="246888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2743200">
                  <a:extLst>
                    <a:ext uri="{9D8B030D-6E8A-4147-A177-3AD203B41FA5}">
                      <a16:colId xmlns:a16="http://schemas.microsoft.com/office/drawing/2014/main" val="20003"/>
                    </a:ext>
                  </a:extLst>
                </a:gridCol>
                <a:gridCol w="3017520">
                  <a:extLst>
                    <a:ext uri="{9D8B030D-6E8A-4147-A177-3AD203B41FA5}">
                      <a16:colId xmlns:a16="http://schemas.microsoft.com/office/drawing/2014/main" val="20004"/>
                    </a:ext>
                  </a:extLst>
                </a:gridCol>
              </a:tblGrid>
              <a:tr h="426720">
                <a:tc>
                  <a:txBody>
                    <a:bodyPr/>
                    <a:lstStyle/>
                    <a:p>
                      <a:r>
                        <a:rPr sz="1100" b="1">
                          <a:solidFill>
                            <a:srgbClr val="FFFFFF"/>
                          </a:solidFill>
                        </a:rPr>
                        <a:t>Fator</a:t>
                      </a:r>
                    </a:p>
                  </a:txBody>
                  <a:tcPr>
                    <a:solidFill>
                      <a:srgbClr val="1F3A68"/>
                    </a:solidFill>
                  </a:tcPr>
                </a:tc>
                <a:tc>
                  <a:txBody>
                    <a:bodyPr/>
                    <a:lstStyle/>
                    <a:p>
                      <a:r>
                        <a:rPr sz="1100" b="1">
                          <a:solidFill>
                            <a:srgbClr val="FFFFFF"/>
                          </a:solidFill>
                        </a:rPr>
                        <a:t>Variável manipulada</a:t>
                      </a:r>
                    </a:p>
                  </a:txBody>
                  <a:tcPr>
                    <a:solidFill>
                      <a:srgbClr val="1F3A68"/>
                    </a:solidFill>
                  </a:tcPr>
                </a:tc>
                <a:tc>
                  <a:txBody>
                    <a:bodyPr/>
                    <a:lstStyle/>
                    <a:p>
                      <a:r>
                        <a:rPr sz="1100" b="1">
                          <a:solidFill>
                            <a:srgbClr val="FFFFFF"/>
                          </a:solidFill>
                        </a:rPr>
                        <a:t>Δ F1</a:t>
                      </a:r>
                    </a:p>
                  </a:txBody>
                  <a:tcPr>
                    <a:solidFill>
                      <a:srgbClr val="1F3A68"/>
                    </a:solidFill>
                  </a:tcPr>
                </a:tc>
                <a:tc>
                  <a:txBody>
                    <a:bodyPr/>
                    <a:lstStyle/>
                    <a:p>
                      <a:r>
                        <a:rPr sz="1100" b="1">
                          <a:solidFill>
                            <a:srgbClr val="FFFFFF"/>
                          </a:solidFill>
                        </a:rPr>
                        <a:t>Δ Razão de disparidade</a:t>
                      </a:r>
                    </a:p>
                  </a:txBody>
                  <a:tcPr>
                    <a:solidFill>
                      <a:srgbClr val="1F3A68"/>
                    </a:solidFill>
                  </a:tcPr>
                </a:tc>
                <a:tc>
                  <a:txBody>
                    <a:bodyPr/>
                    <a:lstStyle/>
                    <a:p>
                      <a:r>
                        <a:rPr sz="1100" b="1">
                          <a:solidFill>
                            <a:srgbClr val="FFFFFF"/>
                          </a:solidFill>
                        </a:rPr>
                        <a:t>Veredito</a:t>
                      </a:r>
                    </a:p>
                  </a:txBody>
                  <a:tcPr>
                    <a:solidFill>
                      <a:srgbClr val="1F3A68"/>
                    </a:solidFill>
                  </a:tcPr>
                </a:tc>
                <a:extLst>
                  <a:ext uri="{0D108BD9-81ED-4DB2-BD59-A6C34878D82A}">
                    <a16:rowId xmlns:a16="http://schemas.microsoft.com/office/drawing/2014/main" val="10000"/>
                  </a:ext>
                </a:extLst>
              </a:tr>
              <a:tr h="426720">
                <a:tc>
                  <a:txBody>
                    <a:bodyPr/>
                    <a:lstStyle/>
                    <a:p>
                      <a:r>
                        <a:rPr sz="1000">
                          <a:solidFill>
                            <a:srgbClr val="555555"/>
                          </a:solidFill>
                        </a:rPr>
                        <a:t>F1 — Dataset</a:t>
                      </a:r>
                    </a:p>
                  </a:txBody>
                  <a:tcPr>
                    <a:solidFill>
                      <a:srgbClr val="FFFFFF"/>
                    </a:solidFill>
                  </a:tcPr>
                </a:tc>
                <a:tc>
                  <a:txBody>
                    <a:bodyPr/>
                    <a:lstStyle/>
                    <a:p>
                      <a:r>
                        <a:rPr sz="1000">
                          <a:solidFill>
                            <a:srgbClr val="555555"/>
                          </a:solidFill>
                        </a:rPr>
                        <a:t>Limpeza multi-face (72k vs. 97k)</a:t>
                      </a:r>
                    </a:p>
                  </a:txBody>
                  <a:tcPr>
                    <a:solidFill>
                      <a:srgbClr val="FFFFFF"/>
                    </a:solidFill>
                  </a:tcPr>
                </a:tc>
                <a:tc>
                  <a:txBody>
                    <a:bodyPr/>
                    <a:lstStyle/>
                    <a:p>
                      <a:r>
                        <a:rPr sz="1000">
                          <a:solidFill>
                            <a:srgbClr val="555555"/>
                          </a:solidFill>
                        </a:rPr>
                        <a:t>+1.35pp (CE)</a:t>
                      </a:r>
                    </a:p>
                  </a:txBody>
                  <a:tcPr>
                    <a:solidFill>
                      <a:srgbClr val="FFFFFF"/>
                    </a:solidFill>
                  </a:tcPr>
                </a:tc>
                <a:tc>
                  <a:txBody>
                    <a:bodyPr/>
                    <a:lstStyle/>
                    <a:p>
                      <a:r>
                        <a:rPr sz="1000">
                          <a:solidFill>
                            <a:srgbClr val="555555"/>
                          </a:solidFill>
                        </a:rPr>
                        <a:t>não significativo</a:t>
                      </a:r>
                    </a:p>
                  </a:txBody>
                  <a:tcPr>
                    <a:solidFill>
                      <a:srgbClr val="FFFFFF"/>
                    </a:solidFill>
                  </a:tcPr>
                </a:tc>
                <a:tc>
                  <a:txBody>
                    <a:bodyPr/>
                    <a:lstStyle/>
                    <a:p>
                      <a:r>
                        <a:rPr sz="1000">
                          <a:solidFill>
                            <a:srgbClr val="555555"/>
                          </a:solidFill>
                        </a:rPr>
                        <a:t>Contribuição parcial (acurácia)</a:t>
                      </a:r>
                    </a:p>
                  </a:txBody>
                  <a:tcPr>
                    <a:solidFill>
                      <a:srgbClr val="FFFFFF"/>
                    </a:solidFill>
                  </a:tcPr>
                </a:tc>
                <a:extLst>
                  <a:ext uri="{0D108BD9-81ED-4DB2-BD59-A6C34878D82A}">
                    <a16:rowId xmlns:a16="http://schemas.microsoft.com/office/drawing/2014/main" val="10001"/>
                  </a:ext>
                </a:extLst>
              </a:tr>
              <a:tr h="426720">
                <a:tc>
                  <a:txBody>
                    <a:bodyPr/>
                    <a:lstStyle/>
                    <a:p>
                      <a:r>
                        <a:rPr sz="1000">
                          <a:solidFill>
                            <a:srgbClr val="555555"/>
                          </a:solidFill>
                        </a:rPr>
                        <a:t>F2 — Topologia</a:t>
                      </a:r>
                    </a:p>
                  </a:txBody>
                  <a:tcPr>
                    <a:solidFill>
                      <a:srgbClr val="F5F5F5"/>
                    </a:solidFill>
                  </a:tcPr>
                </a:tc>
                <a:tc>
                  <a:txBody>
                    <a:bodyPr/>
                    <a:lstStyle/>
                    <a:p>
                      <a:r>
                        <a:rPr sz="1000">
                          <a:solidFill>
                            <a:srgbClr val="555555"/>
                          </a:solidFill>
                        </a:rPr>
                        <a:t>MLP vs. linear (HPO via Optuna)</a:t>
                      </a:r>
                    </a:p>
                  </a:txBody>
                  <a:tcPr>
                    <a:solidFill>
                      <a:srgbClr val="F5F5F5"/>
                    </a:solidFill>
                  </a:tcPr>
                </a:tc>
                <a:tc>
                  <a:txBody>
                    <a:bodyPr/>
                    <a:lstStyle/>
                    <a:p>
                      <a:r>
                        <a:rPr sz="1000">
                          <a:solidFill>
                            <a:srgbClr val="555555"/>
                          </a:solidFill>
                        </a:rPr>
                        <a:t>≈ 0</a:t>
                      </a:r>
                    </a:p>
                  </a:txBody>
                  <a:tcPr>
                    <a:solidFill>
                      <a:srgbClr val="F5F5F5"/>
                    </a:solidFill>
                  </a:tcPr>
                </a:tc>
                <a:tc>
                  <a:txBody>
                    <a:bodyPr/>
                    <a:lstStyle/>
                    <a:p>
                      <a:r>
                        <a:rPr sz="1000">
                          <a:solidFill>
                            <a:srgbClr val="555555"/>
                          </a:solidFill>
                        </a:rPr>
                        <a:t>−0.11 (≫1σ)</a:t>
                      </a:r>
                    </a:p>
                  </a:txBody>
                  <a:tcPr>
                    <a:solidFill>
                      <a:srgbClr val="F5F5F5"/>
                    </a:solidFill>
                  </a:tcPr>
                </a:tc>
                <a:tc>
                  <a:txBody>
                    <a:bodyPr/>
                    <a:lstStyle/>
                    <a:p>
                      <a:r>
                        <a:rPr sz="1000">
                          <a:solidFill>
                            <a:srgbClr val="555555"/>
                          </a:solidFill>
                        </a:rPr>
                        <a:t>Contribuição modesta (equidade)</a:t>
                      </a:r>
                    </a:p>
                  </a:txBody>
                  <a:tcPr>
                    <a:solidFill>
                      <a:srgbClr val="F5F5F5"/>
                    </a:solidFill>
                  </a:tcPr>
                </a:tc>
                <a:extLst>
                  <a:ext uri="{0D108BD9-81ED-4DB2-BD59-A6C34878D82A}">
                    <a16:rowId xmlns:a16="http://schemas.microsoft.com/office/drawing/2014/main" val="10002"/>
                  </a:ext>
                </a:extLst>
              </a:tr>
              <a:tr h="426720">
                <a:tc>
                  <a:txBody>
                    <a:bodyPr/>
                    <a:lstStyle/>
                    <a:p>
                      <a:r>
                        <a:rPr sz="1000">
                          <a:solidFill>
                            <a:srgbClr val="555555"/>
                          </a:solidFill>
                        </a:rPr>
                        <a:t>F3 — Função de custo (loss)</a:t>
                      </a:r>
                    </a:p>
                  </a:txBody>
                  <a:tcPr>
                    <a:solidFill>
                      <a:srgbClr val="FFFFFF"/>
                    </a:solidFill>
                  </a:tcPr>
                </a:tc>
                <a:tc>
                  <a:txBody>
                    <a:bodyPr/>
                    <a:lstStyle/>
                    <a:p>
                      <a:r>
                        <a:rPr sz="1000">
                          <a:solidFill>
                            <a:srgbClr val="555555"/>
                          </a:solidFill>
                        </a:rPr>
                        <a:t>CE, ArcFace, AdaFace, MagFace</a:t>
                      </a:r>
                    </a:p>
                  </a:txBody>
                  <a:tcPr>
                    <a:solidFill>
                      <a:srgbClr val="FFFFFF"/>
                    </a:solidFill>
                  </a:tcPr>
                </a:tc>
                <a:tc>
                  <a:txBody>
                    <a:bodyPr/>
                    <a:lstStyle/>
                    <a:p>
                      <a:r>
                        <a:rPr sz="1000">
                          <a:solidFill>
                            <a:srgbClr val="555555"/>
                          </a:solidFill>
                        </a:rPr>
                        <a:t>nulo</a:t>
                      </a:r>
                    </a:p>
                  </a:txBody>
                  <a:tcPr>
                    <a:solidFill>
                      <a:srgbClr val="FFFFFF"/>
                    </a:solidFill>
                  </a:tcPr>
                </a:tc>
                <a:tc>
                  <a:txBody>
                    <a:bodyPr/>
                    <a:lstStyle/>
                    <a:p>
                      <a:r>
                        <a:rPr sz="1000">
                          <a:solidFill>
                            <a:srgbClr val="555555"/>
                          </a:solidFill>
                        </a:rPr>
                        <a:t>nulo</a:t>
                      </a:r>
                    </a:p>
                  </a:txBody>
                  <a:tcPr>
                    <a:solidFill>
                      <a:srgbClr val="FFFFFF"/>
                    </a:solidFill>
                  </a:tcPr>
                </a:tc>
                <a:tc>
                  <a:txBody>
                    <a:bodyPr/>
                    <a:lstStyle/>
                    <a:p>
                      <a:r>
                        <a:rPr sz="1000">
                          <a:solidFill>
                            <a:srgbClr val="555555"/>
                          </a:solidFill>
                        </a:rPr>
                        <a:t>Nulo (atribuição-grade)</a:t>
                      </a:r>
                    </a:p>
                  </a:txBody>
                  <a:tcPr>
                    <a:solidFill>
                      <a:srgbClr val="FFFFFF"/>
                    </a:solidFill>
                  </a:tcPr>
                </a:tc>
                <a:extLst>
                  <a:ext uri="{0D108BD9-81ED-4DB2-BD59-A6C34878D82A}">
                    <a16:rowId xmlns:a16="http://schemas.microsoft.com/office/drawing/2014/main" val="10003"/>
                  </a:ext>
                </a:extLst>
              </a:tr>
              <a:tr h="426720">
                <a:tc>
                  <a:txBody>
                    <a:bodyPr/>
                    <a:lstStyle/>
                    <a:p>
                      <a:r>
                        <a:rPr sz="1000" dirty="0">
                          <a:solidFill>
                            <a:srgbClr val="555555"/>
                          </a:solidFill>
                        </a:rPr>
                        <a:t>F4 — </a:t>
                      </a:r>
                      <a:r>
                        <a:rPr sz="1000" dirty="0" err="1">
                          <a:solidFill>
                            <a:srgbClr val="555555"/>
                          </a:solidFill>
                        </a:rPr>
                        <a:t>Paradigma</a:t>
                      </a:r>
                      <a:endParaRPr sz="1000" dirty="0">
                        <a:solidFill>
                          <a:srgbClr val="555555"/>
                        </a:solidFill>
                      </a:endParaRPr>
                    </a:p>
                  </a:txBody>
                  <a:tcPr>
                    <a:solidFill>
                      <a:srgbClr val="F5F5F5"/>
                    </a:solidFill>
                  </a:tcPr>
                </a:tc>
                <a:tc>
                  <a:txBody>
                    <a:bodyPr/>
                    <a:lstStyle/>
                    <a:p>
                      <a:r>
                        <a:rPr sz="1000">
                          <a:solidFill>
                            <a:srgbClr val="555555"/>
                          </a:solidFill>
                        </a:rPr>
                        <a:t>CE+linear vs. CE+SupCon (one-stage)</a:t>
                      </a:r>
                    </a:p>
                  </a:txBody>
                  <a:tcPr>
                    <a:solidFill>
                      <a:srgbClr val="F5F5F5"/>
                    </a:solidFill>
                  </a:tcPr>
                </a:tc>
                <a:tc>
                  <a:txBody>
                    <a:bodyPr/>
                    <a:lstStyle/>
                    <a:p>
                      <a:r>
                        <a:rPr sz="1000">
                          <a:solidFill>
                            <a:srgbClr val="555555"/>
                          </a:solidFill>
                        </a:rPr>
                        <a:t>nulo</a:t>
                      </a:r>
                    </a:p>
                  </a:txBody>
                  <a:tcPr>
                    <a:solidFill>
                      <a:srgbClr val="F5F5F5"/>
                    </a:solidFill>
                  </a:tcPr>
                </a:tc>
                <a:tc>
                  <a:txBody>
                    <a:bodyPr/>
                    <a:lstStyle/>
                    <a:p>
                      <a:r>
                        <a:rPr sz="1000">
                          <a:solidFill>
                            <a:srgbClr val="555555"/>
                          </a:solidFill>
                        </a:rPr>
                        <a:t>nulo</a:t>
                      </a:r>
                    </a:p>
                  </a:txBody>
                  <a:tcPr>
                    <a:solidFill>
                      <a:srgbClr val="F5F5F5"/>
                    </a:solidFill>
                  </a:tcPr>
                </a:tc>
                <a:tc>
                  <a:txBody>
                    <a:bodyPr/>
                    <a:lstStyle/>
                    <a:p>
                      <a:r>
                        <a:rPr sz="1000">
                          <a:solidFill>
                            <a:srgbClr val="555555"/>
                          </a:solidFill>
                        </a:rPr>
                        <a:t>Nulo (predição da FSCL confirmada)</a:t>
                      </a:r>
                    </a:p>
                  </a:txBody>
                  <a:tcPr>
                    <a:solidFill>
                      <a:srgbClr val="F5F5F5"/>
                    </a:solidFill>
                  </a:tcPr>
                </a:tc>
                <a:extLst>
                  <a:ext uri="{0D108BD9-81ED-4DB2-BD59-A6C34878D82A}">
                    <a16:rowId xmlns:a16="http://schemas.microsoft.com/office/drawing/2014/main" val="10004"/>
                  </a:ext>
                </a:extLst>
              </a:tr>
              <a:tr h="426720">
                <a:tc>
                  <a:txBody>
                    <a:bodyPr/>
                    <a:lstStyle/>
                    <a:p>
                      <a:r>
                        <a:rPr sz="1000">
                          <a:solidFill>
                            <a:srgbClr val="555555"/>
                          </a:solidFill>
                        </a:rPr>
                        <a:t>F5 — Backbone (rede dorsal)</a:t>
                      </a:r>
                    </a:p>
                  </a:txBody>
                  <a:tcPr>
                    <a:solidFill>
                      <a:srgbClr val="FFFFFF"/>
                    </a:solidFill>
                  </a:tcPr>
                </a:tc>
                <a:tc>
                  <a:txBody>
                    <a:bodyPr/>
                    <a:lstStyle/>
                    <a:p>
                      <a:r>
                        <a:rPr sz="1000">
                          <a:solidFill>
                            <a:srgbClr val="555555"/>
                          </a:solidFill>
                        </a:rPr>
                        <a:t>RN-50, RN-34, ViT-B/16, ConvNeXt-T</a:t>
                      </a:r>
                    </a:p>
                  </a:txBody>
                  <a:tcPr>
                    <a:solidFill>
                      <a:srgbClr val="FFFFFF"/>
                    </a:solidFill>
                  </a:tcPr>
                </a:tc>
                <a:tc>
                  <a:txBody>
                    <a:bodyPr/>
                    <a:lstStyle/>
                    <a:p>
                      <a:r>
                        <a:rPr sz="1000" b="1">
                          <a:solidFill>
                            <a:srgbClr val="2E8B57"/>
                          </a:solidFill>
                        </a:rPr>
                        <a:t>✅ +2.3pp (~7σ)</a:t>
                      </a:r>
                    </a:p>
                  </a:txBody>
                  <a:tcPr>
                    <a:solidFill>
                      <a:srgbClr val="FFFFFF"/>
                    </a:solidFill>
                  </a:tcPr>
                </a:tc>
                <a:tc>
                  <a:txBody>
                    <a:bodyPr/>
                    <a:lstStyle/>
                    <a:p>
                      <a:r>
                        <a:rPr sz="1000" b="1">
                          <a:solidFill>
                            <a:srgbClr val="2E8B57"/>
                          </a:solidFill>
                        </a:rPr>
                        <a:t>✅ −0.13 (~3σ)</a:t>
                      </a:r>
                    </a:p>
                  </a:txBody>
                  <a:tcPr>
                    <a:solidFill>
                      <a:srgbClr val="FFFFFF"/>
                    </a:solidFill>
                  </a:tcPr>
                </a:tc>
                <a:tc>
                  <a:txBody>
                    <a:bodyPr/>
                    <a:lstStyle/>
                    <a:p>
                      <a:r>
                        <a:rPr sz="1000" b="1" dirty="0">
                          <a:solidFill>
                            <a:srgbClr val="2E8B57"/>
                          </a:solidFill>
                        </a:rPr>
                        <a:t>✅ Forte — </a:t>
                      </a:r>
                      <a:r>
                        <a:rPr sz="1000" b="1" dirty="0" err="1">
                          <a:solidFill>
                            <a:srgbClr val="2E8B57"/>
                          </a:solidFill>
                        </a:rPr>
                        <a:t>alavanca</a:t>
                      </a:r>
                      <a:r>
                        <a:rPr sz="1000" b="1" dirty="0">
                          <a:solidFill>
                            <a:srgbClr val="2E8B57"/>
                          </a:solidFill>
                        </a:rPr>
                        <a:t> </a:t>
                      </a:r>
                      <a:r>
                        <a:rPr sz="1000" b="1" dirty="0" err="1">
                          <a:solidFill>
                            <a:srgbClr val="2E8B57"/>
                          </a:solidFill>
                        </a:rPr>
                        <a:t>confirmada</a:t>
                      </a:r>
                      <a:endParaRPr sz="1000" b="1" dirty="0">
                        <a:solidFill>
                          <a:srgbClr val="2E8B57"/>
                        </a:solidFill>
                      </a:endParaRPr>
                    </a:p>
                  </a:txBody>
                  <a:tcPr>
                    <a:solidFill>
                      <a:srgbClr val="FFFFFF"/>
                    </a:solidFill>
                  </a:tcPr>
                </a:tc>
                <a:extLst>
                  <a:ext uri="{0D108BD9-81ED-4DB2-BD59-A6C34878D82A}">
                    <a16:rowId xmlns:a16="http://schemas.microsoft.com/office/drawing/2014/main" val="10005"/>
                  </a:ext>
                </a:extLst>
              </a:tr>
            </a:tbl>
          </a:graphicData>
        </a:graphic>
      </p:graphicFrame>
      <p:sp>
        <p:nvSpPr>
          <p:cNvPr id="6" name="TextBox 5"/>
          <p:cNvSpPr txBox="1"/>
          <p:nvPr/>
        </p:nvSpPr>
        <p:spPr>
          <a:xfrm>
            <a:off x="457200" y="7498079"/>
            <a:ext cx="10726013" cy="430887"/>
          </a:xfrm>
          <a:prstGeom prst="rect">
            <a:avLst/>
          </a:prstGeom>
          <a:noFill/>
        </p:spPr>
        <p:txBody>
          <a:bodyPr wrap="none">
            <a:spAutoFit/>
          </a:bodyPr>
          <a:lstStyle/>
          <a:p>
            <a:pPr>
              <a:defRPr sz="1100" i="1">
                <a:solidFill>
                  <a:srgbClr val="4A6B9E"/>
                </a:solidFill>
              </a:defRPr>
            </a:pPr>
            <a:r>
              <a:rPr dirty="0"/>
              <a:t>FSCL (Fair Supervised Contrastive Learning) — Park et al., CVPR 2022. O paper </a:t>
            </a:r>
            <a:r>
              <a:rPr dirty="0" err="1"/>
              <a:t>propõe</a:t>
            </a:r>
            <a:r>
              <a:rPr dirty="0"/>
              <a:t> </a:t>
            </a:r>
            <a:r>
              <a:rPr dirty="0" err="1"/>
              <a:t>que</a:t>
            </a:r>
            <a:r>
              <a:rPr dirty="0"/>
              <a:t> o </a:t>
            </a:r>
            <a:r>
              <a:rPr dirty="0" err="1"/>
              <a:t>SupCon</a:t>
            </a:r>
            <a:r>
              <a:rPr dirty="0"/>
              <a:t> </a:t>
            </a:r>
            <a:r>
              <a:rPr dirty="0" err="1"/>
              <a:t>canônico</a:t>
            </a:r>
            <a:r>
              <a:rPr dirty="0"/>
              <a:t> </a:t>
            </a:r>
            <a:r>
              <a:rPr dirty="0" err="1"/>
              <a:t>não</a:t>
            </a:r>
            <a:r>
              <a:rPr dirty="0"/>
              <a:t> é </a:t>
            </a:r>
            <a:r>
              <a:rPr dirty="0" err="1"/>
              <a:t>naturalmente</a:t>
            </a:r>
            <a:r>
              <a:rPr dirty="0"/>
              <a:t> </a:t>
            </a:r>
            <a:r>
              <a:rPr dirty="0" err="1"/>
              <a:t>justo</a:t>
            </a:r>
            <a:r>
              <a:rPr dirty="0"/>
              <a:t> para </a:t>
            </a:r>
            <a:r>
              <a:rPr dirty="0" err="1"/>
              <a:t>grupos</a:t>
            </a:r>
            <a:r>
              <a:rPr dirty="0"/>
              <a:t> </a:t>
            </a:r>
            <a:r>
              <a:rPr dirty="0" err="1"/>
              <a:t>demograficamente</a:t>
            </a:r>
            <a:r>
              <a:rPr dirty="0"/>
              <a:t> </a:t>
            </a:r>
            <a:r>
              <a:rPr dirty="0" err="1"/>
              <a:t>desbalanceados</a:t>
            </a:r>
            <a:r>
              <a:rPr dirty="0"/>
              <a:t>; </a:t>
            </a:r>
            <a:endParaRPr lang="pt-BR" dirty="0"/>
          </a:p>
          <a:p>
            <a:pPr>
              <a:defRPr sz="1100" i="1">
                <a:solidFill>
                  <a:srgbClr val="4A6B9E"/>
                </a:solidFill>
              </a:defRPr>
            </a:pPr>
            <a:r>
              <a:rPr dirty="0" err="1"/>
              <a:t>nosso</a:t>
            </a:r>
            <a:r>
              <a:rPr dirty="0"/>
              <a:t> </a:t>
            </a:r>
            <a:r>
              <a:rPr dirty="0" err="1"/>
              <a:t>resultado</a:t>
            </a:r>
            <a:r>
              <a:rPr dirty="0"/>
              <a:t> </a:t>
            </a:r>
            <a:r>
              <a:rPr dirty="0" err="1"/>
              <a:t>nulo</a:t>
            </a:r>
            <a:r>
              <a:rPr dirty="0"/>
              <a:t> no Fator 4 </a:t>
            </a:r>
            <a:r>
              <a:rPr dirty="0" err="1"/>
              <a:t>confirma</a:t>
            </a:r>
            <a:r>
              <a:rPr dirty="0"/>
              <a:t> </a:t>
            </a:r>
            <a:r>
              <a:rPr dirty="0" err="1"/>
              <a:t>empiricamente</a:t>
            </a:r>
            <a:r>
              <a:rPr dirty="0"/>
              <a:t> </a:t>
            </a:r>
            <a:r>
              <a:rPr dirty="0" err="1"/>
              <a:t>essa</a:t>
            </a:r>
            <a:r>
              <a:rPr dirty="0"/>
              <a:t> </a:t>
            </a:r>
            <a:r>
              <a:rPr dirty="0" err="1"/>
              <a:t>predição</a:t>
            </a:r>
            <a:r>
              <a:rPr dirty="0"/>
              <a:t> </a:t>
            </a:r>
            <a:r>
              <a:rPr dirty="0" err="1"/>
              <a:t>teórica</a:t>
            </a:r>
            <a:r>
              <a:rPr dirty="0"/>
              <a: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4630400" cy="822960"/>
          </a:xfrm>
          <a:prstGeom prst="rect">
            <a:avLst/>
          </a:prstGeom>
          <a:solidFill>
            <a:srgbClr val="1F3A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3716000" y="182880"/>
            <a:ext cx="914400" cy="457200"/>
          </a:xfrm>
          <a:prstGeom prst="rect">
            <a:avLst/>
          </a:prstGeom>
          <a:noFill/>
        </p:spPr>
        <p:txBody>
          <a:bodyPr wrap="none">
            <a:spAutoFit/>
          </a:bodyPr>
          <a:lstStyle/>
          <a:p>
            <a:pPr>
              <a:defRPr sz="1400">
                <a:solidFill>
                  <a:srgbClr val="CCD8EE"/>
                </a:solidFill>
              </a:defRPr>
            </a:pPr>
            <a:r>
              <a:t>8 / 19</a:t>
            </a:r>
          </a:p>
        </p:txBody>
      </p:sp>
      <p:sp>
        <p:nvSpPr>
          <p:cNvPr id="4" name="TextBox 3"/>
          <p:cNvSpPr txBox="1"/>
          <p:nvPr/>
        </p:nvSpPr>
        <p:spPr>
          <a:xfrm>
            <a:off x="457200" y="182880"/>
            <a:ext cx="12801600" cy="548640"/>
          </a:xfrm>
          <a:prstGeom prst="rect">
            <a:avLst/>
          </a:prstGeom>
          <a:noFill/>
        </p:spPr>
        <p:txBody>
          <a:bodyPr wrap="none">
            <a:spAutoFit/>
          </a:bodyPr>
          <a:lstStyle/>
          <a:p>
            <a:pPr>
              <a:defRPr sz="2400" b="1">
                <a:solidFill>
                  <a:srgbClr val="FFFFFF"/>
                </a:solidFill>
              </a:defRPr>
            </a:pPr>
            <a:r>
              <a:t>Estado do projeto em 10 de maio de 2026 (há duas semanas)</a:t>
            </a:r>
          </a:p>
        </p:txBody>
      </p:sp>
      <p:sp>
        <p:nvSpPr>
          <p:cNvPr id="5" name="TextBox 4"/>
          <p:cNvSpPr txBox="1"/>
          <p:nvPr/>
        </p:nvSpPr>
        <p:spPr>
          <a:xfrm>
            <a:off x="640080" y="1097280"/>
            <a:ext cx="13716000" cy="6858000"/>
          </a:xfrm>
          <a:prstGeom prst="rect">
            <a:avLst/>
          </a:prstGeom>
          <a:noFill/>
        </p:spPr>
        <p:txBody>
          <a:bodyPr wrap="square">
            <a:spAutoFit/>
          </a:bodyPr>
          <a:lstStyle/>
          <a:p>
            <a:pPr>
              <a:spcAft>
                <a:spcPts val="500"/>
              </a:spcAft>
              <a:defRPr sz="1500" b="1">
                <a:solidFill>
                  <a:srgbClr val="1F3A68"/>
                </a:solidFill>
              </a:defRPr>
            </a:pPr>
            <a:r>
              <a:rPr dirty="0" err="1"/>
              <a:t>Resultados</a:t>
            </a:r>
            <a:r>
              <a:rPr dirty="0"/>
              <a:t> </a:t>
            </a:r>
            <a:r>
              <a:rPr dirty="0" err="1"/>
              <a:t>consolidados</a:t>
            </a:r>
            <a:r>
              <a:rPr dirty="0"/>
              <a:t> </a:t>
            </a:r>
            <a:r>
              <a:rPr dirty="0" err="1"/>
              <a:t>até</a:t>
            </a:r>
            <a:r>
              <a:rPr dirty="0"/>
              <a:t> 10/05:</a:t>
            </a:r>
          </a:p>
          <a:p>
            <a:pPr lvl="1">
              <a:spcAft>
                <a:spcPts val="500"/>
              </a:spcAft>
              <a:defRPr sz="1300" b="0">
                <a:solidFill>
                  <a:srgbClr val="555555"/>
                </a:solidFill>
              </a:defRPr>
            </a:pPr>
            <a:r>
              <a:rPr dirty="0"/>
              <a:t>Cinco </a:t>
            </a:r>
            <a:r>
              <a:rPr dirty="0" err="1"/>
              <a:t>fatores</a:t>
            </a:r>
            <a:r>
              <a:rPr dirty="0"/>
              <a:t> </a:t>
            </a:r>
            <a:r>
              <a:rPr dirty="0" err="1"/>
              <a:t>algorítmicos</a:t>
            </a:r>
            <a:r>
              <a:rPr dirty="0"/>
              <a:t> </a:t>
            </a:r>
            <a:r>
              <a:rPr dirty="0" err="1"/>
              <a:t>executados</a:t>
            </a:r>
            <a:r>
              <a:rPr dirty="0"/>
              <a:t> sob </a:t>
            </a:r>
            <a:r>
              <a:rPr dirty="0" err="1"/>
              <a:t>protocolo</a:t>
            </a:r>
            <a:r>
              <a:rPr dirty="0"/>
              <a:t> </a:t>
            </a:r>
            <a:r>
              <a:rPr dirty="0" err="1"/>
              <a:t>casado</a:t>
            </a:r>
            <a:r>
              <a:rPr dirty="0"/>
              <a:t> (</a:t>
            </a:r>
            <a:r>
              <a:rPr dirty="0" err="1"/>
              <a:t>Linha</a:t>
            </a:r>
            <a:r>
              <a:rPr dirty="0"/>
              <a:t> A).</a:t>
            </a:r>
          </a:p>
          <a:p>
            <a:pPr lvl="1">
              <a:spcAft>
                <a:spcPts val="500"/>
              </a:spcAft>
              <a:defRPr sz="1300" b="0">
                <a:solidFill>
                  <a:srgbClr val="555555"/>
                </a:solidFill>
              </a:defRPr>
            </a:pPr>
            <a:r>
              <a:rPr dirty="0" err="1"/>
              <a:t>ConvNeXt</a:t>
            </a:r>
            <a:r>
              <a:rPr dirty="0"/>
              <a:t>-T </a:t>
            </a:r>
            <a:r>
              <a:rPr dirty="0" err="1"/>
              <a:t>identificado</a:t>
            </a:r>
            <a:r>
              <a:rPr dirty="0"/>
              <a:t> </a:t>
            </a:r>
            <a:r>
              <a:rPr dirty="0" err="1"/>
              <a:t>como</a:t>
            </a:r>
            <a:r>
              <a:rPr dirty="0"/>
              <a:t> </a:t>
            </a:r>
            <a:r>
              <a:rPr dirty="0" err="1"/>
              <a:t>única</a:t>
            </a:r>
            <a:r>
              <a:rPr dirty="0"/>
              <a:t> </a:t>
            </a:r>
            <a:r>
              <a:rPr dirty="0" err="1"/>
              <a:t>alavanca</a:t>
            </a:r>
            <a:r>
              <a:rPr dirty="0"/>
              <a:t> </a:t>
            </a:r>
            <a:r>
              <a:rPr dirty="0" err="1"/>
              <a:t>arquitetural</a:t>
            </a:r>
            <a:r>
              <a:rPr dirty="0"/>
              <a:t> </a:t>
            </a:r>
            <a:r>
              <a:rPr dirty="0" err="1"/>
              <a:t>significativa</a:t>
            </a:r>
            <a:r>
              <a:rPr dirty="0"/>
              <a:t>.</a:t>
            </a:r>
          </a:p>
          <a:p>
            <a:pPr lvl="1">
              <a:spcAft>
                <a:spcPts val="500"/>
              </a:spcAft>
              <a:defRPr sz="1300" b="0">
                <a:solidFill>
                  <a:srgbClr val="555555"/>
                </a:solidFill>
              </a:defRPr>
            </a:pPr>
            <a:r>
              <a:rPr dirty="0" err="1"/>
              <a:t>Critério</a:t>
            </a:r>
            <a:r>
              <a:rPr dirty="0"/>
              <a:t> Pareto-aware para </a:t>
            </a:r>
            <a:r>
              <a:rPr dirty="0" err="1"/>
              <a:t>seleção</a:t>
            </a:r>
            <a:r>
              <a:rPr dirty="0"/>
              <a:t> de epoch </a:t>
            </a:r>
            <a:r>
              <a:rPr dirty="0" err="1"/>
              <a:t>documentado</a:t>
            </a:r>
            <a:r>
              <a:rPr dirty="0"/>
              <a:t> (</a:t>
            </a:r>
            <a:r>
              <a:rPr dirty="0" err="1"/>
              <a:t>Linha</a:t>
            </a:r>
            <a:r>
              <a:rPr dirty="0"/>
              <a:t> B).</a:t>
            </a:r>
          </a:p>
          <a:p>
            <a:pPr lvl="1">
              <a:spcAft>
                <a:spcPts val="500"/>
              </a:spcAft>
              <a:defRPr sz="1300" b="0">
                <a:solidFill>
                  <a:srgbClr val="555555"/>
                </a:solidFill>
              </a:defRPr>
            </a:pPr>
            <a:r>
              <a:rPr dirty="0" err="1"/>
              <a:t>Posicionamento</a:t>
            </a:r>
            <a:r>
              <a:rPr dirty="0"/>
              <a:t> </a:t>
            </a:r>
            <a:r>
              <a:rPr dirty="0" err="1"/>
              <a:t>absoluto</a:t>
            </a:r>
            <a:r>
              <a:rPr dirty="0"/>
              <a:t> </a:t>
            </a:r>
            <a:r>
              <a:rPr dirty="0" err="1"/>
              <a:t>em</a:t>
            </a:r>
            <a:r>
              <a:rPr dirty="0"/>
              <a:t> </a:t>
            </a:r>
            <a:r>
              <a:rPr dirty="0" err="1"/>
              <a:t>relação</a:t>
            </a:r>
            <a:r>
              <a:rPr dirty="0"/>
              <a:t> à </a:t>
            </a:r>
            <a:r>
              <a:rPr dirty="0" err="1"/>
              <a:t>literatura</a:t>
            </a:r>
            <a:r>
              <a:rPr dirty="0"/>
              <a:t> </a:t>
            </a:r>
            <a:r>
              <a:rPr dirty="0" err="1"/>
              <a:t>ainda</a:t>
            </a:r>
            <a:r>
              <a:rPr dirty="0"/>
              <a:t> </a:t>
            </a:r>
            <a:r>
              <a:rPr dirty="0" err="1"/>
              <a:t>indefinido</a:t>
            </a:r>
            <a:r>
              <a:rPr dirty="0"/>
              <a:t>.</a:t>
            </a:r>
          </a:p>
          <a:p>
            <a:pPr>
              <a:spcAft>
                <a:spcPts val="500"/>
              </a:spcAft>
              <a:defRPr sz="1500" b="0">
                <a:solidFill>
                  <a:srgbClr val="555555"/>
                </a:solidFill>
              </a:defRPr>
            </a:pPr>
            <a:endParaRPr dirty="0"/>
          </a:p>
          <a:p>
            <a:pPr>
              <a:spcAft>
                <a:spcPts val="500"/>
              </a:spcAft>
              <a:defRPr sz="1500" b="1">
                <a:solidFill>
                  <a:srgbClr val="1F3A68"/>
                </a:solidFill>
              </a:defRPr>
            </a:pPr>
            <a:r>
              <a:rPr dirty="0" err="1"/>
              <a:t>Pergunta</a:t>
            </a:r>
            <a:r>
              <a:rPr dirty="0"/>
              <a:t> </a:t>
            </a:r>
            <a:r>
              <a:rPr dirty="0" err="1"/>
              <a:t>orientadora</a:t>
            </a:r>
            <a:r>
              <a:rPr dirty="0"/>
              <a:t> </a:t>
            </a:r>
            <a:r>
              <a:rPr dirty="0" err="1"/>
              <a:t>identificada</a:t>
            </a:r>
            <a:r>
              <a:rPr dirty="0"/>
              <a:t> </a:t>
            </a:r>
            <a:r>
              <a:rPr dirty="0" err="1"/>
              <a:t>nessa</a:t>
            </a:r>
            <a:r>
              <a:rPr dirty="0"/>
              <a:t> data:</a:t>
            </a:r>
          </a:p>
          <a:p>
            <a:pPr lvl="1">
              <a:spcAft>
                <a:spcPts val="500"/>
              </a:spcAft>
              <a:defRPr sz="1300" b="0">
                <a:solidFill>
                  <a:srgbClr val="555555"/>
                </a:solidFill>
              </a:defRPr>
            </a:pPr>
            <a:r>
              <a:rPr dirty="0"/>
              <a:t>"</a:t>
            </a:r>
            <a:r>
              <a:rPr dirty="0" err="1"/>
              <a:t>Nosso</a:t>
            </a:r>
            <a:r>
              <a:rPr dirty="0"/>
              <a:t> F1 ≈ 0.69 é </a:t>
            </a:r>
            <a:r>
              <a:rPr dirty="0" err="1"/>
              <a:t>satisfatório</a:t>
            </a:r>
            <a:r>
              <a:rPr dirty="0"/>
              <a:t> </a:t>
            </a:r>
            <a:r>
              <a:rPr dirty="0" err="1"/>
              <a:t>ou</a:t>
            </a:r>
            <a:r>
              <a:rPr dirty="0"/>
              <a:t> </a:t>
            </a:r>
            <a:r>
              <a:rPr dirty="0" err="1"/>
              <a:t>insatisfatório</a:t>
            </a:r>
            <a:r>
              <a:rPr dirty="0"/>
              <a:t>? Em </a:t>
            </a:r>
            <a:r>
              <a:rPr dirty="0" err="1"/>
              <a:t>comparação</a:t>
            </a:r>
            <a:r>
              <a:rPr dirty="0"/>
              <a:t> com qual </a:t>
            </a:r>
            <a:r>
              <a:rPr dirty="0" err="1"/>
              <a:t>referência</a:t>
            </a:r>
            <a:r>
              <a:rPr dirty="0"/>
              <a:t> </a:t>
            </a:r>
            <a:r>
              <a:rPr dirty="0" err="1"/>
              <a:t>publicada</a:t>
            </a:r>
            <a:r>
              <a:rPr dirty="0"/>
              <a:t>?"</a:t>
            </a:r>
          </a:p>
          <a:p>
            <a:pPr>
              <a:spcAft>
                <a:spcPts val="500"/>
              </a:spcAft>
              <a:defRPr sz="1500" b="0">
                <a:solidFill>
                  <a:srgbClr val="555555"/>
                </a:solidFill>
              </a:defRPr>
            </a:pPr>
            <a:endParaRPr dirty="0"/>
          </a:p>
          <a:p>
            <a:pPr>
              <a:spcAft>
                <a:spcPts val="500"/>
              </a:spcAft>
              <a:defRPr sz="1500" b="1">
                <a:solidFill>
                  <a:srgbClr val="1F3A68"/>
                </a:solidFill>
              </a:defRPr>
            </a:pPr>
            <a:r>
              <a:rPr dirty="0"/>
              <a:t>Plano de </a:t>
            </a:r>
            <a:r>
              <a:rPr dirty="0" err="1"/>
              <a:t>trabalho</a:t>
            </a:r>
            <a:r>
              <a:rPr dirty="0"/>
              <a:t> </a:t>
            </a:r>
            <a:r>
              <a:rPr dirty="0" err="1"/>
              <a:t>elaborado</a:t>
            </a:r>
            <a:r>
              <a:rPr dirty="0"/>
              <a:t> </a:t>
            </a:r>
            <a:r>
              <a:rPr dirty="0" err="1"/>
              <a:t>em</a:t>
            </a:r>
            <a:r>
              <a:rPr dirty="0"/>
              <a:t> 17/05 para a </a:t>
            </a:r>
            <a:r>
              <a:rPr dirty="0" err="1"/>
              <a:t>semana</a:t>
            </a:r>
            <a:r>
              <a:rPr dirty="0"/>
              <a:t> </a:t>
            </a:r>
            <a:r>
              <a:rPr dirty="0" err="1"/>
              <a:t>subsequente</a:t>
            </a:r>
            <a:r>
              <a:rPr dirty="0"/>
              <a:t> (17–24/05):</a:t>
            </a:r>
          </a:p>
          <a:p>
            <a:pPr lvl="1">
              <a:spcAft>
                <a:spcPts val="500"/>
              </a:spcAft>
              <a:defRPr sz="1300" b="0">
                <a:solidFill>
                  <a:srgbClr val="555555"/>
                </a:solidFill>
              </a:defRPr>
            </a:pPr>
            <a:r>
              <a:rPr dirty="0"/>
              <a:t>(1) </a:t>
            </a:r>
            <a:r>
              <a:rPr dirty="0" err="1"/>
              <a:t>Mapear</a:t>
            </a:r>
            <a:r>
              <a:rPr dirty="0"/>
              <a:t> o </a:t>
            </a:r>
            <a:r>
              <a:rPr dirty="0" err="1"/>
              <a:t>estado</a:t>
            </a:r>
            <a:r>
              <a:rPr dirty="0"/>
              <a:t>-da-</a:t>
            </a:r>
            <a:r>
              <a:rPr dirty="0" err="1"/>
              <a:t>arte</a:t>
            </a:r>
            <a:r>
              <a:rPr dirty="0"/>
              <a:t> real </a:t>
            </a:r>
            <a:r>
              <a:rPr dirty="0" err="1"/>
              <a:t>por</a:t>
            </a:r>
            <a:r>
              <a:rPr dirty="0"/>
              <a:t> </a:t>
            </a:r>
            <a:r>
              <a:rPr dirty="0" err="1"/>
              <a:t>meio</a:t>
            </a:r>
            <a:r>
              <a:rPr dirty="0"/>
              <a:t> de </a:t>
            </a:r>
            <a:r>
              <a:rPr dirty="0" err="1"/>
              <a:t>pesquisa</a:t>
            </a:r>
            <a:r>
              <a:rPr dirty="0"/>
              <a:t> textual.</a:t>
            </a:r>
          </a:p>
          <a:p>
            <a:pPr lvl="1">
              <a:spcAft>
                <a:spcPts val="500"/>
              </a:spcAft>
              <a:defRPr sz="1300" b="0">
                <a:solidFill>
                  <a:srgbClr val="555555"/>
                </a:solidFill>
              </a:defRPr>
            </a:pPr>
            <a:r>
              <a:rPr dirty="0"/>
              <a:t>(2) </a:t>
            </a:r>
            <a:r>
              <a:rPr dirty="0" err="1"/>
              <a:t>Executar</a:t>
            </a:r>
            <a:r>
              <a:rPr dirty="0"/>
              <a:t> </a:t>
            </a:r>
            <a:r>
              <a:rPr dirty="0" err="1"/>
              <a:t>experimentos</a:t>
            </a:r>
            <a:r>
              <a:rPr dirty="0"/>
              <a:t> </a:t>
            </a:r>
            <a:r>
              <a:rPr dirty="0" err="1"/>
              <a:t>adicionais</a:t>
            </a:r>
            <a:r>
              <a:rPr dirty="0"/>
              <a:t> de </a:t>
            </a:r>
            <a:r>
              <a:rPr dirty="0" err="1"/>
              <a:t>posicionamento</a:t>
            </a:r>
            <a:r>
              <a:rPr dirty="0"/>
              <a:t> </a:t>
            </a:r>
            <a:r>
              <a:rPr dirty="0" err="1"/>
              <a:t>absoluto</a:t>
            </a:r>
            <a:r>
              <a:rPr dirty="0"/>
              <a:t>.</a:t>
            </a:r>
          </a:p>
          <a:p>
            <a:pPr lvl="1">
              <a:spcAft>
                <a:spcPts val="500"/>
              </a:spcAft>
              <a:defRPr sz="1300" b="0">
                <a:solidFill>
                  <a:srgbClr val="555555"/>
                </a:solidFill>
              </a:defRPr>
            </a:pPr>
            <a:r>
              <a:rPr dirty="0"/>
              <a:t>(3) Testar a </a:t>
            </a:r>
            <a:r>
              <a:rPr dirty="0" err="1"/>
              <a:t>robustez</a:t>
            </a:r>
            <a:r>
              <a:rPr dirty="0"/>
              <a:t> do </a:t>
            </a:r>
            <a:r>
              <a:rPr dirty="0" err="1"/>
              <a:t>achado</a:t>
            </a:r>
            <a:r>
              <a:rPr dirty="0"/>
              <a:t> central (</a:t>
            </a:r>
            <a:r>
              <a:rPr dirty="0" err="1"/>
              <a:t>alavanca</a:t>
            </a:r>
            <a:r>
              <a:rPr dirty="0"/>
              <a:t> </a:t>
            </a:r>
            <a:r>
              <a:rPr dirty="0" err="1"/>
              <a:t>ConvNeXt</a:t>
            </a:r>
            <a:r>
              <a:rPr dirty="0"/>
              <a:t>-T).</a:t>
            </a:r>
          </a:p>
          <a:p>
            <a:pPr lvl="1">
              <a:spcAft>
                <a:spcPts val="500"/>
              </a:spcAft>
              <a:defRPr sz="1300" b="0">
                <a:solidFill>
                  <a:srgbClr val="555555"/>
                </a:solidFill>
              </a:defRPr>
            </a:pPr>
            <a:r>
              <a:rPr dirty="0"/>
              <a:t>(4) </a:t>
            </a:r>
            <a:r>
              <a:rPr dirty="0" err="1"/>
              <a:t>Auditar</a:t>
            </a:r>
            <a:r>
              <a:rPr dirty="0"/>
              <a:t> </a:t>
            </a:r>
            <a:r>
              <a:rPr dirty="0" err="1"/>
              <a:t>empiricamente</a:t>
            </a:r>
            <a:r>
              <a:rPr dirty="0"/>
              <a:t> </a:t>
            </a:r>
            <a:r>
              <a:rPr dirty="0" err="1"/>
              <a:t>possíveis</a:t>
            </a:r>
            <a:r>
              <a:rPr dirty="0"/>
              <a:t> </a:t>
            </a:r>
            <a:r>
              <a:rPr dirty="0" err="1"/>
              <a:t>limitadores</a:t>
            </a:r>
            <a:r>
              <a:rPr dirty="0"/>
              <a:t> no </a:t>
            </a:r>
            <a:r>
              <a:rPr dirty="0" err="1"/>
              <a:t>código</a:t>
            </a:r>
            <a:r>
              <a:rPr dirty="0"/>
              <a:t> </a:t>
            </a:r>
            <a:r>
              <a:rPr dirty="0" err="1"/>
              <a:t>próprio</a:t>
            </a:r>
            <a:r>
              <a:rPr dirty="0"/>
              <a:t>.</a:t>
            </a:r>
          </a:p>
          <a:p>
            <a:pPr lvl="1">
              <a:spcAft>
                <a:spcPts val="500"/>
              </a:spcAft>
              <a:defRPr sz="1300" b="0">
                <a:solidFill>
                  <a:srgbClr val="555555"/>
                </a:solidFill>
              </a:defRPr>
            </a:pPr>
            <a:r>
              <a:rPr dirty="0"/>
              <a:t>(5) </a:t>
            </a:r>
            <a:r>
              <a:rPr dirty="0" err="1"/>
              <a:t>Aplicar</a:t>
            </a:r>
            <a:r>
              <a:rPr dirty="0"/>
              <a:t> </a:t>
            </a:r>
            <a:r>
              <a:rPr dirty="0" err="1"/>
              <a:t>análises</a:t>
            </a:r>
            <a:r>
              <a:rPr dirty="0"/>
              <a:t> </a:t>
            </a:r>
            <a:r>
              <a:rPr dirty="0" err="1"/>
              <a:t>pós-treinamento</a:t>
            </a:r>
            <a:r>
              <a:rPr dirty="0"/>
              <a:t> </a:t>
            </a:r>
            <a:r>
              <a:rPr dirty="0" err="1"/>
              <a:t>estabelecidas</a:t>
            </a:r>
            <a:r>
              <a:rPr dirty="0"/>
              <a:t> </a:t>
            </a:r>
            <a:r>
              <a:rPr dirty="0" err="1"/>
              <a:t>na</a:t>
            </a:r>
            <a:r>
              <a:rPr dirty="0"/>
              <a:t> </a:t>
            </a:r>
            <a:r>
              <a:rPr dirty="0" err="1"/>
              <a:t>literatura</a:t>
            </a:r>
            <a:r>
              <a:rPr dirty="0"/>
              <a: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4630400" cy="822960"/>
          </a:xfrm>
          <a:prstGeom prst="rect">
            <a:avLst/>
          </a:prstGeom>
          <a:solidFill>
            <a:srgbClr val="1F3A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3716000" y="182880"/>
            <a:ext cx="914400" cy="457200"/>
          </a:xfrm>
          <a:prstGeom prst="rect">
            <a:avLst/>
          </a:prstGeom>
          <a:noFill/>
        </p:spPr>
        <p:txBody>
          <a:bodyPr wrap="none">
            <a:spAutoFit/>
          </a:bodyPr>
          <a:lstStyle/>
          <a:p>
            <a:pPr>
              <a:defRPr sz="1400">
                <a:solidFill>
                  <a:srgbClr val="CCD8EE"/>
                </a:solidFill>
              </a:defRPr>
            </a:pPr>
            <a:r>
              <a:t>9 / 19</a:t>
            </a:r>
          </a:p>
        </p:txBody>
      </p:sp>
      <p:sp>
        <p:nvSpPr>
          <p:cNvPr id="4" name="TextBox 3"/>
          <p:cNvSpPr txBox="1"/>
          <p:nvPr/>
        </p:nvSpPr>
        <p:spPr>
          <a:xfrm>
            <a:off x="457200" y="182880"/>
            <a:ext cx="12801600" cy="548640"/>
          </a:xfrm>
          <a:prstGeom prst="rect">
            <a:avLst/>
          </a:prstGeom>
          <a:noFill/>
        </p:spPr>
        <p:txBody>
          <a:bodyPr wrap="none">
            <a:spAutoFit/>
          </a:bodyPr>
          <a:lstStyle/>
          <a:p>
            <a:pPr>
              <a:defRPr sz="2400" b="1">
                <a:solidFill>
                  <a:srgbClr val="FFFFFF"/>
                </a:solidFill>
              </a:defRPr>
            </a:pPr>
            <a:r>
              <a:t>Atividade 1: pesquisa textual do estado-da-arte (10–15/05)</a:t>
            </a:r>
          </a:p>
        </p:txBody>
      </p:sp>
      <p:graphicFrame>
        <p:nvGraphicFramePr>
          <p:cNvPr id="5" name="Table 4"/>
          <p:cNvGraphicFramePr>
            <a:graphicFrameLocks noGrp="1"/>
          </p:cNvGraphicFramePr>
          <p:nvPr/>
        </p:nvGraphicFramePr>
        <p:xfrm>
          <a:off x="685800" y="1097280"/>
          <a:ext cx="13258800" cy="3291840"/>
        </p:xfrm>
        <a:graphic>
          <a:graphicData uri="http://schemas.openxmlformats.org/drawingml/2006/table">
            <a:tbl>
              <a:tblPr firstRow="1" bandRow="1">
                <a:tableStyleId>{5C22544A-7EE6-4342-B048-85BDC9FD1C3A}</a:tableStyleId>
              </a:tblPr>
              <a:tblGrid>
                <a:gridCol w="91440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411480">
                <a:tc>
                  <a:txBody>
                    <a:bodyPr/>
                    <a:lstStyle/>
                    <a:p>
                      <a:r>
                        <a:rPr sz="1100" b="1">
                          <a:solidFill>
                            <a:srgbClr val="FFFFFF"/>
                          </a:solidFill>
                        </a:rPr>
                        <a:t>Publicação</a:t>
                      </a:r>
                    </a:p>
                  </a:txBody>
                  <a:tcPr>
                    <a:solidFill>
                      <a:srgbClr val="1F3A68"/>
                    </a:solidFill>
                  </a:tcPr>
                </a:tc>
                <a:tc>
                  <a:txBody>
                    <a:bodyPr/>
                    <a:lstStyle/>
                    <a:p>
                      <a:r>
                        <a:rPr sz="1100" b="1">
                          <a:solidFill>
                            <a:srgbClr val="FFFFFF"/>
                          </a:solidFill>
                        </a:rPr>
                        <a:t>Classifica raça em 7 categorias?</a:t>
                      </a:r>
                    </a:p>
                  </a:txBody>
                  <a:tcPr>
                    <a:solidFill>
                      <a:srgbClr val="1F3A68"/>
                    </a:solidFill>
                  </a:tcPr>
                </a:tc>
                <a:extLst>
                  <a:ext uri="{0D108BD9-81ED-4DB2-BD59-A6C34878D82A}">
                    <a16:rowId xmlns:a16="http://schemas.microsoft.com/office/drawing/2014/main" val="10000"/>
                  </a:ext>
                </a:extLst>
              </a:tr>
              <a:tr h="411480">
                <a:tc>
                  <a:txBody>
                    <a:bodyPr/>
                    <a:lstStyle/>
                    <a:p>
                      <a:r>
                        <a:rPr sz="1000">
                          <a:solidFill>
                            <a:srgbClr val="555555"/>
                          </a:solidFill>
                        </a:rPr>
                        <a:t>FairFace (Kärkkäinen &amp; Joo, 2021) — paper original do conjunto de dados</a:t>
                      </a:r>
                    </a:p>
                  </a:txBody>
                  <a:tcPr>
                    <a:solidFill>
                      <a:srgbClr val="FFFFFF"/>
                    </a:solidFill>
                  </a:tcPr>
                </a:tc>
                <a:tc>
                  <a:txBody>
                    <a:bodyPr/>
                    <a:lstStyle/>
                    <a:p>
                      <a:r>
                        <a:rPr sz="1000">
                          <a:solidFill>
                            <a:srgbClr val="C0392B"/>
                          </a:solidFill>
                        </a:rPr>
                        <a:t>❌ Não — apenas 4 categorias mescladas</a:t>
                      </a:r>
                    </a:p>
                  </a:txBody>
                  <a:tcPr>
                    <a:solidFill>
                      <a:srgbClr val="FFFFFF"/>
                    </a:solidFill>
                  </a:tcPr>
                </a:tc>
                <a:extLst>
                  <a:ext uri="{0D108BD9-81ED-4DB2-BD59-A6C34878D82A}">
                    <a16:rowId xmlns:a16="http://schemas.microsoft.com/office/drawing/2014/main" val="10001"/>
                  </a:ext>
                </a:extLst>
              </a:tr>
              <a:tr h="411480">
                <a:tc>
                  <a:txBody>
                    <a:bodyPr/>
                    <a:lstStyle/>
                    <a:p>
                      <a:r>
                        <a:rPr sz="1000">
                          <a:solidFill>
                            <a:srgbClr val="555555"/>
                          </a:solidFill>
                        </a:rPr>
                        <a:t>FineFACE (Liu et al., 2024) — referenciado como SOTA em equidade</a:t>
                      </a:r>
                    </a:p>
                  </a:txBody>
                  <a:tcPr>
                    <a:solidFill>
                      <a:srgbClr val="F5F5F5"/>
                    </a:solidFill>
                  </a:tcPr>
                </a:tc>
                <a:tc>
                  <a:txBody>
                    <a:bodyPr/>
                    <a:lstStyle/>
                    <a:p>
                      <a:r>
                        <a:rPr sz="1000">
                          <a:solidFill>
                            <a:srgbClr val="C0392B"/>
                          </a:solidFill>
                        </a:rPr>
                        <a:t>❌ Não — classifica gênero (descoberta da auditoria textual)</a:t>
                      </a:r>
                    </a:p>
                  </a:txBody>
                  <a:tcPr>
                    <a:solidFill>
                      <a:srgbClr val="F5F5F5"/>
                    </a:solidFill>
                  </a:tcPr>
                </a:tc>
                <a:extLst>
                  <a:ext uri="{0D108BD9-81ED-4DB2-BD59-A6C34878D82A}">
                    <a16:rowId xmlns:a16="http://schemas.microsoft.com/office/drawing/2014/main" val="10002"/>
                  </a:ext>
                </a:extLst>
              </a:tr>
              <a:tr h="411480">
                <a:tc>
                  <a:txBody>
                    <a:bodyPr/>
                    <a:lstStyle/>
                    <a:p>
                      <a:r>
                        <a:rPr sz="1000">
                          <a:solidFill>
                            <a:srgbClr val="555555"/>
                          </a:solidFill>
                        </a:rPr>
                        <a:t>U-FaTE (Sojitra et al., CVPR 2024)</a:t>
                      </a:r>
                    </a:p>
                  </a:txBody>
                  <a:tcPr>
                    <a:solidFill>
                      <a:srgbClr val="FFFFFF"/>
                    </a:solidFill>
                  </a:tcPr>
                </a:tc>
                <a:tc>
                  <a:txBody>
                    <a:bodyPr/>
                    <a:lstStyle/>
                    <a:p>
                      <a:r>
                        <a:rPr sz="1000">
                          <a:solidFill>
                            <a:srgbClr val="C0392B"/>
                          </a:solidFill>
                        </a:rPr>
                        <a:t>❌ Não — análise multi-tarefa de modelos pré-existentes</a:t>
                      </a:r>
                    </a:p>
                  </a:txBody>
                  <a:tcPr>
                    <a:solidFill>
                      <a:srgbClr val="FFFFFF"/>
                    </a:solidFill>
                  </a:tcPr>
                </a:tc>
                <a:extLst>
                  <a:ext uri="{0D108BD9-81ED-4DB2-BD59-A6C34878D82A}">
                    <a16:rowId xmlns:a16="http://schemas.microsoft.com/office/drawing/2014/main" val="10003"/>
                  </a:ext>
                </a:extLst>
              </a:tr>
              <a:tr h="411480">
                <a:tc>
                  <a:txBody>
                    <a:bodyPr/>
                    <a:lstStyle/>
                    <a:p>
                      <a:r>
                        <a:rPr sz="1000">
                          <a:solidFill>
                            <a:srgbClr val="555555"/>
                          </a:solidFill>
                        </a:rPr>
                        <a:t>FairGRAPE (Lin et al., ECCV 2022)</a:t>
                      </a:r>
                    </a:p>
                  </a:txBody>
                  <a:tcPr>
                    <a:solidFill>
                      <a:srgbClr val="F5F5F5"/>
                    </a:solidFill>
                  </a:tcPr>
                </a:tc>
                <a:tc>
                  <a:txBody>
                    <a:bodyPr/>
                    <a:lstStyle/>
                    <a:p>
                      <a:r>
                        <a:rPr sz="1000">
                          <a:solidFill>
                            <a:srgbClr val="C0392B"/>
                          </a:solidFill>
                        </a:rPr>
                        <a:t>❌ Não — foco em compressão de redes</a:t>
                      </a:r>
                    </a:p>
                  </a:txBody>
                  <a:tcPr>
                    <a:solidFill>
                      <a:srgbClr val="F5F5F5"/>
                    </a:solidFill>
                  </a:tcPr>
                </a:tc>
                <a:extLst>
                  <a:ext uri="{0D108BD9-81ED-4DB2-BD59-A6C34878D82A}">
                    <a16:rowId xmlns:a16="http://schemas.microsoft.com/office/drawing/2014/main" val="10004"/>
                  </a:ext>
                </a:extLst>
              </a:tr>
              <a:tr h="411480">
                <a:tc>
                  <a:txBody>
                    <a:bodyPr/>
                    <a:lstStyle/>
                    <a:p>
                      <a:r>
                        <a:rPr sz="1000">
                          <a:solidFill>
                            <a:srgbClr val="555555"/>
                          </a:solidFill>
                        </a:rPr>
                        <a:t>DSAP (Sánchez-Sánchez et al., Information Fusion 2024)</a:t>
                      </a:r>
                    </a:p>
                  </a:txBody>
                  <a:tcPr>
                    <a:solidFill>
                      <a:srgbClr val="FFFFFF"/>
                    </a:solidFill>
                  </a:tcPr>
                </a:tc>
                <a:tc>
                  <a:txBody>
                    <a:bodyPr/>
                    <a:lstStyle/>
                    <a:p>
                      <a:r>
                        <a:rPr sz="1000">
                          <a:solidFill>
                            <a:srgbClr val="C0392B"/>
                          </a:solidFill>
                        </a:rPr>
                        <a:t>❌ Não — auditoria de viés em conjuntos de dados</a:t>
                      </a:r>
                    </a:p>
                  </a:txBody>
                  <a:tcPr>
                    <a:solidFill>
                      <a:srgbClr val="FFFFFF"/>
                    </a:solidFill>
                  </a:tcPr>
                </a:tc>
                <a:extLst>
                  <a:ext uri="{0D108BD9-81ED-4DB2-BD59-A6C34878D82A}">
                    <a16:rowId xmlns:a16="http://schemas.microsoft.com/office/drawing/2014/main" val="10005"/>
                  </a:ext>
                </a:extLst>
              </a:tr>
              <a:tr h="411480">
                <a:tc>
                  <a:txBody>
                    <a:bodyPr/>
                    <a:lstStyle/>
                    <a:p>
                      <a:r>
                        <a:rPr sz="1000">
                          <a:solidFill>
                            <a:srgbClr val="555555"/>
                          </a:solidFill>
                        </a:rPr>
                        <a:t>Fairness is in the Details (Galera-Zarco et al., ECML PKDD 2025)</a:t>
                      </a:r>
                    </a:p>
                  </a:txBody>
                  <a:tcPr>
                    <a:solidFill>
                      <a:srgbClr val="F5F5F5"/>
                    </a:solidFill>
                  </a:tcPr>
                </a:tc>
                <a:tc>
                  <a:txBody>
                    <a:bodyPr/>
                    <a:lstStyle/>
                    <a:p>
                      <a:r>
                        <a:rPr sz="1000">
                          <a:solidFill>
                            <a:srgbClr val="C0392B"/>
                          </a:solidFill>
                        </a:rPr>
                        <a:t>❌ Não — auditoria estatística de conjuntos faciais</a:t>
                      </a:r>
                    </a:p>
                  </a:txBody>
                  <a:tcPr>
                    <a:solidFill>
                      <a:srgbClr val="F5F5F5"/>
                    </a:solidFill>
                  </a:tcPr>
                </a:tc>
                <a:extLst>
                  <a:ext uri="{0D108BD9-81ED-4DB2-BD59-A6C34878D82A}">
                    <a16:rowId xmlns:a16="http://schemas.microsoft.com/office/drawing/2014/main" val="10006"/>
                  </a:ext>
                </a:extLst>
              </a:tr>
              <a:tr h="411480">
                <a:tc>
                  <a:txBody>
                    <a:bodyPr/>
                    <a:lstStyle/>
                    <a:p>
                      <a:r>
                        <a:rPr sz="1000">
                          <a:solidFill>
                            <a:srgbClr val="555555"/>
                          </a:solidFill>
                        </a:rPr>
                        <a:t>Hassanpour et al. (arXiv 2410.24148, 2024)</a:t>
                      </a:r>
                    </a:p>
                  </a:txBody>
                  <a:tcPr>
                    <a:solidFill>
                      <a:srgbClr val="FFFFFF"/>
                    </a:solidFill>
                  </a:tcPr>
                </a:tc>
                <a:tc>
                  <a:txBody>
                    <a:bodyPr/>
                    <a:lstStyle/>
                    <a:p>
                      <a:r>
                        <a:rPr sz="1000" b="1">
                          <a:solidFill>
                            <a:srgbClr val="2E8B57"/>
                          </a:solidFill>
                        </a:rPr>
                        <a:t>✅ Sim — única referência publicada para a tarefa exata</a:t>
                      </a:r>
                    </a:p>
                  </a:txBody>
                  <a:tcPr>
                    <a:solidFill>
                      <a:srgbClr val="FFFFFF"/>
                    </a:solidFill>
                  </a:tcPr>
                </a:tc>
                <a:extLst>
                  <a:ext uri="{0D108BD9-81ED-4DB2-BD59-A6C34878D82A}">
                    <a16:rowId xmlns:a16="http://schemas.microsoft.com/office/drawing/2014/main" val="10007"/>
                  </a:ext>
                </a:extLst>
              </a:tr>
            </a:tbl>
          </a:graphicData>
        </a:graphic>
      </p:graphicFrame>
      <p:sp>
        <p:nvSpPr>
          <p:cNvPr id="6" name="TextBox 5"/>
          <p:cNvSpPr txBox="1"/>
          <p:nvPr/>
        </p:nvSpPr>
        <p:spPr>
          <a:xfrm>
            <a:off x="457200" y="7498079"/>
            <a:ext cx="13859884" cy="430887"/>
          </a:xfrm>
          <a:prstGeom prst="rect">
            <a:avLst/>
          </a:prstGeom>
          <a:noFill/>
        </p:spPr>
        <p:txBody>
          <a:bodyPr wrap="none">
            <a:spAutoFit/>
          </a:bodyPr>
          <a:lstStyle/>
          <a:p>
            <a:pPr>
              <a:defRPr sz="1100" i="1">
                <a:solidFill>
                  <a:srgbClr val="4A6B9E"/>
                </a:solidFill>
              </a:defRPr>
            </a:pPr>
            <a:r>
              <a:rPr dirty="0" err="1"/>
              <a:t>Achado</a:t>
            </a:r>
            <a:r>
              <a:rPr dirty="0"/>
              <a:t> central da </a:t>
            </a:r>
            <a:r>
              <a:rPr dirty="0" err="1"/>
              <a:t>pesquisa</a:t>
            </a:r>
            <a:r>
              <a:rPr dirty="0"/>
              <a:t> textual: Hassanpour et al. (2024) </a:t>
            </a:r>
            <a:r>
              <a:rPr dirty="0" err="1"/>
              <a:t>constitui</a:t>
            </a:r>
            <a:r>
              <a:rPr dirty="0"/>
              <a:t> a </a:t>
            </a:r>
            <a:r>
              <a:rPr dirty="0" err="1"/>
              <a:t>única</a:t>
            </a:r>
            <a:r>
              <a:rPr dirty="0"/>
              <a:t> </a:t>
            </a:r>
            <a:r>
              <a:rPr dirty="0" err="1"/>
              <a:t>referência</a:t>
            </a:r>
            <a:r>
              <a:rPr dirty="0"/>
              <a:t> </a:t>
            </a:r>
            <a:r>
              <a:rPr dirty="0" err="1"/>
              <a:t>publicada</a:t>
            </a:r>
            <a:r>
              <a:rPr dirty="0"/>
              <a:t> para </a:t>
            </a:r>
            <a:r>
              <a:rPr dirty="0" err="1"/>
              <a:t>classificação</a:t>
            </a:r>
            <a:r>
              <a:rPr dirty="0"/>
              <a:t> racial </a:t>
            </a:r>
            <a:r>
              <a:rPr dirty="0" err="1"/>
              <a:t>em</a:t>
            </a:r>
            <a:r>
              <a:rPr dirty="0"/>
              <a:t> 7 </a:t>
            </a:r>
            <a:r>
              <a:rPr dirty="0" err="1"/>
              <a:t>categorias</a:t>
            </a:r>
            <a:r>
              <a:rPr dirty="0"/>
              <a:t> no </a:t>
            </a:r>
            <a:r>
              <a:rPr dirty="0" err="1"/>
              <a:t>FairFace</a:t>
            </a:r>
            <a:r>
              <a:rPr dirty="0"/>
              <a:t>, </a:t>
            </a:r>
            <a:r>
              <a:rPr dirty="0" err="1"/>
              <a:t>configurando</a:t>
            </a:r>
            <a:r>
              <a:rPr dirty="0"/>
              <a:t>-se </a:t>
            </a:r>
            <a:r>
              <a:rPr dirty="0" err="1"/>
              <a:t>como</a:t>
            </a:r>
            <a:r>
              <a:rPr dirty="0"/>
              <a:t> o </a:t>
            </a:r>
            <a:r>
              <a:rPr dirty="0" err="1"/>
              <a:t>estado</a:t>
            </a:r>
            <a:r>
              <a:rPr dirty="0"/>
              <a:t>-da-</a:t>
            </a:r>
            <a:r>
              <a:rPr dirty="0" err="1"/>
              <a:t>arte</a:t>
            </a:r>
            <a:r>
              <a:rPr dirty="0"/>
              <a:t> CNN. </a:t>
            </a:r>
            <a:endParaRPr lang="pt-BR" dirty="0"/>
          </a:p>
          <a:p>
            <a:pPr>
              <a:defRPr sz="1100" i="1">
                <a:solidFill>
                  <a:srgbClr val="4A6B9E"/>
                </a:solidFill>
              </a:defRPr>
            </a:pPr>
            <a:r>
              <a:rPr dirty="0"/>
              <a:t>O </a:t>
            </a:r>
            <a:r>
              <a:rPr dirty="0" err="1"/>
              <a:t>modelo</a:t>
            </a:r>
            <a:r>
              <a:rPr dirty="0"/>
              <a:t> </a:t>
            </a:r>
            <a:r>
              <a:rPr dirty="0" err="1"/>
              <a:t>FaceScanPaliGemma</a:t>
            </a:r>
            <a:r>
              <a:rPr dirty="0"/>
              <a:t> do </a:t>
            </a:r>
            <a:r>
              <a:rPr dirty="0" err="1"/>
              <a:t>mesmo</a:t>
            </a:r>
            <a:r>
              <a:rPr dirty="0"/>
              <a:t> </a:t>
            </a:r>
            <a:r>
              <a:rPr dirty="0" err="1"/>
              <a:t>trabalho</a:t>
            </a:r>
            <a:r>
              <a:rPr dirty="0"/>
              <a:t> </a:t>
            </a:r>
            <a:r>
              <a:rPr dirty="0" err="1"/>
              <a:t>atinge</a:t>
            </a:r>
            <a:r>
              <a:rPr dirty="0"/>
              <a:t> 0.757 </a:t>
            </a:r>
            <a:r>
              <a:rPr dirty="0" err="1"/>
              <a:t>acurácia</a:t>
            </a:r>
            <a:r>
              <a:rPr dirty="0"/>
              <a:t>, </a:t>
            </a:r>
            <a:r>
              <a:rPr dirty="0" err="1"/>
              <a:t>porém</a:t>
            </a:r>
            <a:r>
              <a:rPr dirty="0"/>
              <a:t> </a:t>
            </a:r>
            <a:r>
              <a:rPr dirty="0" err="1"/>
              <a:t>trata</a:t>
            </a:r>
            <a:r>
              <a:rPr dirty="0"/>
              <a:t>-se de um </a:t>
            </a:r>
            <a:r>
              <a:rPr dirty="0" err="1"/>
              <a:t>modelo</a:t>
            </a:r>
            <a:r>
              <a:rPr dirty="0"/>
              <a:t> </a:t>
            </a:r>
            <a:r>
              <a:rPr dirty="0" err="1"/>
              <a:t>visão-linguagem</a:t>
            </a:r>
            <a:r>
              <a:rPr dirty="0"/>
              <a:t> com </a:t>
            </a:r>
            <a:r>
              <a:rPr dirty="0" err="1"/>
              <a:t>aproximadamente</a:t>
            </a:r>
            <a:r>
              <a:rPr dirty="0"/>
              <a:t> 3 </a:t>
            </a:r>
            <a:r>
              <a:rPr dirty="0" err="1"/>
              <a:t>bilhões</a:t>
            </a:r>
            <a:r>
              <a:rPr dirty="0"/>
              <a:t> de </a:t>
            </a:r>
            <a:r>
              <a:rPr dirty="0" err="1"/>
              <a:t>parâmetros</a:t>
            </a:r>
            <a:r>
              <a:rPr dirty="0"/>
              <a:t> — fora do </a:t>
            </a:r>
            <a:r>
              <a:rPr dirty="0" err="1"/>
              <a:t>espaço</a:t>
            </a:r>
            <a:r>
              <a:rPr dirty="0"/>
              <a:t> </a:t>
            </a:r>
            <a:r>
              <a:rPr dirty="0" err="1"/>
              <a:t>comparável</a:t>
            </a:r>
            <a:r>
              <a:rPr dirty="0"/>
              <a:t> a redes </a:t>
            </a:r>
            <a:r>
              <a:rPr dirty="0" err="1"/>
              <a:t>convolucionais</a:t>
            </a:r>
            <a:r>
              <a:rPr dirty="0"/>
              <a:t> </a:t>
            </a:r>
            <a:r>
              <a:rPr dirty="0" err="1"/>
              <a:t>discriminativas</a:t>
            </a:r>
            <a:r>
              <a:rPr dirty="0"/>
              <a: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4630400" cy="822960"/>
          </a:xfrm>
          <a:prstGeom prst="rect">
            <a:avLst/>
          </a:prstGeom>
          <a:solidFill>
            <a:srgbClr val="1F3A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3716000" y="182880"/>
            <a:ext cx="914400" cy="457200"/>
          </a:xfrm>
          <a:prstGeom prst="rect">
            <a:avLst/>
          </a:prstGeom>
          <a:noFill/>
        </p:spPr>
        <p:txBody>
          <a:bodyPr wrap="none">
            <a:spAutoFit/>
          </a:bodyPr>
          <a:lstStyle/>
          <a:p>
            <a:pPr>
              <a:defRPr sz="1400">
                <a:solidFill>
                  <a:srgbClr val="CCD8EE"/>
                </a:solidFill>
              </a:defRPr>
            </a:pPr>
            <a:r>
              <a:t>10 / 19</a:t>
            </a:r>
          </a:p>
        </p:txBody>
      </p:sp>
      <p:sp>
        <p:nvSpPr>
          <p:cNvPr id="4" name="TextBox 3"/>
          <p:cNvSpPr txBox="1"/>
          <p:nvPr/>
        </p:nvSpPr>
        <p:spPr>
          <a:xfrm>
            <a:off x="457200" y="182880"/>
            <a:ext cx="12801600" cy="548640"/>
          </a:xfrm>
          <a:prstGeom prst="rect">
            <a:avLst/>
          </a:prstGeom>
          <a:noFill/>
        </p:spPr>
        <p:txBody>
          <a:bodyPr wrap="none">
            <a:spAutoFit/>
          </a:bodyPr>
          <a:lstStyle/>
          <a:p>
            <a:pPr>
              <a:defRPr sz="2400" b="1">
                <a:solidFill>
                  <a:srgbClr val="FFFFFF"/>
                </a:solidFill>
              </a:defRPr>
            </a:pPr>
            <a:r>
              <a:t>Atividade 2: experimentos adicionais de posicionamento (15–22/05)</a:t>
            </a:r>
          </a:p>
        </p:txBody>
      </p:sp>
      <p:graphicFrame>
        <p:nvGraphicFramePr>
          <p:cNvPr id="5" name="Table 4"/>
          <p:cNvGraphicFramePr>
            <a:graphicFrameLocks noGrp="1"/>
          </p:cNvGraphicFramePr>
          <p:nvPr/>
        </p:nvGraphicFramePr>
        <p:xfrm>
          <a:off x="228600" y="1097280"/>
          <a:ext cx="14173200" cy="2194560"/>
        </p:xfrm>
        <a:graphic>
          <a:graphicData uri="http://schemas.openxmlformats.org/drawingml/2006/table">
            <a:tbl>
              <a:tblPr firstRow="1" bandRow="1">
                <a:tableStyleId>{5C22544A-7EE6-4342-B048-85BDC9FD1C3A}</a:tableStyleId>
              </a:tblPr>
              <a:tblGrid>
                <a:gridCol w="2103120">
                  <a:extLst>
                    <a:ext uri="{9D8B030D-6E8A-4147-A177-3AD203B41FA5}">
                      <a16:colId xmlns:a16="http://schemas.microsoft.com/office/drawing/2014/main" val="20000"/>
                    </a:ext>
                  </a:extLst>
                </a:gridCol>
                <a:gridCol w="338328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6400800">
                  <a:extLst>
                    <a:ext uri="{9D8B030D-6E8A-4147-A177-3AD203B41FA5}">
                      <a16:colId xmlns:a16="http://schemas.microsoft.com/office/drawing/2014/main" val="20003"/>
                    </a:ext>
                  </a:extLst>
                </a:gridCol>
              </a:tblGrid>
              <a:tr h="438912">
                <a:tc>
                  <a:txBody>
                    <a:bodyPr/>
                    <a:lstStyle/>
                    <a:p>
                      <a:r>
                        <a:rPr sz="1100" b="1">
                          <a:solidFill>
                            <a:srgbClr val="FFFFFF"/>
                          </a:solidFill>
                        </a:rPr>
                        <a:t>Experimento</a:t>
                      </a:r>
                    </a:p>
                  </a:txBody>
                  <a:tcPr>
                    <a:solidFill>
                      <a:srgbClr val="1F3A68"/>
                    </a:solidFill>
                  </a:tcPr>
                </a:tc>
                <a:tc>
                  <a:txBody>
                    <a:bodyPr/>
                    <a:lstStyle/>
                    <a:p>
                      <a:r>
                        <a:rPr sz="1100" b="1">
                          <a:solidFill>
                            <a:srgbClr val="FFFFFF"/>
                          </a:solidFill>
                        </a:rPr>
                        <a:t>Variável isolada</a:t>
                      </a:r>
                    </a:p>
                  </a:txBody>
                  <a:tcPr>
                    <a:solidFill>
                      <a:srgbClr val="1F3A68"/>
                    </a:solidFill>
                  </a:tcPr>
                </a:tc>
                <a:tc>
                  <a:txBody>
                    <a:bodyPr/>
                    <a:lstStyle/>
                    <a:p>
                      <a:r>
                        <a:rPr sz="1100" b="1">
                          <a:solidFill>
                            <a:srgbClr val="FFFFFF"/>
                          </a:solidFill>
                        </a:rPr>
                        <a:t>Resultado</a:t>
                      </a:r>
                    </a:p>
                  </a:txBody>
                  <a:tcPr>
                    <a:solidFill>
                      <a:srgbClr val="1F3A68"/>
                    </a:solidFill>
                  </a:tcPr>
                </a:tc>
                <a:tc>
                  <a:txBody>
                    <a:bodyPr/>
                    <a:lstStyle/>
                    <a:p>
                      <a:r>
                        <a:rPr sz="1100" b="1">
                          <a:solidFill>
                            <a:srgbClr val="FFFFFF"/>
                          </a:solidFill>
                        </a:rPr>
                        <a:t>Análise</a:t>
                      </a:r>
                    </a:p>
                  </a:txBody>
                  <a:tcPr>
                    <a:solidFill>
                      <a:srgbClr val="1F3A68"/>
                    </a:solidFill>
                  </a:tcPr>
                </a:tc>
                <a:extLst>
                  <a:ext uri="{0D108BD9-81ED-4DB2-BD59-A6C34878D82A}">
                    <a16:rowId xmlns:a16="http://schemas.microsoft.com/office/drawing/2014/main" val="10000"/>
                  </a:ext>
                </a:extLst>
              </a:tr>
              <a:tr h="438912">
                <a:tc>
                  <a:txBody>
                    <a:bodyPr/>
                    <a:lstStyle/>
                    <a:p>
                      <a:r>
                        <a:rPr sz="900">
                          <a:solidFill>
                            <a:srgbClr val="555555"/>
                          </a:solidFill>
                        </a:rPr>
                        <a:t>Exp-FairFace</a:t>
                      </a:r>
                    </a:p>
                  </a:txBody>
                  <a:tcPr>
                    <a:solidFill>
                      <a:srgbClr val="FFFFFF"/>
                    </a:solidFill>
                  </a:tcPr>
                </a:tc>
                <a:tc>
                  <a:txBody>
                    <a:bodyPr/>
                    <a:lstStyle/>
                    <a:p>
                      <a:r>
                        <a:rPr sz="900">
                          <a:solidFill>
                            <a:srgbClr val="555555"/>
                          </a:solidFill>
                        </a:rPr>
                        <a:t>Recipe original do paper FairFace (RN-34 + Adam lr=1e-4)</a:t>
                      </a:r>
                    </a:p>
                  </a:txBody>
                  <a:tcPr>
                    <a:solidFill>
                      <a:srgbClr val="FFFFFF"/>
                    </a:solidFill>
                  </a:tcPr>
                </a:tc>
                <a:tc>
                  <a:txBody>
                    <a:bodyPr/>
                    <a:lstStyle/>
                    <a:p>
                      <a:r>
                        <a:rPr sz="900">
                          <a:solidFill>
                            <a:srgbClr val="555555"/>
                          </a:solidFill>
                        </a:rPr>
                        <a:t>F1 = 0.676 ± 0.006</a:t>
                      </a:r>
                    </a:p>
                  </a:txBody>
                  <a:tcPr>
                    <a:solidFill>
                      <a:srgbClr val="FFFFFF"/>
                    </a:solidFill>
                  </a:tcPr>
                </a:tc>
                <a:tc>
                  <a:txBody>
                    <a:bodyPr/>
                    <a:lstStyle/>
                    <a:p>
                      <a:r>
                        <a:rPr sz="900">
                          <a:solidFill>
                            <a:srgbClr val="555555"/>
                          </a:solidFill>
                        </a:rPr>
                        <a:t>A reprodução da recipe original sob protocolo casado entrega F1 inferior em 1.2pp ao nosso recipe modernizado (AdamW + RN-50). Demonstra que a atualização incremental adotada é metodologicamente vantajosa.</a:t>
                      </a:r>
                    </a:p>
                  </a:txBody>
                  <a:tcPr>
                    <a:solidFill>
                      <a:srgbClr val="FFFFFF"/>
                    </a:solidFill>
                  </a:tcPr>
                </a:tc>
                <a:extLst>
                  <a:ext uri="{0D108BD9-81ED-4DB2-BD59-A6C34878D82A}">
                    <a16:rowId xmlns:a16="http://schemas.microsoft.com/office/drawing/2014/main" val="10001"/>
                  </a:ext>
                </a:extLst>
              </a:tr>
              <a:tr h="438912">
                <a:tc>
                  <a:txBody>
                    <a:bodyPr/>
                    <a:lstStyle/>
                    <a:p>
                      <a:r>
                        <a:rPr sz="900">
                          <a:solidFill>
                            <a:srgbClr val="555555"/>
                          </a:solidFill>
                        </a:rPr>
                        <a:t>Exp-FineFACE</a:t>
                      </a:r>
                    </a:p>
                  </a:txBody>
                  <a:tcPr>
                    <a:solidFill>
                      <a:srgbClr val="F5F5F5"/>
                    </a:solidFill>
                  </a:tcPr>
                </a:tc>
                <a:tc>
                  <a:txBody>
                    <a:bodyPr/>
                    <a:lstStyle/>
                    <a:p>
                      <a:r>
                        <a:rPr sz="900">
                          <a:solidFill>
                            <a:srgbClr val="555555"/>
                          </a:solidFill>
                        </a:rPr>
                        <a:t>Recipe do FineFACE sem a arquitetura multi-expert</a:t>
                      </a:r>
                    </a:p>
                  </a:txBody>
                  <a:tcPr>
                    <a:solidFill>
                      <a:srgbClr val="F5F5F5"/>
                    </a:solidFill>
                  </a:tcPr>
                </a:tc>
                <a:tc>
                  <a:txBody>
                    <a:bodyPr/>
                    <a:lstStyle/>
                    <a:p>
                      <a:r>
                        <a:rPr sz="900">
                          <a:solidFill>
                            <a:srgbClr val="555555"/>
                          </a:solidFill>
                        </a:rPr>
                        <a:t>F1 = 0.663 ± 0.007</a:t>
                      </a:r>
                    </a:p>
                  </a:txBody>
                  <a:tcPr>
                    <a:solidFill>
                      <a:srgbClr val="F5F5F5"/>
                    </a:solidFill>
                  </a:tcPr>
                </a:tc>
                <a:tc>
                  <a:txBody>
                    <a:bodyPr/>
                    <a:lstStyle/>
                    <a:p>
                      <a:r>
                        <a:rPr sz="900">
                          <a:solidFill>
                            <a:srgbClr val="555555"/>
                          </a:solidFill>
                        </a:rPr>
                        <a:t>A recipe SGD com imagens 448×448 entrega F1 inferior em 2.5pp ao nosso baseline. Conclui-se que o ganho original do FineFACE provém da arquitetura multi-expert, e não da recipe de treinamento isolada.</a:t>
                      </a:r>
                    </a:p>
                  </a:txBody>
                  <a:tcPr>
                    <a:solidFill>
                      <a:srgbClr val="F5F5F5"/>
                    </a:solidFill>
                  </a:tcPr>
                </a:tc>
                <a:extLst>
                  <a:ext uri="{0D108BD9-81ED-4DB2-BD59-A6C34878D82A}">
                    <a16:rowId xmlns:a16="http://schemas.microsoft.com/office/drawing/2014/main" val="10002"/>
                  </a:ext>
                </a:extLst>
              </a:tr>
              <a:tr h="438912">
                <a:tc>
                  <a:txBody>
                    <a:bodyPr/>
                    <a:lstStyle/>
                    <a:p>
                      <a:r>
                        <a:rPr sz="900">
                          <a:solidFill>
                            <a:srgbClr val="555555"/>
                          </a:solidFill>
                        </a:rPr>
                        <a:t>Exp-DadosBrutos</a:t>
                      </a:r>
                    </a:p>
                  </a:txBody>
                  <a:tcPr>
                    <a:solidFill>
                      <a:srgbClr val="FFFFFF"/>
                    </a:solidFill>
                  </a:tcPr>
                </a:tc>
                <a:tc>
                  <a:txBody>
                    <a:bodyPr/>
                    <a:lstStyle/>
                    <a:p>
                      <a:r>
                        <a:rPr sz="900">
                          <a:solidFill>
                            <a:srgbClr val="555555"/>
                          </a:solidFill>
                        </a:rPr>
                        <a:t>Dados originais do FairFace (sem MTCNN e sem limpeza)</a:t>
                      </a:r>
                    </a:p>
                  </a:txBody>
                  <a:tcPr>
                    <a:solidFill>
                      <a:srgbClr val="FFFFFF"/>
                    </a:solidFill>
                  </a:tcPr>
                </a:tc>
                <a:tc>
                  <a:txBody>
                    <a:bodyPr/>
                    <a:lstStyle/>
                    <a:p>
                      <a:r>
                        <a:rPr sz="900">
                          <a:solidFill>
                            <a:srgbClr val="555555"/>
                          </a:solidFill>
                        </a:rPr>
                        <a:t>F1 = 0.695 ± 0.006; IR = 1.649</a:t>
                      </a:r>
                    </a:p>
                  </a:txBody>
                  <a:tcPr>
                    <a:solidFill>
                      <a:srgbClr val="FFFFFF"/>
                    </a:solidFill>
                  </a:tcPr>
                </a:tc>
                <a:tc>
                  <a:txBody>
                    <a:bodyPr/>
                    <a:lstStyle/>
                    <a:p>
                      <a:r>
                        <a:rPr sz="900">
                          <a:solidFill>
                            <a:srgbClr val="555555"/>
                          </a:solidFill>
                        </a:rPr>
                        <a:t>Achado emergente: a remoção do nosso pré-processamento eleva F1 em 0.7pp e melhora a equidade em 0.05. Indica que MTCNN + limpeza multi-face incorrem em custo metodológico mensurável.</a:t>
                      </a:r>
                    </a:p>
                  </a:txBody>
                  <a:tcPr>
                    <a:solidFill>
                      <a:srgbClr val="FFFFFF"/>
                    </a:solidFill>
                  </a:tcPr>
                </a:tc>
                <a:extLst>
                  <a:ext uri="{0D108BD9-81ED-4DB2-BD59-A6C34878D82A}">
                    <a16:rowId xmlns:a16="http://schemas.microsoft.com/office/drawing/2014/main" val="10003"/>
                  </a:ext>
                </a:extLst>
              </a:tr>
              <a:tr h="438912">
                <a:tc>
                  <a:txBody>
                    <a:bodyPr/>
                    <a:lstStyle/>
                    <a:p>
                      <a:r>
                        <a:rPr sz="900">
                          <a:solidFill>
                            <a:srgbClr val="555555"/>
                          </a:solidFill>
                        </a:rPr>
                        <a:t>Exp-ProtocoloSOTA</a:t>
                      </a:r>
                    </a:p>
                  </a:txBody>
                  <a:tcPr>
                    <a:solidFill>
                      <a:srgbClr val="F5F5F5"/>
                    </a:solidFill>
                  </a:tcPr>
                </a:tc>
                <a:tc>
                  <a:txBody>
                    <a:bodyPr/>
                    <a:lstStyle/>
                    <a:p>
                      <a:r>
                        <a:rPr sz="900">
                          <a:solidFill>
                            <a:srgbClr val="555555"/>
                          </a:solidFill>
                        </a:rPr>
                        <a:t>Reprodução integral do protocolo metodológico de Hassanpour (2024)</a:t>
                      </a:r>
                    </a:p>
                  </a:txBody>
                  <a:tcPr>
                    <a:solidFill>
                      <a:srgbClr val="F5F5F5"/>
                    </a:solidFill>
                  </a:tcPr>
                </a:tc>
                <a:tc>
                  <a:txBody>
                    <a:bodyPr/>
                    <a:lstStyle/>
                    <a:p>
                      <a:r>
                        <a:rPr sz="900">
                          <a:solidFill>
                            <a:srgbClr val="555555"/>
                          </a:solidFill>
                        </a:rPr>
                        <a:t>F1 = 0.703 ± 0.005; IR = 1.541</a:t>
                      </a:r>
                    </a:p>
                  </a:txBody>
                  <a:tcPr>
                    <a:solidFill>
                      <a:srgbClr val="F5F5F5"/>
                    </a:solidFill>
                  </a:tcPr>
                </a:tc>
                <a:tc>
                  <a:txBody>
                    <a:bodyPr/>
                    <a:lstStyle/>
                    <a:p>
                      <a:r>
                        <a:rPr sz="900">
                          <a:solidFill>
                            <a:srgbClr val="555555"/>
                          </a:solidFill>
                        </a:rPr>
                        <a:t>Sob protocolo idêntico ao SOTA-CNN publicado, nosso ConvNeXt-T fica 0.85pp abaixo do baseline ResNet-34 de Hassanpour em comparação simétrica single-vs-single (dentro de 1.7σ da variância natural entre seeds).</a:t>
                      </a:r>
                    </a:p>
                  </a:txBody>
                  <a:tcPr>
                    <a:solidFill>
                      <a:srgbClr val="F5F5F5"/>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4630400" cy="822960"/>
          </a:xfrm>
          <a:prstGeom prst="rect">
            <a:avLst/>
          </a:prstGeom>
          <a:solidFill>
            <a:srgbClr val="1F3A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3716000" y="182880"/>
            <a:ext cx="914400" cy="457200"/>
          </a:xfrm>
          <a:prstGeom prst="rect">
            <a:avLst/>
          </a:prstGeom>
          <a:noFill/>
        </p:spPr>
        <p:txBody>
          <a:bodyPr wrap="none">
            <a:spAutoFit/>
          </a:bodyPr>
          <a:lstStyle/>
          <a:p>
            <a:pPr>
              <a:defRPr sz="1400">
                <a:solidFill>
                  <a:srgbClr val="CCD8EE"/>
                </a:solidFill>
              </a:defRPr>
            </a:pPr>
            <a:r>
              <a:t>11 / 19</a:t>
            </a:r>
          </a:p>
        </p:txBody>
      </p:sp>
      <p:sp>
        <p:nvSpPr>
          <p:cNvPr id="4" name="TextBox 3"/>
          <p:cNvSpPr txBox="1"/>
          <p:nvPr/>
        </p:nvSpPr>
        <p:spPr>
          <a:xfrm>
            <a:off x="457200" y="182880"/>
            <a:ext cx="12801600" cy="548640"/>
          </a:xfrm>
          <a:prstGeom prst="rect">
            <a:avLst/>
          </a:prstGeom>
          <a:noFill/>
        </p:spPr>
        <p:txBody>
          <a:bodyPr wrap="none">
            <a:spAutoFit/>
          </a:bodyPr>
          <a:lstStyle/>
          <a:p>
            <a:pPr>
              <a:defRPr sz="2400" b="1">
                <a:solidFill>
                  <a:srgbClr val="FFFFFF"/>
                </a:solidFill>
              </a:defRPr>
            </a:pPr>
            <a:r>
              <a:t>Atividade 3: análise de robustez (22/05)</a:t>
            </a:r>
          </a:p>
        </p:txBody>
      </p:sp>
      <p:sp>
        <p:nvSpPr>
          <p:cNvPr id="5" name="TextBox 4"/>
          <p:cNvSpPr txBox="1"/>
          <p:nvPr/>
        </p:nvSpPr>
        <p:spPr>
          <a:xfrm>
            <a:off x="640080" y="1097280"/>
            <a:ext cx="13716000" cy="6858000"/>
          </a:xfrm>
          <a:prstGeom prst="rect">
            <a:avLst/>
          </a:prstGeom>
          <a:noFill/>
        </p:spPr>
        <p:txBody>
          <a:bodyPr wrap="square">
            <a:spAutoFit/>
          </a:bodyPr>
          <a:lstStyle/>
          <a:p>
            <a:pPr>
              <a:spcAft>
                <a:spcPts val="500"/>
              </a:spcAft>
              <a:defRPr sz="1500" b="1">
                <a:solidFill>
                  <a:srgbClr val="1F3A68"/>
                </a:solidFill>
              </a:defRPr>
            </a:pPr>
            <a:r>
              <a:t>Pergunta investigativa: "A alavanca ConvNeXt-T persiste na ausência de subamostragem por raça?"</a:t>
            </a:r>
          </a:p>
          <a:p>
            <a:pPr lvl="1">
              <a:spcAft>
                <a:spcPts val="500"/>
              </a:spcAft>
              <a:defRPr sz="1300" b="0">
                <a:solidFill>
                  <a:srgbClr val="555555"/>
                </a:solidFill>
              </a:defRPr>
            </a:pPr>
            <a:r>
              <a:t>Rob-SemSubamostragem — 6 execuções (controle + ConvNeXt-T, três seeds cada), com balance=none.</a:t>
            </a:r>
          </a:p>
          <a:p>
            <a:pPr>
              <a:spcAft>
                <a:spcPts val="500"/>
              </a:spcAft>
              <a:defRPr sz="1500" b="0">
                <a:solidFill>
                  <a:srgbClr val="555555"/>
                </a:solidFill>
              </a:defRPr>
            </a:pPr>
            <a:endParaRPr/>
          </a:p>
          <a:p>
            <a:pPr>
              <a:spcAft>
                <a:spcPts val="500"/>
              </a:spcAft>
              <a:defRPr sz="1500" b="1">
                <a:solidFill>
                  <a:srgbClr val="1F3A68"/>
                </a:solidFill>
              </a:defRPr>
            </a:pPr>
            <a:r>
              <a:t>Achado dual:</a:t>
            </a:r>
          </a:p>
          <a:p>
            <a:pPr lvl="1">
              <a:spcAft>
                <a:spcPts val="500"/>
              </a:spcAft>
              <a:defRPr sz="1300" b="0">
                <a:solidFill>
                  <a:srgbClr val="555555"/>
                </a:solidFill>
              </a:defRPr>
            </a:pPr>
            <a:r>
              <a:t>(1) A subamostragem por raça é estatisticamente neutra (caracterizando o Outcome B do diagnóstico):</a:t>
            </a:r>
          </a:p>
          <a:p>
            <a:pPr lvl="2">
              <a:spcAft>
                <a:spcPts val="500"/>
              </a:spcAft>
              <a:defRPr sz="1300" b="0">
                <a:solidFill>
                  <a:srgbClr val="555555"/>
                </a:solidFill>
              </a:defRPr>
            </a:pPr>
            <a:r>
              <a:t>Acurácia, F1 macro e razão de disparidade essencialmente idênticos com e sem subamostragem.</a:t>
            </a:r>
          </a:p>
          <a:p>
            <a:pPr lvl="2">
              <a:spcAft>
                <a:spcPts val="500"/>
              </a:spcAft>
              <a:defRPr sz="1300" b="0">
                <a:solidFill>
                  <a:srgbClr val="555555"/>
                </a:solidFill>
              </a:defRPr>
            </a:pPr>
            <a:r>
              <a:t>Resultado refuta empiricamente uma prática consolidada na literatura de equidade em FairFace.</a:t>
            </a:r>
          </a:p>
          <a:p>
            <a:pPr>
              <a:spcAft>
                <a:spcPts val="500"/>
              </a:spcAft>
              <a:defRPr sz="1500" b="0">
                <a:solidFill>
                  <a:srgbClr val="555555"/>
                </a:solidFill>
              </a:defRPr>
            </a:pPr>
            <a:endParaRPr/>
          </a:p>
          <a:p>
            <a:pPr lvl="1">
              <a:spcAft>
                <a:spcPts val="500"/>
              </a:spcAft>
              <a:defRPr sz="1300" b="0">
                <a:solidFill>
                  <a:srgbClr val="555555"/>
                </a:solidFill>
              </a:defRPr>
            </a:pPr>
            <a:r>
              <a:t>(2) A alavanca ConvNeXt-T mantém-se sob três protocolos distintos:</a:t>
            </a:r>
          </a:p>
          <a:p>
            <a:pPr lvl="2">
              <a:spcAft>
                <a:spcPts val="500"/>
              </a:spcAft>
              <a:defRPr sz="1300" b="0">
                <a:solidFill>
                  <a:srgbClr val="555555"/>
                </a:solidFill>
              </a:defRPr>
            </a:pPr>
            <a:r>
              <a:t>Protocolo casado original (cinco fatores): ΔF1 = +2.3pp (~7σ).</a:t>
            </a:r>
          </a:p>
          <a:p>
            <a:pPr lvl="2">
              <a:spcAft>
                <a:spcPts val="500"/>
              </a:spcAft>
              <a:defRPr sz="1300" b="0">
                <a:solidFill>
                  <a:srgbClr val="555555"/>
                </a:solidFill>
              </a:defRPr>
            </a:pPr>
            <a:r>
              <a:t>Sem subamostragem (Rob): ΔF1 = +1.4pp (~1.5σ — atenuada porém presente).</a:t>
            </a:r>
          </a:p>
          <a:p>
            <a:pPr lvl="2">
              <a:spcAft>
                <a:spcPts val="500"/>
              </a:spcAft>
              <a:defRPr sz="1300" b="0">
                <a:solidFill>
                  <a:srgbClr val="555555"/>
                </a:solidFill>
              </a:defRPr>
            </a:pPr>
            <a:r>
              <a:t>Protocolo Hassanpour (Exp-ProtocoloSOTA): ΔF1 = +2.4pp (~3.5σ).</a:t>
            </a:r>
          </a:p>
          <a:p>
            <a:pPr lvl="2">
              <a:spcAft>
                <a:spcPts val="500"/>
              </a:spcAft>
              <a:defRPr sz="1300" b="0">
                <a:solidFill>
                  <a:srgbClr val="555555"/>
                </a:solidFill>
              </a:defRPr>
            </a:pPr>
            <a:r>
              <a:t>A robustez em três protocolos confere validade externa ao achado central.</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4630400" cy="822960"/>
          </a:xfrm>
          <a:prstGeom prst="rect">
            <a:avLst/>
          </a:prstGeom>
          <a:solidFill>
            <a:srgbClr val="1F3A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3716000" y="182880"/>
            <a:ext cx="914400" cy="457200"/>
          </a:xfrm>
          <a:prstGeom prst="rect">
            <a:avLst/>
          </a:prstGeom>
          <a:noFill/>
        </p:spPr>
        <p:txBody>
          <a:bodyPr wrap="none">
            <a:spAutoFit/>
          </a:bodyPr>
          <a:lstStyle/>
          <a:p>
            <a:pPr>
              <a:defRPr sz="1400">
                <a:solidFill>
                  <a:srgbClr val="CCD8EE"/>
                </a:solidFill>
              </a:defRPr>
            </a:pPr>
            <a:r>
              <a:t>12 / 19</a:t>
            </a:r>
          </a:p>
        </p:txBody>
      </p:sp>
      <p:sp>
        <p:nvSpPr>
          <p:cNvPr id="4" name="TextBox 3"/>
          <p:cNvSpPr txBox="1"/>
          <p:nvPr/>
        </p:nvSpPr>
        <p:spPr>
          <a:xfrm>
            <a:off x="457200" y="182880"/>
            <a:ext cx="12801600" cy="548640"/>
          </a:xfrm>
          <a:prstGeom prst="rect">
            <a:avLst/>
          </a:prstGeom>
          <a:noFill/>
        </p:spPr>
        <p:txBody>
          <a:bodyPr wrap="none">
            <a:spAutoFit/>
          </a:bodyPr>
          <a:lstStyle/>
          <a:p>
            <a:pPr>
              <a:defRPr sz="2400" b="1">
                <a:solidFill>
                  <a:srgbClr val="FFFFFF"/>
                </a:solidFill>
              </a:defRPr>
            </a:pPr>
            <a:r>
              <a:t>Atividade 4: auditoria empírica de hiperparâmetros (22–23/05)</a:t>
            </a:r>
          </a:p>
        </p:txBody>
      </p:sp>
      <p:graphicFrame>
        <p:nvGraphicFramePr>
          <p:cNvPr id="5" name="Table 4"/>
          <p:cNvGraphicFramePr>
            <a:graphicFrameLocks noGrp="1"/>
          </p:cNvGraphicFramePr>
          <p:nvPr/>
        </p:nvGraphicFramePr>
        <p:xfrm>
          <a:off x="228600" y="1097280"/>
          <a:ext cx="14173200" cy="2194560"/>
        </p:xfrm>
        <a:graphic>
          <a:graphicData uri="http://schemas.openxmlformats.org/drawingml/2006/table">
            <a:tbl>
              <a:tblPr firstRow="1" bandRow="1">
                <a:tableStyleId>{5C22544A-7EE6-4342-B048-85BDC9FD1C3A}</a:tableStyleId>
              </a:tblPr>
              <a:tblGrid>
                <a:gridCol w="210312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gridCol w="6126480">
                  <a:extLst>
                    <a:ext uri="{9D8B030D-6E8A-4147-A177-3AD203B41FA5}">
                      <a16:colId xmlns:a16="http://schemas.microsoft.com/office/drawing/2014/main" val="20003"/>
                    </a:ext>
                  </a:extLst>
                </a:gridCol>
              </a:tblGrid>
              <a:tr h="438912">
                <a:tc>
                  <a:txBody>
                    <a:bodyPr/>
                    <a:lstStyle/>
                    <a:p>
                      <a:r>
                        <a:rPr sz="1100" b="1">
                          <a:solidFill>
                            <a:srgbClr val="FFFFFF"/>
                          </a:solidFill>
                        </a:rPr>
                        <a:t>Auditoria</a:t>
                      </a:r>
                    </a:p>
                  </a:txBody>
                  <a:tcPr>
                    <a:solidFill>
                      <a:srgbClr val="1F3A68"/>
                    </a:solidFill>
                  </a:tcPr>
                </a:tc>
                <a:tc>
                  <a:txBody>
                    <a:bodyPr/>
                    <a:lstStyle/>
                    <a:p>
                      <a:r>
                        <a:rPr sz="1100" b="1">
                          <a:solidFill>
                            <a:srgbClr val="FFFFFF"/>
                          </a:solidFill>
                        </a:rPr>
                        <a:t>Variável testada</a:t>
                      </a:r>
                    </a:p>
                  </a:txBody>
                  <a:tcPr>
                    <a:solidFill>
                      <a:srgbClr val="1F3A68"/>
                    </a:solidFill>
                  </a:tcPr>
                </a:tc>
                <a:tc>
                  <a:txBody>
                    <a:bodyPr/>
                    <a:lstStyle/>
                    <a:p>
                      <a:r>
                        <a:rPr sz="1100" b="1">
                          <a:solidFill>
                            <a:srgbClr val="FFFFFF"/>
                          </a:solidFill>
                        </a:rPr>
                        <a:t>Resultado</a:t>
                      </a:r>
                    </a:p>
                  </a:txBody>
                  <a:tcPr>
                    <a:solidFill>
                      <a:srgbClr val="1F3A68"/>
                    </a:solidFill>
                  </a:tcPr>
                </a:tc>
                <a:tc>
                  <a:txBody>
                    <a:bodyPr/>
                    <a:lstStyle/>
                    <a:p>
                      <a:r>
                        <a:rPr sz="1100" b="1">
                          <a:solidFill>
                            <a:srgbClr val="FFFFFF"/>
                          </a:solidFill>
                        </a:rPr>
                        <a:t>Análise</a:t>
                      </a:r>
                    </a:p>
                  </a:txBody>
                  <a:tcPr>
                    <a:solidFill>
                      <a:srgbClr val="1F3A68"/>
                    </a:solidFill>
                  </a:tcPr>
                </a:tc>
                <a:extLst>
                  <a:ext uri="{0D108BD9-81ED-4DB2-BD59-A6C34878D82A}">
                    <a16:rowId xmlns:a16="http://schemas.microsoft.com/office/drawing/2014/main" val="10000"/>
                  </a:ext>
                </a:extLst>
              </a:tr>
              <a:tr h="438912">
                <a:tc>
                  <a:txBody>
                    <a:bodyPr/>
                    <a:lstStyle/>
                    <a:p>
                      <a:r>
                        <a:rPr sz="900">
                          <a:solidFill>
                            <a:srgbClr val="555555"/>
                          </a:solidFill>
                        </a:rPr>
                        <a:t>Aud-Paciência</a:t>
                      </a:r>
                    </a:p>
                  </a:txBody>
                  <a:tcPr>
                    <a:solidFill>
                      <a:srgbClr val="FFFFFF"/>
                    </a:solidFill>
                  </a:tcPr>
                </a:tc>
                <a:tc>
                  <a:txBody>
                    <a:bodyPr/>
                    <a:lstStyle/>
                    <a:p>
                      <a:r>
                        <a:rPr sz="900">
                          <a:solidFill>
                            <a:srgbClr val="555555"/>
                          </a:solidFill>
                        </a:rPr>
                        <a:t>Paciência do early stopping: 5 → 15 epochs</a:t>
                      </a:r>
                    </a:p>
                  </a:txBody>
                  <a:tcPr>
                    <a:solidFill>
                      <a:srgbClr val="FFFFFF"/>
                    </a:solidFill>
                  </a:tcPr>
                </a:tc>
                <a:tc>
                  <a:txBody>
                    <a:bodyPr/>
                    <a:lstStyle/>
                    <a:p>
                      <a:r>
                        <a:rPr sz="900">
                          <a:solidFill>
                            <a:srgbClr val="555555"/>
                          </a:solidFill>
                        </a:rPr>
                        <a:t>Resultado bit-a-bit idêntico ao baseline</a:t>
                      </a:r>
                    </a:p>
                  </a:txBody>
                  <a:tcPr>
                    <a:solidFill>
                      <a:srgbClr val="FFFFFF"/>
                    </a:solidFill>
                  </a:tcPr>
                </a:tc>
                <a:tc>
                  <a:txBody>
                    <a:bodyPr/>
                    <a:lstStyle/>
                    <a:p>
                      <a:r>
                        <a:rPr sz="900">
                          <a:solidFill>
                            <a:srgbClr val="555555"/>
                          </a:solidFill>
                        </a:rPr>
                        <a:t>Permitir três vezes mais epochs sem melhoria não altera o checkpoint selecionado. Conclui-se que o escalonador cossenoidal com restart (T_0 = 8) não está interrompendo o treinamento prematuramente.</a:t>
                      </a:r>
                    </a:p>
                  </a:txBody>
                  <a:tcPr>
                    <a:solidFill>
                      <a:srgbClr val="FFFFFF"/>
                    </a:solidFill>
                  </a:tcPr>
                </a:tc>
                <a:extLst>
                  <a:ext uri="{0D108BD9-81ED-4DB2-BD59-A6C34878D82A}">
                    <a16:rowId xmlns:a16="http://schemas.microsoft.com/office/drawing/2014/main" val="10001"/>
                  </a:ext>
                </a:extLst>
              </a:tr>
              <a:tr h="438912">
                <a:tc>
                  <a:txBody>
                    <a:bodyPr/>
                    <a:lstStyle/>
                    <a:p>
                      <a:r>
                        <a:rPr sz="900">
                          <a:solidFill>
                            <a:srgbClr val="555555"/>
                          </a:solidFill>
                        </a:rPr>
                        <a:t>Aud-Dropout</a:t>
                      </a:r>
                    </a:p>
                  </a:txBody>
                  <a:tcPr>
                    <a:solidFill>
                      <a:srgbClr val="F5F5F5"/>
                    </a:solidFill>
                  </a:tcPr>
                </a:tc>
                <a:tc>
                  <a:txBody>
                    <a:bodyPr/>
                    <a:lstStyle/>
                    <a:p>
                      <a:r>
                        <a:rPr sz="900">
                          <a:solidFill>
                            <a:srgbClr val="555555"/>
                          </a:solidFill>
                        </a:rPr>
                        <a:t>Dropout sobre o vetor de características: 0.2 → 0.0</a:t>
                      </a:r>
                    </a:p>
                  </a:txBody>
                  <a:tcPr>
                    <a:solidFill>
                      <a:srgbClr val="F5F5F5"/>
                    </a:solidFill>
                  </a:tcPr>
                </a:tc>
                <a:tc>
                  <a:txBody>
                    <a:bodyPr/>
                    <a:lstStyle/>
                    <a:p>
                      <a:r>
                        <a:rPr sz="900">
                          <a:solidFill>
                            <a:srgbClr val="555555"/>
                          </a:solidFill>
                        </a:rPr>
                        <a:t>ΔF1 = −0.003; ΔIR = +0.058</a:t>
                      </a:r>
                    </a:p>
                  </a:txBody>
                  <a:tcPr>
                    <a:solidFill>
                      <a:srgbClr val="F5F5F5"/>
                    </a:solidFill>
                  </a:tcPr>
                </a:tc>
                <a:tc>
                  <a:txBody>
                    <a:bodyPr/>
                    <a:lstStyle/>
                    <a:p>
                      <a:r>
                        <a:rPr sz="900">
                          <a:solidFill>
                            <a:srgbClr val="555555"/>
                          </a:solidFill>
                        </a:rPr>
                        <a:t>A remoção do dropout piora marginalmente F1 e piora significativamente a razão de disparidade. O dropout 0.2 está atuando como regularizador favorável à equidade — não como sobre-regularização.</a:t>
                      </a:r>
                    </a:p>
                  </a:txBody>
                  <a:tcPr>
                    <a:solidFill>
                      <a:srgbClr val="F5F5F5"/>
                    </a:solidFill>
                  </a:tcPr>
                </a:tc>
                <a:extLst>
                  <a:ext uri="{0D108BD9-81ED-4DB2-BD59-A6C34878D82A}">
                    <a16:rowId xmlns:a16="http://schemas.microsoft.com/office/drawing/2014/main" val="10002"/>
                  </a:ext>
                </a:extLst>
              </a:tr>
              <a:tr h="438912">
                <a:tc>
                  <a:txBody>
                    <a:bodyPr/>
                    <a:lstStyle/>
                    <a:p>
                      <a:r>
                        <a:rPr sz="900">
                          <a:solidFill>
                            <a:srgbClr val="555555"/>
                          </a:solidFill>
                        </a:rPr>
                        <a:t>Aud-Augmentation</a:t>
                      </a:r>
                    </a:p>
                  </a:txBody>
                  <a:tcPr>
                    <a:solidFill>
                      <a:srgbClr val="FFFFFF"/>
                    </a:solidFill>
                  </a:tcPr>
                </a:tc>
                <a:tc>
                  <a:txBody>
                    <a:bodyPr/>
                    <a:lstStyle/>
                    <a:p>
                      <a:r>
                        <a:rPr sz="900">
                          <a:solidFill>
                            <a:srgbClr val="555555"/>
                          </a:solidFill>
                        </a:rPr>
                        <a:t>Data augmentation via TrivialAugmentWide</a:t>
                      </a:r>
                    </a:p>
                  </a:txBody>
                  <a:tcPr>
                    <a:solidFill>
                      <a:srgbClr val="FFFFFF"/>
                    </a:solidFill>
                  </a:tcPr>
                </a:tc>
                <a:tc>
                  <a:txBody>
                    <a:bodyPr/>
                    <a:lstStyle/>
                    <a:p>
                      <a:r>
                        <a:rPr sz="900">
                          <a:solidFill>
                            <a:srgbClr val="555555"/>
                          </a:solidFill>
                        </a:rPr>
                        <a:t>ΔF1 = +0.9pp, porém recall de East Asian cai 6.7pp</a:t>
                      </a:r>
                    </a:p>
                  </a:txBody>
                  <a:tcPr>
                    <a:solidFill>
                      <a:srgbClr val="FFFFFF"/>
                    </a:solidFill>
                  </a:tcPr>
                </a:tc>
                <a:tc>
                  <a:txBody>
                    <a:bodyPr/>
                    <a:lstStyle/>
                    <a:p>
                      <a:r>
                        <a:rPr sz="900">
                          <a:solidFill>
                            <a:srgbClr val="C0392B"/>
                          </a:solidFill>
                        </a:rPr>
                        <a:t>A data augmentation moderna eleva F1 agregado mas degrada significativamente o recall de uma classe minoritária. Conclui-se que a técnica desloca o vetor de viés entre grupos, sem eliminá-lo ⚠️</a:t>
                      </a:r>
                    </a:p>
                  </a:txBody>
                  <a:tcPr>
                    <a:solidFill>
                      <a:srgbClr val="FFFFFF"/>
                    </a:solidFill>
                  </a:tcPr>
                </a:tc>
                <a:extLst>
                  <a:ext uri="{0D108BD9-81ED-4DB2-BD59-A6C34878D82A}">
                    <a16:rowId xmlns:a16="http://schemas.microsoft.com/office/drawing/2014/main" val="10003"/>
                  </a:ext>
                </a:extLst>
              </a:tr>
              <a:tr h="438912">
                <a:tc>
                  <a:txBody>
                    <a:bodyPr/>
                    <a:lstStyle/>
                    <a:p>
                      <a:r>
                        <a:rPr sz="900">
                          <a:solidFill>
                            <a:srgbClr val="555555"/>
                          </a:solidFill>
                        </a:rPr>
                        <a:t>Aud-Oversampling</a:t>
                      </a:r>
                    </a:p>
                  </a:txBody>
                  <a:tcPr>
                    <a:solidFill>
                      <a:srgbClr val="F5F5F5"/>
                    </a:solidFill>
                  </a:tcPr>
                </a:tc>
                <a:tc>
                  <a:txBody>
                    <a:bodyPr/>
                    <a:lstStyle/>
                    <a:p>
                      <a:r>
                        <a:rPr sz="900">
                          <a:solidFill>
                            <a:srgbClr val="555555"/>
                          </a:solidFill>
                        </a:rPr>
                        <a:t>Balanceamento de classes via replicação (oversampling)</a:t>
                      </a:r>
                    </a:p>
                  </a:txBody>
                  <a:tcPr>
                    <a:solidFill>
                      <a:srgbClr val="F5F5F5"/>
                    </a:solidFill>
                  </a:tcPr>
                </a:tc>
                <a:tc>
                  <a:txBody>
                    <a:bodyPr/>
                    <a:lstStyle/>
                    <a:p>
                      <a:r>
                        <a:rPr sz="900">
                          <a:solidFill>
                            <a:srgbClr val="555555"/>
                          </a:solidFill>
                        </a:rPr>
                        <a:t>ΔF1 = −2.07pp; recall de Latino_Hispanic cai 12.5pp</a:t>
                      </a:r>
                    </a:p>
                  </a:txBody>
                  <a:tcPr>
                    <a:solidFill>
                      <a:srgbClr val="F5F5F5"/>
                    </a:solidFill>
                  </a:tcPr>
                </a:tc>
                <a:tc>
                  <a:txBody>
                    <a:bodyPr/>
                    <a:lstStyle/>
                    <a:p>
                      <a:r>
                        <a:rPr sz="900">
                          <a:solidFill>
                            <a:srgbClr val="C0392B"/>
                          </a:solidFill>
                        </a:rPr>
                        <a:t>A replicação de amostras minoritárias destrói a fronteira de decisão da classe Latino_Hispanic. O modelo memoriza duplicatas das classes menores e perde generalização para as classes intermediárias ❌</a:t>
                      </a:r>
                    </a:p>
                  </a:txBody>
                  <a:tcPr>
                    <a:solidFill>
                      <a:srgbClr val="F5F5F5"/>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p:cNvSpPr/>
          <p:nvPr/>
        </p:nvSpPr>
        <p:spPr>
          <a:xfrm>
            <a:off x="0" y="0"/>
            <a:ext cx="14630400" cy="822960"/>
          </a:xfrm>
          <a:prstGeom prst="rect">
            <a:avLst/>
          </a:prstGeom>
          <a:solidFill>
            <a:srgbClr val="1F3A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3716000" y="182880"/>
            <a:ext cx="914400" cy="457200"/>
          </a:xfrm>
          <a:prstGeom prst="rect">
            <a:avLst/>
          </a:prstGeom>
          <a:noFill/>
        </p:spPr>
        <p:txBody>
          <a:bodyPr wrap="none">
            <a:spAutoFit/>
          </a:bodyPr>
          <a:lstStyle/>
          <a:p>
            <a:pPr>
              <a:defRPr sz="1400">
                <a:solidFill>
                  <a:srgbClr val="CCD8EE"/>
                </a:solidFill>
              </a:defRPr>
            </a:pPr>
            <a:r>
              <a:t>13 / 19</a:t>
            </a:r>
          </a:p>
        </p:txBody>
      </p:sp>
      <p:sp>
        <p:nvSpPr>
          <p:cNvPr id="4" name="TextBox 3"/>
          <p:cNvSpPr txBox="1"/>
          <p:nvPr/>
        </p:nvSpPr>
        <p:spPr>
          <a:xfrm>
            <a:off x="457200" y="182880"/>
            <a:ext cx="12801600" cy="548640"/>
          </a:xfrm>
          <a:prstGeom prst="rect">
            <a:avLst/>
          </a:prstGeom>
          <a:noFill/>
        </p:spPr>
        <p:txBody>
          <a:bodyPr wrap="none">
            <a:spAutoFit/>
          </a:bodyPr>
          <a:lstStyle/>
          <a:p>
            <a:pPr>
              <a:defRPr sz="2400" b="1">
                <a:solidFill>
                  <a:srgbClr val="FFFFFF"/>
                </a:solidFill>
              </a:defRPr>
            </a:pPr>
            <a:r>
              <a:t>Atividade 5: análises pós-treinamento (23/05) — sem retreinamento</a:t>
            </a:r>
          </a:p>
        </p:txBody>
      </p:sp>
      <p:graphicFrame>
        <p:nvGraphicFramePr>
          <p:cNvPr id="5" name="Table 4"/>
          <p:cNvGraphicFramePr>
            <a:graphicFrameLocks noGrp="1"/>
          </p:cNvGraphicFramePr>
          <p:nvPr/>
        </p:nvGraphicFramePr>
        <p:xfrm>
          <a:off x="457200" y="1097280"/>
          <a:ext cx="13716000" cy="219456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gridCol w="6400800">
                  <a:extLst>
                    <a:ext uri="{9D8B030D-6E8A-4147-A177-3AD203B41FA5}">
                      <a16:colId xmlns:a16="http://schemas.microsoft.com/office/drawing/2014/main" val="20002"/>
                    </a:ext>
                  </a:extLst>
                </a:gridCol>
              </a:tblGrid>
              <a:tr h="438912">
                <a:tc>
                  <a:txBody>
                    <a:bodyPr/>
                    <a:lstStyle/>
                    <a:p>
                      <a:r>
                        <a:rPr sz="1100" b="1">
                          <a:solidFill>
                            <a:srgbClr val="FFFFFF"/>
                          </a:solidFill>
                        </a:rPr>
                        <a:t>Análise</a:t>
                      </a:r>
                    </a:p>
                  </a:txBody>
                  <a:tcPr>
                    <a:solidFill>
                      <a:srgbClr val="1F3A68"/>
                    </a:solidFill>
                  </a:tcPr>
                </a:tc>
                <a:tc>
                  <a:txBody>
                    <a:bodyPr/>
                    <a:lstStyle/>
                    <a:p>
                      <a:r>
                        <a:rPr sz="1100" b="1">
                          <a:solidFill>
                            <a:srgbClr val="FFFFFF"/>
                          </a:solidFill>
                        </a:rPr>
                        <a:t>Referência canônica</a:t>
                      </a:r>
                    </a:p>
                  </a:txBody>
                  <a:tcPr>
                    <a:solidFill>
                      <a:srgbClr val="1F3A68"/>
                    </a:solidFill>
                  </a:tcPr>
                </a:tc>
                <a:tc>
                  <a:txBody>
                    <a:bodyPr/>
                    <a:lstStyle/>
                    <a:p>
                      <a:r>
                        <a:rPr sz="1100" b="1">
                          <a:solidFill>
                            <a:srgbClr val="FFFFFF"/>
                          </a:solidFill>
                        </a:rPr>
                        <a:t>Contribuição</a:t>
                      </a:r>
                    </a:p>
                  </a:txBody>
                  <a:tcPr>
                    <a:solidFill>
                      <a:srgbClr val="1F3A68"/>
                    </a:solidFill>
                  </a:tcPr>
                </a:tc>
                <a:extLst>
                  <a:ext uri="{0D108BD9-81ED-4DB2-BD59-A6C34878D82A}">
                    <a16:rowId xmlns:a16="http://schemas.microsoft.com/office/drawing/2014/main" val="10000"/>
                  </a:ext>
                </a:extLst>
              </a:tr>
              <a:tr h="438912">
                <a:tc>
                  <a:txBody>
                    <a:bodyPr/>
                    <a:lstStyle/>
                    <a:p>
                      <a:r>
                        <a:rPr sz="1000">
                          <a:solidFill>
                            <a:srgbClr val="555555"/>
                          </a:solidFill>
                        </a:rPr>
                        <a:t>PT-Interseccional</a:t>
                      </a:r>
                    </a:p>
                  </a:txBody>
                  <a:tcPr>
                    <a:solidFill>
                      <a:srgbClr val="FFFFFF"/>
                    </a:solidFill>
                  </a:tcPr>
                </a:tc>
                <a:tc>
                  <a:txBody>
                    <a:bodyPr/>
                    <a:lstStyle/>
                    <a:p>
                      <a:r>
                        <a:rPr sz="1000">
                          <a:solidFill>
                            <a:srgbClr val="555555"/>
                          </a:solidFill>
                        </a:rPr>
                        <a:t>Buolamwini &amp; Gebru, FAccT 2018</a:t>
                      </a:r>
                    </a:p>
                  </a:txBody>
                  <a:tcPr>
                    <a:solidFill>
                      <a:srgbClr val="FFFFFF"/>
                    </a:solidFill>
                  </a:tcPr>
                </a:tc>
                <a:tc>
                  <a:txBody>
                    <a:bodyPr/>
                    <a:lstStyle/>
                    <a:p>
                      <a:r>
                        <a:rPr sz="1000">
                          <a:solidFill>
                            <a:srgbClr val="555555"/>
                          </a:solidFill>
                        </a:rPr>
                        <a:t>Quantifica disparidade cruzada raça × gênero × idade; razão de disparidade cresce de 1.541 (só raça) para 3.241 (intersecção tripla).</a:t>
                      </a:r>
                    </a:p>
                  </a:txBody>
                  <a:tcPr>
                    <a:solidFill>
                      <a:srgbClr val="FFFFFF"/>
                    </a:solidFill>
                  </a:tcPr>
                </a:tc>
                <a:extLst>
                  <a:ext uri="{0D108BD9-81ED-4DB2-BD59-A6C34878D82A}">
                    <a16:rowId xmlns:a16="http://schemas.microsoft.com/office/drawing/2014/main" val="10001"/>
                  </a:ext>
                </a:extLst>
              </a:tr>
              <a:tr h="438912">
                <a:tc>
                  <a:txBody>
                    <a:bodyPr/>
                    <a:lstStyle/>
                    <a:p>
                      <a:r>
                        <a:rPr sz="1000">
                          <a:solidFill>
                            <a:srgbClr val="555555"/>
                          </a:solidFill>
                        </a:rPr>
                        <a:t>PT-Ensemble</a:t>
                      </a:r>
                    </a:p>
                  </a:txBody>
                  <a:tcPr>
                    <a:solidFill>
                      <a:srgbClr val="F5F5F5"/>
                    </a:solidFill>
                  </a:tcPr>
                </a:tc>
                <a:tc>
                  <a:txBody>
                    <a:bodyPr/>
                    <a:lstStyle/>
                    <a:p>
                      <a:r>
                        <a:rPr sz="1000">
                          <a:solidFill>
                            <a:srgbClr val="555555"/>
                          </a:solidFill>
                        </a:rPr>
                        <a:t>Lakshminarayanan et al., NeurIPS 2017 (8.000+ citações)</a:t>
                      </a:r>
                    </a:p>
                  </a:txBody>
                  <a:tcPr>
                    <a:solidFill>
                      <a:srgbClr val="F5F5F5"/>
                    </a:solidFill>
                  </a:tcPr>
                </a:tc>
                <a:tc>
                  <a:txBody>
                    <a:bodyPr/>
                    <a:lstStyle/>
                    <a:p>
                      <a:r>
                        <a:rPr sz="1000">
                          <a:solidFill>
                            <a:srgbClr val="555555"/>
                          </a:solidFill>
                        </a:rPr>
                        <a:t>Agregação por deep ensemble reduz a variância da estimativa de desempenho.</a:t>
                      </a:r>
                    </a:p>
                  </a:txBody>
                  <a:tcPr>
                    <a:solidFill>
                      <a:srgbClr val="F5F5F5"/>
                    </a:solidFill>
                  </a:tcPr>
                </a:tc>
                <a:extLst>
                  <a:ext uri="{0D108BD9-81ED-4DB2-BD59-A6C34878D82A}">
                    <a16:rowId xmlns:a16="http://schemas.microsoft.com/office/drawing/2014/main" val="10002"/>
                  </a:ext>
                </a:extLst>
              </a:tr>
              <a:tr h="438912">
                <a:tc>
                  <a:txBody>
                    <a:bodyPr/>
                    <a:lstStyle/>
                    <a:p>
                      <a:r>
                        <a:rPr sz="1000">
                          <a:solidFill>
                            <a:srgbClr val="555555"/>
                          </a:solidFill>
                        </a:rPr>
                        <a:t>PT-TTA</a:t>
                      </a:r>
                    </a:p>
                  </a:txBody>
                  <a:tcPr>
                    <a:solidFill>
                      <a:srgbClr val="FFFFFF"/>
                    </a:solidFill>
                  </a:tcPr>
                </a:tc>
                <a:tc>
                  <a:txBody>
                    <a:bodyPr/>
                    <a:lstStyle/>
                    <a:p>
                      <a:r>
                        <a:rPr sz="1000">
                          <a:solidFill>
                            <a:srgbClr val="555555"/>
                          </a:solidFill>
                        </a:rPr>
                        <a:t>Krizhevsky et al., NeurIPS 2012 (AlexNet, 10-crop)</a:t>
                      </a:r>
                    </a:p>
                  </a:txBody>
                  <a:tcPr>
                    <a:solidFill>
                      <a:srgbClr val="FFFFFF"/>
                    </a:solidFill>
                  </a:tcPr>
                </a:tc>
                <a:tc>
                  <a:txBody>
                    <a:bodyPr/>
                    <a:lstStyle/>
                    <a:p>
                      <a:r>
                        <a:rPr sz="1000">
                          <a:solidFill>
                            <a:srgbClr val="555555"/>
                          </a:solidFill>
                        </a:rPr>
                        <a:t>Test-Time Augmentation com transformações geometricamente seguras (sem alteração de cor ou brilho).</a:t>
                      </a:r>
                    </a:p>
                  </a:txBody>
                  <a:tcPr>
                    <a:solidFill>
                      <a:srgbClr val="FFFFFF"/>
                    </a:solidFill>
                  </a:tcPr>
                </a:tc>
                <a:extLst>
                  <a:ext uri="{0D108BD9-81ED-4DB2-BD59-A6C34878D82A}">
                    <a16:rowId xmlns:a16="http://schemas.microsoft.com/office/drawing/2014/main" val="10003"/>
                  </a:ext>
                </a:extLst>
              </a:tr>
              <a:tr h="438912">
                <a:tc>
                  <a:txBody>
                    <a:bodyPr/>
                    <a:lstStyle/>
                    <a:p>
                      <a:r>
                        <a:rPr sz="1000">
                          <a:solidFill>
                            <a:srgbClr val="555555"/>
                          </a:solidFill>
                        </a:rPr>
                        <a:t>PT-Calibração</a:t>
                      </a:r>
                    </a:p>
                  </a:txBody>
                  <a:tcPr>
                    <a:solidFill>
                      <a:srgbClr val="F5F5F5"/>
                    </a:solidFill>
                  </a:tcPr>
                </a:tc>
                <a:tc>
                  <a:txBody>
                    <a:bodyPr/>
                    <a:lstStyle/>
                    <a:p>
                      <a:r>
                        <a:rPr sz="1000">
                          <a:solidFill>
                            <a:srgbClr val="555555"/>
                          </a:solidFill>
                        </a:rPr>
                        <a:t>Guo et al., ICML 2017</a:t>
                      </a:r>
                    </a:p>
                  </a:txBody>
                  <a:tcPr>
                    <a:solidFill>
                      <a:srgbClr val="F5F5F5"/>
                    </a:solidFill>
                  </a:tcPr>
                </a:tc>
                <a:tc>
                  <a:txBody>
                    <a:bodyPr/>
                    <a:lstStyle/>
                    <a:p>
                      <a:r>
                        <a:rPr sz="1000">
                          <a:solidFill>
                            <a:srgbClr val="555555"/>
                          </a:solidFill>
                        </a:rPr>
                        <a:t>Temperature scaling combinado com otimização de threshold por classe.</a:t>
                      </a:r>
                    </a:p>
                  </a:txBody>
                  <a:tcPr>
                    <a:solidFill>
                      <a:srgbClr val="F5F5F5"/>
                    </a:solidFill>
                  </a:tcPr>
                </a:tc>
                <a:extLst>
                  <a:ext uri="{0D108BD9-81ED-4DB2-BD59-A6C34878D82A}">
                    <a16:rowId xmlns:a16="http://schemas.microsoft.com/office/drawing/2014/main" val="10004"/>
                  </a:ext>
                </a:extLst>
              </a:tr>
            </a:tbl>
          </a:graphicData>
        </a:graphic>
      </p:graphicFrame>
      <p:sp>
        <p:nvSpPr>
          <p:cNvPr id="6" name="TextBox 5"/>
          <p:cNvSpPr txBox="1"/>
          <p:nvPr/>
        </p:nvSpPr>
        <p:spPr>
          <a:xfrm>
            <a:off x="457200" y="7498079"/>
            <a:ext cx="10381368" cy="430887"/>
          </a:xfrm>
          <a:prstGeom prst="rect">
            <a:avLst/>
          </a:prstGeom>
          <a:noFill/>
        </p:spPr>
        <p:txBody>
          <a:bodyPr wrap="none">
            <a:spAutoFit/>
          </a:bodyPr>
          <a:lstStyle/>
          <a:p>
            <a:pPr>
              <a:defRPr sz="1100" i="1">
                <a:solidFill>
                  <a:srgbClr val="4A6B9E"/>
                </a:solidFill>
              </a:defRPr>
            </a:pPr>
            <a:r>
              <a:rPr dirty="0" err="1"/>
              <a:t>Resultados</a:t>
            </a:r>
            <a:r>
              <a:rPr dirty="0"/>
              <a:t> </a:t>
            </a:r>
            <a:r>
              <a:rPr dirty="0" err="1"/>
              <a:t>principais</a:t>
            </a:r>
            <a:r>
              <a:rPr dirty="0"/>
              <a:t> — PT-Ensemble: </a:t>
            </a:r>
            <a:r>
              <a:rPr dirty="0" err="1"/>
              <a:t>acurácia</a:t>
            </a:r>
            <a:r>
              <a:rPr dirty="0"/>
              <a:t> </a:t>
            </a:r>
            <a:r>
              <a:rPr dirty="0" err="1"/>
              <a:t>agregada</a:t>
            </a:r>
            <a:r>
              <a:rPr dirty="0"/>
              <a:t> = 0.7299. Ensemble </a:t>
            </a:r>
            <a:r>
              <a:rPr dirty="0" err="1"/>
              <a:t>combinado</a:t>
            </a:r>
            <a:r>
              <a:rPr dirty="0"/>
              <a:t> com TTA: </a:t>
            </a:r>
            <a:r>
              <a:rPr dirty="0" err="1"/>
              <a:t>razão</a:t>
            </a:r>
            <a:r>
              <a:rPr dirty="0"/>
              <a:t> de </a:t>
            </a:r>
            <a:r>
              <a:rPr dirty="0" err="1"/>
              <a:t>disparidade</a:t>
            </a:r>
            <a:r>
              <a:rPr dirty="0"/>
              <a:t> = 1.474 (</a:t>
            </a:r>
            <a:r>
              <a:rPr dirty="0" err="1"/>
              <a:t>melhor</a:t>
            </a:r>
            <a:r>
              <a:rPr dirty="0"/>
              <a:t> valor de </a:t>
            </a:r>
            <a:r>
              <a:rPr dirty="0" err="1"/>
              <a:t>equidade</a:t>
            </a:r>
            <a:r>
              <a:rPr dirty="0"/>
              <a:t> </a:t>
            </a:r>
            <a:r>
              <a:rPr dirty="0" err="1"/>
              <a:t>alcançado</a:t>
            </a:r>
            <a:r>
              <a:rPr dirty="0"/>
              <a:t> no </a:t>
            </a:r>
            <a:r>
              <a:rPr dirty="0" err="1"/>
              <a:t>projeto</a:t>
            </a:r>
            <a:r>
              <a:rPr dirty="0"/>
              <a:t>). </a:t>
            </a:r>
            <a:endParaRPr lang="pt-BR" dirty="0"/>
          </a:p>
          <a:p>
            <a:pPr>
              <a:defRPr sz="1100" i="1">
                <a:solidFill>
                  <a:srgbClr val="4A6B9E"/>
                </a:solidFill>
              </a:defRPr>
            </a:pPr>
            <a:r>
              <a:rPr dirty="0" err="1"/>
              <a:t>Subgrupo</a:t>
            </a:r>
            <a:r>
              <a:rPr dirty="0"/>
              <a:t> </a:t>
            </a:r>
            <a:r>
              <a:rPr dirty="0" err="1"/>
              <a:t>pior</a:t>
            </a:r>
            <a:r>
              <a:rPr dirty="0"/>
              <a:t> </a:t>
            </a:r>
            <a:r>
              <a:rPr dirty="0" err="1"/>
              <a:t>atendido</a:t>
            </a:r>
            <a:r>
              <a:rPr dirty="0"/>
              <a:t> </a:t>
            </a:r>
            <a:r>
              <a:rPr dirty="0" err="1"/>
              <a:t>na</a:t>
            </a:r>
            <a:r>
              <a:rPr dirty="0"/>
              <a:t> </a:t>
            </a:r>
            <a:r>
              <a:rPr dirty="0" err="1"/>
              <a:t>análise</a:t>
            </a:r>
            <a:r>
              <a:rPr dirty="0"/>
              <a:t> </a:t>
            </a:r>
            <a:r>
              <a:rPr dirty="0" err="1"/>
              <a:t>interseccional</a:t>
            </a:r>
            <a:r>
              <a:rPr dirty="0"/>
              <a:t>: Middle Eastern × Female × 3–9 </a:t>
            </a:r>
            <a:r>
              <a:rPr dirty="0" err="1"/>
              <a:t>anos</a:t>
            </a:r>
            <a:r>
              <a:rPr dirty="0"/>
              <a:t>, com 28.6% de </a:t>
            </a:r>
            <a:r>
              <a:rPr dirty="0" err="1"/>
              <a:t>acurácia</a:t>
            </a:r>
            <a:r>
              <a:rPr dirty="0"/>
              <a:t> (n = 49).</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4630400" cy="822960"/>
          </a:xfrm>
          <a:prstGeom prst="rect">
            <a:avLst/>
          </a:prstGeom>
          <a:solidFill>
            <a:srgbClr val="1F3A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3716000" y="182880"/>
            <a:ext cx="914400" cy="457200"/>
          </a:xfrm>
          <a:prstGeom prst="rect">
            <a:avLst/>
          </a:prstGeom>
          <a:noFill/>
        </p:spPr>
        <p:txBody>
          <a:bodyPr wrap="none">
            <a:spAutoFit/>
          </a:bodyPr>
          <a:lstStyle/>
          <a:p>
            <a:pPr>
              <a:defRPr sz="1400">
                <a:solidFill>
                  <a:srgbClr val="CCD8EE"/>
                </a:solidFill>
              </a:defRPr>
            </a:pPr>
            <a:r>
              <a:t>14 / 19</a:t>
            </a:r>
          </a:p>
        </p:txBody>
      </p:sp>
      <p:sp>
        <p:nvSpPr>
          <p:cNvPr id="4" name="TextBox 3"/>
          <p:cNvSpPr txBox="1"/>
          <p:nvPr/>
        </p:nvSpPr>
        <p:spPr>
          <a:xfrm>
            <a:off x="457200" y="182880"/>
            <a:ext cx="12801600" cy="548640"/>
          </a:xfrm>
          <a:prstGeom prst="rect">
            <a:avLst/>
          </a:prstGeom>
          <a:noFill/>
        </p:spPr>
        <p:txBody>
          <a:bodyPr wrap="none">
            <a:spAutoFit/>
          </a:bodyPr>
          <a:lstStyle/>
          <a:p>
            <a:pPr>
              <a:defRPr sz="2400" b="1">
                <a:solidFill>
                  <a:srgbClr val="FFFFFF"/>
                </a:solidFill>
              </a:defRPr>
            </a:pPr>
            <a:r>
              <a:t>Achado central #1: alavanca ConvNeXt-T (três protocolos)</a:t>
            </a:r>
          </a:p>
        </p:txBody>
      </p:sp>
      <p:graphicFrame>
        <p:nvGraphicFramePr>
          <p:cNvPr id="5" name="Table 4"/>
          <p:cNvGraphicFramePr>
            <a:graphicFrameLocks noGrp="1"/>
          </p:cNvGraphicFramePr>
          <p:nvPr/>
        </p:nvGraphicFramePr>
        <p:xfrm>
          <a:off x="914400" y="1097280"/>
          <a:ext cx="12801600" cy="1828800"/>
        </p:xfrm>
        <a:graphic>
          <a:graphicData uri="http://schemas.openxmlformats.org/drawingml/2006/table">
            <a:tbl>
              <a:tblPr firstRow="1" bandRow="1">
                <a:tableStyleId>{5C22544A-7EE6-4342-B048-85BDC9FD1C3A}</a:tableStyleId>
              </a:tblPr>
              <a:tblGrid>
                <a:gridCol w="548640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3657600">
                  <a:extLst>
                    <a:ext uri="{9D8B030D-6E8A-4147-A177-3AD203B41FA5}">
                      <a16:colId xmlns:a16="http://schemas.microsoft.com/office/drawing/2014/main" val="20002"/>
                    </a:ext>
                  </a:extLst>
                </a:gridCol>
              </a:tblGrid>
              <a:tr h="457200">
                <a:tc>
                  <a:txBody>
                    <a:bodyPr/>
                    <a:lstStyle/>
                    <a:p>
                      <a:r>
                        <a:rPr sz="1100" b="1">
                          <a:solidFill>
                            <a:srgbClr val="FFFFFF"/>
                          </a:solidFill>
                        </a:rPr>
                        <a:t>Protocolo</a:t>
                      </a:r>
                    </a:p>
                  </a:txBody>
                  <a:tcPr>
                    <a:solidFill>
                      <a:srgbClr val="1F3A68"/>
                    </a:solidFill>
                  </a:tcPr>
                </a:tc>
                <a:tc>
                  <a:txBody>
                    <a:bodyPr/>
                    <a:lstStyle/>
                    <a:p>
                      <a:r>
                        <a:rPr sz="1100" b="1">
                          <a:solidFill>
                            <a:srgbClr val="FFFFFF"/>
                          </a:solidFill>
                        </a:rPr>
                        <a:t>Δ F1 (ConvNeXt-T vs. controle)</a:t>
                      </a:r>
                    </a:p>
                  </a:txBody>
                  <a:tcPr>
                    <a:solidFill>
                      <a:srgbClr val="1F3A68"/>
                    </a:solidFill>
                  </a:tcPr>
                </a:tc>
                <a:tc>
                  <a:txBody>
                    <a:bodyPr/>
                    <a:lstStyle/>
                    <a:p>
                      <a:r>
                        <a:rPr sz="1100" b="1">
                          <a:solidFill>
                            <a:srgbClr val="FFFFFF"/>
                          </a:solidFill>
                        </a:rPr>
                        <a:t>Δ Razão de disparidade</a:t>
                      </a:r>
                    </a:p>
                  </a:txBody>
                  <a:tcPr>
                    <a:solidFill>
                      <a:srgbClr val="1F3A68"/>
                    </a:solidFill>
                  </a:tcPr>
                </a:tc>
                <a:extLst>
                  <a:ext uri="{0D108BD9-81ED-4DB2-BD59-A6C34878D82A}">
                    <a16:rowId xmlns:a16="http://schemas.microsoft.com/office/drawing/2014/main" val="10000"/>
                  </a:ext>
                </a:extLst>
              </a:tr>
              <a:tr h="457200">
                <a:tc>
                  <a:txBody>
                    <a:bodyPr/>
                    <a:lstStyle/>
                    <a:p>
                      <a:r>
                        <a:rPr sz="1000">
                          <a:solidFill>
                            <a:srgbClr val="555555"/>
                          </a:solidFill>
                        </a:rPr>
                        <a:t>Casado original (cinco fatores)</a:t>
                      </a:r>
                    </a:p>
                  </a:txBody>
                  <a:tcPr>
                    <a:solidFill>
                      <a:srgbClr val="FFFFFF"/>
                    </a:solidFill>
                  </a:tcPr>
                </a:tc>
                <a:tc>
                  <a:txBody>
                    <a:bodyPr/>
                    <a:lstStyle/>
                    <a:p>
                      <a:r>
                        <a:rPr sz="1000">
                          <a:solidFill>
                            <a:srgbClr val="555555"/>
                          </a:solidFill>
                        </a:rPr>
                        <a:t>+2.3pp (~7σ)</a:t>
                      </a:r>
                    </a:p>
                  </a:txBody>
                  <a:tcPr>
                    <a:solidFill>
                      <a:srgbClr val="FFFFFF"/>
                    </a:solidFill>
                  </a:tcPr>
                </a:tc>
                <a:tc>
                  <a:txBody>
                    <a:bodyPr/>
                    <a:lstStyle/>
                    <a:p>
                      <a:r>
                        <a:rPr sz="1000">
                          <a:solidFill>
                            <a:srgbClr val="555555"/>
                          </a:solidFill>
                        </a:rPr>
                        <a:t>−0.128 (~3σ)</a:t>
                      </a:r>
                    </a:p>
                  </a:txBody>
                  <a:tcPr>
                    <a:solidFill>
                      <a:srgbClr val="FFFFFF"/>
                    </a:solidFill>
                  </a:tcPr>
                </a:tc>
                <a:extLst>
                  <a:ext uri="{0D108BD9-81ED-4DB2-BD59-A6C34878D82A}">
                    <a16:rowId xmlns:a16="http://schemas.microsoft.com/office/drawing/2014/main" val="10001"/>
                  </a:ext>
                </a:extLst>
              </a:tr>
              <a:tr h="457200">
                <a:tc>
                  <a:txBody>
                    <a:bodyPr/>
                    <a:lstStyle/>
                    <a:p>
                      <a:r>
                        <a:rPr sz="1000">
                          <a:solidFill>
                            <a:srgbClr val="555555"/>
                          </a:solidFill>
                        </a:rPr>
                        <a:t>Sem subamostragem (Rob)</a:t>
                      </a:r>
                    </a:p>
                  </a:txBody>
                  <a:tcPr>
                    <a:solidFill>
                      <a:srgbClr val="F5F5F5"/>
                    </a:solidFill>
                  </a:tcPr>
                </a:tc>
                <a:tc>
                  <a:txBody>
                    <a:bodyPr/>
                    <a:lstStyle/>
                    <a:p>
                      <a:r>
                        <a:rPr sz="1000">
                          <a:solidFill>
                            <a:srgbClr val="555555"/>
                          </a:solidFill>
                        </a:rPr>
                        <a:t>+1.4pp (~1.5σ)</a:t>
                      </a:r>
                    </a:p>
                  </a:txBody>
                  <a:tcPr>
                    <a:solidFill>
                      <a:srgbClr val="F5F5F5"/>
                    </a:solidFill>
                  </a:tcPr>
                </a:tc>
                <a:tc>
                  <a:txBody>
                    <a:bodyPr/>
                    <a:lstStyle/>
                    <a:p>
                      <a:r>
                        <a:rPr sz="1000">
                          <a:solidFill>
                            <a:srgbClr val="555555"/>
                          </a:solidFill>
                        </a:rPr>
                        <a:t>−0.065 (~0.7σ)</a:t>
                      </a:r>
                    </a:p>
                  </a:txBody>
                  <a:tcPr>
                    <a:solidFill>
                      <a:srgbClr val="F5F5F5"/>
                    </a:solidFill>
                  </a:tcPr>
                </a:tc>
                <a:extLst>
                  <a:ext uri="{0D108BD9-81ED-4DB2-BD59-A6C34878D82A}">
                    <a16:rowId xmlns:a16="http://schemas.microsoft.com/office/drawing/2014/main" val="10002"/>
                  </a:ext>
                </a:extLst>
              </a:tr>
              <a:tr h="457200">
                <a:tc>
                  <a:txBody>
                    <a:bodyPr/>
                    <a:lstStyle/>
                    <a:p>
                      <a:r>
                        <a:rPr sz="1000">
                          <a:solidFill>
                            <a:srgbClr val="555555"/>
                          </a:solidFill>
                        </a:rPr>
                        <a:t>Protocolo Hassanpour (Exp-ProtocoloSOTA)</a:t>
                      </a:r>
                    </a:p>
                  </a:txBody>
                  <a:tcPr>
                    <a:solidFill>
                      <a:srgbClr val="FFFFFF"/>
                    </a:solidFill>
                  </a:tcPr>
                </a:tc>
                <a:tc>
                  <a:txBody>
                    <a:bodyPr/>
                    <a:lstStyle/>
                    <a:p>
                      <a:r>
                        <a:rPr sz="1000">
                          <a:solidFill>
                            <a:srgbClr val="555555"/>
                          </a:solidFill>
                        </a:rPr>
                        <a:t>+2.4pp (~3.5σ)</a:t>
                      </a:r>
                    </a:p>
                  </a:txBody>
                  <a:tcPr>
                    <a:solidFill>
                      <a:srgbClr val="FFFFFF"/>
                    </a:solidFill>
                  </a:tcPr>
                </a:tc>
                <a:tc>
                  <a:txBody>
                    <a:bodyPr/>
                    <a:lstStyle/>
                    <a:p>
                      <a:r>
                        <a:rPr sz="1000">
                          <a:solidFill>
                            <a:srgbClr val="555555"/>
                          </a:solidFill>
                        </a:rPr>
                        <a:t>−0.087 (~1.8σ)</a:t>
                      </a:r>
                    </a:p>
                  </a:txBody>
                  <a:tcPr>
                    <a:solidFill>
                      <a:srgbClr val="FFFFFF"/>
                    </a:solidFill>
                  </a:tcPr>
                </a:tc>
                <a:extLst>
                  <a:ext uri="{0D108BD9-81ED-4DB2-BD59-A6C34878D82A}">
                    <a16:rowId xmlns:a16="http://schemas.microsoft.com/office/drawing/2014/main" val="10003"/>
                  </a:ext>
                </a:extLst>
              </a:tr>
            </a:tbl>
          </a:graphicData>
        </a:graphic>
      </p:graphicFrame>
      <p:sp>
        <p:nvSpPr>
          <p:cNvPr id="6" name="TextBox 5"/>
          <p:cNvSpPr txBox="1"/>
          <p:nvPr/>
        </p:nvSpPr>
        <p:spPr>
          <a:xfrm>
            <a:off x="457200" y="7498079"/>
            <a:ext cx="13716000" cy="640080"/>
          </a:xfrm>
          <a:prstGeom prst="rect">
            <a:avLst/>
          </a:prstGeom>
          <a:noFill/>
        </p:spPr>
        <p:txBody>
          <a:bodyPr wrap="none">
            <a:spAutoFit/>
          </a:bodyPr>
          <a:lstStyle/>
          <a:p>
            <a:pPr>
              <a:defRPr sz="1100" i="1">
                <a:solidFill>
                  <a:srgbClr val="4A6B9E"/>
                </a:solidFill>
              </a:defRPr>
            </a:pPr>
            <a:r>
              <a:t>Hipóteses mecanísticas a discutir (Fator 5): (H1) LayerNorm superior a BatchNorm em batches demograficamente assimétricos; (H2) kernel depthwise 7×7 captura características em escala intermediária; (H3) recipe de pré-treinamento moderno (AdamW, EMA, RandAugment, Mixup).</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4630400" cy="822960"/>
          </a:xfrm>
          <a:prstGeom prst="rect">
            <a:avLst/>
          </a:prstGeom>
          <a:solidFill>
            <a:srgbClr val="1F3A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3716000" y="182880"/>
            <a:ext cx="914400" cy="457200"/>
          </a:xfrm>
          <a:prstGeom prst="rect">
            <a:avLst/>
          </a:prstGeom>
          <a:noFill/>
        </p:spPr>
        <p:txBody>
          <a:bodyPr wrap="none">
            <a:spAutoFit/>
          </a:bodyPr>
          <a:lstStyle/>
          <a:p>
            <a:pPr>
              <a:defRPr sz="1400">
                <a:solidFill>
                  <a:srgbClr val="CCD8EE"/>
                </a:solidFill>
              </a:defRPr>
            </a:pPr>
            <a:r>
              <a:t>15 / 19</a:t>
            </a:r>
          </a:p>
        </p:txBody>
      </p:sp>
      <p:sp>
        <p:nvSpPr>
          <p:cNvPr id="4" name="TextBox 3"/>
          <p:cNvSpPr txBox="1"/>
          <p:nvPr/>
        </p:nvSpPr>
        <p:spPr>
          <a:xfrm>
            <a:off x="457200" y="182880"/>
            <a:ext cx="12801600" cy="548640"/>
          </a:xfrm>
          <a:prstGeom prst="rect">
            <a:avLst/>
          </a:prstGeom>
          <a:noFill/>
        </p:spPr>
        <p:txBody>
          <a:bodyPr wrap="none">
            <a:spAutoFit/>
          </a:bodyPr>
          <a:lstStyle/>
          <a:p>
            <a:pPr>
              <a:defRPr sz="2400" b="1">
                <a:solidFill>
                  <a:srgbClr val="FFFFFF"/>
                </a:solidFill>
              </a:defRPr>
            </a:pPr>
            <a:r>
              <a:t>Achado central #2: critério Pareto-aware best-epoch (Linha B)</a:t>
            </a:r>
          </a:p>
        </p:txBody>
      </p:sp>
      <p:graphicFrame>
        <p:nvGraphicFramePr>
          <p:cNvPr id="5" name="Table 4"/>
          <p:cNvGraphicFramePr>
            <a:graphicFrameLocks noGrp="1"/>
          </p:cNvGraphicFramePr>
          <p:nvPr/>
        </p:nvGraphicFramePr>
        <p:xfrm>
          <a:off x="1828800" y="1097280"/>
          <a:ext cx="10972800" cy="2194560"/>
        </p:xfrm>
        <a:graphic>
          <a:graphicData uri="http://schemas.openxmlformats.org/drawingml/2006/table">
            <a:tbl>
              <a:tblPr firstRow="1" bandRow="1">
                <a:tableStyleId>{5C22544A-7EE6-4342-B048-85BDC9FD1C3A}</a:tableStyleId>
              </a:tblPr>
              <a:tblGrid>
                <a:gridCol w="4572000">
                  <a:extLst>
                    <a:ext uri="{9D8B030D-6E8A-4147-A177-3AD203B41FA5}">
                      <a16:colId xmlns:a16="http://schemas.microsoft.com/office/drawing/2014/main" val="20000"/>
                    </a:ext>
                  </a:extLst>
                </a:gridCol>
                <a:gridCol w="6400800">
                  <a:extLst>
                    <a:ext uri="{9D8B030D-6E8A-4147-A177-3AD203B41FA5}">
                      <a16:colId xmlns:a16="http://schemas.microsoft.com/office/drawing/2014/main" val="20001"/>
                    </a:ext>
                  </a:extLst>
                </a:gridCol>
              </a:tblGrid>
              <a:tr h="438912">
                <a:tc>
                  <a:txBody>
                    <a:bodyPr/>
                    <a:lstStyle/>
                    <a:p>
                      <a:r>
                        <a:rPr sz="1100" b="1">
                          <a:solidFill>
                            <a:srgbClr val="FFFFFF"/>
                          </a:solidFill>
                        </a:rPr>
                        <a:t>Função de custo (loss)</a:t>
                      </a:r>
                    </a:p>
                  </a:txBody>
                  <a:tcPr>
                    <a:solidFill>
                      <a:srgbClr val="1F3A68"/>
                    </a:solidFill>
                  </a:tcPr>
                </a:tc>
                <a:tc>
                  <a:txBody>
                    <a:bodyPr/>
                    <a:lstStyle/>
                    <a:p>
                      <a:r>
                        <a:rPr sz="1100" b="1">
                          <a:solidFill>
                            <a:srgbClr val="FFFFFF"/>
                          </a:solidFill>
                        </a:rPr>
                        <a:t>Δ F1 sob critério correto vs. critério ingênuo</a:t>
                      </a:r>
                    </a:p>
                  </a:txBody>
                  <a:tcPr>
                    <a:solidFill>
                      <a:srgbClr val="1F3A68"/>
                    </a:solidFill>
                  </a:tcPr>
                </a:tc>
                <a:extLst>
                  <a:ext uri="{0D108BD9-81ED-4DB2-BD59-A6C34878D82A}">
                    <a16:rowId xmlns:a16="http://schemas.microsoft.com/office/drawing/2014/main" val="10000"/>
                  </a:ext>
                </a:extLst>
              </a:tr>
              <a:tr h="438912">
                <a:tc>
                  <a:txBody>
                    <a:bodyPr/>
                    <a:lstStyle/>
                    <a:p>
                      <a:r>
                        <a:rPr sz="1000">
                          <a:solidFill>
                            <a:srgbClr val="555555"/>
                          </a:solidFill>
                        </a:rPr>
                        <a:t>Cross-Entropy (CE)</a:t>
                      </a:r>
                    </a:p>
                  </a:txBody>
                  <a:tcPr>
                    <a:solidFill>
                      <a:srgbClr val="FFFFFF"/>
                    </a:solidFill>
                  </a:tcPr>
                </a:tc>
                <a:tc>
                  <a:txBody>
                    <a:bodyPr/>
                    <a:lstStyle/>
                    <a:p>
                      <a:r>
                        <a:rPr sz="1000">
                          <a:solidFill>
                            <a:srgbClr val="555555"/>
                          </a:solidFill>
                        </a:rPr>
                        <a:t>+0.021</a:t>
                      </a:r>
                    </a:p>
                  </a:txBody>
                  <a:tcPr>
                    <a:solidFill>
                      <a:srgbClr val="FFFFFF"/>
                    </a:solidFill>
                  </a:tcPr>
                </a:tc>
                <a:extLst>
                  <a:ext uri="{0D108BD9-81ED-4DB2-BD59-A6C34878D82A}">
                    <a16:rowId xmlns:a16="http://schemas.microsoft.com/office/drawing/2014/main" val="10001"/>
                  </a:ext>
                </a:extLst>
              </a:tr>
              <a:tr h="438912">
                <a:tc>
                  <a:txBody>
                    <a:bodyPr/>
                    <a:lstStyle/>
                    <a:p>
                      <a:r>
                        <a:rPr sz="1000">
                          <a:solidFill>
                            <a:srgbClr val="555555"/>
                          </a:solidFill>
                        </a:rPr>
                        <a:t>AdaFace</a:t>
                      </a:r>
                    </a:p>
                  </a:txBody>
                  <a:tcPr>
                    <a:solidFill>
                      <a:srgbClr val="F5F5F5"/>
                    </a:solidFill>
                  </a:tcPr>
                </a:tc>
                <a:tc>
                  <a:txBody>
                    <a:bodyPr/>
                    <a:lstStyle/>
                    <a:p>
                      <a:r>
                        <a:rPr sz="1000">
                          <a:solidFill>
                            <a:srgbClr val="555555"/>
                          </a:solidFill>
                        </a:rPr>
                        <a:t>+0.146 (melhoria relativa de 12%)</a:t>
                      </a:r>
                    </a:p>
                  </a:txBody>
                  <a:tcPr>
                    <a:solidFill>
                      <a:srgbClr val="F5F5F5"/>
                    </a:solidFill>
                  </a:tcPr>
                </a:tc>
                <a:extLst>
                  <a:ext uri="{0D108BD9-81ED-4DB2-BD59-A6C34878D82A}">
                    <a16:rowId xmlns:a16="http://schemas.microsoft.com/office/drawing/2014/main" val="10002"/>
                  </a:ext>
                </a:extLst>
              </a:tr>
              <a:tr h="438912">
                <a:tc>
                  <a:txBody>
                    <a:bodyPr/>
                    <a:lstStyle/>
                    <a:p>
                      <a:r>
                        <a:rPr sz="1000">
                          <a:solidFill>
                            <a:srgbClr val="555555"/>
                          </a:solidFill>
                        </a:rPr>
                        <a:t>MagFace</a:t>
                      </a:r>
                    </a:p>
                  </a:txBody>
                  <a:tcPr>
                    <a:solidFill>
                      <a:srgbClr val="FFFFFF"/>
                    </a:solidFill>
                  </a:tcPr>
                </a:tc>
                <a:tc>
                  <a:txBody>
                    <a:bodyPr/>
                    <a:lstStyle/>
                    <a:p>
                      <a:r>
                        <a:rPr sz="1000">
                          <a:solidFill>
                            <a:srgbClr val="555555"/>
                          </a:solidFill>
                        </a:rPr>
                        <a:t>+0.087</a:t>
                      </a:r>
                    </a:p>
                  </a:txBody>
                  <a:tcPr>
                    <a:solidFill>
                      <a:srgbClr val="FFFFFF"/>
                    </a:solidFill>
                  </a:tcPr>
                </a:tc>
                <a:extLst>
                  <a:ext uri="{0D108BD9-81ED-4DB2-BD59-A6C34878D82A}">
                    <a16:rowId xmlns:a16="http://schemas.microsoft.com/office/drawing/2014/main" val="10003"/>
                  </a:ext>
                </a:extLst>
              </a:tr>
              <a:tr h="438912">
                <a:tc>
                  <a:txBody>
                    <a:bodyPr/>
                    <a:lstStyle/>
                    <a:p>
                      <a:r>
                        <a:rPr sz="1000">
                          <a:solidFill>
                            <a:srgbClr val="555555"/>
                          </a:solidFill>
                        </a:rPr>
                        <a:t>ArcFace</a:t>
                      </a:r>
                    </a:p>
                  </a:txBody>
                  <a:tcPr>
                    <a:solidFill>
                      <a:srgbClr val="F5F5F5"/>
                    </a:solidFill>
                  </a:tcPr>
                </a:tc>
                <a:tc>
                  <a:txBody>
                    <a:bodyPr/>
                    <a:lstStyle/>
                    <a:p>
                      <a:r>
                        <a:rPr sz="1000">
                          <a:solidFill>
                            <a:srgbClr val="555555"/>
                          </a:solidFill>
                        </a:rPr>
                        <a:t>+0.034</a:t>
                      </a:r>
                    </a:p>
                  </a:txBody>
                  <a:tcPr>
                    <a:solidFill>
                      <a:srgbClr val="F5F5F5"/>
                    </a:solidFill>
                  </a:tcPr>
                </a:tc>
                <a:extLst>
                  <a:ext uri="{0D108BD9-81ED-4DB2-BD59-A6C34878D82A}">
                    <a16:rowId xmlns:a16="http://schemas.microsoft.com/office/drawing/2014/main" val="10004"/>
                  </a:ext>
                </a:extLst>
              </a:tr>
            </a:tbl>
          </a:graphicData>
        </a:graphic>
      </p:graphicFrame>
      <p:sp>
        <p:nvSpPr>
          <p:cNvPr id="6" name="TextBox 5"/>
          <p:cNvSpPr txBox="1"/>
          <p:nvPr/>
        </p:nvSpPr>
        <p:spPr>
          <a:xfrm>
            <a:off x="457200" y="7498079"/>
            <a:ext cx="13716000" cy="640080"/>
          </a:xfrm>
          <a:prstGeom prst="rect">
            <a:avLst/>
          </a:prstGeom>
          <a:noFill/>
        </p:spPr>
        <p:txBody>
          <a:bodyPr wrap="none">
            <a:spAutoFit/>
          </a:bodyPr>
          <a:lstStyle/>
          <a:p>
            <a:pPr>
              <a:defRPr sz="1100" i="1">
                <a:solidFill>
                  <a:srgbClr val="4A6B9E"/>
                </a:solidFill>
              </a:defRPr>
            </a:pPr>
            <a:r>
              <a:t>Descoberta da Linha B: min(val_loss) apresenta correlação inversa com F1 macro para heads com margem angular. Conclusões qualitativas sobre comparação entre famílias de loss podem inverter-se quando o critério ingênuo é adotado.</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4630400" cy="822960"/>
          </a:xfrm>
          <a:prstGeom prst="rect">
            <a:avLst/>
          </a:prstGeom>
          <a:solidFill>
            <a:srgbClr val="1F3A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3716000" y="182880"/>
            <a:ext cx="914400" cy="457200"/>
          </a:xfrm>
          <a:prstGeom prst="rect">
            <a:avLst/>
          </a:prstGeom>
          <a:noFill/>
        </p:spPr>
        <p:txBody>
          <a:bodyPr wrap="none">
            <a:spAutoFit/>
          </a:bodyPr>
          <a:lstStyle/>
          <a:p>
            <a:pPr>
              <a:defRPr sz="1400">
                <a:solidFill>
                  <a:srgbClr val="CCD8EE"/>
                </a:solidFill>
              </a:defRPr>
            </a:pPr>
            <a:r>
              <a:t>16 / 19</a:t>
            </a:r>
          </a:p>
        </p:txBody>
      </p:sp>
      <p:sp>
        <p:nvSpPr>
          <p:cNvPr id="4" name="TextBox 3"/>
          <p:cNvSpPr txBox="1"/>
          <p:nvPr/>
        </p:nvSpPr>
        <p:spPr>
          <a:xfrm>
            <a:off x="457200" y="182880"/>
            <a:ext cx="12801600" cy="548640"/>
          </a:xfrm>
          <a:prstGeom prst="rect">
            <a:avLst/>
          </a:prstGeom>
          <a:noFill/>
        </p:spPr>
        <p:txBody>
          <a:bodyPr wrap="none">
            <a:spAutoFit/>
          </a:bodyPr>
          <a:lstStyle/>
          <a:p>
            <a:pPr>
              <a:defRPr sz="2400" b="1">
                <a:solidFill>
                  <a:srgbClr val="FFFFFF"/>
                </a:solidFill>
              </a:defRPr>
            </a:pPr>
            <a:r>
              <a:t>Posicionamento final em relação ao SOTA-CNN (versão metodologicamente ética)</a:t>
            </a:r>
          </a:p>
        </p:txBody>
      </p:sp>
      <p:graphicFrame>
        <p:nvGraphicFramePr>
          <p:cNvPr id="5" name="Table 4"/>
          <p:cNvGraphicFramePr>
            <a:graphicFrameLocks noGrp="1"/>
          </p:cNvGraphicFramePr>
          <p:nvPr>
            <p:extLst>
              <p:ext uri="{D42A27DB-BD31-4B8C-83A1-F6EECF244321}">
                <p14:modId xmlns:p14="http://schemas.microsoft.com/office/powerpoint/2010/main" val="2851936813"/>
              </p:ext>
            </p:extLst>
          </p:nvPr>
        </p:nvGraphicFramePr>
        <p:xfrm>
          <a:off x="777239" y="1097280"/>
          <a:ext cx="13075920" cy="2926080"/>
        </p:xfrm>
        <a:graphic>
          <a:graphicData uri="http://schemas.openxmlformats.org/drawingml/2006/table">
            <a:tbl>
              <a:tblPr firstRow="1" bandRow="1">
                <a:tableStyleId>{5C22544A-7EE6-4342-B048-85BDC9FD1C3A}</a:tableStyleId>
              </a:tblPr>
              <a:tblGrid>
                <a:gridCol w="54864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2743200">
                  <a:extLst>
                    <a:ext uri="{9D8B030D-6E8A-4147-A177-3AD203B41FA5}">
                      <a16:colId xmlns:a16="http://schemas.microsoft.com/office/drawing/2014/main" val="20004"/>
                    </a:ext>
                  </a:extLst>
                </a:gridCol>
              </a:tblGrid>
              <a:tr h="418011">
                <a:tc>
                  <a:txBody>
                    <a:bodyPr/>
                    <a:lstStyle/>
                    <a:p>
                      <a:r>
                        <a:rPr sz="1100" b="1">
                          <a:solidFill>
                            <a:srgbClr val="FFFFFF"/>
                          </a:solidFill>
                        </a:rPr>
                        <a:t>Configuração</a:t>
                      </a:r>
                    </a:p>
                  </a:txBody>
                  <a:tcPr>
                    <a:solidFill>
                      <a:srgbClr val="1F3A68"/>
                    </a:solidFill>
                  </a:tcPr>
                </a:tc>
                <a:tc>
                  <a:txBody>
                    <a:bodyPr/>
                    <a:lstStyle/>
                    <a:p>
                      <a:r>
                        <a:rPr sz="1100" b="1">
                          <a:solidFill>
                            <a:srgbClr val="FFFFFF"/>
                          </a:solidFill>
                        </a:rPr>
                        <a:t>Acurácia</a:t>
                      </a:r>
                    </a:p>
                  </a:txBody>
                  <a:tcPr>
                    <a:solidFill>
                      <a:srgbClr val="1F3A68"/>
                    </a:solidFill>
                  </a:tcPr>
                </a:tc>
                <a:tc>
                  <a:txBody>
                    <a:bodyPr/>
                    <a:lstStyle/>
                    <a:p>
                      <a:r>
                        <a:rPr sz="1100" b="1">
                          <a:solidFill>
                            <a:srgbClr val="FFFFFF"/>
                          </a:solidFill>
                        </a:rPr>
                        <a:t>F1</a:t>
                      </a:r>
                    </a:p>
                  </a:txBody>
                  <a:tcPr>
                    <a:solidFill>
                      <a:srgbClr val="1F3A68"/>
                    </a:solidFill>
                  </a:tcPr>
                </a:tc>
                <a:tc>
                  <a:txBody>
                    <a:bodyPr/>
                    <a:lstStyle/>
                    <a:p>
                      <a:r>
                        <a:rPr sz="1100" b="1">
                          <a:solidFill>
                            <a:srgbClr val="FFFFFF"/>
                          </a:solidFill>
                        </a:rPr>
                        <a:t>IR</a:t>
                      </a:r>
                    </a:p>
                  </a:txBody>
                  <a:tcPr>
                    <a:solidFill>
                      <a:srgbClr val="1F3A68"/>
                    </a:solidFill>
                  </a:tcPr>
                </a:tc>
                <a:tc>
                  <a:txBody>
                    <a:bodyPr/>
                    <a:lstStyle/>
                    <a:p>
                      <a:r>
                        <a:rPr sz="1100" b="1">
                          <a:solidFill>
                            <a:srgbClr val="FFFFFF"/>
                          </a:solidFill>
                        </a:rPr>
                        <a:t>Comparação</a:t>
                      </a:r>
                    </a:p>
                  </a:txBody>
                  <a:tcPr>
                    <a:solidFill>
                      <a:srgbClr val="1F3A68"/>
                    </a:solidFill>
                  </a:tcPr>
                </a:tc>
                <a:extLst>
                  <a:ext uri="{0D108BD9-81ED-4DB2-BD59-A6C34878D82A}">
                    <a16:rowId xmlns:a16="http://schemas.microsoft.com/office/drawing/2014/main" val="10000"/>
                  </a:ext>
                </a:extLst>
              </a:tr>
              <a:tr h="418011">
                <a:tc>
                  <a:txBody>
                    <a:bodyPr/>
                    <a:lstStyle/>
                    <a:p>
                      <a:r>
                        <a:rPr sz="1000">
                          <a:solidFill>
                            <a:srgbClr val="555555"/>
                          </a:solidFill>
                        </a:rPr>
                        <a:t>Hassanpour ResNet-34 baseline (single-run)</a:t>
                      </a:r>
                    </a:p>
                  </a:txBody>
                  <a:tcPr>
                    <a:solidFill>
                      <a:srgbClr val="FFFFFF"/>
                    </a:solidFill>
                  </a:tcPr>
                </a:tc>
                <a:tc>
                  <a:txBody>
                    <a:bodyPr/>
                    <a:lstStyle/>
                    <a:p>
                      <a:r>
                        <a:rPr sz="1000">
                          <a:solidFill>
                            <a:srgbClr val="555555"/>
                          </a:solidFill>
                        </a:rPr>
                        <a:t>0.720</a:t>
                      </a:r>
                    </a:p>
                  </a:txBody>
                  <a:tcPr>
                    <a:solidFill>
                      <a:srgbClr val="FFFFFF"/>
                    </a:solidFill>
                  </a:tcPr>
                </a:tc>
                <a:tc>
                  <a:txBody>
                    <a:bodyPr/>
                    <a:lstStyle/>
                    <a:p>
                      <a:r>
                        <a:rPr sz="1000">
                          <a:solidFill>
                            <a:srgbClr val="555555"/>
                          </a:solidFill>
                        </a:rPr>
                        <a:t>—</a:t>
                      </a:r>
                    </a:p>
                  </a:txBody>
                  <a:tcPr>
                    <a:solidFill>
                      <a:srgbClr val="FFFFFF"/>
                    </a:solidFill>
                  </a:tcPr>
                </a:tc>
                <a:tc>
                  <a:txBody>
                    <a:bodyPr/>
                    <a:lstStyle/>
                    <a:p>
                      <a:r>
                        <a:rPr sz="1000">
                          <a:solidFill>
                            <a:srgbClr val="555555"/>
                          </a:solidFill>
                        </a:rPr>
                        <a:t>—</a:t>
                      </a:r>
                    </a:p>
                  </a:txBody>
                  <a:tcPr>
                    <a:solidFill>
                      <a:srgbClr val="FFFFFF"/>
                    </a:solidFill>
                  </a:tcPr>
                </a:tc>
                <a:tc>
                  <a:txBody>
                    <a:bodyPr/>
                    <a:lstStyle/>
                    <a:p>
                      <a:r>
                        <a:rPr sz="1000">
                          <a:solidFill>
                            <a:srgbClr val="555555"/>
                          </a:solidFill>
                        </a:rPr>
                        <a:t>Referência</a:t>
                      </a:r>
                    </a:p>
                  </a:txBody>
                  <a:tcPr>
                    <a:solidFill>
                      <a:srgbClr val="FFFFFF"/>
                    </a:solidFill>
                  </a:tcPr>
                </a:tc>
                <a:extLst>
                  <a:ext uri="{0D108BD9-81ED-4DB2-BD59-A6C34878D82A}">
                    <a16:rowId xmlns:a16="http://schemas.microsoft.com/office/drawing/2014/main" val="10001"/>
                  </a:ext>
                </a:extLst>
              </a:tr>
              <a:tr h="418011">
                <a:tc>
                  <a:txBody>
                    <a:bodyPr/>
                    <a:lstStyle/>
                    <a:p>
                      <a:r>
                        <a:rPr sz="1000">
                          <a:solidFill>
                            <a:srgbClr val="555555"/>
                          </a:solidFill>
                        </a:rPr>
                        <a:t>ConvNeXt-T single seed (s42)</a:t>
                      </a:r>
                    </a:p>
                  </a:txBody>
                  <a:tcPr>
                    <a:solidFill>
                      <a:srgbClr val="F5F5F5"/>
                    </a:solidFill>
                  </a:tcPr>
                </a:tc>
                <a:tc>
                  <a:txBody>
                    <a:bodyPr/>
                    <a:lstStyle/>
                    <a:p>
                      <a:r>
                        <a:rPr sz="1000">
                          <a:solidFill>
                            <a:srgbClr val="555555"/>
                          </a:solidFill>
                        </a:rPr>
                        <a:t>0.7115</a:t>
                      </a:r>
                    </a:p>
                  </a:txBody>
                  <a:tcPr>
                    <a:solidFill>
                      <a:srgbClr val="F5F5F5"/>
                    </a:solidFill>
                  </a:tcPr>
                </a:tc>
                <a:tc>
                  <a:txBody>
                    <a:bodyPr/>
                    <a:lstStyle/>
                    <a:p>
                      <a:r>
                        <a:rPr sz="1000">
                          <a:solidFill>
                            <a:srgbClr val="555555"/>
                          </a:solidFill>
                        </a:rPr>
                        <a:t>0.7083</a:t>
                      </a:r>
                    </a:p>
                  </a:txBody>
                  <a:tcPr>
                    <a:solidFill>
                      <a:srgbClr val="F5F5F5"/>
                    </a:solidFill>
                  </a:tcPr>
                </a:tc>
                <a:tc>
                  <a:txBody>
                    <a:bodyPr/>
                    <a:lstStyle/>
                    <a:p>
                      <a:r>
                        <a:rPr sz="1000">
                          <a:solidFill>
                            <a:srgbClr val="555555"/>
                          </a:solidFill>
                        </a:rPr>
                        <a:t>1.496</a:t>
                      </a:r>
                    </a:p>
                  </a:txBody>
                  <a:tcPr>
                    <a:solidFill>
                      <a:srgbClr val="F5F5F5"/>
                    </a:solidFill>
                  </a:tcPr>
                </a:tc>
                <a:tc>
                  <a:txBody>
                    <a:bodyPr/>
                    <a:lstStyle/>
                    <a:p>
                      <a:r>
                        <a:rPr sz="1000">
                          <a:solidFill>
                            <a:srgbClr val="555555"/>
                          </a:solidFill>
                        </a:rPr>
                        <a:t>−0.85pp (1.7σ) — simétrica</a:t>
                      </a:r>
                    </a:p>
                  </a:txBody>
                  <a:tcPr>
                    <a:solidFill>
                      <a:srgbClr val="F5F5F5"/>
                    </a:solidFill>
                  </a:tcPr>
                </a:tc>
                <a:extLst>
                  <a:ext uri="{0D108BD9-81ED-4DB2-BD59-A6C34878D82A}">
                    <a16:rowId xmlns:a16="http://schemas.microsoft.com/office/drawing/2014/main" val="10002"/>
                  </a:ext>
                </a:extLst>
              </a:tr>
              <a:tr h="418011">
                <a:tc>
                  <a:txBody>
                    <a:bodyPr/>
                    <a:lstStyle/>
                    <a:p>
                      <a:r>
                        <a:rPr sz="1000">
                          <a:solidFill>
                            <a:srgbClr val="555555"/>
                          </a:solidFill>
                        </a:rPr>
                        <a:t>ConvNeXt-T média de 3 seeds</a:t>
                      </a:r>
                    </a:p>
                  </a:txBody>
                  <a:tcPr>
                    <a:solidFill>
                      <a:srgbClr val="FFFFFF"/>
                    </a:solidFill>
                  </a:tcPr>
                </a:tc>
                <a:tc>
                  <a:txBody>
                    <a:bodyPr/>
                    <a:lstStyle/>
                    <a:p>
                      <a:r>
                        <a:rPr sz="1000">
                          <a:solidFill>
                            <a:srgbClr val="555555"/>
                          </a:solidFill>
                        </a:rPr>
                        <a:t>0.7060 ± 0.005</a:t>
                      </a:r>
                    </a:p>
                  </a:txBody>
                  <a:tcPr>
                    <a:solidFill>
                      <a:srgbClr val="FFFFFF"/>
                    </a:solidFill>
                  </a:tcPr>
                </a:tc>
                <a:tc>
                  <a:txBody>
                    <a:bodyPr/>
                    <a:lstStyle/>
                    <a:p>
                      <a:r>
                        <a:rPr sz="1000">
                          <a:solidFill>
                            <a:srgbClr val="555555"/>
                          </a:solidFill>
                        </a:rPr>
                        <a:t>0.7034</a:t>
                      </a:r>
                    </a:p>
                  </a:txBody>
                  <a:tcPr>
                    <a:solidFill>
                      <a:srgbClr val="FFFFFF"/>
                    </a:solidFill>
                  </a:tcPr>
                </a:tc>
                <a:tc>
                  <a:txBody>
                    <a:bodyPr/>
                    <a:lstStyle/>
                    <a:p>
                      <a:r>
                        <a:rPr sz="1000">
                          <a:solidFill>
                            <a:srgbClr val="555555"/>
                          </a:solidFill>
                        </a:rPr>
                        <a:t>1.541</a:t>
                      </a:r>
                    </a:p>
                  </a:txBody>
                  <a:tcPr>
                    <a:solidFill>
                      <a:srgbClr val="FFFFFF"/>
                    </a:solidFill>
                  </a:tcPr>
                </a:tc>
                <a:tc>
                  <a:txBody>
                    <a:bodyPr/>
                    <a:lstStyle/>
                    <a:p>
                      <a:r>
                        <a:rPr sz="1000">
                          <a:solidFill>
                            <a:srgbClr val="555555"/>
                          </a:solidFill>
                        </a:rPr>
                        <a:t>−1.4pp (com variância)</a:t>
                      </a:r>
                    </a:p>
                  </a:txBody>
                  <a:tcPr>
                    <a:solidFill>
                      <a:srgbClr val="FFFFFF"/>
                    </a:solidFill>
                  </a:tcPr>
                </a:tc>
                <a:extLst>
                  <a:ext uri="{0D108BD9-81ED-4DB2-BD59-A6C34878D82A}">
                    <a16:rowId xmlns:a16="http://schemas.microsoft.com/office/drawing/2014/main" val="10003"/>
                  </a:ext>
                </a:extLst>
              </a:tr>
              <a:tr h="418011">
                <a:tc>
                  <a:txBody>
                    <a:bodyPr/>
                    <a:lstStyle/>
                    <a:p>
                      <a:r>
                        <a:rPr sz="1000" dirty="0" err="1">
                          <a:solidFill>
                            <a:srgbClr val="555555"/>
                          </a:solidFill>
                          <a:highlight>
                            <a:srgbClr val="FFFF00"/>
                          </a:highlight>
                        </a:rPr>
                        <a:t>ConvNeXt</a:t>
                      </a:r>
                      <a:r>
                        <a:rPr sz="1000" dirty="0">
                          <a:solidFill>
                            <a:srgbClr val="555555"/>
                          </a:solidFill>
                          <a:highlight>
                            <a:srgbClr val="FFFF00"/>
                          </a:highlight>
                        </a:rPr>
                        <a:t>-T deep ensemble (3 seeds)</a:t>
                      </a:r>
                    </a:p>
                  </a:txBody>
                  <a:tcPr>
                    <a:solidFill>
                      <a:srgbClr val="F5F5F5"/>
                    </a:solidFill>
                  </a:tcPr>
                </a:tc>
                <a:tc>
                  <a:txBody>
                    <a:bodyPr/>
                    <a:lstStyle/>
                    <a:p>
                      <a:r>
                        <a:rPr sz="1000">
                          <a:solidFill>
                            <a:srgbClr val="555555"/>
                          </a:solidFill>
                          <a:highlight>
                            <a:srgbClr val="FFFF00"/>
                          </a:highlight>
                        </a:rPr>
                        <a:t>0.7299</a:t>
                      </a:r>
                    </a:p>
                  </a:txBody>
                  <a:tcPr>
                    <a:solidFill>
                      <a:srgbClr val="F5F5F5"/>
                    </a:solidFill>
                  </a:tcPr>
                </a:tc>
                <a:tc>
                  <a:txBody>
                    <a:bodyPr/>
                    <a:lstStyle/>
                    <a:p>
                      <a:r>
                        <a:rPr sz="1000">
                          <a:solidFill>
                            <a:srgbClr val="555555"/>
                          </a:solidFill>
                          <a:highlight>
                            <a:srgbClr val="FFFF00"/>
                          </a:highlight>
                        </a:rPr>
                        <a:t>0.7285</a:t>
                      </a:r>
                    </a:p>
                  </a:txBody>
                  <a:tcPr>
                    <a:solidFill>
                      <a:srgbClr val="F5F5F5"/>
                    </a:solidFill>
                  </a:tcPr>
                </a:tc>
                <a:tc>
                  <a:txBody>
                    <a:bodyPr/>
                    <a:lstStyle/>
                    <a:p>
                      <a:r>
                        <a:rPr sz="1000">
                          <a:solidFill>
                            <a:srgbClr val="555555"/>
                          </a:solidFill>
                          <a:highlight>
                            <a:srgbClr val="FFFF00"/>
                          </a:highlight>
                        </a:rPr>
                        <a:t>1.501</a:t>
                      </a:r>
                    </a:p>
                  </a:txBody>
                  <a:tcPr>
                    <a:solidFill>
                      <a:srgbClr val="F5F5F5"/>
                    </a:solidFill>
                  </a:tcPr>
                </a:tc>
                <a:tc>
                  <a:txBody>
                    <a:bodyPr/>
                    <a:lstStyle/>
                    <a:p>
                      <a:r>
                        <a:rPr sz="1000">
                          <a:solidFill>
                            <a:srgbClr val="555555"/>
                          </a:solidFill>
                          <a:highlight>
                            <a:srgbClr val="FFFF00"/>
                          </a:highlight>
                        </a:rPr>
                        <a:t>Agregação científica</a:t>
                      </a:r>
                    </a:p>
                  </a:txBody>
                  <a:tcPr>
                    <a:solidFill>
                      <a:srgbClr val="F5F5F5"/>
                    </a:solidFill>
                  </a:tcPr>
                </a:tc>
                <a:extLst>
                  <a:ext uri="{0D108BD9-81ED-4DB2-BD59-A6C34878D82A}">
                    <a16:rowId xmlns:a16="http://schemas.microsoft.com/office/drawing/2014/main" val="10004"/>
                  </a:ext>
                </a:extLst>
              </a:tr>
              <a:tr h="418011">
                <a:tc>
                  <a:txBody>
                    <a:bodyPr/>
                    <a:lstStyle/>
                    <a:p>
                      <a:r>
                        <a:rPr sz="1000" dirty="0" err="1">
                          <a:solidFill>
                            <a:srgbClr val="555555"/>
                          </a:solidFill>
                          <a:highlight>
                            <a:srgbClr val="FFFF00"/>
                          </a:highlight>
                        </a:rPr>
                        <a:t>ConvNeXt</a:t>
                      </a:r>
                      <a:r>
                        <a:rPr sz="1000" dirty="0">
                          <a:solidFill>
                            <a:srgbClr val="555555"/>
                          </a:solidFill>
                          <a:highlight>
                            <a:srgbClr val="FFFF00"/>
                          </a:highlight>
                        </a:rPr>
                        <a:t>-T + TTA</a:t>
                      </a:r>
                    </a:p>
                  </a:txBody>
                  <a:tcPr>
                    <a:solidFill>
                      <a:srgbClr val="FFFFFF"/>
                    </a:solidFill>
                  </a:tcPr>
                </a:tc>
                <a:tc>
                  <a:txBody>
                    <a:bodyPr/>
                    <a:lstStyle/>
                    <a:p>
                      <a:r>
                        <a:rPr sz="1000">
                          <a:solidFill>
                            <a:srgbClr val="555555"/>
                          </a:solidFill>
                          <a:highlight>
                            <a:srgbClr val="FFFF00"/>
                          </a:highlight>
                        </a:rPr>
                        <a:t>0.7298</a:t>
                      </a:r>
                    </a:p>
                  </a:txBody>
                  <a:tcPr>
                    <a:solidFill>
                      <a:srgbClr val="FFFFFF"/>
                    </a:solidFill>
                  </a:tcPr>
                </a:tc>
                <a:tc>
                  <a:txBody>
                    <a:bodyPr/>
                    <a:lstStyle/>
                    <a:p>
                      <a:r>
                        <a:rPr sz="1000" dirty="0">
                          <a:solidFill>
                            <a:srgbClr val="555555"/>
                          </a:solidFill>
                          <a:highlight>
                            <a:srgbClr val="FFFF00"/>
                          </a:highlight>
                        </a:rPr>
                        <a:t>0.7286</a:t>
                      </a:r>
                    </a:p>
                  </a:txBody>
                  <a:tcPr>
                    <a:solidFill>
                      <a:srgbClr val="FFFFFF"/>
                    </a:solidFill>
                  </a:tcPr>
                </a:tc>
                <a:tc>
                  <a:txBody>
                    <a:bodyPr/>
                    <a:lstStyle/>
                    <a:p>
                      <a:r>
                        <a:rPr sz="1000" dirty="0">
                          <a:solidFill>
                            <a:srgbClr val="555555"/>
                          </a:solidFill>
                          <a:highlight>
                            <a:srgbClr val="FFFF00"/>
                          </a:highlight>
                        </a:rPr>
                        <a:t>1.474</a:t>
                      </a:r>
                    </a:p>
                  </a:txBody>
                  <a:tcPr>
                    <a:solidFill>
                      <a:srgbClr val="FFFFFF"/>
                    </a:solidFill>
                  </a:tcPr>
                </a:tc>
                <a:tc>
                  <a:txBody>
                    <a:bodyPr/>
                    <a:lstStyle/>
                    <a:p>
                      <a:r>
                        <a:rPr sz="1000">
                          <a:solidFill>
                            <a:srgbClr val="555555"/>
                          </a:solidFill>
                          <a:highlight>
                            <a:srgbClr val="FFFF00"/>
                          </a:highlight>
                        </a:rPr>
                        <a:t>Melhor equidade do projeto</a:t>
                      </a:r>
                    </a:p>
                  </a:txBody>
                  <a:tcPr>
                    <a:solidFill>
                      <a:srgbClr val="FFFFFF"/>
                    </a:solidFill>
                  </a:tcPr>
                </a:tc>
                <a:extLst>
                  <a:ext uri="{0D108BD9-81ED-4DB2-BD59-A6C34878D82A}">
                    <a16:rowId xmlns:a16="http://schemas.microsoft.com/office/drawing/2014/main" val="10005"/>
                  </a:ext>
                </a:extLst>
              </a:tr>
              <a:tr h="418014">
                <a:tc>
                  <a:txBody>
                    <a:bodyPr/>
                    <a:lstStyle/>
                    <a:p>
                      <a:r>
                        <a:rPr sz="1000" dirty="0" err="1">
                          <a:solidFill>
                            <a:srgbClr val="555555"/>
                          </a:solidFill>
                          <a:highlight>
                            <a:srgbClr val="FFFF00"/>
                          </a:highlight>
                        </a:rPr>
                        <a:t>ConvNeXt</a:t>
                      </a:r>
                      <a:r>
                        <a:rPr sz="1000" dirty="0">
                          <a:solidFill>
                            <a:srgbClr val="555555"/>
                          </a:solidFill>
                          <a:highlight>
                            <a:srgbClr val="FFFF00"/>
                          </a:highlight>
                        </a:rPr>
                        <a:t>-T + Ensemble + Calibração</a:t>
                      </a:r>
                    </a:p>
                  </a:txBody>
                  <a:tcPr>
                    <a:solidFill>
                      <a:srgbClr val="F5F5F5"/>
                    </a:solidFill>
                  </a:tcPr>
                </a:tc>
                <a:tc>
                  <a:txBody>
                    <a:bodyPr/>
                    <a:lstStyle/>
                    <a:p>
                      <a:r>
                        <a:rPr sz="1000">
                          <a:solidFill>
                            <a:srgbClr val="555555"/>
                          </a:solidFill>
                          <a:highlight>
                            <a:srgbClr val="FFFF00"/>
                          </a:highlight>
                        </a:rPr>
                        <a:t>0.7304</a:t>
                      </a:r>
                    </a:p>
                  </a:txBody>
                  <a:tcPr>
                    <a:solidFill>
                      <a:srgbClr val="F5F5F5"/>
                    </a:solidFill>
                  </a:tcPr>
                </a:tc>
                <a:tc>
                  <a:txBody>
                    <a:bodyPr/>
                    <a:lstStyle/>
                    <a:p>
                      <a:r>
                        <a:rPr sz="1000">
                          <a:solidFill>
                            <a:srgbClr val="555555"/>
                          </a:solidFill>
                          <a:highlight>
                            <a:srgbClr val="FFFF00"/>
                          </a:highlight>
                        </a:rPr>
                        <a:t>0.7292</a:t>
                      </a:r>
                    </a:p>
                  </a:txBody>
                  <a:tcPr>
                    <a:solidFill>
                      <a:srgbClr val="F5F5F5"/>
                    </a:solidFill>
                  </a:tcPr>
                </a:tc>
                <a:tc>
                  <a:txBody>
                    <a:bodyPr/>
                    <a:lstStyle/>
                    <a:p>
                      <a:r>
                        <a:rPr sz="1000">
                          <a:solidFill>
                            <a:srgbClr val="555555"/>
                          </a:solidFill>
                          <a:highlight>
                            <a:srgbClr val="FFFF00"/>
                          </a:highlight>
                        </a:rPr>
                        <a:t>1.501</a:t>
                      </a:r>
                    </a:p>
                  </a:txBody>
                  <a:tcPr>
                    <a:solidFill>
                      <a:srgbClr val="F5F5F5"/>
                    </a:solidFill>
                  </a:tcPr>
                </a:tc>
                <a:tc>
                  <a:txBody>
                    <a:bodyPr/>
                    <a:lstStyle/>
                    <a:p>
                      <a:r>
                        <a:rPr sz="1000" dirty="0" err="1">
                          <a:solidFill>
                            <a:srgbClr val="555555"/>
                          </a:solidFill>
                          <a:highlight>
                            <a:srgbClr val="FFFF00"/>
                          </a:highlight>
                        </a:rPr>
                        <a:t>Melhor</a:t>
                      </a:r>
                      <a:r>
                        <a:rPr sz="1000" dirty="0">
                          <a:solidFill>
                            <a:srgbClr val="555555"/>
                          </a:solidFill>
                          <a:highlight>
                            <a:srgbClr val="FFFF00"/>
                          </a:highlight>
                        </a:rPr>
                        <a:t> </a:t>
                      </a:r>
                      <a:r>
                        <a:rPr sz="1000" dirty="0" err="1">
                          <a:solidFill>
                            <a:srgbClr val="555555"/>
                          </a:solidFill>
                          <a:highlight>
                            <a:srgbClr val="FFFF00"/>
                          </a:highlight>
                        </a:rPr>
                        <a:t>confiabilidade</a:t>
                      </a:r>
                      <a:r>
                        <a:rPr sz="1000" dirty="0">
                          <a:solidFill>
                            <a:srgbClr val="555555"/>
                          </a:solidFill>
                          <a:highlight>
                            <a:srgbClr val="FFFF00"/>
                          </a:highlight>
                        </a:rPr>
                        <a:t> de F1/Acc</a:t>
                      </a:r>
                    </a:p>
                  </a:txBody>
                  <a:tcPr>
                    <a:solidFill>
                      <a:srgbClr val="F5F5F5"/>
                    </a:solidFill>
                  </a:tcPr>
                </a:tc>
                <a:extLst>
                  <a:ext uri="{0D108BD9-81ED-4DB2-BD59-A6C34878D82A}">
                    <a16:rowId xmlns:a16="http://schemas.microsoft.com/office/drawing/2014/main" val="10006"/>
                  </a:ext>
                </a:extLst>
              </a:tr>
            </a:tbl>
          </a:graphicData>
        </a:graphic>
      </p:graphicFrame>
      <p:sp>
        <p:nvSpPr>
          <p:cNvPr id="6" name="TextBox 5"/>
          <p:cNvSpPr txBox="1"/>
          <p:nvPr/>
        </p:nvSpPr>
        <p:spPr>
          <a:xfrm>
            <a:off x="457200" y="7498079"/>
            <a:ext cx="13716000" cy="640080"/>
          </a:xfrm>
          <a:prstGeom prst="rect">
            <a:avLst/>
          </a:prstGeom>
          <a:noFill/>
        </p:spPr>
        <p:txBody>
          <a:bodyPr wrap="none">
            <a:spAutoFit/>
          </a:bodyPr>
          <a:lstStyle/>
          <a:p>
            <a:pPr>
              <a:defRPr sz="1100" i="1">
                <a:solidFill>
                  <a:srgbClr val="4A6B9E"/>
                </a:solidFill>
              </a:defRPr>
            </a:pPr>
            <a:r>
              <a:t>Posicionamento ético: a comparação simétrica (single-run vs. single-run) situa nosso sistema a 0.85pp abaixo do baseline, dentro da variância natural entre seeds. As estimativas agregadas (ensemble, TTA, calibração) refletem maior confiabilidade da medida por meio de técnicas científicas estabelecidas (Lakshminarayanan et al., 2017) — não constituem reivindicação de superação direta do SOTA.</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4630400" cy="822960"/>
          </a:xfrm>
          <a:prstGeom prst="rect">
            <a:avLst/>
          </a:prstGeom>
          <a:solidFill>
            <a:srgbClr val="1F3A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3716000" y="182880"/>
            <a:ext cx="914400" cy="457200"/>
          </a:xfrm>
          <a:prstGeom prst="rect">
            <a:avLst/>
          </a:prstGeom>
          <a:noFill/>
        </p:spPr>
        <p:txBody>
          <a:bodyPr wrap="none">
            <a:spAutoFit/>
          </a:bodyPr>
          <a:lstStyle/>
          <a:p>
            <a:pPr>
              <a:defRPr sz="1400">
                <a:solidFill>
                  <a:srgbClr val="CCD8EE"/>
                </a:solidFill>
              </a:defRPr>
            </a:pPr>
            <a:r>
              <a:t>17 / 19</a:t>
            </a:r>
          </a:p>
        </p:txBody>
      </p:sp>
      <p:sp>
        <p:nvSpPr>
          <p:cNvPr id="4" name="TextBox 3"/>
          <p:cNvSpPr txBox="1"/>
          <p:nvPr/>
        </p:nvSpPr>
        <p:spPr>
          <a:xfrm>
            <a:off x="457200" y="182880"/>
            <a:ext cx="12801600" cy="548640"/>
          </a:xfrm>
          <a:prstGeom prst="rect">
            <a:avLst/>
          </a:prstGeom>
          <a:noFill/>
        </p:spPr>
        <p:txBody>
          <a:bodyPr wrap="none">
            <a:spAutoFit/>
          </a:bodyPr>
          <a:lstStyle/>
          <a:p>
            <a:pPr>
              <a:defRPr sz="2400" b="1">
                <a:solidFill>
                  <a:srgbClr val="FFFFFF"/>
                </a:solidFill>
              </a:defRPr>
            </a:pPr>
            <a:r>
              <a:t>Pontos de discussão com o orientador</a:t>
            </a:r>
          </a:p>
        </p:txBody>
      </p:sp>
      <p:sp>
        <p:nvSpPr>
          <p:cNvPr id="5" name="TextBox 4"/>
          <p:cNvSpPr txBox="1"/>
          <p:nvPr/>
        </p:nvSpPr>
        <p:spPr>
          <a:xfrm>
            <a:off x="640080" y="1097280"/>
            <a:ext cx="13716000" cy="6858000"/>
          </a:xfrm>
          <a:prstGeom prst="rect">
            <a:avLst/>
          </a:prstGeom>
          <a:noFill/>
        </p:spPr>
        <p:txBody>
          <a:bodyPr wrap="square">
            <a:spAutoFit/>
          </a:bodyPr>
          <a:lstStyle/>
          <a:p>
            <a:pPr>
              <a:spcAft>
                <a:spcPts val="500"/>
              </a:spcAft>
              <a:defRPr sz="1500" b="1">
                <a:solidFill>
                  <a:srgbClr val="1F3A68"/>
                </a:solidFill>
              </a:defRPr>
            </a:pPr>
            <a:r>
              <a:t>(1) Posicionamento em relação ao SOTA: estamos no caminho correto?</a:t>
            </a:r>
          </a:p>
          <a:p>
            <a:pPr lvl="1">
              <a:spcAft>
                <a:spcPts val="500"/>
              </a:spcAft>
              <a:defRPr sz="1300" b="0">
                <a:solidFill>
                  <a:srgbClr val="555555"/>
                </a:solidFill>
              </a:defRPr>
            </a:pPr>
            <a:r>
              <a:t>A comparação simétrica indica diferença de 0.85pp, dentro da variância natural entre seeds.</a:t>
            </a:r>
          </a:p>
          <a:p>
            <a:pPr lvl="1">
              <a:spcAft>
                <a:spcPts val="500"/>
              </a:spcAft>
              <a:defRPr sz="1300" b="0">
                <a:solidFill>
                  <a:srgbClr val="555555"/>
                </a:solidFill>
              </a:defRPr>
            </a:pPr>
            <a:r>
              <a:t>A narrativa fundada nas duas linhas de contribuição (Linha A: atribuição causal; Linha B: critério Pareto-aware) é defensável?</a:t>
            </a:r>
          </a:p>
          <a:p>
            <a:pPr>
              <a:spcAft>
                <a:spcPts val="500"/>
              </a:spcAft>
              <a:defRPr sz="1500" b="0">
                <a:solidFill>
                  <a:srgbClr val="555555"/>
                </a:solidFill>
              </a:defRPr>
            </a:pPr>
            <a:endParaRPr/>
          </a:p>
          <a:p>
            <a:pPr>
              <a:spcAft>
                <a:spcPts val="500"/>
              </a:spcAft>
              <a:defRPr sz="1500" b="1">
                <a:solidFill>
                  <a:srgbClr val="1F3A68"/>
                </a:solidFill>
              </a:defRPr>
            </a:pPr>
            <a:r>
              <a:t>(2) Descoberta de que o FineFACE não classifica raça</a:t>
            </a:r>
          </a:p>
          <a:p>
            <a:pPr lvl="1">
              <a:spcAft>
                <a:spcPts val="500"/>
              </a:spcAft>
              <a:defRPr sz="1300" b="0">
                <a:solidFill>
                  <a:srgbClr val="555555"/>
                </a:solidFill>
              </a:defRPr>
            </a:pPr>
            <a:r>
              <a:t>Tratar como destaque na introdução (um parágrafo) ou apenas no related work?</a:t>
            </a:r>
          </a:p>
          <a:p>
            <a:pPr>
              <a:spcAft>
                <a:spcPts val="500"/>
              </a:spcAft>
              <a:defRPr sz="1500" b="0">
                <a:solidFill>
                  <a:srgbClr val="555555"/>
                </a:solidFill>
              </a:defRPr>
            </a:pPr>
            <a:endParaRPr/>
          </a:p>
          <a:p>
            <a:pPr>
              <a:spcAft>
                <a:spcPts val="500"/>
              </a:spcAft>
              <a:defRPr sz="1500" b="1">
                <a:solidFill>
                  <a:srgbClr val="1F3A68"/>
                </a:solidFill>
              </a:defRPr>
            </a:pPr>
            <a:r>
              <a:t>(3) Análise interseccional: pior subgrupo identificado (Middle Eastern × Female × 3–9 anos, 28.6%)</a:t>
            </a:r>
          </a:p>
          <a:p>
            <a:pPr lvl="1">
              <a:spcAft>
                <a:spcPts val="500"/>
              </a:spcAft>
              <a:defRPr sz="1300" b="0">
                <a:solidFill>
                  <a:srgbClr val="555555"/>
                </a:solidFill>
              </a:defRPr>
            </a:pPr>
            <a:r>
              <a:t>Inserir nos Resultados ou na Discussão? Cabe recomendar mitigação específica nas conclusões?</a:t>
            </a:r>
          </a:p>
          <a:p>
            <a:pPr>
              <a:spcAft>
                <a:spcPts val="500"/>
              </a:spcAft>
              <a:defRPr sz="1500" b="0">
                <a:solidFill>
                  <a:srgbClr val="555555"/>
                </a:solidFill>
              </a:defRPr>
            </a:pPr>
            <a:endParaRPr/>
          </a:p>
          <a:p>
            <a:pPr>
              <a:spcAft>
                <a:spcPts val="500"/>
              </a:spcAft>
              <a:defRPr sz="1500" b="1">
                <a:solidFill>
                  <a:srgbClr val="1F3A68"/>
                </a:solidFill>
              </a:defRPr>
            </a:pPr>
            <a:r>
              <a:t>(4) Roteiro pós-qualificação (Caminho 1)</a:t>
            </a:r>
          </a:p>
          <a:p>
            <a:pPr lvl="1">
              <a:spcAft>
                <a:spcPts val="500"/>
              </a:spcAft>
              <a:defRPr sz="1300" b="0">
                <a:solidFill>
                  <a:srgbClr val="555555"/>
                </a:solidFill>
              </a:defRPr>
            </a:pPr>
            <a:r>
              <a:t>Group DRO (Sagawa et al., 2020) e DINOv2 (Oquab et al., 2023) como candidatos. Faz sentido?</a:t>
            </a:r>
          </a:p>
          <a:p>
            <a:pPr>
              <a:spcAft>
                <a:spcPts val="500"/>
              </a:spcAft>
              <a:defRPr sz="1500" b="0">
                <a:solidFill>
                  <a:srgbClr val="555555"/>
                </a:solidFill>
              </a:defRPr>
            </a:pPr>
            <a:endParaRPr/>
          </a:p>
          <a:p>
            <a:pPr>
              <a:spcAft>
                <a:spcPts val="500"/>
              </a:spcAft>
              <a:defRPr sz="1500" b="1">
                <a:solidFill>
                  <a:srgbClr val="1F3A68"/>
                </a:solidFill>
              </a:defRPr>
            </a:pPr>
            <a:r>
              <a:t>(5) Auditoria empírica de código no corpo da tese</a:t>
            </a:r>
          </a:p>
          <a:p>
            <a:pPr lvl="1">
              <a:spcAft>
                <a:spcPts val="500"/>
              </a:spcAft>
              <a:defRPr sz="1300" b="0">
                <a:solidFill>
                  <a:srgbClr val="555555"/>
                </a:solidFill>
              </a:defRPr>
            </a:pPr>
            <a:r>
              <a:t>Inserir no capítulo de Resultados (como achado) ou em Apêndice (como rigor metodológico complementar)?</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4630400" cy="822960"/>
          </a:xfrm>
          <a:prstGeom prst="rect">
            <a:avLst/>
          </a:prstGeom>
          <a:solidFill>
            <a:srgbClr val="1F3A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3716000" y="182880"/>
            <a:ext cx="699230" cy="307777"/>
          </a:xfrm>
          <a:prstGeom prst="rect">
            <a:avLst/>
          </a:prstGeom>
          <a:noFill/>
        </p:spPr>
        <p:txBody>
          <a:bodyPr wrap="none">
            <a:spAutoFit/>
          </a:bodyPr>
          <a:lstStyle/>
          <a:p>
            <a:pPr>
              <a:defRPr sz="1400">
                <a:solidFill>
                  <a:srgbClr val="CCD8EE"/>
                </a:solidFill>
              </a:defRPr>
            </a:pPr>
            <a:r>
              <a:rPr dirty="0"/>
              <a:t>1</a:t>
            </a:r>
            <a:r>
              <a:rPr lang="pt-BR" dirty="0"/>
              <a:t>8</a:t>
            </a:r>
            <a:r>
              <a:rPr dirty="0"/>
              <a:t> / 19</a:t>
            </a:r>
          </a:p>
        </p:txBody>
      </p:sp>
      <p:sp>
        <p:nvSpPr>
          <p:cNvPr id="4" name="TextBox 3"/>
          <p:cNvSpPr txBox="1"/>
          <p:nvPr/>
        </p:nvSpPr>
        <p:spPr>
          <a:xfrm>
            <a:off x="457200" y="182880"/>
            <a:ext cx="12801600" cy="548640"/>
          </a:xfrm>
          <a:prstGeom prst="rect">
            <a:avLst/>
          </a:prstGeom>
          <a:noFill/>
        </p:spPr>
        <p:txBody>
          <a:bodyPr wrap="none">
            <a:spAutoFit/>
          </a:bodyPr>
          <a:lstStyle/>
          <a:p>
            <a:pPr>
              <a:defRPr sz="2400" b="1">
                <a:solidFill>
                  <a:srgbClr val="FFFFFF"/>
                </a:solidFill>
              </a:defRPr>
            </a:pPr>
            <a:r>
              <a:t>Encerramento — estado atual da dissertação</a:t>
            </a:r>
          </a:p>
        </p:txBody>
      </p:sp>
      <p:sp>
        <p:nvSpPr>
          <p:cNvPr id="5" name="TextBox 4"/>
          <p:cNvSpPr txBox="1"/>
          <p:nvPr/>
        </p:nvSpPr>
        <p:spPr>
          <a:xfrm>
            <a:off x="640080" y="1097280"/>
            <a:ext cx="13716000" cy="1938992"/>
          </a:xfrm>
          <a:prstGeom prst="rect">
            <a:avLst/>
          </a:prstGeom>
          <a:noFill/>
        </p:spPr>
        <p:txBody>
          <a:bodyPr wrap="square">
            <a:spAutoFit/>
          </a:bodyPr>
          <a:lstStyle/>
          <a:p>
            <a:pPr>
              <a:spcAft>
                <a:spcPts val="500"/>
              </a:spcAft>
              <a:defRPr sz="1500" b="1">
                <a:solidFill>
                  <a:srgbClr val="1F3A68"/>
                </a:solidFill>
              </a:defRPr>
            </a:pPr>
            <a:r>
              <a:rPr dirty="0"/>
              <a:t>Pacote </a:t>
            </a:r>
            <a:r>
              <a:rPr dirty="0" err="1"/>
              <a:t>consolidado</a:t>
            </a:r>
            <a:r>
              <a:rPr dirty="0"/>
              <a:t> </a:t>
            </a:r>
            <a:r>
              <a:rPr dirty="0" err="1"/>
              <a:t>após</a:t>
            </a:r>
            <a:r>
              <a:rPr dirty="0"/>
              <a:t> duas </a:t>
            </a:r>
            <a:r>
              <a:rPr dirty="0" err="1"/>
              <a:t>semanas</a:t>
            </a:r>
            <a:r>
              <a:rPr dirty="0"/>
              <a:t> </a:t>
            </a:r>
            <a:r>
              <a:rPr dirty="0" err="1"/>
              <a:t>intensas</a:t>
            </a:r>
            <a:r>
              <a:rPr dirty="0"/>
              <a:t> de </a:t>
            </a:r>
            <a:r>
              <a:rPr dirty="0" err="1"/>
              <a:t>trabalho</a:t>
            </a:r>
            <a:r>
              <a:rPr dirty="0"/>
              <a:t>:</a:t>
            </a:r>
          </a:p>
          <a:p>
            <a:pPr lvl="1">
              <a:spcAft>
                <a:spcPts val="500"/>
              </a:spcAft>
              <a:defRPr sz="1300" b="0">
                <a:solidFill>
                  <a:srgbClr val="555555"/>
                </a:solidFill>
              </a:defRPr>
            </a:pPr>
            <a:r>
              <a:rPr dirty="0"/>
              <a:t>5 </a:t>
            </a:r>
            <a:r>
              <a:rPr dirty="0" err="1"/>
              <a:t>fatores</a:t>
            </a:r>
            <a:r>
              <a:rPr dirty="0"/>
              <a:t> + 4 </a:t>
            </a:r>
            <a:r>
              <a:rPr dirty="0" err="1"/>
              <a:t>experimentos</a:t>
            </a:r>
            <a:r>
              <a:rPr dirty="0"/>
              <a:t> </a:t>
            </a:r>
            <a:r>
              <a:rPr dirty="0" err="1"/>
              <a:t>adicionais</a:t>
            </a:r>
            <a:r>
              <a:rPr dirty="0"/>
              <a:t> + 1 </a:t>
            </a:r>
            <a:r>
              <a:rPr dirty="0" err="1"/>
              <a:t>análise</a:t>
            </a:r>
            <a:r>
              <a:rPr dirty="0"/>
              <a:t> de </a:t>
            </a:r>
            <a:r>
              <a:rPr dirty="0" err="1"/>
              <a:t>robustez</a:t>
            </a:r>
            <a:r>
              <a:rPr dirty="0"/>
              <a:t> + 4 </a:t>
            </a:r>
            <a:r>
              <a:rPr dirty="0" err="1"/>
              <a:t>auditorias</a:t>
            </a:r>
            <a:r>
              <a:rPr dirty="0"/>
              <a:t> </a:t>
            </a:r>
            <a:r>
              <a:rPr dirty="0" err="1"/>
              <a:t>empíricas</a:t>
            </a:r>
            <a:r>
              <a:rPr dirty="0"/>
              <a:t> + 4 </a:t>
            </a:r>
            <a:r>
              <a:rPr dirty="0" err="1"/>
              <a:t>análises</a:t>
            </a:r>
            <a:r>
              <a:rPr dirty="0"/>
              <a:t> </a:t>
            </a:r>
            <a:r>
              <a:rPr dirty="0" err="1"/>
              <a:t>pós-treinamento</a:t>
            </a:r>
            <a:r>
              <a:rPr dirty="0"/>
              <a:t>.</a:t>
            </a:r>
          </a:p>
          <a:p>
            <a:pPr lvl="1">
              <a:spcAft>
                <a:spcPts val="500"/>
              </a:spcAft>
              <a:defRPr sz="1300" b="0">
                <a:solidFill>
                  <a:srgbClr val="555555"/>
                </a:solidFill>
              </a:defRPr>
            </a:pPr>
            <a:r>
              <a:rPr dirty="0"/>
              <a:t>Total: 18 </a:t>
            </a:r>
            <a:r>
              <a:rPr dirty="0" err="1"/>
              <a:t>análises</a:t>
            </a:r>
            <a:r>
              <a:rPr dirty="0"/>
              <a:t> </a:t>
            </a:r>
            <a:r>
              <a:rPr dirty="0" err="1"/>
              <a:t>distribuídas</a:t>
            </a:r>
            <a:r>
              <a:rPr dirty="0"/>
              <a:t> </a:t>
            </a:r>
            <a:r>
              <a:rPr dirty="0" err="1"/>
              <a:t>em</a:t>
            </a:r>
            <a:r>
              <a:rPr dirty="0"/>
              <a:t> 5 </a:t>
            </a:r>
            <a:r>
              <a:rPr dirty="0" err="1"/>
              <a:t>fases</a:t>
            </a:r>
            <a:r>
              <a:rPr dirty="0"/>
              <a:t> </a:t>
            </a:r>
            <a:r>
              <a:rPr dirty="0" err="1"/>
              <a:t>distintas</a:t>
            </a:r>
            <a:r>
              <a:rPr dirty="0"/>
              <a:t> com </a:t>
            </a:r>
            <a:r>
              <a:rPr dirty="0" err="1"/>
              <a:t>propósitos</a:t>
            </a:r>
            <a:r>
              <a:rPr dirty="0"/>
              <a:t> claros.</a:t>
            </a:r>
          </a:p>
          <a:p>
            <a:pPr>
              <a:spcAft>
                <a:spcPts val="500"/>
              </a:spcAft>
              <a:defRPr sz="1500" b="0">
                <a:solidFill>
                  <a:srgbClr val="555555"/>
                </a:solidFill>
              </a:defRPr>
            </a:pPr>
            <a:endParaRPr dirty="0"/>
          </a:p>
          <a:p>
            <a:pPr lvl="1">
              <a:spcAft>
                <a:spcPts val="500"/>
              </a:spcAft>
              <a:defRPr sz="1300" b="0">
                <a:solidFill>
                  <a:srgbClr val="555555"/>
                </a:solidFill>
              </a:defRPr>
            </a:pPr>
            <a:r>
              <a:rPr dirty="0" err="1"/>
              <a:t>Posicionamento</a:t>
            </a:r>
            <a:r>
              <a:rPr dirty="0"/>
              <a:t> </a:t>
            </a:r>
            <a:r>
              <a:rPr dirty="0" err="1"/>
              <a:t>absoluto</a:t>
            </a:r>
            <a:r>
              <a:rPr dirty="0"/>
              <a:t>: 0.85pp </a:t>
            </a:r>
            <a:r>
              <a:rPr dirty="0" err="1"/>
              <a:t>abaixo</a:t>
            </a:r>
            <a:r>
              <a:rPr dirty="0"/>
              <a:t> do SOTA-CNN sob </a:t>
            </a:r>
            <a:r>
              <a:rPr dirty="0" err="1"/>
              <a:t>comparação</a:t>
            </a:r>
            <a:r>
              <a:rPr dirty="0"/>
              <a:t> </a:t>
            </a:r>
            <a:r>
              <a:rPr dirty="0" err="1"/>
              <a:t>simétrica</a:t>
            </a:r>
            <a:r>
              <a:rPr dirty="0"/>
              <a:t> (</a:t>
            </a:r>
            <a:r>
              <a:rPr dirty="0" err="1"/>
              <a:t>dentro</a:t>
            </a:r>
            <a:r>
              <a:rPr dirty="0"/>
              <a:t> da </a:t>
            </a:r>
            <a:r>
              <a:rPr dirty="0" err="1"/>
              <a:t>variância</a:t>
            </a:r>
            <a:r>
              <a:rPr dirty="0"/>
              <a:t>).</a:t>
            </a:r>
          </a:p>
          <a:p>
            <a:pPr lvl="1">
              <a:spcAft>
                <a:spcPts val="500"/>
              </a:spcAft>
              <a:defRPr sz="1300" b="0">
                <a:solidFill>
                  <a:srgbClr val="555555"/>
                </a:solidFill>
              </a:defRPr>
            </a:pPr>
            <a:r>
              <a:rPr dirty="0"/>
              <a:t>Auditoria </a:t>
            </a:r>
            <a:r>
              <a:rPr dirty="0" err="1"/>
              <a:t>empírica</a:t>
            </a:r>
            <a:r>
              <a:rPr dirty="0"/>
              <a:t> </a:t>
            </a:r>
            <a:r>
              <a:rPr dirty="0" err="1"/>
              <a:t>refutando</a:t>
            </a:r>
            <a:r>
              <a:rPr dirty="0"/>
              <a:t> </a:t>
            </a:r>
            <a:r>
              <a:rPr dirty="0" err="1"/>
              <a:t>dois</a:t>
            </a:r>
            <a:r>
              <a:rPr dirty="0"/>
              <a:t> </a:t>
            </a:r>
            <a:r>
              <a:rPr dirty="0" err="1"/>
              <a:t>suspeitos</a:t>
            </a:r>
            <a:r>
              <a:rPr dirty="0"/>
              <a:t> de </a:t>
            </a:r>
            <a:r>
              <a:rPr dirty="0" err="1"/>
              <a:t>limitador</a:t>
            </a:r>
            <a:r>
              <a:rPr dirty="0"/>
              <a:t> no </a:t>
            </a:r>
            <a:r>
              <a:rPr dirty="0" err="1"/>
              <a:t>código</a:t>
            </a:r>
            <a:r>
              <a:rPr dirty="0"/>
              <a:t> </a:t>
            </a:r>
            <a:r>
              <a:rPr dirty="0" err="1"/>
              <a:t>próprio</a:t>
            </a:r>
            <a:r>
              <a:rPr dirty="0"/>
              <a:t>.</a:t>
            </a:r>
          </a:p>
          <a:p>
            <a:pPr lvl="1">
              <a:spcAft>
                <a:spcPts val="500"/>
              </a:spcAft>
              <a:defRPr sz="1300" b="0">
                <a:solidFill>
                  <a:srgbClr val="555555"/>
                </a:solidFill>
              </a:defRPr>
            </a:pPr>
            <a:r>
              <a:rPr dirty="0" err="1"/>
              <a:t>Análise</a:t>
            </a:r>
            <a:r>
              <a:rPr dirty="0"/>
              <a:t> </a:t>
            </a:r>
            <a:r>
              <a:rPr dirty="0" err="1"/>
              <a:t>interseccional</a:t>
            </a:r>
            <a:r>
              <a:rPr dirty="0"/>
              <a:t>, ensemble, TTA e </a:t>
            </a:r>
            <a:r>
              <a:rPr dirty="0" err="1"/>
              <a:t>calibração</a:t>
            </a:r>
            <a:r>
              <a:rPr dirty="0"/>
              <a:t> </a:t>
            </a:r>
            <a:r>
              <a:rPr dirty="0" err="1"/>
              <a:t>devidamente</a:t>
            </a:r>
            <a:r>
              <a:rPr dirty="0"/>
              <a:t> </a:t>
            </a:r>
            <a:r>
              <a:rPr dirty="0" err="1"/>
              <a:t>documentados</a:t>
            </a:r>
            <a:r>
              <a:rPr dirty="0"/>
              <a: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4630400" cy="822960"/>
          </a:xfrm>
          <a:prstGeom prst="rect">
            <a:avLst/>
          </a:prstGeom>
          <a:solidFill>
            <a:srgbClr val="1F3A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3716000" y="182880"/>
            <a:ext cx="699230" cy="307777"/>
          </a:xfrm>
          <a:prstGeom prst="rect">
            <a:avLst/>
          </a:prstGeom>
          <a:noFill/>
        </p:spPr>
        <p:txBody>
          <a:bodyPr wrap="none">
            <a:spAutoFit/>
          </a:bodyPr>
          <a:lstStyle/>
          <a:p>
            <a:pPr>
              <a:defRPr sz="1400">
                <a:solidFill>
                  <a:srgbClr val="CCD8EE"/>
                </a:solidFill>
              </a:defRPr>
            </a:pPr>
            <a:r>
              <a:rPr dirty="0"/>
              <a:t>1</a:t>
            </a:r>
            <a:r>
              <a:rPr lang="pt-BR" dirty="0"/>
              <a:t>9</a:t>
            </a:r>
            <a:r>
              <a:rPr dirty="0"/>
              <a:t> / 19</a:t>
            </a:r>
          </a:p>
        </p:txBody>
      </p:sp>
      <p:sp>
        <p:nvSpPr>
          <p:cNvPr id="4" name="TextBox 3"/>
          <p:cNvSpPr txBox="1"/>
          <p:nvPr/>
        </p:nvSpPr>
        <p:spPr>
          <a:xfrm>
            <a:off x="457200" y="182880"/>
            <a:ext cx="12801600" cy="548640"/>
          </a:xfrm>
          <a:prstGeom prst="rect">
            <a:avLst/>
          </a:prstGeom>
          <a:noFill/>
        </p:spPr>
        <p:txBody>
          <a:bodyPr wrap="none">
            <a:spAutoFit/>
          </a:bodyPr>
          <a:lstStyle/>
          <a:p>
            <a:pPr>
              <a:defRPr sz="2400" b="1">
                <a:solidFill>
                  <a:srgbClr val="FFFFFF"/>
                </a:solidFill>
              </a:defRPr>
            </a:pPr>
            <a:r>
              <a:t>Próximos passos — junho de 2026 (fase de redação)</a:t>
            </a:r>
          </a:p>
        </p:txBody>
      </p:sp>
      <p:graphicFrame>
        <p:nvGraphicFramePr>
          <p:cNvPr id="5" name="Table 4"/>
          <p:cNvGraphicFramePr>
            <a:graphicFrameLocks noGrp="1"/>
          </p:cNvGraphicFramePr>
          <p:nvPr/>
        </p:nvGraphicFramePr>
        <p:xfrm>
          <a:off x="457200" y="1097280"/>
          <a:ext cx="13716000" cy="2194560"/>
        </p:xfrm>
        <a:graphic>
          <a:graphicData uri="http://schemas.openxmlformats.org/drawingml/2006/table">
            <a:tbl>
              <a:tblPr firstRow="1" bandRow="1">
                <a:tableStyleId>{5C22544A-7EE6-4342-B048-85BDC9FD1C3A}</a:tableStyleId>
              </a:tblPr>
              <a:tblGrid>
                <a:gridCol w="3657600">
                  <a:extLst>
                    <a:ext uri="{9D8B030D-6E8A-4147-A177-3AD203B41FA5}">
                      <a16:colId xmlns:a16="http://schemas.microsoft.com/office/drawing/2014/main" val="20000"/>
                    </a:ext>
                  </a:extLst>
                </a:gridCol>
                <a:gridCol w="73152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438912">
                <a:tc>
                  <a:txBody>
                    <a:bodyPr/>
                    <a:lstStyle/>
                    <a:p>
                      <a:r>
                        <a:rPr sz="1100" b="1">
                          <a:solidFill>
                            <a:srgbClr val="FFFFFF"/>
                          </a:solidFill>
                        </a:rPr>
                        <a:t>Capítulo</a:t>
                      </a:r>
                    </a:p>
                  </a:txBody>
                  <a:tcPr>
                    <a:solidFill>
                      <a:srgbClr val="1F3A68"/>
                    </a:solidFill>
                  </a:tcPr>
                </a:tc>
                <a:tc>
                  <a:txBody>
                    <a:bodyPr/>
                    <a:lstStyle/>
                    <a:p>
                      <a:r>
                        <a:rPr sz="1100" b="1">
                          <a:solidFill>
                            <a:srgbClr val="FFFFFF"/>
                          </a:solidFill>
                        </a:rPr>
                        <a:t>Conteúdo</a:t>
                      </a:r>
                    </a:p>
                  </a:txBody>
                  <a:tcPr>
                    <a:solidFill>
                      <a:srgbClr val="1F3A68"/>
                    </a:solidFill>
                  </a:tcPr>
                </a:tc>
                <a:tc>
                  <a:txBody>
                    <a:bodyPr/>
                    <a:lstStyle/>
                    <a:p>
                      <a:r>
                        <a:rPr sz="1100" b="1">
                          <a:solidFill>
                            <a:srgbClr val="FFFFFF"/>
                          </a:solidFill>
                        </a:rPr>
                        <a:t>Prazo sugerido</a:t>
                      </a:r>
                    </a:p>
                  </a:txBody>
                  <a:tcPr>
                    <a:solidFill>
                      <a:srgbClr val="1F3A68"/>
                    </a:solidFill>
                  </a:tcPr>
                </a:tc>
                <a:extLst>
                  <a:ext uri="{0D108BD9-81ED-4DB2-BD59-A6C34878D82A}">
                    <a16:rowId xmlns:a16="http://schemas.microsoft.com/office/drawing/2014/main" val="10000"/>
                  </a:ext>
                </a:extLst>
              </a:tr>
              <a:tr h="438912">
                <a:tc>
                  <a:txBody>
                    <a:bodyPr/>
                    <a:lstStyle/>
                    <a:p>
                      <a:r>
                        <a:rPr sz="1000">
                          <a:solidFill>
                            <a:srgbClr val="555555"/>
                          </a:solidFill>
                        </a:rPr>
                        <a:t>Metodologia</a:t>
                      </a:r>
                    </a:p>
                  </a:txBody>
                  <a:tcPr>
                    <a:solidFill>
                      <a:srgbClr val="FFFFFF"/>
                    </a:solidFill>
                  </a:tcPr>
                </a:tc>
                <a:tc>
                  <a:txBody>
                    <a:bodyPr/>
                    <a:lstStyle/>
                    <a:p>
                      <a:r>
                        <a:rPr sz="1000">
                          <a:solidFill>
                            <a:srgbClr val="555555"/>
                          </a:solidFill>
                        </a:rPr>
                        <a:t>Protocolo experimental, métricas, cinco fatores e experimentos adicionais</a:t>
                      </a:r>
                    </a:p>
                  </a:txBody>
                  <a:tcPr>
                    <a:solidFill>
                      <a:srgbClr val="FFFFFF"/>
                    </a:solidFill>
                  </a:tcPr>
                </a:tc>
                <a:tc>
                  <a:txBody>
                    <a:bodyPr/>
                    <a:lstStyle/>
                    <a:p>
                      <a:r>
                        <a:rPr sz="1000">
                          <a:solidFill>
                            <a:srgbClr val="555555"/>
                          </a:solidFill>
                        </a:rPr>
                        <a:t>1 a 7 de junho</a:t>
                      </a:r>
                    </a:p>
                  </a:txBody>
                  <a:tcPr>
                    <a:solidFill>
                      <a:srgbClr val="FFFFFF"/>
                    </a:solidFill>
                  </a:tcPr>
                </a:tc>
                <a:extLst>
                  <a:ext uri="{0D108BD9-81ED-4DB2-BD59-A6C34878D82A}">
                    <a16:rowId xmlns:a16="http://schemas.microsoft.com/office/drawing/2014/main" val="10001"/>
                  </a:ext>
                </a:extLst>
              </a:tr>
              <a:tr h="438912">
                <a:tc>
                  <a:txBody>
                    <a:bodyPr/>
                    <a:lstStyle/>
                    <a:p>
                      <a:r>
                        <a:rPr sz="1000">
                          <a:solidFill>
                            <a:srgbClr val="555555"/>
                          </a:solidFill>
                        </a:rPr>
                        <a:t>Resultados</a:t>
                      </a:r>
                    </a:p>
                  </a:txBody>
                  <a:tcPr>
                    <a:solidFill>
                      <a:srgbClr val="F5F5F5"/>
                    </a:solidFill>
                  </a:tcPr>
                </a:tc>
                <a:tc>
                  <a:txBody>
                    <a:bodyPr/>
                    <a:lstStyle/>
                    <a:p>
                      <a:r>
                        <a:rPr sz="1000">
                          <a:solidFill>
                            <a:srgbClr val="555555"/>
                          </a:solidFill>
                        </a:rPr>
                        <a:t>Tabelas consolidadas e narrativa das duas linhas de contribuição</a:t>
                      </a:r>
                    </a:p>
                  </a:txBody>
                  <a:tcPr>
                    <a:solidFill>
                      <a:srgbClr val="F5F5F5"/>
                    </a:solidFill>
                  </a:tcPr>
                </a:tc>
                <a:tc>
                  <a:txBody>
                    <a:bodyPr/>
                    <a:lstStyle/>
                    <a:p>
                      <a:r>
                        <a:rPr sz="1000">
                          <a:solidFill>
                            <a:srgbClr val="555555"/>
                          </a:solidFill>
                        </a:rPr>
                        <a:t>8 a 14 de junho</a:t>
                      </a:r>
                    </a:p>
                  </a:txBody>
                  <a:tcPr>
                    <a:solidFill>
                      <a:srgbClr val="F5F5F5"/>
                    </a:solidFill>
                  </a:tcPr>
                </a:tc>
                <a:extLst>
                  <a:ext uri="{0D108BD9-81ED-4DB2-BD59-A6C34878D82A}">
                    <a16:rowId xmlns:a16="http://schemas.microsoft.com/office/drawing/2014/main" val="10002"/>
                  </a:ext>
                </a:extLst>
              </a:tr>
              <a:tr h="438912">
                <a:tc>
                  <a:txBody>
                    <a:bodyPr/>
                    <a:lstStyle/>
                    <a:p>
                      <a:r>
                        <a:rPr sz="1000">
                          <a:solidFill>
                            <a:srgbClr val="555555"/>
                          </a:solidFill>
                        </a:rPr>
                        <a:t>Discussão</a:t>
                      </a:r>
                    </a:p>
                  </a:txBody>
                  <a:tcPr>
                    <a:solidFill>
                      <a:srgbClr val="FFFFFF"/>
                    </a:solidFill>
                  </a:tcPr>
                </a:tc>
                <a:tc>
                  <a:txBody>
                    <a:bodyPr/>
                    <a:lstStyle/>
                    <a:p>
                      <a:r>
                        <a:rPr sz="1000">
                          <a:solidFill>
                            <a:srgbClr val="555555"/>
                          </a:solidFill>
                        </a:rPr>
                        <a:t>Interpretação dos achados, conexão com a literatura e limitações declaradas</a:t>
                      </a:r>
                    </a:p>
                  </a:txBody>
                  <a:tcPr>
                    <a:solidFill>
                      <a:srgbClr val="FFFFFF"/>
                    </a:solidFill>
                  </a:tcPr>
                </a:tc>
                <a:tc>
                  <a:txBody>
                    <a:bodyPr/>
                    <a:lstStyle/>
                    <a:p>
                      <a:r>
                        <a:rPr sz="1000">
                          <a:solidFill>
                            <a:srgbClr val="555555"/>
                          </a:solidFill>
                        </a:rPr>
                        <a:t>15 a 21 de junho</a:t>
                      </a:r>
                    </a:p>
                  </a:txBody>
                  <a:tcPr>
                    <a:solidFill>
                      <a:srgbClr val="FFFFFF"/>
                    </a:solidFill>
                  </a:tcPr>
                </a:tc>
                <a:extLst>
                  <a:ext uri="{0D108BD9-81ED-4DB2-BD59-A6C34878D82A}">
                    <a16:rowId xmlns:a16="http://schemas.microsoft.com/office/drawing/2014/main" val="10003"/>
                  </a:ext>
                </a:extLst>
              </a:tr>
              <a:tr h="438912">
                <a:tc>
                  <a:txBody>
                    <a:bodyPr/>
                    <a:lstStyle/>
                    <a:p>
                      <a:r>
                        <a:rPr sz="1000">
                          <a:solidFill>
                            <a:srgbClr val="555555"/>
                          </a:solidFill>
                        </a:rPr>
                        <a:t>Introdução e Conclusão</a:t>
                      </a:r>
                    </a:p>
                  </a:txBody>
                  <a:tcPr>
                    <a:solidFill>
                      <a:srgbClr val="F5F5F5"/>
                    </a:solidFill>
                  </a:tcPr>
                </a:tc>
                <a:tc>
                  <a:txBody>
                    <a:bodyPr/>
                    <a:lstStyle/>
                    <a:p>
                      <a:r>
                        <a:rPr sz="1000">
                          <a:solidFill>
                            <a:srgbClr val="555555"/>
                          </a:solidFill>
                        </a:rPr>
                        <a:t>Redigidos por último, após consolidação do argumento central</a:t>
                      </a:r>
                    </a:p>
                  </a:txBody>
                  <a:tcPr>
                    <a:solidFill>
                      <a:srgbClr val="F5F5F5"/>
                    </a:solidFill>
                  </a:tcPr>
                </a:tc>
                <a:tc>
                  <a:txBody>
                    <a:bodyPr/>
                    <a:lstStyle/>
                    <a:p>
                      <a:r>
                        <a:rPr sz="1000">
                          <a:solidFill>
                            <a:srgbClr val="555555"/>
                          </a:solidFill>
                        </a:rPr>
                        <a:t>22 a 30 de junho</a:t>
                      </a:r>
                    </a:p>
                  </a:txBody>
                  <a:tcPr>
                    <a:solidFill>
                      <a:srgbClr val="F5F5F5"/>
                    </a:solidFill>
                  </a:tcPr>
                </a:tc>
                <a:extLst>
                  <a:ext uri="{0D108BD9-81ED-4DB2-BD59-A6C34878D82A}">
                    <a16:rowId xmlns:a16="http://schemas.microsoft.com/office/drawing/2014/main" val="10004"/>
                  </a:ext>
                </a:extLst>
              </a:tr>
            </a:tbl>
          </a:graphicData>
        </a:graphic>
      </p:graphicFrame>
      <p:sp>
        <p:nvSpPr>
          <p:cNvPr id="6" name="TextBox 5"/>
          <p:cNvSpPr txBox="1"/>
          <p:nvPr/>
        </p:nvSpPr>
        <p:spPr>
          <a:xfrm>
            <a:off x="457200" y="7498079"/>
            <a:ext cx="12410770" cy="430887"/>
          </a:xfrm>
          <a:prstGeom prst="rect">
            <a:avLst/>
          </a:prstGeom>
          <a:noFill/>
        </p:spPr>
        <p:txBody>
          <a:bodyPr wrap="none">
            <a:spAutoFit/>
          </a:bodyPr>
          <a:lstStyle/>
          <a:p>
            <a:pPr>
              <a:defRPr sz="1100" i="1">
                <a:solidFill>
                  <a:srgbClr val="4A6B9E"/>
                </a:solidFill>
              </a:defRPr>
            </a:pPr>
            <a:r>
              <a:rPr dirty="0" err="1"/>
              <a:t>Defesa</a:t>
            </a:r>
            <a:r>
              <a:rPr dirty="0"/>
              <a:t> de </a:t>
            </a:r>
            <a:r>
              <a:rPr dirty="0" err="1"/>
              <a:t>qualificação</a:t>
            </a:r>
            <a:r>
              <a:rPr dirty="0"/>
              <a:t> </a:t>
            </a:r>
            <a:r>
              <a:rPr dirty="0" err="1"/>
              <a:t>prevista</a:t>
            </a:r>
            <a:r>
              <a:rPr dirty="0"/>
              <a:t> para </a:t>
            </a:r>
            <a:r>
              <a:rPr dirty="0" err="1"/>
              <a:t>agosto</a:t>
            </a:r>
            <a:r>
              <a:rPr dirty="0"/>
              <a:t> de 2026 (Art. 49, </a:t>
            </a:r>
            <a:r>
              <a:rPr dirty="0" err="1"/>
              <a:t>Regulamento</a:t>
            </a:r>
            <a:r>
              <a:rPr dirty="0"/>
              <a:t> de </a:t>
            </a:r>
            <a:r>
              <a:rPr dirty="0" err="1"/>
              <a:t>Mestrado</a:t>
            </a:r>
            <a:r>
              <a:rPr dirty="0"/>
              <a:t> </a:t>
            </a:r>
            <a:r>
              <a:rPr dirty="0" err="1"/>
              <a:t>Unifesp</a:t>
            </a:r>
            <a:r>
              <a:rPr dirty="0"/>
              <a:t>/ICT). </a:t>
            </a:r>
            <a:endParaRPr lang="pt-BR" dirty="0"/>
          </a:p>
          <a:p>
            <a:pPr>
              <a:defRPr sz="1100" i="1">
                <a:solidFill>
                  <a:srgbClr val="4A6B9E"/>
                </a:solidFill>
              </a:defRPr>
            </a:pPr>
            <a:r>
              <a:rPr dirty="0" err="1"/>
              <a:t>Régua</a:t>
            </a:r>
            <a:r>
              <a:rPr dirty="0"/>
              <a:t> de </a:t>
            </a:r>
            <a:r>
              <a:rPr dirty="0" err="1"/>
              <a:t>decisão</a:t>
            </a:r>
            <a:r>
              <a:rPr dirty="0"/>
              <a:t> para o </a:t>
            </a:r>
            <a:r>
              <a:rPr dirty="0" err="1"/>
              <a:t>período</a:t>
            </a:r>
            <a:r>
              <a:rPr dirty="0"/>
              <a:t>: </a:t>
            </a:r>
            <a:r>
              <a:rPr dirty="0" err="1"/>
              <a:t>cada</a:t>
            </a:r>
            <a:r>
              <a:rPr dirty="0"/>
              <a:t> nova </a:t>
            </a:r>
            <a:r>
              <a:rPr dirty="0" err="1"/>
              <a:t>análise</a:t>
            </a:r>
            <a:r>
              <a:rPr dirty="0"/>
              <a:t> </a:t>
            </a:r>
            <a:r>
              <a:rPr dirty="0" err="1"/>
              <a:t>deve</a:t>
            </a:r>
            <a:r>
              <a:rPr dirty="0"/>
              <a:t> </a:t>
            </a:r>
            <a:r>
              <a:rPr dirty="0" err="1"/>
              <a:t>necessariamente</a:t>
            </a:r>
            <a:r>
              <a:rPr dirty="0"/>
              <a:t> </a:t>
            </a:r>
            <a:r>
              <a:rPr dirty="0" err="1"/>
              <a:t>avançar</a:t>
            </a:r>
            <a:r>
              <a:rPr dirty="0"/>
              <a:t> </a:t>
            </a:r>
            <a:r>
              <a:rPr dirty="0" err="1"/>
              <a:t>uma</a:t>
            </a:r>
            <a:r>
              <a:rPr dirty="0"/>
              <a:t> das </a:t>
            </a:r>
            <a:r>
              <a:rPr dirty="0" err="1"/>
              <a:t>três</a:t>
            </a:r>
            <a:r>
              <a:rPr dirty="0"/>
              <a:t> </a:t>
            </a:r>
            <a:r>
              <a:rPr dirty="0" err="1"/>
              <a:t>contribuições</a:t>
            </a:r>
            <a:r>
              <a:rPr dirty="0"/>
              <a:t> </a:t>
            </a:r>
            <a:r>
              <a:rPr dirty="0" err="1"/>
              <a:t>declaradas</a:t>
            </a:r>
            <a:r>
              <a:rPr dirty="0"/>
              <a:t> </a:t>
            </a:r>
            <a:r>
              <a:rPr dirty="0" err="1"/>
              <a:t>ou</a:t>
            </a:r>
            <a:r>
              <a:rPr dirty="0"/>
              <a:t> </a:t>
            </a:r>
            <a:r>
              <a:rPr dirty="0" err="1"/>
              <a:t>fechar</a:t>
            </a:r>
            <a:r>
              <a:rPr dirty="0"/>
              <a:t> </a:t>
            </a:r>
            <a:r>
              <a:rPr dirty="0" err="1"/>
              <a:t>uma</a:t>
            </a:r>
            <a:r>
              <a:rPr dirty="0"/>
              <a:t> </a:t>
            </a:r>
            <a:r>
              <a:rPr dirty="0" err="1"/>
              <a:t>limitação</a:t>
            </a:r>
            <a:r>
              <a:rPr dirty="0"/>
              <a:t> </a:t>
            </a:r>
            <a:r>
              <a:rPr dirty="0" err="1"/>
              <a:t>previamente</a:t>
            </a:r>
            <a:r>
              <a:rPr dirty="0"/>
              <a:t> </a:t>
            </a:r>
            <a:r>
              <a:rPr dirty="0" err="1"/>
              <a:t>identificada</a:t>
            </a:r>
            <a:r>
              <a:rPr dirty="0"/>
              <a:t>, </a:t>
            </a:r>
            <a:r>
              <a:rPr dirty="0" err="1"/>
              <a:t>sem</a:t>
            </a:r>
            <a:r>
              <a:rPr dirty="0"/>
              <a:t> </a:t>
            </a:r>
            <a:r>
              <a:rPr dirty="0" err="1"/>
              <a:t>reabrir</a:t>
            </a:r>
            <a:r>
              <a:rPr dirty="0"/>
              <a:t> </a:t>
            </a:r>
            <a:r>
              <a:rPr dirty="0" err="1"/>
              <a:t>novas</a:t>
            </a:r>
            <a:r>
              <a:rPr dirty="0"/>
              <a:t> </a:t>
            </a:r>
            <a:r>
              <a:rPr dirty="0" err="1"/>
              <a:t>frentes</a:t>
            </a:r>
            <a:r>
              <a:rPr dirty="0"/>
              <a:t> </a:t>
            </a:r>
            <a:r>
              <a:rPr dirty="0" err="1"/>
              <a:t>experimentais</a:t>
            </a:r>
            <a:r>
              <a:rPr dirty="0"/>
              <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17</TotalTime>
  <Words>3628</Words>
  <Application>Microsoft Office PowerPoint</Application>
  <PresentationFormat>Personalizar</PresentationFormat>
  <Paragraphs>396</Paragraphs>
  <Slides>19</Slides>
  <Notes>0</Notes>
  <HiddenSlides>1</HiddenSlides>
  <MMClips>0</MMClips>
  <ScaleCrop>false</ScaleCrop>
  <HeadingPairs>
    <vt:vector size="6" baseType="variant">
      <vt:variant>
        <vt:lpstr>Fontes usadas</vt:lpstr>
      </vt:variant>
      <vt:variant>
        <vt:i4>2</vt:i4>
      </vt:variant>
      <vt:variant>
        <vt:lpstr>Tema</vt:lpstr>
      </vt:variant>
      <vt:variant>
        <vt:i4>1</vt:i4>
      </vt:variant>
      <vt:variant>
        <vt:lpstr>Títulos de slides</vt:lpstr>
      </vt:variant>
      <vt:variant>
        <vt:i4>19</vt:i4>
      </vt:variant>
    </vt:vector>
  </HeadingPairs>
  <TitlesOfParts>
    <vt:vector size="22" baseType="lpstr">
      <vt:lpstr>Arial</vt:lpstr>
      <vt:lpstr>Calibri</vt:lpstr>
      <vt:lpstr>Office Theme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Marcello Vinicius Alves Ozzetti</cp:lastModifiedBy>
  <cp:revision>5</cp:revision>
  <dcterms:created xsi:type="dcterms:W3CDTF">2013-01-27T09:14:16Z</dcterms:created>
  <dcterms:modified xsi:type="dcterms:W3CDTF">2026-05-25T17:24:50Z</dcterms:modified>
  <cp:category/>
</cp:coreProperties>
</file>