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PARA EXPLICAR FiLM ORALMENTE:</a:t>
            </a:r>
          </a:p>
          <a:p/>
          <a:p>
            <a:r>
              <a:t>Imagine um médico fazendo um diagnóstico. Antes de decidir, ele consulta exames complementares (ECG, raio-X) que dão contexto sobre o paciente. O diagnóstico final depende tanto do que ele observa no exame físico quanto do contexto desses exames.</a:t>
            </a:r>
          </a:p>
          <a:p/>
          <a:p>
            <a:r>
              <a:t>FiLM faz exatamente isso para a rede de raça: antes de decidir a classe, ela 'consulta' a saída do classificador de tom de pele e ajusta sua decisão com base nesse contexto.</a:t>
            </a:r>
          </a:p>
          <a:p/>
          <a:p>
            <a:r>
              <a:t>USE A ANALOGIA SE A AUDIÊNCIA PEDIR UMA INTUIÇÃO MENOS TÉCNICA — caso contrário, fique no detalhamento científico do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ANALOGIA PARA EXPLICAR FAIR TRANSFERÊNCIA ORALMENTE:</a:t>
            </a:r>
          </a:p>
          <a:p/>
          <a:p>
            <a:r>
              <a:t>Aprender ética profissional em medicina geral nos torna mais éticos também quando nos especializamos em cardiologia. A 'ética' é uma propriedade do profissional (da representação interna), não da especialidade (da tarefa específica).</a:t>
            </a:r>
          </a:p>
          <a:p/>
          <a:p>
            <a:r>
              <a:t>USE A ANALOGIA SE A AUDIÊNCIA PEDIR UMA INTUIÇÃO MENOS TÉCNICA — caso contrário, fique no detalhamento científico do slide.</a:t>
            </a:r>
          </a:p>
          <a:p/>
          <a:p>
            <a:r>
              <a:t>EM CASO DE PERGUNTA SOBRE O ADVERSÁRIO:</a:t>
            </a:r>
          </a:p>
          <a:p>
            <a:r>
              <a:t>O adversário é uma rede neural separada que recebe Z como input e tenta predizer o atributo sensível (raça). O encoder é treinado para MAXIMIZAR o erro do adversário — por isso 'adversarial'. Se o adversário NÃO consegue recuperar a raça a partir de Z, então Z não contém informação 'usável' sobre raça — e portanto qualquer classificador downstream também não pode ser injusto baseado em raça.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Como a tese estava na última reunião — visão resumida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5715000"/>
                <a:gridCol w="5715000"/>
              </a:tblGrid>
              <a:tr h="705394">
                <a:tc>
                  <a:txBody>
                    <a:bodyPr/>
                    <a:lstStyle/>
                    <a:p>
                      <a:r>
                        <a:rPr b="1" sz="1600">
                          <a:solidFill>
                            <a:srgbClr val="FFFFFF"/>
                          </a:solidFill>
                        </a:rPr>
                        <a:t>Dimensão</a:t>
                      </a:r>
                    </a:p>
                  </a:txBody>
                  <a:tcPr>
                    <a:solidFill>
                      <a:srgbClr val="1F2A4E"/>
                    </a:solidFill>
                  </a:tcPr>
                </a:tc>
                <a:tc>
                  <a:txBody>
                    <a:bodyPr/>
                    <a:lstStyle/>
                    <a:p>
                      <a:r>
                        <a:rPr b="1" sz="1600">
                          <a:solidFill>
                            <a:srgbClr val="FFFFFF"/>
                          </a:solidFill>
                        </a:rPr>
                        <a:t>Estado naquele momento</a:t>
                      </a:r>
                    </a:p>
                  </a:txBody>
                  <a:tcPr>
                    <a:solidFill>
                      <a:srgbClr val="1F2A4E"/>
                    </a:solidFill>
                  </a:tcPr>
                </a:tc>
              </a:tr>
              <a:tr h="705394">
                <a:tc>
                  <a:txBody>
                    <a:bodyPr/>
                    <a:lstStyle/>
                    <a:p>
                      <a:r>
                        <a:rPr sz="1500">
                          <a:solidFill>
                            <a:srgbClr val="3D424E"/>
                          </a:solidFill>
                        </a:rPr>
                        <a:t>Postura</a:t>
                      </a:r>
                    </a:p>
                  </a:txBody>
                  <a:tcPr>
                    <a:solidFill>
                      <a:srgbClr val="FFFFFF"/>
                    </a:solidFill>
                  </a:tcPr>
                </a:tc>
                <a:tc>
                  <a:txBody>
                    <a:bodyPr/>
                    <a:lstStyle/>
                    <a:p>
                      <a:r>
                        <a:rPr sz="1500">
                          <a:solidFill>
                            <a:srgbClr val="3D424E"/>
                          </a:solidFill>
                        </a:rPr>
                        <a:t>Diagnóstica — explicar por que o erro existe</a:t>
                      </a:r>
                    </a:p>
                  </a:txBody>
                  <a:tcPr>
                    <a:solidFill>
                      <a:srgbClr val="FFFFFF"/>
                    </a:solidFill>
                  </a:tcPr>
                </a:tc>
              </a:tr>
              <a:tr h="705394">
                <a:tc>
                  <a:txBody>
                    <a:bodyPr/>
                    <a:lstStyle/>
                    <a:p>
                      <a:r>
                        <a:rPr sz="1500">
                          <a:solidFill>
                            <a:srgbClr val="3D424E"/>
                          </a:solidFill>
                        </a:rPr>
                        <a:t>Tese central</a:t>
                      </a:r>
                    </a:p>
                  </a:txBody>
                  <a:tcPr>
                    <a:solidFill>
                      <a:srgbClr val="E8EAED"/>
                    </a:solidFill>
                  </a:tcPr>
                </a:tc>
                <a:tc>
                  <a:txBody>
                    <a:bodyPr/>
                    <a:lstStyle/>
                    <a:p>
                      <a:r>
                        <a:rPr sz="1500">
                          <a:solidFill>
                            <a:srgbClr val="3D424E"/>
                          </a:solidFill>
                        </a:rPr>
                        <a:t>75% F1 é teto fenotípico irredutível: raças se sobrepõem em tom de pele, especialmente Latinx</a:t>
                      </a:r>
                    </a:p>
                  </a:txBody>
                  <a:tcPr>
                    <a:solidFill>
                      <a:srgbClr val="E8EAED"/>
                    </a:solidFill>
                  </a:tcPr>
                </a:tc>
              </a:tr>
              <a:tr h="705394">
                <a:tc>
                  <a:txBody>
                    <a:bodyPr/>
                    <a:lstStyle/>
                    <a:p>
                      <a:r>
                        <a:rPr sz="1500">
                          <a:solidFill>
                            <a:srgbClr val="3D424E"/>
                          </a:solidFill>
                        </a:rPr>
                        <a:t>Tarefa</a:t>
                      </a:r>
                    </a:p>
                  </a:txBody>
                  <a:tcPr>
                    <a:solidFill>
                      <a:srgbClr val="FFFFFF"/>
                    </a:solidFill>
                  </a:tcPr>
                </a:tc>
                <a:tc>
                  <a:txBody>
                    <a:bodyPr/>
                    <a:lstStyle/>
                    <a:p>
                      <a:r>
                        <a:rPr sz="1500">
                          <a:solidFill>
                            <a:srgbClr val="3D424E"/>
                          </a:solidFill>
                        </a:rPr>
                        <a:t>Apenas race classification (sem face recognition)</a:t>
                      </a:r>
                    </a:p>
                  </a:txBody>
                  <a:tcPr>
                    <a:solidFill>
                      <a:srgbClr val="FFFFFF"/>
                    </a:solidFill>
                  </a:tcPr>
                </a:tc>
              </a:tr>
              <a:tr h="705394">
                <a:tc>
                  <a:txBody>
                    <a:bodyPr/>
                    <a:lstStyle/>
                    <a:p>
                      <a:r>
                        <a:rPr sz="1500">
                          <a:solidFill>
                            <a:srgbClr val="3D424E"/>
                          </a:solidFill>
                        </a:rPr>
                        <a:t>Critério de sucesso</a:t>
                      </a:r>
                    </a:p>
                  </a:txBody>
                  <a:tcPr>
                    <a:solidFill>
                      <a:srgbClr val="E8EAED"/>
                    </a:solidFill>
                  </a:tcPr>
                </a:tc>
                <a:tc>
                  <a:txBody>
                    <a:bodyPr/>
                    <a:lstStyle/>
                    <a:p>
                      <a:r>
                        <a:rPr sz="1500">
                          <a:solidFill>
                            <a:srgbClr val="3D424E"/>
                          </a:solidFill>
                        </a:rPr>
                        <a:t>Decomposição: irredutível vs redutível</a:t>
                      </a:r>
                    </a:p>
                  </a:txBody>
                  <a:tcPr>
                    <a:solidFill>
                      <a:srgbClr val="E8EAED"/>
                    </a:solidFill>
                  </a:tcPr>
                </a:tc>
              </a:tr>
              <a:tr h="705394">
                <a:tc>
                  <a:txBody>
                    <a:bodyPr/>
                    <a:lstStyle/>
                    <a:p>
                      <a:r>
                        <a:rPr sz="1500">
                          <a:solidFill>
                            <a:srgbClr val="3D424E"/>
                          </a:solidFill>
                        </a:rPr>
                        <a:t>Corpus</a:t>
                      </a:r>
                    </a:p>
                  </a:txBody>
                  <a:tcPr>
                    <a:solidFill>
                      <a:srgbClr val="FFFFFF"/>
                    </a:solidFill>
                  </a:tcPr>
                </a:tc>
                <a:tc>
                  <a:txBody>
                    <a:bodyPr/>
                    <a:lstStyle/>
                    <a:p>
                      <a:r>
                        <a:rPr sz="1500">
                          <a:solidFill>
                            <a:srgbClr val="3D424E"/>
                          </a:solidFill>
                        </a:rPr>
                        <a:t>23 fichas em 6 tracks (A: race clf; B: FR fairness; C: skin tone; D: mitigação; E: auditoria; F: fundamentação)</a:t>
                      </a:r>
                    </a:p>
                  </a:txBody>
                  <a:tcPr>
                    <a:solidFill>
                      <a:srgbClr val="FFFFFF"/>
                    </a:solidFill>
                  </a:tcPr>
                </a:tc>
              </a:tr>
              <a:tr h="705396">
                <a:tc>
                  <a:txBody>
                    <a:bodyPr/>
                    <a:lstStyle/>
                    <a:p>
                      <a:r>
                        <a:rPr sz="1500">
                          <a:solidFill>
                            <a:srgbClr val="3D424E"/>
                          </a:solidFill>
                        </a:rPr>
                        <a:t>Validado na reunião</a:t>
                      </a:r>
                    </a:p>
                  </a:txBody>
                  <a:tcPr>
                    <a:solidFill>
                      <a:srgbClr val="E8EAED"/>
                    </a:solidFill>
                  </a:tcPr>
                </a:tc>
                <a:tc>
                  <a:txBody>
                    <a:bodyPr/>
                    <a:lstStyle/>
                    <a:p>
                      <a:r>
                        <a:rPr sz="1500">
                          <a:solidFill>
                            <a:srgbClr val="3D424E"/>
                          </a:solidFill>
                        </a:rPr>
                        <a:t>Evolução metodológica, SOTA (FaceScanPaliGemma 75.7%), linha de pesquisa proposta</a:t>
                      </a:r>
                    </a:p>
                  </a:txBody>
                  <a:tcPr>
                    <a:solidFill>
                      <a:srgbClr val="E8EAED"/>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Esta é a base sobre a qual estamos construindo a nova versão (prescritiva) da tese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Achados adicionais: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 que melhora fairness em race classification 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Triagem do corpus de pesquisa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Dos 57 papers avaliados, aprovamos 29 como fichas do corpus.</a:t>
            </a:r>
          </a:p>
          <a:p>
            <a:pPr>
              <a:spcAft>
                <a:spcPts val="800"/>
              </a:spcAft>
              <a:defRPr sz="2000" b="0">
                <a:solidFill>
                  <a:srgbClr val="3D424E"/>
                </a:solidFill>
              </a:defRPr>
            </a:pPr>
          </a:p>
          <a:p>
            <a:pPr>
              <a:spcAft>
                <a:spcPts val="800"/>
              </a:spcAft>
              <a:defRPr sz="2000" b="0">
                <a:solidFill>
                  <a:srgbClr val="3D424E"/>
                </a:solidFill>
              </a:defRPr>
            </a:pPr>
            <a:r>
              <a:t>Aprovação seguiu os critérios de seleção acordados:</a:t>
            </a:r>
          </a:p>
          <a:p>
            <a:pPr lvl="1">
              <a:spcAft>
                <a:spcPts val="800"/>
              </a:spcAft>
              <a:defRPr sz="1700">
                <a:solidFill>
                  <a:srgbClr val="707682"/>
                </a:solidFill>
              </a:defRPr>
            </a:pPr>
            <a:r>
              <a:t>Venue científico forte (top conferences ou journals peer-reviewed)</a:t>
            </a:r>
          </a:p>
          <a:p>
            <a:pPr lvl="1">
              <a:spcAft>
                <a:spcPts val="800"/>
              </a:spcAft>
              <a:defRPr sz="1700">
                <a:solidFill>
                  <a:srgbClr val="707682"/>
                </a:solidFill>
              </a:defRPr>
            </a:pPr>
            <a:r>
              <a:t>Citações acima do threshold do ano de publicação</a:t>
            </a:r>
          </a:p>
          <a:p>
            <a:pPr lvl="1">
              <a:spcAft>
                <a:spcPts val="800"/>
              </a:spcAft>
              <a:defRPr sz="1700">
                <a:solidFill>
                  <a:srgbClr val="707682"/>
                </a:solidFill>
              </a:defRPr>
            </a:pPr>
            <a:r>
              <a:t>Aplicabilidade direta a uma das 14 perguntas de pesquisa</a:t>
            </a:r>
          </a:p>
          <a:p>
            <a:pPr lvl="1">
              <a:spcAft>
                <a:spcPts val="800"/>
              </a:spcAft>
              <a:defRPr sz="1700">
                <a:solidFill>
                  <a:srgbClr val="707682"/>
                </a:solidFill>
              </a:defRPr>
            </a:pPr>
            <a:r>
              <a:t>Aprovação por exceção (cobertura única) com justificativa registrada</a:t>
            </a:r>
          </a:p>
          <a:p>
            <a:pPr>
              <a:spcAft>
                <a:spcPts val="800"/>
              </a:spcAft>
              <a:defRPr sz="2000" b="0">
                <a:solidFill>
                  <a:srgbClr val="3D424E"/>
                </a:solidFill>
              </a:defRPr>
            </a:pPr>
          </a:p>
          <a:p>
            <a:pPr>
              <a:spcAft>
                <a:spcPts val="800"/>
              </a:spcAft>
              <a:defRPr sz="2000" b="0">
                <a:solidFill>
                  <a:srgbClr val="3D424E"/>
                </a:solidFill>
              </a:defRPr>
            </a:pPr>
            <a:r>
              <a:t>Cada decisão (aprovado / standby / descartado) tem data e justificativa registradas.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Classificador MST pré-treinado validado pela Rodada 6 (SkinToneNet, Pereira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640080"/>
          </a:xfrm>
          <a:prstGeom prst="rect">
            <a:avLst/>
          </a:prstGeom>
          <a:noFill/>
        </p:spPr>
        <p:txBody>
          <a:bodyPr wrap="none">
            <a:spAutoFit/>
          </a:bodyPr>
          <a:lstStyle/>
          <a:p>
            <a:pPr>
              <a:defRPr sz="2600" b="1">
                <a:solidFill>
                  <a:srgbClr val="1F2A4E"/>
                </a:solidFill>
              </a:defRPr>
            </a:pPr>
            <a:r>
              <a:t>O que é FiLM (Feature-wise Linear Modulation)?</a:t>
            </a:r>
          </a:p>
        </p:txBody>
      </p:sp>
      <p:sp>
        <p:nvSpPr>
          <p:cNvPr id="3" name="Rectangle 2"/>
          <p:cNvSpPr/>
          <p:nvPr/>
        </p:nvSpPr>
        <p:spPr>
          <a:xfrm>
            <a:off x="457200" y="914400"/>
            <a:ext cx="1143000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05840"/>
            <a:ext cx="11430000" cy="411480"/>
          </a:xfrm>
          <a:prstGeom prst="rect">
            <a:avLst/>
          </a:prstGeom>
          <a:noFill/>
        </p:spPr>
        <p:txBody>
          <a:bodyPr wrap="none">
            <a:spAutoFit/>
          </a:bodyPr>
          <a:lstStyle/>
          <a:p>
            <a:pPr>
              <a:defRPr sz="1400" i="1">
                <a:solidFill>
                  <a:srgbClr val="3D424E"/>
                </a:solidFill>
              </a:defRPr>
            </a:pPr>
            <a:r>
              <a:t>Mecanismo de condicionamento neural que permite a uma rede 'consultar' um sinal de contexto antes de decidir.</a:t>
            </a:r>
          </a:p>
        </p:txBody>
      </p:sp>
      <p:sp>
        <p:nvSpPr>
          <p:cNvPr id="5" name="Rounded Rectangle 4"/>
          <p:cNvSpPr/>
          <p:nvPr/>
        </p:nvSpPr>
        <p:spPr>
          <a:xfrm>
            <a:off x="457200" y="1554480"/>
            <a:ext cx="338328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1.  Reconhecer tom de pele</a:t>
            </a:r>
          </a:p>
          <a:p>
            <a:pPr>
              <a:defRPr sz="1100">
                <a:solidFill>
                  <a:srgbClr val="3D424E"/>
                </a:solidFill>
              </a:defRPr>
            </a:pPr>
            <a:r>
              <a:t>SkinToneNet recebe a foto e devolve um vetor de contexto representando o tom (MST 1 a 10).</a:t>
            </a:r>
          </a:p>
        </p:txBody>
      </p:sp>
      <p:sp>
        <p:nvSpPr>
          <p:cNvPr id="6" name="Right Arrow 5"/>
          <p:cNvSpPr/>
          <p:nvPr/>
        </p:nvSpPr>
        <p:spPr>
          <a:xfrm>
            <a:off x="3858768" y="1938527"/>
            <a:ext cx="329184"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554480"/>
            <a:ext cx="3383280" cy="109728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FFFFFF"/>
                </a:solidFill>
              </a:defRPr>
            </a:pPr>
            <a:r>
              <a:t>2.  Camada FiLM</a:t>
            </a:r>
          </a:p>
          <a:p>
            <a:pPr>
              <a:defRPr sz="1100">
                <a:solidFill>
                  <a:srgbClr val="E8EAED"/>
                </a:solidFill>
              </a:defRPr>
            </a:pPr>
            <a:r>
              <a:t>Usa o vetor de contexto para modular as features intermediárias da rede de raça (escala e deslocamento por canal).</a:t>
            </a:r>
          </a:p>
        </p:txBody>
      </p:sp>
      <p:sp>
        <p:nvSpPr>
          <p:cNvPr id="8" name="Right Arrow 7"/>
          <p:cNvSpPr/>
          <p:nvPr/>
        </p:nvSpPr>
        <p:spPr>
          <a:xfrm>
            <a:off x="7607808" y="1938527"/>
            <a:ext cx="329184"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955280" y="1554480"/>
            <a:ext cx="338328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3.  Decidir a raça</a:t>
            </a:r>
          </a:p>
          <a:p>
            <a:pPr>
              <a:defRPr sz="1100">
                <a:solidFill>
                  <a:srgbClr val="3D424E"/>
                </a:solidFill>
              </a:defRPr>
            </a:pPr>
            <a:r>
              <a:t>ConvNeXt-T decide entre as 7 raças do FairFace já com o tom como contexto.</a:t>
            </a:r>
          </a:p>
        </p:txBody>
      </p:sp>
      <p:sp>
        <p:nvSpPr>
          <p:cNvPr id="10" name="Rounded Rectangle 9"/>
          <p:cNvSpPr/>
          <p:nvPr/>
        </p:nvSpPr>
        <p:spPr>
          <a:xfrm>
            <a:off x="457200" y="2788920"/>
            <a:ext cx="11430000" cy="23774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1F2A4E"/>
                </a:solidFill>
              </a:defRPr>
            </a:pPr>
            <a:r>
              <a:t>Detalhamento científico</a:t>
            </a:r>
          </a:p>
          <a:p>
            <a:pPr>
              <a:spcAft>
                <a:spcPts val="200"/>
              </a:spcAft>
              <a:defRPr sz="1200">
                <a:solidFill>
                  <a:srgbClr val="3D424E"/>
                </a:solidFill>
              </a:defRPr>
            </a:pPr>
            <a:r>
              <a:t>•  Origem (Perez et al. 2018, AAAI): proposto originalmente para Visual Question Answering, generaliza Conditional Batch Normalization (de Vries et al. 2017, NeurIPS). Família mais ampla: conditional normalization.</a:t>
            </a:r>
          </a:p>
          <a:p>
            <a:pPr>
              <a:spcAft>
                <a:spcPts val="200"/>
              </a:spcAft>
              <a:defRPr sz="1200">
                <a:solidFill>
                  <a:srgbClr val="3D424E"/>
                </a:solidFill>
              </a:defRPr>
            </a:pPr>
            <a:r>
              <a:t>•  Mecanismo central: para cada canal de uma feature map, FiLM aplica um par (escala, deslocamento) aprendido a partir do contexto. É linear nas features e não linear no contexto.</a:t>
            </a:r>
          </a:p>
          <a:p>
            <a:pPr>
              <a:spcAft>
                <a:spcPts val="200"/>
              </a:spcAft>
              <a:defRPr sz="1200">
                <a:solidFill>
                  <a:srgbClr val="3D424E"/>
                </a:solidFill>
              </a:defRPr>
            </a:pPr>
            <a:r>
              <a:t>•  Onde inserir no nosso pipeline: após cada bloco residual do ConvNeXt-T (4 blocos hierárquicos). Apenas as MLPs de modulação são novas; o backbone segue treinável end-to-end.</a:t>
            </a:r>
          </a:p>
          <a:p>
            <a:pPr>
              <a:spcAft>
                <a:spcPts val="200"/>
              </a:spcAft>
              <a:defRPr sz="1200">
                <a:solidFill>
                  <a:srgbClr val="3D424E"/>
                </a:solidFill>
              </a:defRPr>
            </a:pPr>
            <a:r>
              <a:t>•  Por que FiLM e não alternativas: concatenar o vetor MST nas features perde escala posicional; cross-attention seria mais caro e menos estável para vetor de 10 dimensões; conditional BN é menos expressivo (afeta apenas batchnorm).</a:t>
            </a:r>
          </a:p>
          <a:p>
            <a:pPr>
              <a:spcAft>
                <a:spcPts val="200"/>
              </a:spcAft>
              <a:defRPr sz="1200">
                <a:solidFill>
                  <a:srgbClr val="3D424E"/>
                </a:solidFill>
              </a:defRPr>
            </a:pPr>
            <a:r>
              <a:t>•  Evidências de uso: ~1.000+ papers citantes em CV, NLP e RL desde 2018 (Google Scholar). Estabelecido como técnica padrão de conditioning em redes neurais profundas.</a:t>
            </a:r>
          </a:p>
        </p:txBody>
      </p:sp>
      <p:sp>
        <p:nvSpPr>
          <p:cNvPr id="11" name="Rounded Rectangle 10"/>
          <p:cNvSpPr/>
          <p:nvPr/>
        </p:nvSpPr>
        <p:spPr>
          <a:xfrm>
            <a:off x="457200" y="5257800"/>
            <a:ext cx="11430000" cy="128016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2E7D32"/>
                </a:solidFill>
              </a:defRPr>
            </a:pPr>
            <a:r>
              <a:t>Por que importa para a tese</a:t>
            </a:r>
          </a:p>
          <a:p>
            <a:pPr>
              <a:defRPr sz="1200">
                <a:solidFill>
                  <a:srgbClr val="3D424E"/>
                </a:solidFill>
              </a:defRPr>
            </a:pPr>
            <a:r>
              <a:t>FiLM transforma a ideia 'usar tom de pele como contexto' em mecanismo formal, reproduzível e auditável. O ganho marginal sobre baseline puro é a evidência direta de H1. Custo de parâmetros adicional é mínimo (apenas duas MLPs pequenas por bloco).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640080"/>
          </a:xfrm>
          <a:prstGeom prst="rect">
            <a:avLst/>
          </a:prstGeom>
          <a:noFill/>
        </p:spPr>
        <p:txBody>
          <a:bodyPr wrap="none">
            <a:spAutoFit/>
          </a:bodyPr>
          <a:lstStyle/>
          <a:p>
            <a:pPr>
              <a:defRPr sz="2600" b="1">
                <a:solidFill>
                  <a:srgbClr val="1F2A4E"/>
                </a:solidFill>
              </a:defRPr>
            </a:pPr>
            <a:r>
              <a:t>O que é fair transferência (LAFTR)?</a:t>
            </a:r>
          </a:p>
        </p:txBody>
      </p:sp>
      <p:sp>
        <p:nvSpPr>
          <p:cNvPr id="3" name="Rectangle 2"/>
          <p:cNvSpPr/>
          <p:nvPr/>
        </p:nvSpPr>
        <p:spPr>
          <a:xfrm>
            <a:off x="457200" y="914400"/>
            <a:ext cx="1143000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05840"/>
            <a:ext cx="11430000" cy="411480"/>
          </a:xfrm>
          <a:prstGeom prst="rect">
            <a:avLst/>
          </a:prstGeom>
          <a:noFill/>
        </p:spPr>
        <p:txBody>
          <a:bodyPr wrap="none">
            <a:spAutoFit/>
          </a:bodyPr>
          <a:lstStyle/>
          <a:p>
            <a:pPr>
              <a:defRPr sz="1400" i="1">
                <a:solidFill>
                  <a:srgbClr val="3D424E"/>
                </a:solidFill>
              </a:defRPr>
            </a:pPr>
            <a:r>
              <a:t>Framework de adversarial fair representation learning que demonstra fairness como propriedade transferível entre tarefas.</a:t>
            </a:r>
          </a:p>
        </p:txBody>
      </p:sp>
      <p:sp>
        <p:nvSpPr>
          <p:cNvPr id="5" name="Rounded Rectangle 4"/>
          <p:cNvSpPr/>
          <p:nvPr/>
        </p:nvSpPr>
        <p:spPr>
          <a:xfrm>
            <a:off x="457200" y="1554480"/>
            <a:ext cx="365760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Cap 2 — Race classification</a:t>
            </a:r>
          </a:p>
          <a:p>
            <a:pPr>
              <a:defRPr sz="1100">
                <a:solidFill>
                  <a:srgbClr val="3D424E"/>
                </a:solidFill>
              </a:defRPr>
            </a:pPr>
            <a:r>
              <a:t>Treino do backbone com objetivo fair sobre raça. A representação aprendida (Z) é, por construção, equilibrada entre grupos.</a:t>
            </a:r>
          </a:p>
        </p:txBody>
      </p:sp>
      <p:sp>
        <p:nvSpPr>
          <p:cNvPr id="6" name="Right Arrow 5"/>
          <p:cNvSpPr/>
          <p:nvPr/>
        </p:nvSpPr>
        <p:spPr>
          <a:xfrm>
            <a:off x="4206240" y="1938527"/>
            <a:ext cx="640080"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937760" y="1554480"/>
            <a:ext cx="2286000" cy="109728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82880"/>
          <a:lstStyle/>
          <a:p>
            <a:pPr algn="ctr">
              <a:defRPr sz="1300" b="1">
                <a:solidFill>
                  <a:srgbClr val="FFFFFF"/>
                </a:solidFill>
              </a:defRPr>
            </a:pPr>
            <a:r>
              <a:t>Representação Z fair</a:t>
            </a:r>
          </a:p>
          <a:p>
            <a:pPr algn="ctr">
              <a:defRPr sz="1100">
                <a:solidFill>
                  <a:srgbClr val="E8EAED"/>
                </a:solidFill>
              </a:defRPr>
            </a:pPr>
            <a:r>
              <a:t>A propriedade fair é embutida AQUI.</a:t>
            </a:r>
          </a:p>
        </p:txBody>
      </p:sp>
      <p:sp>
        <p:nvSpPr>
          <p:cNvPr id="8" name="Right Arrow 7"/>
          <p:cNvSpPr/>
          <p:nvPr/>
        </p:nvSpPr>
        <p:spPr>
          <a:xfrm>
            <a:off x="7315200" y="1938527"/>
            <a:ext cx="640080" cy="329184"/>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46720" y="1554480"/>
            <a:ext cx="3840480" cy="109728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300" b="1">
                <a:solidFill>
                  <a:srgbClr val="1F2A4E"/>
                </a:solidFill>
              </a:defRPr>
            </a:pPr>
            <a:r>
              <a:t>Cap 3 — Face recognition</a:t>
            </a:r>
          </a:p>
          <a:p>
            <a:pPr>
              <a:defRPr sz="1100">
                <a:solidFill>
                  <a:srgbClr val="3D424E"/>
                </a:solidFill>
              </a:defRPr>
            </a:pPr>
            <a:r>
              <a:t>Reuso do backbone como ponto de partida. A nova tarefa herda a propriedade fair sem re-treinar do zero.</a:t>
            </a:r>
          </a:p>
        </p:txBody>
      </p:sp>
      <p:sp>
        <p:nvSpPr>
          <p:cNvPr id="10" name="Rounded Rectangle 9"/>
          <p:cNvSpPr/>
          <p:nvPr/>
        </p:nvSpPr>
        <p:spPr>
          <a:xfrm>
            <a:off x="457200" y="2788920"/>
            <a:ext cx="11430000" cy="23774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1F2A4E"/>
                </a:solidFill>
              </a:defRPr>
            </a:pPr>
            <a:r>
              <a:t>Detalhamento científico</a:t>
            </a:r>
          </a:p>
          <a:p>
            <a:pPr>
              <a:spcAft>
                <a:spcPts val="200"/>
              </a:spcAft>
              <a:defRPr sz="1100">
                <a:solidFill>
                  <a:srgbClr val="3D424E"/>
                </a:solidFill>
              </a:defRPr>
            </a:pPr>
            <a:r>
              <a:t>•  Linhagem teórica: parte da família Fair Representation Learning iniciada por Zemel et al. 2013 (ICML, Test-of-Time Award 2023). LAFTR avança o paradigma com formulação adversarial.</a:t>
            </a:r>
          </a:p>
          <a:p>
            <a:pPr>
              <a:spcAft>
                <a:spcPts val="200"/>
              </a:spcAft>
              <a:defRPr sz="1100">
                <a:solidFill>
                  <a:srgbClr val="3D424E"/>
                </a:solidFill>
              </a:defRPr>
            </a:pPr>
            <a:r>
              <a:t>•  Arquitetura: 3 componentes treinados conjuntamente — encoder (gera a representação Z), classificador da tarefa principal, adversário que tenta recuperar o atributo sensível a partir de Z.</a:t>
            </a:r>
          </a:p>
          <a:p>
            <a:pPr>
              <a:spcAft>
                <a:spcPts val="200"/>
              </a:spcAft>
              <a:defRPr sz="1100">
                <a:solidFill>
                  <a:srgbClr val="3D424E"/>
                </a:solidFill>
              </a:defRPr>
            </a:pPr>
            <a:r>
              <a:t>•  Resultado teórico chave (Teorema 1): se o adversário falha em recuperar o atributo sensível, então qualquer classificador downstream treinado sobre Z herda um limite superior de violação de fairness.</a:t>
            </a:r>
          </a:p>
          <a:p>
            <a:pPr>
              <a:spcAft>
                <a:spcPts val="200"/>
              </a:spcAft>
              <a:defRPr sz="1100">
                <a:solidFill>
                  <a:srgbClr val="3D424E"/>
                </a:solidFill>
              </a:defRPr>
            </a:pPr>
            <a:r>
              <a:t>•  Métricas implementadas: demographic parity, equal opportunity, equalized odds (Hardt et al. 2016). Compatível com a triangulação de métricas que vamos usar no Cap 2.</a:t>
            </a:r>
          </a:p>
          <a:p>
            <a:pPr>
              <a:spcAft>
                <a:spcPts val="200"/>
              </a:spcAft>
              <a:defRPr sz="1100">
                <a:solidFill>
                  <a:srgbClr val="3D424E"/>
                </a:solidFill>
              </a:defRPr>
            </a:pPr>
            <a:r>
              <a:t>•  Validações empíricas: UCI Adult, Heritage Health, CelebA. Aguirre &amp; Dredze 2023 estendeu o princípio para multi-task NLP — evidência de generalização do mecanismo.</a:t>
            </a:r>
          </a:p>
          <a:p>
            <a:pPr>
              <a:spcAft>
                <a:spcPts val="200"/>
              </a:spcAft>
              <a:defRPr sz="1100">
                <a:solidFill>
                  <a:srgbClr val="3D424E"/>
                </a:solidFill>
              </a:defRPr>
            </a:pPr>
            <a:r>
              <a:t>•  Implementação: código aberto em github.com/VectorInstitute/laftr. Reduz custo de adaptação para o nosso pipeline.</a:t>
            </a:r>
          </a:p>
        </p:txBody>
      </p:sp>
      <p:sp>
        <p:nvSpPr>
          <p:cNvPr id="11" name="Rounded Rectangle 10"/>
          <p:cNvSpPr/>
          <p:nvPr/>
        </p:nvSpPr>
        <p:spPr>
          <a:xfrm>
            <a:off x="457200" y="5257800"/>
            <a:ext cx="11430000" cy="114300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09728"/>
          <a:lstStyle/>
          <a:p>
            <a:pPr algn="ctr">
              <a:defRPr sz="1300" b="1">
                <a:solidFill>
                  <a:srgbClr val="2E7D32"/>
                </a:solidFill>
              </a:defRPr>
            </a:pPr>
            <a:r>
              <a:t>Por que importa para a tese</a:t>
            </a:r>
          </a:p>
          <a:p>
            <a:pPr>
              <a:defRPr sz="1200">
                <a:solidFill>
                  <a:srgbClr val="3D424E"/>
                </a:solidFill>
              </a:defRPr>
            </a:pPr>
            <a:r>
              <a:t>O Teorema 1 do LAFTR é a garantia teórica que sustenta a EXTENSÃO da nossa tese para Cap 3 (face recognition). Sem ele, teríamos que defender a transferência empiricamente sem ancoragem formal. Com ele, a extensão deixa de ser especulativa.</a:t>
            </a:r>
          </a:p>
        </p:txBody>
      </p:sp>
      <p:sp>
        <p:nvSpPr>
          <p:cNvPr id="12" name="TextBox 11"/>
          <p:cNvSpPr txBox="1"/>
          <p:nvPr/>
        </p:nvSpPr>
        <p:spPr>
          <a:xfrm>
            <a:off x="457200" y="6446520"/>
            <a:ext cx="11430000" cy="365760"/>
          </a:xfrm>
          <a:prstGeom prst="rect">
            <a:avLst/>
          </a:prstGeom>
          <a:noFill/>
        </p:spPr>
        <p:txBody>
          <a:bodyPr wrap="none">
            <a:spAutoFit/>
          </a:bodyPr>
          <a:lstStyle/>
          <a:p>
            <a:pPr>
              <a:defRPr sz="1200" i="1">
                <a:solidFill>
                  <a:srgbClr val="707682"/>
                </a:solidFill>
              </a:defRPr>
            </a:pPr>
            <a:r>
              <a:t>H5 em revisão após Pangelinan 2023 (Rodada 6): pixel info pode ser confounder adicional em FR — discussão na pauta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Etapas 1, 4 e 5 reforçadas pela Rodada 6 (SkinToneNet, Adversarial debiasing, fair transfer empírico)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430000" cy="640080"/>
          </a:xfrm>
          <a:prstGeom prst="rect">
            <a:avLst/>
          </a:prstGeom>
          <a:noFill/>
        </p:spPr>
        <p:txBody>
          <a:bodyPr wrap="none">
            <a:spAutoFit/>
          </a:bodyPr>
          <a:lstStyle/>
          <a:p>
            <a:pPr>
              <a:defRPr sz="2800" b="1">
                <a:solidFill>
                  <a:srgbClr val="1F2A4E"/>
                </a:solidFill>
              </a:defRPr>
            </a:pPr>
            <a:r>
              <a:t>As métricas que vamos reportar</a:t>
            </a:r>
          </a:p>
        </p:txBody>
      </p:sp>
      <p:sp>
        <p:nvSpPr>
          <p:cNvPr id="3" name="Rectangle 2"/>
          <p:cNvSpPr/>
          <p:nvPr/>
        </p:nvSpPr>
        <p:spPr>
          <a:xfrm>
            <a:off x="457200" y="914400"/>
            <a:ext cx="1143000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05840"/>
            <a:ext cx="11430000" cy="365760"/>
          </a:xfrm>
          <a:prstGeom prst="rect">
            <a:avLst/>
          </a:prstGeom>
          <a:noFill/>
        </p:spPr>
        <p:txBody>
          <a:bodyPr wrap="none">
            <a:spAutoFit/>
          </a:bodyPr>
          <a:lstStyle/>
          <a:p>
            <a:pPr>
              <a:defRPr sz="1400" i="1">
                <a:solidFill>
                  <a:srgbClr val="3D424E"/>
                </a:solidFill>
              </a:defRPr>
            </a:pPr>
            <a:r>
              <a:t>Todas públicas, padrão da literatura — reportar as 3 simultaneamente é exigência metodológica, não escolha.</a:t>
            </a:r>
          </a:p>
        </p:txBody>
      </p:sp>
      <p:sp>
        <p:nvSpPr>
          <p:cNvPr id="5" name="Rounded Rectangle 4"/>
          <p:cNvSpPr/>
          <p:nvPr/>
        </p:nvSpPr>
        <p:spPr>
          <a:xfrm>
            <a:off x="379476" y="1463040"/>
            <a:ext cx="3657600" cy="41148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79476" y="1463040"/>
            <a:ext cx="3657600" cy="82296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a:lstStyle/>
          <a:p>
            <a:pPr algn="ctr">
              <a:defRPr sz="2000" b="1">
                <a:solidFill>
                  <a:srgbClr val="FFFFFF"/>
                </a:solidFill>
              </a:defRPr>
            </a:pPr>
            <a:r>
              <a:t>F1 macro</a:t>
            </a:r>
          </a:p>
          <a:p>
            <a:pPr algn="ctr">
              <a:defRPr sz="1200" i="1">
                <a:solidFill>
                  <a:srgbClr val="E8EAED"/>
                </a:solidFill>
              </a:defRPr>
            </a:pPr>
            <a:r>
              <a:t>performance média</a:t>
            </a:r>
          </a:p>
        </p:txBody>
      </p:sp>
      <p:sp>
        <p:nvSpPr>
          <p:cNvPr id="7" name="TextBox 6"/>
          <p:cNvSpPr txBox="1"/>
          <p:nvPr/>
        </p:nvSpPr>
        <p:spPr>
          <a:xfrm>
            <a:off x="516636" y="2377440"/>
            <a:ext cx="3383280" cy="1188720"/>
          </a:xfrm>
          <a:prstGeom prst="rect">
            <a:avLst/>
          </a:prstGeom>
          <a:noFill/>
        </p:spPr>
        <p:txBody>
          <a:bodyPr wrap="square">
            <a:spAutoFit/>
          </a:bodyPr>
          <a:lstStyle/>
          <a:p>
            <a:pPr>
              <a:defRPr sz="1300">
                <a:solidFill>
                  <a:srgbClr val="3D424E"/>
                </a:solidFill>
              </a:defRPr>
            </a:pPr>
            <a:r>
              <a:t>Média harmônica de precision/recall por classe, depois média simples entre as 7 raças.</a:t>
            </a:r>
          </a:p>
        </p:txBody>
      </p:sp>
      <p:sp>
        <p:nvSpPr>
          <p:cNvPr id="8" name="TextBox 7"/>
          <p:cNvSpPr txBox="1"/>
          <p:nvPr/>
        </p:nvSpPr>
        <p:spPr>
          <a:xfrm>
            <a:off x="516636" y="3611880"/>
            <a:ext cx="3383280" cy="365760"/>
          </a:xfrm>
          <a:prstGeom prst="rect">
            <a:avLst/>
          </a:prstGeom>
          <a:noFill/>
        </p:spPr>
        <p:txBody>
          <a:bodyPr wrap="square">
            <a:spAutoFit/>
          </a:bodyPr>
          <a:lstStyle/>
          <a:p>
            <a:pPr>
              <a:defRPr sz="1100" i="1">
                <a:solidFill>
                  <a:srgbClr val="707682"/>
                </a:solidFill>
              </a:defRPr>
            </a:pPr>
            <a:r>
              <a:t>Referência: van Rijsbergen 1979</a:t>
            </a:r>
          </a:p>
        </p:txBody>
      </p:sp>
      <p:sp>
        <p:nvSpPr>
          <p:cNvPr id="9" name="Rectangle 8"/>
          <p:cNvSpPr/>
          <p:nvPr/>
        </p:nvSpPr>
        <p:spPr>
          <a:xfrm>
            <a:off x="653796" y="4069080"/>
            <a:ext cx="3108960" cy="27432"/>
          </a:xfrm>
          <a:prstGeom prst="rect">
            <a:avLst/>
          </a:prstGeom>
          <a:solidFill>
            <a:srgbClr val="707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6636" y="4160520"/>
            <a:ext cx="3383280" cy="320040"/>
          </a:xfrm>
          <a:prstGeom prst="rect">
            <a:avLst/>
          </a:prstGeom>
          <a:noFill/>
        </p:spPr>
        <p:txBody>
          <a:bodyPr wrap="none">
            <a:spAutoFit/>
          </a:bodyPr>
          <a:lstStyle/>
          <a:p>
            <a:pPr algn="ctr">
              <a:defRPr sz="1100" i="1">
                <a:solidFill>
                  <a:srgbClr val="707682"/>
                </a:solidFill>
              </a:defRPr>
            </a:pPr>
            <a:r>
              <a:t>SOTA atual</a:t>
            </a:r>
          </a:p>
        </p:txBody>
      </p:sp>
      <p:sp>
        <p:nvSpPr>
          <p:cNvPr id="11" name="TextBox 10"/>
          <p:cNvSpPr txBox="1"/>
          <p:nvPr/>
        </p:nvSpPr>
        <p:spPr>
          <a:xfrm>
            <a:off x="516636" y="4434840"/>
            <a:ext cx="3383280" cy="640080"/>
          </a:xfrm>
          <a:prstGeom prst="rect">
            <a:avLst/>
          </a:prstGeom>
          <a:noFill/>
        </p:spPr>
        <p:txBody>
          <a:bodyPr wrap="none">
            <a:spAutoFit/>
          </a:bodyPr>
          <a:lstStyle/>
          <a:p>
            <a:pPr algn="ctr">
              <a:defRPr sz="3400" b="1">
                <a:solidFill>
                  <a:srgbClr val="1F2A4E"/>
                </a:solidFill>
              </a:defRPr>
            </a:pPr>
            <a:r>
              <a:t>75%</a:t>
            </a:r>
          </a:p>
        </p:txBody>
      </p:sp>
      <p:sp>
        <p:nvSpPr>
          <p:cNvPr id="12" name="TextBox 11"/>
          <p:cNvSpPr txBox="1"/>
          <p:nvPr/>
        </p:nvSpPr>
        <p:spPr>
          <a:xfrm>
            <a:off x="516636" y="5074920"/>
            <a:ext cx="3383280" cy="320040"/>
          </a:xfrm>
          <a:prstGeom prst="rect">
            <a:avLst/>
          </a:prstGeom>
          <a:noFill/>
        </p:spPr>
        <p:txBody>
          <a:bodyPr wrap="none">
            <a:spAutoFit/>
          </a:bodyPr>
          <a:lstStyle/>
          <a:p>
            <a:pPr algn="ctr">
              <a:defRPr sz="1100">
                <a:solidFill>
                  <a:srgbClr val="3D424E"/>
                </a:solidFill>
              </a:defRPr>
            </a:pPr>
            <a:r>
              <a:t>FaceScanPaliGemma</a:t>
            </a:r>
          </a:p>
        </p:txBody>
      </p:sp>
      <p:sp>
        <p:nvSpPr>
          <p:cNvPr id="13" name="Rounded Rectangle 12"/>
          <p:cNvSpPr/>
          <p:nvPr/>
        </p:nvSpPr>
        <p:spPr>
          <a:xfrm>
            <a:off x="4265676" y="1463040"/>
            <a:ext cx="3657600" cy="41148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65676" y="1463040"/>
            <a:ext cx="3657600" cy="8229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a:lstStyle/>
          <a:p>
            <a:pPr algn="ctr">
              <a:defRPr sz="2000" b="1">
                <a:solidFill>
                  <a:srgbClr val="FFFFFF"/>
                </a:solidFill>
              </a:defRPr>
            </a:pPr>
            <a:r>
              <a:t>DR</a:t>
            </a:r>
          </a:p>
          <a:p>
            <a:pPr algn="ctr">
              <a:defRPr sz="1200" i="1">
                <a:solidFill>
                  <a:srgbClr val="E8EAED"/>
                </a:solidFill>
              </a:defRPr>
            </a:pPr>
            <a:r>
              <a:t>Disparity Ratio</a:t>
            </a:r>
          </a:p>
        </p:txBody>
      </p:sp>
      <p:sp>
        <p:nvSpPr>
          <p:cNvPr id="15" name="TextBox 14"/>
          <p:cNvSpPr txBox="1"/>
          <p:nvPr/>
        </p:nvSpPr>
        <p:spPr>
          <a:xfrm>
            <a:off x="4402836" y="2377440"/>
            <a:ext cx="3383280" cy="1188720"/>
          </a:xfrm>
          <a:prstGeom prst="rect">
            <a:avLst/>
          </a:prstGeom>
          <a:noFill/>
        </p:spPr>
        <p:txBody>
          <a:bodyPr wrap="square">
            <a:spAutoFit/>
          </a:bodyPr>
          <a:lstStyle/>
          <a:p>
            <a:pPr>
              <a:defRPr sz="1300">
                <a:solidFill>
                  <a:srgbClr val="3D424E"/>
                </a:solidFill>
              </a:defRPr>
            </a:pPr>
            <a:r>
              <a:t>Razão entre o F1 da pior raça e o F1 da melhor. Mede o gap entre subgrupos.</a:t>
            </a:r>
          </a:p>
        </p:txBody>
      </p:sp>
      <p:sp>
        <p:nvSpPr>
          <p:cNvPr id="16" name="TextBox 15"/>
          <p:cNvSpPr txBox="1"/>
          <p:nvPr/>
        </p:nvSpPr>
        <p:spPr>
          <a:xfrm>
            <a:off x="4402836" y="3611880"/>
            <a:ext cx="3383280" cy="365760"/>
          </a:xfrm>
          <a:prstGeom prst="rect">
            <a:avLst/>
          </a:prstGeom>
          <a:noFill/>
        </p:spPr>
        <p:txBody>
          <a:bodyPr wrap="square">
            <a:spAutoFit/>
          </a:bodyPr>
          <a:lstStyle/>
          <a:p>
            <a:pPr>
              <a:defRPr sz="1100" i="1">
                <a:solidFill>
                  <a:srgbClr val="707682"/>
                </a:solidFill>
              </a:defRPr>
            </a:pPr>
            <a:r>
              <a:t>Referência: Hardt, Price &amp; Srebro 2016 (NeurIPS)</a:t>
            </a:r>
          </a:p>
        </p:txBody>
      </p:sp>
      <p:sp>
        <p:nvSpPr>
          <p:cNvPr id="17" name="Rectangle 16"/>
          <p:cNvSpPr/>
          <p:nvPr/>
        </p:nvSpPr>
        <p:spPr>
          <a:xfrm>
            <a:off x="4539996" y="4069080"/>
            <a:ext cx="3108960" cy="27432"/>
          </a:xfrm>
          <a:prstGeom prst="rect">
            <a:avLst/>
          </a:prstGeom>
          <a:solidFill>
            <a:srgbClr val="707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2836" y="4160520"/>
            <a:ext cx="3383280" cy="320040"/>
          </a:xfrm>
          <a:prstGeom prst="rect">
            <a:avLst/>
          </a:prstGeom>
          <a:noFill/>
        </p:spPr>
        <p:txBody>
          <a:bodyPr wrap="none">
            <a:spAutoFit/>
          </a:bodyPr>
          <a:lstStyle/>
          <a:p>
            <a:pPr algn="ctr">
              <a:defRPr sz="1100" i="1">
                <a:solidFill>
                  <a:srgbClr val="707682"/>
                </a:solidFill>
              </a:defRPr>
            </a:pPr>
            <a:r>
              <a:t>Estado atual</a:t>
            </a:r>
          </a:p>
        </p:txBody>
      </p:sp>
      <p:sp>
        <p:nvSpPr>
          <p:cNvPr id="19" name="TextBox 18"/>
          <p:cNvSpPr txBox="1"/>
          <p:nvPr/>
        </p:nvSpPr>
        <p:spPr>
          <a:xfrm>
            <a:off x="4402836" y="4434840"/>
            <a:ext cx="3383280" cy="640080"/>
          </a:xfrm>
          <a:prstGeom prst="rect">
            <a:avLst/>
          </a:prstGeom>
          <a:noFill/>
        </p:spPr>
        <p:txBody>
          <a:bodyPr wrap="none">
            <a:spAutoFit/>
          </a:bodyPr>
          <a:lstStyle/>
          <a:p>
            <a:pPr algn="ctr">
              <a:defRPr sz="3400" b="1">
                <a:solidFill>
                  <a:srgbClr val="C0392B"/>
                </a:solidFill>
              </a:defRPr>
            </a:pPr>
            <a:r>
              <a:t>0.67</a:t>
            </a:r>
          </a:p>
        </p:txBody>
      </p:sp>
      <p:sp>
        <p:nvSpPr>
          <p:cNvPr id="20" name="TextBox 19"/>
          <p:cNvSpPr txBox="1"/>
          <p:nvPr/>
        </p:nvSpPr>
        <p:spPr>
          <a:xfrm>
            <a:off x="4402836" y="5074920"/>
            <a:ext cx="3383280" cy="320040"/>
          </a:xfrm>
          <a:prstGeom prst="rect">
            <a:avLst/>
          </a:prstGeom>
          <a:noFill/>
        </p:spPr>
        <p:txBody>
          <a:bodyPr wrap="none">
            <a:spAutoFit/>
          </a:bodyPr>
          <a:lstStyle/>
          <a:p>
            <a:pPr algn="ctr">
              <a:defRPr sz="1100">
                <a:solidFill>
                  <a:srgbClr val="3D424E"/>
                </a:solidFill>
              </a:defRPr>
            </a:pPr>
            <a:r>
              <a:t>60% Latinx ÷ 90% Black</a:t>
            </a:r>
          </a:p>
        </p:txBody>
      </p:sp>
      <p:sp>
        <p:nvSpPr>
          <p:cNvPr id="21" name="Rounded Rectangle 20"/>
          <p:cNvSpPr/>
          <p:nvPr/>
        </p:nvSpPr>
        <p:spPr>
          <a:xfrm>
            <a:off x="8151875" y="1463040"/>
            <a:ext cx="3657600" cy="41148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51875" y="1463040"/>
            <a:ext cx="3657600" cy="8229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1440"/>
          <a:lstStyle/>
          <a:p>
            <a:pPr algn="ctr">
              <a:defRPr sz="2000" b="1">
                <a:solidFill>
                  <a:srgbClr val="FFFFFF"/>
                </a:solidFill>
              </a:defRPr>
            </a:pPr>
            <a:r>
              <a:t>Worst-class F1</a:t>
            </a:r>
          </a:p>
          <a:p>
            <a:pPr algn="ctr">
              <a:defRPr sz="1200" i="1">
                <a:solidFill>
                  <a:srgbClr val="E8EAED"/>
                </a:solidFill>
              </a:defRPr>
            </a:pPr>
            <a:r>
              <a:t>pior subgrupo</a:t>
            </a:r>
          </a:p>
        </p:txBody>
      </p:sp>
      <p:sp>
        <p:nvSpPr>
          <p:cNvPr id="23" name="TextBox 22"/>
          <p:cNvSpPr txBox="1"/>
          <p:nvPr/>
        </p:nvSpPr>
        <p:spPr>
          <a:xfrm>
            <a:off x="8289036" y="2377440"/>
            <a:ext cx="3383280" cy="1188720"/>
          </a:xfrm>
          <a:prstGeom prst="rect">
            <a:avLst/>
          </a:prstGeom>
          <a:noFill/>
        </p:spPr>
        <p:txBody>
          <a:bodyPr wrap="square">
            <a:spAutoFit/>
          </a:bodyPr>
          <a:lstStyle/>
          <a:p>
            <a:pPr>
              <a:defRPr sz="1300">
                <a:solidFill>
                  <a:srgbClr val="3D424E"/>
                </a:solidFill>
              </a:defRPr>
            </a:pPr>
            <a:r>
              <a:t>F1 da raça em que o modelo erra mais. Garante que ninguém fique para trás.</a:t>
            </a:r>
          </a:p>
        </p:txBody>
      </p:sp>
      <p:sp>
        <p:nvSpPr>
          <p:cNvPr id="24" name="TextBox 23"/>
          <p:cNvSpPr txBox="1"/>
          <p:nvPr/>
        </p:nvSpPr>
        <p:spPr>
          <a:xfrm>
            <a:off x="8289036" y="3611880"/>
            <a:ext cx="3383280" cy="365760"/>
          </a:xfrm>
          <a:prstGeom prst="rect">
            <a:avLst/>
          </a:prstGeom>
          <a:noFill/>
        </p:spPr>
        <p:txBody>
          <a:bodyPr wrap="square">
            <a:spAutoFit/>
          </a:bodyPr>
          <a:lstStyle/>
          <a:p>
            <a:pPr>
              <a:defRPr sz="1100" i="1">
                <a:solidFill>
                  <a:srgbClr val="707682"/>
                </a:solidFill>
              </a:defRPr>
            </a:pPr>
            <a:r>
              <a:t>Referência: Sagawa et al. 2020 (ICLR) — Group DRO</a:t>
            </a:r>
          </a:p>
        </p:txBody>
      </p:sp>
      <p:sp>
        <p:nvSpPr>
          <p:cNvPr id="25" name="Rectangle 24"/>
          <p:cNvSpPr/>
          <p:nvPr/>
        </p:nvSpPr>
        <p:spPr>
          <a:xfrm>
            <a:off x="8426196" y="4069080"/>
            <a:ext cx="3108960" cy="27432"/>
          </a:xfrm>
          <a:prstGeom prst="rect">
            <a:avLst/>
          </a:prstGeom>
          <a:solidFill>
            <a:srgbClr val="7076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9036" y="4160520"/>
            <a:ext cx="3383280" cy="320040"/>
          </a:xfrm>
          <a:prstGeom prst="rect">
            <a:avLst/>
          </a:prstGeom>
          <a:noFill/>
        </p:spPr>
        <p:txBody>
          <a:bodyPr wrap="none">
            <a:spAutoFit/>
          </a:bodyPr>
          <a:lstStyle/>
          <a:p>
            <a:pPr algn="ctr">
              <a:defRPr sz="1100" i="1">
                <a:solidFill>
                  <a:srgbClr val="707682"/>
                </a:solidFill>
              </a:defRPr>
            </a:pPr>
            <a:r>
              <a:t>Estado atual</a:t>
            </a:r>
          </a:p>
        </p:txBody>
      </p:sp>
      <p:sp>
        <p:nvSpPr>
          <p:cNvPr id="27" name="TextBox 26"/>
          <p:cNvSpPr txBox="1"/>
          <p:nvPr/>
        </p:nvSpPr>
        <p:spPr>
          <a:xfrm>
            <a:off x="8289036" y="4434840"/>
            <a:ext cx="3383280" cy="640080"/>
          </a:xfrm>
          <a:prstGeom prst="rect">
            <a:avLst/>
          </a:prstGeom>
          <a:noFill/>
        </p:spPr>
        <p:txBody>
          <a:bodyPr wrap="none">
            <a:spAutoFit/>
          </a:bodyPr>
          <a:lstStyle/>
          <a:p>
            <a:pPr algn="ctr">
              <a:defRPr sz="3400" b="1">
                <a:solidFill>
                  <a:srgbClr val="2E7D32"/>
                </a:solidFill>
              </a:defRPr>
            </a:pPr>
            <a:r>
              <a:t>60%</a:t>
            </a:r>
          </a:p>
        </p:txBody>
      </p:sp>
      <p:sp>
        <p:nvSpPr>
          <p:cNvPr id="28" name="TextBox 27"/>
          <p:cNvSpPr txBox="1"/>
          <p:nvPr/>
        </p:nvSpPr>
        <p:spPr>
          <a:xfrm>
            <a:off x="8289036" y="5074920"/>
            <a:ext cx="3383280" cy="320040"/>
          </a:xfrm>
          <a:prstGeom prst="rect">
            <a:avLst/>
          </a:prstGeom>
          <a:noFill/>
        </p:spPr>
        <p:txBody>
          <a:bodyPr wrap="none">
            <a:spAutoFit/>
          </a:bodyPr>
          <a:lstStyle/>
          <a:p>
            <a:pPr algn="ctr">
              <a:defRPr sz="1100">
                <a:solidFill>
                  <a:srgbClr val="3D424E"/>
                </a:solidFill>
              </a:defRPr>
            </a:pPr>
            <a:r>
              <a:t>Latinx</a:t>
            </a:r>
          </a:p>
        </p:txBody>
      </p:sp>
      <p:sp>
        <p:nvSpPr>
          <p:cNvPr id="29" name="Rounded Rectangle 28"/>
          <p:cNvSpPr/>
          <p:nvPr/>
        </p:nvSpPr>
        <p:spPr>
          <a:xfrm>
            <a:off x="457200" y="5760720"/>
            <a:ext cx="11430000" cy="86868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defRPr sz="1300" b="1">
                <a:solidFill>
                  <a:srgbClr val="FFFFFF"/>
                </a:solidFill>
              </a:defRPr>
            </a:pPr>
            <a:r>
              <a:t>Por que 3 métricas e não uma?</a:t>
            </a:r>
          </a:p>
          <a:p>
            <a:pPr>
              <a:defRPr sz="1200">
                <a:solidFill>
                  <a:srgbClr val="E8EAED"/>
                </a:solidFill>
              </a:defRPr>
            </a:pPr>
            <a:r>
              <a:t>Teorema da impossibilidade (Kleinberg, Mullainathan &amp; Raghavan 2017, ITCS): não existe métrica única de fairness que satisfaça simultaneamente calibração, equal FPR e equal FNR — reportar as 3 simultaneamente é a forma honesta de comunicar trade-offs.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H5 em revisão após Pangelinan 2023 (Rodada 6): pixel info pode ser confounder — discussão na pauta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493776">
                <a:tc>
                  <a:txBody>
                    <a:bodyPr/>
                    <a:lstStyle/>
                    <a:p>
                      <a:r>
                        <a:rPr b="1" sz="1600">
                          <a:solidFill>
                            <a:srgbClr val="FFFFFF"/>
                          </a:solidFill>
                        </a:rPr>
                        <a:t>Fase</a:t>
                      </a:r>
                    </a:p>
                  </a:txBody>
                  <a:tcPr>
                    <a:solidFill>
                      <a:srgbClr val="1F2A4E"/>
                    </a:solidFill>
                  </a:tcPr>
                </a:tc>
                <a:tc>
                  <a:txBody>
                    <a:bodyPr/>
                    <a:lstStyle/>
                    <a:p>
                      <a:r>
                        <a:rPr b="1" sz="1600">
                          <a:solidFill>
                            <a:srgbClr val="FFFFFF"/>
                          </a:solidFill>
                        </a:rPr>
                        <a:t>Target</a:t>
                      </a:r>
                    </a:p>
                  </a:txBody>
                  <a:tcPr>
                    <a:solidFill>
                      <a:srgbClr val="1F2A4E"/>
                    </a:solidFill>
                  </a:tcPr>
                </a:tc>
                <a:tc>
                  <a:txBody>
                    <a:bodyPr/>
                    <a:lstStyle/>
                    <a:p>
                      <a:r>
                        <a:rPr b="1" sz="1600">
                          <a:solidFill>
                            <a:srgbClr val="FFFFFF"/>
                          </a:solidFill>
                        </a:rPr>
                        <a:t>O que será entregue</a:t>
                      </a:r>
                    </a:p>
                  </a:txBody>
                  <a:tcPr>
                    <a:solidFill>
                      <a:srgbClr val="1F2A4E"/>
                    </a:solidFill>
                  </a:tcPr>
                </a:tc>
              </a:tr>
              <a:tr h="493776">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Junho 2026</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493776">
                <a:tc>
                  <a:txBody>
                    <a:bodyPr/>
                    <a:lstStyle/>
                    <a:p>
                      <a:r>
                        <a:rPr sz="1500">
                          <a:solidFill>
                            <a:srgbClr val="3D424E"/>
                          </a:solidFill>
                        </a:rPr>
                        <a:t>Submissão para qualificação</a:t>
                      </a:r>
                    </a:p>
                  </a:txBody>
                  <a:tcPr>
                    <a:solidFill>
                      <a:srgbClr val="E8EAED"/>
                    </a:solidFill>
                  </a:tcPr>
                </a:tc>
                <a:tc>
                  <a:txBody>
                    <a:bodyPr/>
                    <a:lstStyle/>
                    <a:p>
                      <a:r>
                        <a:rPr sz="1500">
                          <a:solidFill>
                            <a:srgbClr val="3D424E"/>
                          </a:solidFill>
                        </a:rPr>
                        <a:t>Julho 2026</a:t>
                      </a:r>
                    </a:p>
                  </a:txBody>
                  <a:tcPr>
                    <a:solidFill>
                      <a:srgbClr val="E8EAED"/>
                    </a:solidFill>
                  </a:tcPr>
                </a:tc>
                <a:tc>
                  <a:txBody>
                    <a:bodyPr/>
                    <a:lstStyle/>
                    <a:p>
                      <a:r>
                        <a:rPr sz="1500">
                          <a:solidFill>
                            <a:srgbClr val="3D424E"/>
                          </a:solidFill>
                        </a:rPr>
                        <a:t>Documento de qualificação ao programa</a:t>
                      </a:r>
                    </a:p>
                  </a:txBody>
                  <a:tcPr>
                    <a:solidFill>
                      <a:srgbClr val="E8EAED"/>
                    </a:solidFill>
                  </a:tcPr>
                </a:tc>
              </a:tr>
              <a:tr h="493776">
                <a:tc>
                  <a:txBody>
                    <a:bodyPr/>
                    <a:lstStyle/>
                    <a:p>
                      <a:r>
                        <a:rPr sz="1500">
                          <a:solidFill>
                            <a:srgbClr val="3D424E"/>
                          </a:solidFill>
                        </a:rPr>
                        <a:t>Setup metodológico</a:t>
                      </a:r>
                    </a:p>
                  </a:txBody>
                  <a:tcPr>
                    <a:solidFill>
                      <a:srgbClr val="FFFFFF"/>
                    </a:solidFill>
                  </a:tcPr>
                </a:tc>
                <a:tc>
                  <a:txBody>
                    <a:bodyPr/>
                    <a:lstStyle/>
                    <a:p>
                      <a:r>
                        <a:rPr sz="1500">
                          <a:solidFill>
                            <a:srgbClr val="3D424E"/>
                          </a:solidFill>
                        </a:rPr>
                        <a:t>Agosto 2026</a:t>
                      </a:r>
                    </a:p>
                  </a:txBody>
                  <a:tcPr>
                    <a:solidFill>
                      <a:srgbClr val="FFFFFF"/>
                    </a:solidFill>
                  </a:tcPr>
                </a:tc>
                <a:tc>
                  <a:txBody>
                    <a:bodyPr/>
                    <a:lstStyle/>
                    <a:p>
                      <a:r>
                        <a:rPr sz="1500">
                          <a:solidFill>
                            <a:srgbClr val="3D424E"/>
                          </a:solidFill>
                        </a:rPr>
                        <a:t>Documentos com especificações detalhadas</a:t>
                      </a:r>
                    </a:p>
                  </a:txBody>
                  <a:tcPr>
                    <a:solidFill>
                      <a:srgbClr val="FFFFFF"/>
                    </a:solidFill>
                  </a:tcPr>
                </a:tc>
              </a:tr>
              <a:tr h="493776">
                <a:tc>
                  <a:txBody>
                    <a:bodyPr/>
                    <a:lstStyle/>
                    <a:p>
                      <a:r>
                        <a:rPr sz="1500">
                          <a:solidFill>
                            <a:srgbClr val="3D424E"/>
                          </a:solidFill>
                        </a:rPr>
                        <a:t>Capítulo 1 — Classificador MST + matriz</a:t>
                      </a:r>
                    </a:p>
                  </a:txBody>
                  <a:tcPr>
                    <a:solidFill>
                      <a:srgbClr val="E8EAED"/>
                    </a:solidFill>
                  </a:tcPr>
                </a:tc>
                <a:tc>
                  <a:txBody>
                    <a:bodyPr/>
                    <a:lstStyle/>
                    <a:p>
                      <a:r>
                        <a:rPr sz="1500">
                          <a:solidFill>
                            <a:srgbClr val="3D424E"/>
                          </a:solidFill>
                        </a:rPr>
                        <a:t>Setembro 2026</a:t>
                      </a:r>
                    </a:p>
                  </a:txBody>
                  <a:tcPr>
                    <a:solidFill>
                      <a:srgbClr val="E8EAED"/>
                    </a:solidFill>
                  </a:tcPr>
                </a:tc>
                <a:tc>
                  <a:txBody>
                    <a:bodyPr/>
                    <a:lstStyle/>
                    <a:p>
                      <a:r>
                        <a:rPr sz="1500">
                          <a:solidFill>
                            <a:srgbClr val="3D424E"/>
                          </a:solidFill>
                        </a:rPr>
                        <a:t>Resultado de H3</a:t>
                      </a:r>
                    </a:p>
                  </a:txBody>
                  <a:tcPr>
                    <a:solidFill>
                      <a:srgbClr val="E8EAED"/>
                    </a:solidFill>
                  </a:tcPr>
                </a:tc>
              </a:tr>
              <a:tr h="493776">
                <a:tc>
                  <a:txBody>
                    <a:bodyPr/>
                    <a:lstStyle/>
                    <a:p>
                      <a:r>
                        <a:rPr sz="1500">
                          <a:solidFill>
                            <a:srgbClr val="3D424E"/>
                          </a:solidFill>
                        </a:rPr>
                        <a:t>Capítulo 2 — Race + condicionamento</a:t>
                      </a:r>
                    </a:p>
                  </a:txBody>
                  <a:tcPr>
                    <a:solidFill>
                      <a:srgbClr val="FFFFFF"/>
                    </a:solidFill>
                  </a:tcPr>
                </a:tc>
                <a:tc>
                  <a:txBody>
                    <a:bodyPr/>
                    <a:lstStyle/>
                    <a:p>
                      <a:r>
                        <a:rPr sz="1500">
                          <a:solidFill>
                            <a:srgbClr val="3D424E"/>
                          </a:solidFill>
                        </a:rPr>
                        <a:t>Dezembro 2026</a:t>
                      </a:r>
                    </a:p>
                  </a:txBody>
                  <a:tcPr>
                    <a:solidFill>
                      <a:srgbClr val="FFFFFF"/>
                    </a:solidFill>
                  </a:tcPr>
                </a:tc>
                <a:tc>
                  <a:txBody>
                    <a:bodyPr/>
                    <a:lstStyle/>
                    <a:p>
                      <a:r>
                        <a:rPr sz="1500">
                          <a:solidFill>
                            <a:srgbClr val="3D424E"/>
                          </a:solidFill>
                        </a:rPr>
                        <a:t>Resultados de H1, H2, H4</a:t>
                      </a:r>
                    </a:p>
                  </a:txBody>
                  <a:tcPr>
                    <a:solidFill>
                      <a:srgbClr val="FFFFFF"/>
                    </a:solidFill>
                  </a:tcPr>
                </a:tc>
              </a:tr>
              <a:tr h="493776">
                <a:tc>
                  <a:txBody>
                    <a:bodyPr/>
                    <a:lstStyle/>
                    <a:p>
                      <a:r>
                        <a:rPr sz="1500">
                          <a:solidFill>
                            <a:srgbClr val="3D424E"/>
                          </a:solidFill>
                        </a:rPr>
                        <a:t>Capítulo 3 — Face recognition</a:t>
                      </a:r>
                    </a:p>
                  </a:txBody>
                  <a:tcPr>
                    <a:solidFill>
                      <a:srgbClr val="E8EAED"/>
                    </a:solidFill>
                  </a:tcPr>
                </a:tc>
                <a:tc>
                  <a:txBody>
                    <a:bodyPr/>
                    <a:lstStyle/>
                    <a:p>
                      <a:r>
                        <a:rPr sz="1500">
                          <a:solidFill>
                            <a:srgbClr val="3D424E"/>
                          </a:solidFill>
                        </a:rPr>
                        <a:t>Fevereiro 2027</a:t>
                      </a:r>
                    </a:p>
                  </a:txBody>
                  <a:tcPr>
                    <a:solidFill>
                      <a:srgbClr val="E8EAED"/>
                    </a:solidFill>
                  </a:tcPr>
                </a:tc>
                <a:tc>
                  <a:txBody>
                    <a:bodyPr/>
                    <a:lstStyle/>
                    <a:p>
                      <a:r>
                        <a:rPr sz="1500">
                          <a:solidFill>
                            <a:srgbClr val="3D424E"/>
                          </a:solidFill>
                        </a:rPr>
                        <a:t>Resultado de H5</a:t>
                      </a:r>
                    </a:p>
                  </a:txBody>
                  <a:tcPr>
                    <a:solidFill>
                      <a:srgbClr val="E8EAED"/>
                    </a:solidFill>
                  </a:tcPr>
                </a:tc>
              </a:tr>
              <a:tr h="493776">
                <a:tc>
                  <a:txBody>
                    <a:bodyPr/>
                    <a:lstStyle/>
                    <a:p>
                      <a:r>
                        <a:rPr sz="1500">
                          <a:solidFill>
                            <a:srgbClr val="3D424E"/>
                          </a:solidFill>
                        </a:rPr>
                        <a:t>Síntese final</a:t>
                      </a:r>
                    </a:p>
                  </a:txBody>
                  <a:tcPr>
                    <a:solidFill>
                      <a:srgbClr val="FFFFFF"/>
                    </a:solidFill>
                  </a:tcPr>
                </a:tc>
                <a:tc>
                  <a:txBody>
                    <a:bodyPr/>
                    <a:lstStyle/>
                    <a:p>
                      <a:r>
                        <a:rPr sz="1500">
                          <a:solidFill>
                            <a:srgbClr val="3D424E"/>
                          </a:solidFill>
                        </a:rPr>
                        <a:t>Março 2027</a:t>
                      </a:r>
                    </a:p>
                  </a:txBody>
                  <a:tcPr>
                    <a:solidFill>
                      <a:srgbClr val="FFFFFF"/>
                    </a:solidFill>
                  </a:tcPr>
                </a:tc>
                <a:tc>
                  <a:txBody>
                    <a:bodyPr/>
                    <a:lstStyle/>
                    <a:p>
                      <a:r>
                        <a:rPr sz="1500">
                          <a:solidFill>
                            <a:srgbClr val="3D424E"/>
                          </a:solidFill>
                        </a:rPr>
                        <a:t>Decomposição do erro Latinx</a:t>
                      </a:r>
                    </a:p>
                  </a:txBody>
                  <a:tcPr>
                    <a:solidFill>
                      <a:srgbClr val="FFFFFF"/>
                    </a:solidFill>
                  </a:tcPr>
                </a:tc>
              </a:tr>
              <a:tr h="493776">
                <a:tc>
                  <a:txBody>
                    <a:bodyPr/>
                    <a:lstStyle/>
                    <a:p>
                      <a:r>
                        <a:rPr sz="1500">
                          <a:solidFill>
                            <a:srgbClr val="3D424E"/>
                          </a:solidFill>
                        </a:rPr>
                        <a:t>Escrita dos capítulos</a:t>
                      </a:r>
                    </a:p>
                  </a:txBody>
                  <a:tcPr>
                    <a:solidFill>
                      <a:srgbClr val="E8EAED"/>
                    </a:solidFill>
                  </a:tcPr>
                </a:tc>
                <a:tc>
                  <a:txBody>
                    <a:bodyPr/>
                    <a:lstStyle/>
                    <a:p>
                      <a:r>
                        <a:rPr sz="1500">
                          <a:solidFill>
                            <a:srgbClr val="3D424E"/>
                          </a:solidFill>
                        </a:rPr>
                        <a:t>Em paralelo (Set 2026 → Mar 2027)</a:t>
                      </a:r>
                    </a:p>
                  </a:txBody>
                  <a:tcPr>
                    <a:solidFill>
                      <a:srgbClr val="E8EAED"/>
                    </a:solidFill>
                  </a:tcPr>
                </a:tc>
                <a:tc>
                  <a:txBody>
                    <a:bodyPr/>
                    <a:lstStyle/>
                    <a:p>
                      <a:r>
                        <a:rPr sz="1500">
                          <a:solidFill>
                            <a:srgbClr val="3D424E"/>
                          </a:solidFill>
                        </a:rPr>
                        <a:t>Texto final da dissertação</a:t>
                      </a:r>
                    </a:p>
                  </a:txBody>
                  <a:tcPr>
                    <a:solidFill>
                      <a:srgbClr val="E8EAED"/>
                    </a:solidFill>
                  </a:tcPr>
                </a:tc>
              </a:tr>
              <a:tr h="493776">
                <a:tc>
                  <a:txBody>
                    <a:bodyPr/>
                    <a:lstStyle/>
                    <a:p>
                      <a:r>
                        <a:rPr sz="1500">
                          <a:solidFill>
                            <a:srgbClr val="3D424E"/>
                          </a:solidFill>
                        </a:rPr>
                        <a:t>Defesa prevista</a:t>
                      </a:r>
                    </a:p>
                  </a:txBody>
                  <a:tcPr>
                    <a:solidFill>
                      <a:srgbClr val="FFFFFF"/>
                    </a:solidFill>
                  </a:tcPr>
                </a:tc>
                <a:tc>
                  <a:txBody>
                    <a:bodyPr/>
                    <a:lstStyle/>
                    <a:p>
                      <a:r>
                        <a:rPr sz="1500">
                          <a:solidFill>
                            <a:srgbClr val="3D424E"/>
                          </a:solidFill>
                        </a:rPr>
                        <a:t>Abril 2027</a:t>
                      </a:r>
                    </a:p>
                  </a:txBody>
                  <a:tcPr>
                    <a:solidFill>
                      <a:srgbClr val="FFFFFF"/>
                    </a:solidFill>
                  </a:tcPr>
                </a:tc>
                <a:tc>
                  <a:txBody>
                    <a:bodyPr/>
                    <a:lstStyle/>
                    <a:p>
                      <a:r>
                        <a:rPr sz="1500">
                          <a:solidFill>
                            <a:srgbClr val="3D424E"/>
                          </a:solidFill>
                        </a:rPr>
                        <a:t>Defesa da dissertação</a:t>
                      </a:r>
                    </a:p>
                  </a:txBody>
                  <a:tcP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Slides de apoio</a:t>
            </a:r>
          </a:p>
          <a:p>
            <a:pPr>
              <a:defRPr sz="2000">
                <a:solidFill>
                  <a:srgbClr val="E8EAED"/>
                </a:solidFill>
              </a:defRPr>
            </a:pPr>
            <a:r>
              <a:t>Material complementar para consulta durante a discussão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As 14 perguntas de pesquisa respondidas</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5577840" cy="5029200"/>
          </a:xfrm>
          <a:prstGeom prst="rect">
            <a:avLst/>
          </a:prstGeom>
          <a:noFill/>
        </p:spPr>
        <p:txBody>
          <a:bodyPr wrap="square">
            <a:spAutoFit/>
          </a:bodyPr>
          <a:lstStyle/>
          <a:p>
            <a:pPr>
              <a:spcAft>
                <a:spcPts val="600"/>
              </a:spcAft>
            </a:pPr>
            <a:r>
              <a:rPr b="1" sz="1300">
                <a:solidFill>
                  <a:srgbClr val="1F2A4E"/>
                </a:solidFill>
              </a:rPr>
              <a:t>Q01  </a:t>
            </a:r>
            <a:r>
              <a:rPr sz="1300">
                <a:solidFill>
                  <a:srgbClr val="3D424E"/>
                </a:solidFill>
              </a:rPr>
              <a:t>Existem melhores datasets para corrigir fairness em biometria facial de raças?</a:t>
            </a:r>
          </a:p>
          <a:p>
            <a:pPr>
              <a:spcAft>
                <a:spcPts val="600"/>
              </a:spcAft>
            </a:pPr>
            <a:r>
              <a:rPr b="1" sz="1300">
                <a:solidFill>
                  <a:srgbClr val="1F2A4E"/>
                </a:solidFill>
              </a:rPr>
              <a:t>Q02  </a:t>
            </a:r>
            <a:r>
              <a:rPr sz="1300">
                <a:solidFill>
                  <a:srgbClr val="3D424E"/>
                </a:solidFill>
              </a:rPr>
              <a:t>Qual o dataset mais utilizado nos estudos de fairness?</a:t>
            </a:r>
          </a:p>
          <a:p>
            <a:pPr>
              <a:spcAft>
                <a:spcPts val="600"/>
              </a:spcAft>
            </a:pPr>
            <a:r>
              <a:rPr b="1" sz="1300">
                <a:solidFill>
                  <a:srgbClr val="1F2A4E"/>
                </a:solidFill>
              </a:rPr>
              <a:t>Q03  </a:t>
            </a:r>
            <a:r>
              <a:rPr sz="1300">
                <a:solidFill>
                  <a:srgbClr val="3D424E"/>
                </a:solidFill>
              </a:rPr>
              <a:t>Qual o split oficial do FairFace e por que diferentes papers usam splits distintos?</a:t>
            </a:r>
          </a:p>
          <a:p>
            <a:pPr>
              <a:spcAft>
                <a:spcPts val="600"/>
              </a:spcAft>
            </a:pPr>
            <a:r>
              <a:rPr b="1" sz="1300">
                <a:solidFill>
                  <a:srgbClr val="1F2A4E"/>
                </a:solidFill>
              </a:rPr>
              <a:t>Q04  </a:t>
            </a:r>
            <a:r>
              <a:rPr sz="1300">
                <a:solidFill>
                  <a:srgbClr val="3D424E"/>
                </a:solidFill>
              </a:rPr>
              <a:t>Quais técnicas de mitigação algorítmica já foram testadas em FairFace race 7-class?</a:t>
            </a:r>
          </a:p>
          <a:p>
            <a:pPr>
              <a:spcAft>
                <a:spcPts val="600"/>
              </a:spcAft>
            </a:pPr>
            <a:r>
              <a:rPr b="1" sz="1300">
                <a:solidFill>
                  <a:srgbClr val="1F2A4E"/>
                </a:solidFill>
              </a:rPr>
              <a:t>Q05  </a:t>
            </a:r>
            <a:r>
              <a:rPr sz="1300">
                <a:solidFill>
                  <a:srgbClr val="3D424E"/>
                </a:solidFill>
              </a:rPr>
              <a:t>Existe consenso sobre métrica de fairness para classificação multi-classe?</a:t>
            </a:r>
          </a:p>
          <a:p>
            <a:pPr>
              <a:spcAft>
                <a:spcPts val="600"/>
              </a:spcAft>
            </a:pPr>
            <a:r>
              <a:rPr b="1" sz="1300">
                <a:solidFill>
                  <a:srgbClr val="1F2A4E"/>
                </a:solidFill>
              </a:rPr>
              <a:t>Q06  </a:t>
            </a:r>
            <a:r>
              <a:rPr sz="1300">
                <a:solidFill>
                  <a:srgbClr val="3D424E"/>
                </a:solidFill>
              </a:rPr>
              <a:t>O baseline ResNet-34 = 72% acurácia é teto da arquitetura ou da metodologia?</a:t>
            </a:r>
          </a:p>
          <a:p>
            <a:pPr>
              <a:spcAft>
                <a:spcPts val="600"/>
              </a:spcAft>
            </a:pPr>
            <a:r>
              <a:rPr b="1" sz="1300">
                <a:solidFill>
                  <a:srgbClr val="1F2A4E"/>
                </a:solidFill>
              </a:rPr>
              <a:t>Q07  </a:t>
            </a:r>
            <a:r>
              <a:rPr sz="1300">
                <a:solidFill>
                  <a:srgbClr val="3D424E"/>
                </a:solidFill>
              </a:rPr>
              <a:t>Existe pesquisa de fairness em biometria facial sem usar FairFace?</a:t>
            </a:r>
          </a:p>
        </p:txBody>
      </p:sp>
      <p:sp>
        <p:nvSpPr>
          <p:cNvPr id="5" name="TextBox 4"/>
          <p:cNvSpPr txBox="1"/>
          <p:nvPr/>
        </p:nvSpPr>
        <p:spPr>
          <a:xfrm>
            <a:off x="6263640" y="1280160"/>
            <a:ext cx="5577840" cy="5029200"/>
          </a:xfrm>
          <a:prstGeom prst="rect">
            <a:avLst/>
          </a:prstGeom>
          <a:noFill/>
        </p:spPr>
        <p:txBody>
          <a:bodyPr wrap="square">
            <a:spAutoFit/>
          </a:bodyPr>
          <a:lstStyle/>
          <a:p>
            <a:pPr>
              <a:spcAft>
                <a:spcPts val="600"/>
              </a:spcAft>
            </a:pPr>
            <a:r>
              <a:rPr b="1" sz="1300">
                <a:solidFill>
                  <a:srgbClr val="1F2A4E"/>
                </a:solidFill>
              </a:rPr>
              <a:t>Q08  </a:t>
            </a:r>
            <a:r>
              <a:rPr sz="1300">
                <a:solidFill>
                  <a:srgbClr val="3D424E"/>
                </a:solidFill>
              </a:rPr>
              <a:t>Por que os estudos tentam sempre fazer merge de classes raciais?</a:t>
            </a:r>
          </a:p>
          <a:p>
            <a:pPr>
              <a:spcAft>
                <a:spcPts val="600"/>
              </a:spcAft>
            </a:pPr>
            <a:r>
              <a:rPr b="1" sz="1300">
                <a:solidFill>
                  <a:srgbClr val="1F2A4E"/>
                </a:solidFill>
              </a:rPr>
              <a:t>Q09  </a:t>
            </a:r>
            <a:r>
              <a:rPr sz="1300">
                <a:solidFill>
                  <a:srgbClr val="3D424E"/>
                </a:solidFill>
              </a:rPr>
              <a:t>7 classes é realmente a taxonomia correta para fairness racial facial?</a:t>
            </a:r>
          </a:p>
          <a:p>
            <a:pPr>
              <a:spcAft>
                <a:spcPts val="600"/>
              </a:spcAft>
            </a:pPr>
            <a:r>
              <a:rPr b="1" sz="1300">
                <a:solidFill>
                  <a:srgbClr val="1F2A4E"/>
                </a:solidFill>
              </a:rPr>
              <a:t>Q10  </a:t>
            </a:r>
            <a:r>
              <a:rPr sz="1300">
                <a:solidFill>
                  <a:srgbClr val="3D424E"/>
                </a:solidFill>
              </a:rPr>
              <a:t>Existe matriz associativa Fitzpatrick/MST × FairFace 7-race?</a:t>
            </a:r>
          </a:p>
          <a:p>
            <a:pPr>
              <a:spcAft>
                <a:spcPts val="600"/>
              </a:spcAft>
            </a:pPr>
            <a:r>
              <a:rPr b="1" sz="1300">
                <a:solidFill>
                  <a:srgbClr val="1F2A4E"/>
                </a:solidFill>
              </a:rPr>
              <a:t>Q11  </a:t>
            </a:r>
            <a:r>
              <a:rPr sz="1300">
                <a:solidFill>
                  <a:srgbClr val="3D424E"/>
                </a:solidFill>
              </a:rPr>
              <a:t>As 7 categorias raciais do FairFace têm fundamento biológico ou socio-político?</a:t>
            </a:r>
          </a:p>
          <a:p>
            <a:pPr>
              <a:spcAft>
                <a:spcPts val="600"/>
              </a:spcAft>
            </a:pPr>
            <a:r>
              <a:rPr b="1" sz="1300">
                <a:solidFill>
                  <a:srgbClr val="1F2A4E"/>
                </a:solidFill>
              </a:rPr>
              <a:t>Q12  </a:t>
            </a:r>
            <a:r>
              <a:rPr sz="1300">
                <a:solidFill>
                  <a:srgbClr val="3D424E"/>
                </a:solidFill>
              </a:rPr>
              <a:t>Como antropologia forense moderna trata 'raça'?</a:t>
            </a:r>
          </a:p>
          <a:p>
            <a:pPr>
              <a:spcAft>
                <a:spcPts val="600"/>
              </a:spcAft>
            </a:pPr>
            <a:r>
              <a:rPr b="1" sz="1300">
                <a:solidFill>
                  <a:srgbClr val="1F2A4E"/>
                </a:solidFill>
              </a:rPr>
              <a:t>Q13  </a:t>
            </a:r>
            <a:r>
              <a:rPr sz="1300">
                <a:solidFill>
                  <a:srgbClr val="3D424E"/>
                </a:solidFill>
              </a:rPr>
              <a:t>Origem e propósito da escala Fitzpatrick — para que foi criada?</a:t>
            </a:r>
          </a:p>
          <a:p>
            <a:pPr>
              <a:spcAft>
                <a:spcPts val="600"/>
              </a:spcAft>
            </a:pPr>
            <a:r>
              <a:rPr b="1" sz="1300">
                <a:solidFill>
                  <a:srgbClr val="1F2A4E"/>
                </a:solidFill>
              </a:rPr>
              <a:t>Q14  </a:t>
            </a:r>
            <a:r>
              <a:rPr sz="1300">
                <a:solidFill>
                  <a:srgbClr val="3D424E"/>
                </a:solidFill>
              </a:rPr>
              <a:t>Quantos tons de pele existem cientificamente?</a:t>
            </a:r>
          </a:p>
        </p:txBody>
      </p:sp>
      <p:sp>
        <p:nvSpPr>
          <p:cNvPr id="6" name="TextBox 5"/>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Detalhamento completo em docs/ativo/04_pesquisa_bibliografica/_perguntas.md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Pangelinan et al. (2023) — Causas de variação demográfica em FR accuracy</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arXiv:2304.07175 — Notre Dame / Florida Tech / IST — preprint abril 2023</a:t>
            </a:r>
          </a:p>
        </p:txBody>
      </p:sp>
      <p:sp>
        <p:nvSpPr>
          <p:cNvPr id="4" name="Rectangle 3"/>
          <p:cNvSpPr/>
          <p:nvPr/>
        </p:nvSpPr>
        <p:spPr>
          <a:xfrm>
            <a:off x="365760" y="960120"/>
            <a:ext cx="11521440" cy="36576"/>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Buolamwini &amp; Gebru 2018 documentaram disparities em FR sem isolar mecanismo causal. Trabalhos subsequentes assumiram skin tone como variável dominante. Esta limpeza causal era um buraco aberto na literatura.</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A disparity racial em accuracy de face recognition é causada por skin tone direto, face size/shape, desbalanceamento de treino ou qualidade da imagem (pixel info útil após crop/alinhamento)?</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Auditoria de ArcFace e AdaFace (SOTA em FR) sobre RFW e MORPH. Mede 4 variáveis: (1) skin tone via ITA, (2) face pixel area (pós-detecção), (3) balanceamento de treino, (4) face geometry. Correlaciona com TAR@FAR por grupo demográfico. Análise estratificada para isolar efeitos.</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Face pixel information explica a MAIOR PARTE da variação de accuracy entre grupos. Skin tone direto é fator secundário. Balanceamento de treino tem efeito menor que o esperado. Sugere que muito do 'race bias' em FR é mediado por qualidade da imagem.</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Trabalha com FR (verificação 1:1), NÃO com race classification multi-classe. Análise correlacional, não causal estrito. Não testa intervenção arquitetural para mitigar pixel info. RFW e MORPH têm vieses próprios de coleta.</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Conversa com Grother 2019 (NIST FRVT) que documenta disparity industry-wide. Refuta implicitamente parte da narrativa de Buolamwini 2018 (PPB) que enfatiza skin tone direto. Compatível com Dooley 2022 que aponta arquitetura como fator independente.</a:t>
            </a:r>
          </a:p>
        </p:txBody>
      </p:sp>
      <p:sp>
        <p:nvSpPr>
          <p:cNvPr id="11" name="Rounded Rectangle 10"/>
          <p:cNvSpPr/>
          <p:nvPr/>
        </p:nvSpPr>
        <p:spPr>
          <a:xfrm>
            <a:off x="6245352" y="5120640"/>
            <a:ext cx="5715000" cy="1463040"/>
          </a:xfrm>
          <a:prstGeom prst="roundRect">
            <a:avLst/>
          </a:prstGeom>
          <a:solidFill>
            <a:srgbClr val="FFFFFF"/>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C0392B"/>
                </a:solidFill>
              </a:defRPr>
            </a:pPr>
            <a:r>
              <a:t>Impacto na nossa tese</a:t>
            </a:r>
          </a:p>
          <a:p>
            <a:pPr>
              <a:defRPr sz="1200">
                <a:solidFill>
                  <a:srgbClr val="3D424E"/>
                </a:solidFill>
              </a:defRPr>
            </a:pPr>
            <a:r>
              <a:t>REFUTAÇÃO POTENCIAL DE H5. Se pixel info é causa primária em FR, a transferência de fairness do Cap 2 para Cap 3 pode ser confounded por qualidade da imagem. Motivou as 3 versões de reformulação de H5 (V1/V2/V3) na pauta de hoje.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Pereira et al. (2026) — SkinToneNet + dataset STW</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arXiv:2603.02475 — ICMC-USP / IMPA — preprint março 2026</a:t>
            </a:r>
          </a:p>
        </p:txBody>
      </p:sp>
      <p:sp>
        <p:nvSpPr>
          <p:cNvPr id="4" name="Rectangle 3"/>
          <p:cNvSpPr/>
          <p:nvPr/>
        </p:nvSpPr>
        <p:spPr>
          <a:xfrm>
            <a:off x="365760" y="960120"/>
            <a:ext cx="115214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Schumann et al. 2023 (NeurIPS) propuseram MST como padrão para auditoria mas sem classificador automático em larga escala. Datasets MST-anotados eram pequenos (MST-E ~1.500). Faltava um classificador SOTA generalizável e um dataset 'in-the-wild' grande.</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É possível treinar um classificador de tom de pele (MST 10-classe) robusto e cross-domain, e qual é a distribuição de tons em datasets faciais largamente usados pela comunidade de fairness?</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Constrói STW (Skin Tone in the Wild): 42.313 imagens de 3.564 indivíduos, anotadas pela escala Monk Skin Tone (10 classes), agregadas de múltiplas fontes web. Treina SkinToneNet (ViT-Small fine-tuned a partir de ImageNet). Audita FairFace, CelebA, BUPT, UTKFace, CASIA, CK+ usando o classificador treinado.</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SkinToneNet atinge SOTA em skin-tone classification cross-domain (precisão &gt;90% out-of-distribution). FairFace exibe distribuição AGREGADA com forte ausência de MST 6-10 (subrepresentação severa de pele escura). NÃO publica matriz cruzada MST × race — apenas distribuição global.</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STW concentra sujeitos de imagens web (viés de quem é fotografado e publicado). Dataset não tem split público fixo para benchmarks reprodutíveis. Anotação MST sem protocolo multi-anotador como Schumann 2023. Apenas um classificador (ViT-Small) avaliado.</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Estende Schumann et al. 2023 (MST scale + protocolo) com classificador SOTA. Conversa com Dominguez-Catena et al. 2024 (DSAP) que auditou datasets via métricas unificadas. Insumo direto para nossa C2 (matriz cruzada MST × race do FairFace).</a:t>
            </a:r>
          </a:p>
        </p:txBody>
      </p:sp>
      <p:sp>
        <p:nvSpPr>
          <p:cNvPr id="11" name="Rounded Rectangle 10"/>
          <p:cNvSpPr/>
          <p:nvPr/>
        </p:nvSpPr>
        <p:spPr>
          <a:xfrm>
            <a:off x="6245352" y="5120640"/>
            <a:ext cx="571500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2E7D32"/>
                </a:solidFill>
              </a:defRPr>
            </a:pPr>
            <a:r>
              <a:t>Impacto na nossa tese</a:t>
            </a:r>
          </a:p>
          <a:p>
            <a:pPr>
              <a:defRPr sz="1200">
                <a:solidFill>
                  <a:srgbClr val="3D424E"/>
                </a:solidFill>
              </a:defRPr>
            </a:pPr>
            <a:r>
              <a:t>DECISÃO TÉCNICA: usar SkinToneNet pré-treinado como insumo do pipeline (economiza ~3 semanas de cronograma). Nossa C2 (matriz cruzada MST × raça) segue contribuição original. STW pode ser dataset de validação externa do Cap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Dooley et al. (2022/23) — Fairer architectures make for fairer FR</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arXiv:2210.09943 — Maryland / Bosch / ELLIS / Tübingen — versão dez 2023</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A literatura de fairness mitigation focava majoritariamente em dados (re-sampling) e loss functions (FSCL, Group DRO). Arquitetura era assumida como variável neutra. Faltava investigação sobre se NAS pode encontrar arquiteturas inerentemente mais fair.</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Bias em FR é apenas consequência dos dados de treino ou também emerge da arquitetura? Existe arquitetura que reduza disparity sem qualquer intervenção em dados ou loss?</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Neural Architecture Search (NAS) bi-objetivo: accuracy E fairness (medida por DR / EOD). Busca jointly arquitetura + hiperparâmetros em espaço de centenas de candidatos. Datasets de avaliação: CelebA, RFW, BFW. Métricas: TAR@FAR por grupo + Demographic Parity Difference.</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Frente de Pareto inclui arquiteturas que DOMINAM ResNet-50/100 e MobileNet em accuracy E fairness simultaneamente. Modificações arquiteturais SOZINHAS (sem dados extra, sem mitigação algorítmica) reduzem disparity em até 30%. Arquiteturas vencedoras têm padrões distintos (mais skip connections, menos depth).</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Custo computacional altíssimo — NAS proibitivo para a maioria dos labs. Arquiteturas vencedoras não têm interpretação semântica clara (por que essa estrutura é mais fair?). Não testa em FairFace 7-class race especificamente. ConvNeXt-T não está no espaço de busca.</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Conversa com Manzoor &amp; Rattani 2024 (FineFACE) que também aposta em mudança arquitetural (cross-layer attention). Implicitamente reforça preocupação de Lin et al. 2022 (FairGRAPE) com modificações estruturais. Contrasta com Park et al. 2022 (FSCL) que muda apenas a loss.</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REFORÇA H2 (testar se trocar de ResNet-34 para ConvNeXt-T já reduz disparity). Justifica escolha de backbone moderno. Se H1 falhar mas ConvNeXt-T puro já reduzir disparity, parte do efeito é atribuível à arquitetura — resultado científico válido.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Aguirre &amp; Dredze (2023) — Transferring fairness via multi-task learning</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arXiv:2305.12671 — Johns Hopkins (NLP) — versão revisada abr 2024</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LAFTR (Madras 2018) provou teoricamente que fairness pode transferir entre tarefas via representação compartilhada, mas a validação empírica era limitada. Quando demographic labels existem em uma tarefa mas não na outra, esse princípio teórico tinha utilidade prática não explorada.</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Quando demographic labels estão disponíveis APENAS em uma tarefa relacionada (não na tarefa-alvo), é possível transferir fairness via multi-task learning? Em que magnitude e sob quais condições?</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Adapta single-task fairness loss para framework multi-task. Treina classificador na tarefa-alvo SEM demographic labels, usando demographic labels APENAS na tarefa auxiliar. Avalia em datasets de NLP (toxicidade Jigsaw, sentiment Twitter) com atributos sensíveis de raça e gênero. Compara contra single-task baseline e contra multi-task sem fairness loss auxiliar.</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Objetivos de fairness demográfico se transferem empiricamente para a tarefa-alvo em todos os datasets testados. Permite intersectional fairness combinando datasets com atributos demográficos diferentes (single-axis). Magnitude da transferência: ~70-80% da redução de disparity vista em single-task fair.</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Experimentos em NLP — não validados em CV/face. Magnitude da transferência depende de correlação entre tarefas auxiliar e alvo. Não testa robustez sob distribution shift. Único atributo sensível por experimento.</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Reforço empírico direto de Madras et al. 2018 (LAFTR). Conversa com Zemel et al. 2013 (LFR — paradigma fundador). Compatível com Hardt et al. 2016 (métricas de fairness).</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REFORÇO EMPÍRICO do princípio teórico do LAFTR. Suporta etapa 3 (race + tom auxiliar) e etapa 5 (transferência para FR) do pipeline. Princípio é independente da modalidade, mas precisamos validar empiricamente em face — é o que faremos no Cap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Kolla &amp; Savadamuthu (2022/23) — Impact of racial distribution in FR training</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arXiv:2211.14498 — WACVW 2023 (IEEE/CVF Winter Conf. Workshops)</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A linha de mitigação 'rebalancear o dataset' (Karkkainen &amp; Joo 2021 com FairFace) era assumida como suficiente. Mas se balanceamento bastasse, o gap Latinx no FairFace já estaria resolvido — e não está. Faltava investigação sistemática do limite dessa abordagem.</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Balancear a distribuição racial no dataset de treino é SUFICIENTE para eliminar disparities raciais em face recognition? Em que cenários falha?</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Treina ArcFace em variantes do dataset MS1MV2 com proporções variáveis de raças: uniforme (33% cada), skewed-toward-Black (60% Black), skewed-toward-White (60% White). Introduz métrica 'racial gradation' para medir correlação intra/inter-classe. Avalia em RFW e auditoria estratificada por qualidade da imagem.</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Distribuição uniforme de raças no treino NÃO garante FR sem viés. Skewed-toward-Black supera uniforme para grupo Black em ~3pp TAR@FAR. Qualidade da imagem introduz disparity adicional que NENHUMA distribuição de treino captura. Sugere limite fundamental da estratégia 'só balancear dados'.</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Workshop paper — revisão menos profunda que main conference. Foco em ArcFace específico (outras losses podem se comportar diferente). Não compara contra intervenções arquiteturais. Skewed-toward-Black testado apenas com 60% (não outras proporções).</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Refina Karkkainen &amp; Joo 2021 (FairFace — premissa do balanceamento). Compatível com Pangelinan 2023 (pixel info como confounder). Reforça argumento de Dooley 2022 (arquitetura importa).</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JUSTIFICA INTERVENÇÃO ARQUITETURAL além de balanceamento de dados. FairFace JÁ é balanceado, e o gap Latinx persiste — coerente com nossa tese de que precisamos do FiLM-conditioning. Reforça argumento contra resolver fairness apenas com dados.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521440" cy="548640"/>
          </a:xfrm>
          <a:prstGeom prst="rect">
            <a:avLst/>
          </a:prstGeom>
          <a:noFill/>
        </p:spPr>
        <p:txBody>
          <a:bodyPr wrap="none">
            <a:spAutoFit/>
          </a:bodyPr>
          <a:lstStyle/>
          <a:p>
            <a:pPr>
              <a:defRPr sz="1800" b="1">
                <a:solidFill>
                  <a:srgbClr val="1F2A4E"/>
                </a:solidFill>
              </a:defRPr>
            </a:pPr>
            <a:r>
              <a:t>Liu et al. (2025) — BNMR: Bayesian Network meta-learning para fairness</a:t>
            </a:r>
          </a:p>
        </p:txBody>
      </p:sp>
      <p:sp>
        <p:nvSpPr>
          <p:cNvPr id="3" name="TextBox 2"/>
          <p:cNvSpPr txBox="1"/>
          <p:nvPr/>
        </p:nvSpPr>
        <p:spPr>
          <a:xfrm>
            <a:off x="365760" y="640080"/>
            <a:ext cx="11521440" cy="274320"/>
          </a:xfrm>
          <a:prstGeom prst="rect">
            <a:avLst/>
          </a:prstGeom>
          <a:noFill/>
        </p:spPr>
        <p:txBody>
          <a:bodyPr wrap="none">
            <a:spAutoFit/>
          </a:bodyPr>
          <a:lstStyle/>
          <a:p>
            <a:pPr>
              <a:defRPr sz="1100" i="1">
                <a:solidFill>
                  <a:srgbClr val="707682"/>
                </a:solidFill>
              </a:defRPr>
            </a:pPr>
            <a:r>
              <a:t>arXiv:2505.01699 — ACM FAccT 2025 (top venue ética AI)</a:t>
            </a:r>
          </a:p>
        </p:txBody>
      </p:sp>
      <p:sp>
        <p:nvSpPr>
          <p:cNvPr id="4" name="Rectangle 3"/>
          <p:cNvSpPr/>
          <p:nvPr/>
        </p:nvSpPr>
        <p:spPr>
          <a:xfrm>
            <a:off x="365760" y="96012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097280"/>
            <a:ext cx="5715000" cy="13716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Contexto teórico / motivação</a:t>
            </a:r>
          </a:p>
          <a:p>
            <a:pPr>
              <a:defRPr sz="1100">
                <a:solidFill>
                  <a:srgbClr val="3D424E"/>
                </a:solidFill>
              </a:defRPr>
            </a:pPr>
            <a:r>
              <a:t>Mitigation methods existentes (FSCL, Group DRO, AdvDebias) requerem hiperparâmetros fixos a priori que controlam o trade-off accuracy×fairness. Esses hiperparâmetros são frágeis: ótimo varia por subgrupo, por época de treino e por configuração de dados. Faltava abordagem adaptativa.</a:t>
            </a:r>
          </a:p>
        </p:txBody>
      </p:sp>
      <p:sp>
        <p:nvSpPr>
          <p:cNvPr id="6" name="Rounded Rectangle 5"/>
          <p:cNvSpPr/>
          <p:nvPr/>
        </p:nvSpPr>
        <p:spPr>
          <a:xfrm>
            <a:off x="365760" y="2514600"/>
            <a:ext cx="5715000" cy="13258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Pergunta de pesquisa</a:t>
            </a:r>
          </a:p>
          <a:p>
            <a:pPr>
              <a:defRPr sz="1100">
                <a:solidFill>
                  <a:srgbClr val="3D424E"/>
                </a:solidFill>
              </a:defRPr>
            </a:pPr>
            <a:r>
              <a:t>É possível mitigar bias em face attribute classification de forma adaptativa, sem hiperparâmetros de fairness fixos a priori, ajustando o trade-off em tempo de treino?</a:t>
            </a:r>
          </a:p>
        </p:txBody>
      </p:sp>
      <p:sp>
        <p:nvSpPr>
          <p:cNvPr id="7" name="Rounded Rectangle 6"/>
          <p:cNvSpPr/>
          <p:nvPr/>
        </p:nvSpPr>
        <p:spPr>
          <a:xfrm>
            <a:off x="365760" y="3886200"/>
            <a:ext cx="5715000" cy="2697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Metodologia detalhada</a:t>
            </a:r>
          </a:p>
          <a:p>
            <a:pPr>
              <a:defRPr sz="1100">
                <a:solidFill>
                  <a:srgbClr val="3D424E"/>
                </a:solidFill>
              </a:defRPr>
            </a:pPr>
            <a:r>
              <a:t>BNMR (Bayesian Network-informed Meta Reweighting): (1) rede bayesiana modela dependências entre atributos faciais (componentes); (2) meta-learning calibra reweighting de amostras durante treino; (3) tracking dinâmico de viés do modelo em cada época. Avalia em CelebA com atributos sensíveis raça e gênero. Compara contra FSCL+, Group DRO, AdvDebias.</a:t>
            </a:r>
          </a:p>
        </p:txBody>
      </p:sp>
      <p:sp>
        <p:nvSpPr>
          <p:cNvPr id="8" name="Rounded Rectangle 7"/>
          <p:cNvSpPr/>
          <p:nvPr/>
        </p:nvSpPr>
        <p:spPr>
          <a:xfrm>
            <a:off x="6245352" y="1097280"/>
            <a:ext cx="5715000" cy="146304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Resultados principais (números/achados)</a:t>
            </a:r>
          </a:p>
          <a:p>
            <a:pPr>
              <a:defRPr sz="1100">
                <a:solidFill>
                  <a:srgbClr val="3D424E"/>
                </a:solidFill>
              </a:defRPr>
            </a:pPr>
            <a:r>
              <a:t>Supera baselines em CelebA em DEMOGRAPHIC PARITY (+12% vs FSCL+) e EQUAL OPPORTUNITY (+8% vs Group DRO). Permite calibração adaptativa do trade-off accuracy×fairness sem grid search — economiza ordens de magnitude em compute de tuning.</a:t>
            </a:r>
          </a:p>
        </p:txBody>
      </p:sp>
      <p:sp>
        <p:nvSpPr>
          <p:cNvPr id="9" name="Rounded Rectangle 8"/>
          <p:cNvSpPr/>
          <p:nvPr/>
        </p:nvSpPr>
        <p:spPr>
          <a:xfrm>
            <a:off x="6245352" y="2606039"/>
            <a:ext cx="5715000" cy="128016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707682"/>
                </a:solidFill>
              </a:defRPr>
            </a:pPr>
            <a:r>
              <a:t>Crítica metodológica e limitações</a:t>
            </a:r>
          </a:p>
          <a:p>
            <a:pPr>
              <a:defRPr sz="1100">
                <a:solidFill>
                  <a:srgbClr val="3D424E"/>
                </a:solidFill>
              </a:defRPr>
            </a:pPr>
            <a:r>
              <a:t>Custo computacional adicional da rede bayesiana (precisa ser treinada conjuntamente). Testado em CelebA, NÃO em FairFace race 7-class. Pressupõe que o usuário define corretamente a estrutura causal entre atributos — pressuposto forte. Sem ablação clara do componente bayesiano.</a:t>
            </a:r>
          </a:p>
        </p:txBody>
      </p:sp>
      <p:sp>
        <p:nvSpPr>
          <p:cNvPr id="10" name="Rounded Rectangle 9"/>
          <p:cNvSpPr/>
          <p:nvPr/>
        </p:nvSpPr>
        <p:spPr>
          <a:xfrm>
            <a:off x="6245352" y="3931920"/>
            <a:ext cx="571500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000" b="1">
                <a:solidFill>
                  <a:srgbClr val="1F2A4E"/>
                </a:solidFill>
              </a:defRPr>
            </a:pPr>
            <a:r>
              <a:t>Conexões com outras fichas do corpus</a:t>
            </a:r>
          </a:p>
          <a:p>
            <a:pPr>
              <a:defRPr sz="1100">
                <a:solidFill>
                  <a:srgbClr val="3D424E"/>
                </a:solidFill>
              </a:defRPr>
            </a:pPr>
            <a:r>
              <a:t>Alternativa metodológica a Park et al. 2022 (FSCL+) e Sagawa et al. 2020 (Group DRO). Estende ideia de Zhang et al. 2018 (AdvDebias) com adaptividade. Usa métricas de Hardt 2016.</a:t>
            </a:r>
          </a:p>
        </p:txBody>
      </p:sp>
      <p:sp>
        <p:nvSpPr>
          <p:cNvPr id="11" name="Rounded Rectangle 10"/>
          <p:cNvSpPr/>
          <p:nvPr/>
        </p:nvSpPr>
        <p:spPr>
          <a:xfrm>
            <a:off x="6245352" y="5120640"/>
            <a:ext cx="5715000" cy="14630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a:lstStyle/>
          <a:p>
            <a:pPr algn="ctr">
              <a:defRPr sz="1100" b="1">
                <a:solidFill>
                  <a:srgbClr val="1F2A4E"/>
                </a:solidFill>
              </a:defRPr>
            </a:pPr>
            <a:r>
              <a:t>Impacto na nossa tese</a:t>
            </a:r>
          </a:p>
          <a:p>
            <a:pPr>
              <a:defRPr sz="1200">
                <a:solidFill>
                  <a:srgbClr val="3D424E"/>
                </a:solidFill>
              </a:defRPr>
            </a:pPr>
            <a:r>
              <a:t>BASELINE COMPETITIVO recente do Cap 2. Mecanismo ortogonal ao nosso (sample reweighting vs FiLM-conditioning) — comparação justa contra SOTA em fairness 2025. Se BNMR superar nosso pipeline, é informação útil para a tese (não falha — calibra expectativa).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