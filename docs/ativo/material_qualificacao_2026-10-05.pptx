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0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Unifesp_completa_policromia_RG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320040"/>
            <a:ext cx="1920240" cy="115814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7160" y="2743200"/>
            <a:ext cx="2103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UNIFESP</a:t>
            </a:r>
          </a:p>
          <a:p>
            <a:pPr>
              <a:defRPr sz="1100">
                <a:solidFill>
                  <a:srgbClr val="B4C4E8"/>
                </a:solidFill>
              </a:defRPr>
            </a:pPr>
            <a:r>
              <a:t>Instituto de</a:t>
            </a:r>
            <a:br/>
            <a:r>
              <a:t>Ciência e</a:t>
            </a:r>
            <a:br/>
            <a:r>
              <a:t>Tecnologia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109728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C0392B"/>
                </a:solidFill>
              </a:defRPr>
            </a:pPr>
            <a:r>
              <a:t>EXAME DE QUALIFICAÇÃO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182880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2A4E"/>
                </a:solidFill>
              </a:defRPr>
            </a:pPr>
            <a:r>
              <a:t>Mitigação de viés racial em</a:t>
            </a:r>
          </a:p>
          <a:p>
            <a:pPr>
              <a:defRPr sz="3200" b="1">
                <a:solidFill>
                  <a:srgbClr val="1F2A4E"/>
                </a:solidFill>
              </a:defRPr>
            </a:pPr>
            <a:r>
              <a:t>classificação facial com</a:t>
            </a:r>
          </a:p>
          <a:p>
            <a:pPr>
              <a:defRPr sz="3200" b="1">
                <a:solidFill>
                  <a:srgbClr val="1F2A4E"/>
                </a:solidFill>
              </a:defRPr>
            </a:pPr>
            <a:r>
              <a:t>condicionamento por tom de pele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4572000"/>
            <a:ext cx="9144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1F2A4E"/>
                </a:solidFill>
              </a:rPr>
              <a:t>Mestrando:  </a:t>
            </a:r>
            <a:r>
              <a:rPr sz="1600">
                <a:solidFill>
                  <a:srgbClr val="3D424E"/>
                </a:solidFill>
              </a:rPr>
              <a:t>Marcello Vinicius Alves Ozzetti Cruz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1F2A4E"/>
                </a:solidFill>
              </a:rPr>
              <a:t>Orientador:  </a:t>
            </a:r>
            <a:r>
              <a:rPr sz="1600">
                <a:solidFill>
                  <a:srgbClr val="3D424E"/>
                </a:solidFill>
              </a:rPr>
              <a:t>Prof. Dr. Marcos Gonçalves Quiles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1F2A4E"/>
                </a:solidFill>
              </a:rPr>
              <a:t>Programa:  </a:t>
            </a:r>
            <a:r>
              <a:rPr sz="1600">
                <a:solidFill>
                  <a:srgbClr val="3D424E"/>
                </a:solidFill>
              </a:rPr>
              <a:t>Pós-Graduação em Ciência da Computação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1F2A4E"/>
                </a:solidFill>
              </a:rPr>
              <a:t>Data:  </a:t>
            </a:r>
            <a:r>
              <a:rPr sz="1600">
                <a:solidFill>
                  <a:srgbClr val="3D424E"/>
                </a:solidFill>
              </a:rPr>
              <a:t>05 de setembro de 2026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1F2A4E"/>
                </a:solidFill>
              </a:rPr>
              <a:t>Local:  </a:t>
            </a:r>
            <a:r>
              <a:rPr sz="1600">
                <a:solidFill>
                  <a:srgbClr val="3D424E"/>
                </a:solidFill>
              </a:rPr>
              <a:t>UNIFESP / ICT — São José dos Campos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Motivação acadêmica: origem do problema de pesquisa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417320"/>
            <a:ext cx="137160" cy="283464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463040"/>
            <a:ext cx="10881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i="1">
                <a:solidFill>
                  <a:srgbClr val="1F2A4E"/>
                </a:solidFill>
              </a:defRPr>
            </a:pPr>
            <a:r>
              <a:t>Em 2016, durante projeto acadêmico no MIT Media Lab, a então mestranda Joy Buolamwini constatou que sistemas comerciais de análise facial falhavam em detectar seu próprio rosto, enquanto detectavam, sem falha, interlocutores fenotipicamente mais claros. A conclusão do projeto exigiu o uso de uma máscara branca para que a face fosse reconhecida — episódio que converteu uma observação pessoal em programa de pesquisa.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886200"/>
            <a:ext cx="10881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i="1">
                <a:solidFill>
                  <a:srgbClr val="707682"/>
                </a:solidFill>
              </a:defRPr>
            </a:pPr>
            <a:r>
              <a:t>Reescritura acadêmica da narrativa relatada em Unmasking AI: My Mission to Protect What Is Human in a World of Machines (Buolamwini, 2023, W. W. Norton).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F2A4E"/>
                </a:solidFill>
              </a:rPr>
              <a:t>Consolidação científica:  </a:t>
            </a:r>
            <a:r>
              <a:rPr sz="1500">
                <a:solidFill>
                  <a:srgbClr val="3D424E"/>
                </a:solidFill>
              </a:rPr>
              <a:t>a observação foi formalizada em Gender Shades (Buolamwini &amp; Gebru, 2018, PMLR), estudo seminal que quantificou disparidade de até 34,4 pontos percentuais em acurácia entre homens de pele clara e mulheres de pele escura em três APIs comerciais de análise facial.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F2A4E"/>
                </a:solidFill>
              </a:rPr>
              <a:t>Herança científica desta pesquisa:  </a:t>
            </a:r>
            <a:r>
              <a:rPr sz="1500">
                <a:solidFill>
                  <a:srgbClr val="3D424E"/>
                </a:solidFill>
              </a:rPr>
              <a:t>inscreve-se formalmente na mesma agenda — dissociar o desempenho de classificadores faciais do tom de pele —, deslocando a pergunta de "existe viés?" para "como mitigá-lo de forma defensável e auditável?".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 / 29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Reconhecimento facial: adoção sociotécnica em larga escala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96695" y="1463040"/>
            <a:ext cx="2377440" cy="1645920"/>
          </a:xfrm>
          <a:prstGeom prst="roundRect">
            <a:avLst/>
          </a:prstGeom>
          <a:solidFill>
            <a:srgbClr val="E8EAED"/>
          </a:solidFill>
          <a:ln>
            <a:solidFill>
              <a:srgbClr val="E8E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96695" y="169164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C0392B"/>
                </a:solidFill>
              </a:defRPr>
            </a:pPr>
            <a:r>
              <a:t>DISPOSITIVOS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" y="214884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F2A4E"/>
                </a:solidFill>
              </a:defRPr>
            </a:pPr>
            <a:r>
              <a:t>Desbloqueio</a:t>
            </a:r>
          </a:p>
          <a:p>
            <a:pPr algn="ctr">
              <a:defRPr sz="1600" b="1">
                <a:solidFill>
                  <a:srgbClr val="1F2A4E"/>
                </a:solidFill>
              </a:defRPr>
            </a:pPr>
            <a:r>
              <a:t>de celular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02736" y="1463040"/>
            <a:ext cx="2377440" cy="1645920"/>
          </a:xfrm>
          <a:prstGeom prst="roundRect">
            <a:avLst/>
          </a:prstGeom>
          <a:solidFill>
            <a:srgbClr val="E8EAED"/>
          </a:solidFill>
          <a:ln>
            <a:solidFill>
              <a:srgbClr val="E8E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02736" y="169164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C0392B"/>
                </a:solidFill>
              </a:defRPr>
            </a:pPr>
            <a:r>
              <a:t>BANCOS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94176" y="214884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F2A4E"/>
                </a:solidFill>
              </a:defRPr>
            </a:pPr>
            <a:r>
              <a:t>Autenticação</a:t>
            </a:r>
          </a:p>
          <a:p>
            <a:pPr algn="ctr">
              <a:defRPr sz="1600" b="1">
                <a:solidFill>
                  <a:srgbClr val="1F2A4E"/>
                </a:solidFill>
              </a:defRPr>
            </a:pPr>
            <a:r>
              <a:t>financeira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8776" y="1463040"/>
            <a:ext cx="2377440" cy="1645920"/>
          </a:xfrm>
          <a:prstGeom prst="roundRect">
            <a:avLst/>
          </a:prstGeom>
          <a:solidFill>
            <a:srgbClr val="E8EAED"/>
          </a:solidFill>
          <a:ln>
            <a:solidFill>
              <a:srgbClr val="E8E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08776" y="169164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C0392B"/>
                </a:solidFill>
              </a:defRPr>
            </a:pPr>
            <a:r>
              <a:t>FRONTEIRAS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0216" y="214884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F2A4E"/>
                </a:solidFill>
              </a:defRPr>
            </a:pPr>
            <a:r>
              <a:t>Controle</a:t>
            </a:r>
          </a:p>
          <a:p>
            <a:pPr algn="ctr">
              <a:defRPr sz="1600" b="1">
                <a:solidFill>
                  <a:srgbClr val="1F2A4E"/>
                </a:solidFill>
              </a:defRPr>
            </a:pPr>
            <a:r>
              <a:t>migratório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14816" y="1463040"/>
            <a:ext cx="2377440" cy="1645920"/>
          </a:xfrm>
          <a:prstGeom prst="roundRect">
            <a:avLst/>
          </a:prstGeom>
          <a:solidFill>
            <a:srgbClr val="E8EAED"/>
          </a:solidFill>
          <a:ln>
            <a:solidFill>
              <a:srgbClr val="E8E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14816" y="169164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C0392B"/>
                </a:solidFill>
              </a:defRPr>
            </a:pPr>
            <a:r>
              <a:t>SEGURANÇA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06256" y="214884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F2A4E"/>
                </a:solidFill>
              </a:defRPr>
            </a:pPr>
            <a:r>
              <a:t>Identificação</a:t>
            </a:r>
          </a:p>
          <a:p>
            <a:pPr algn="ctr">
              <a:defRPr sz="1600" b="1">
                <a:solidFill>
                  <a:srgbClr val="1F2A4E"/>
                </a:solidFill>
              </a:defRPr>
            </a:pPr>
            <a:r>
              <a:t>policial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566160"/>
            <a:ext cx="4114800" cy="237744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794760"/>
            <a:ext cx="41148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600" b="1">
                <a:solidFill>
                  <a:srgbClr val="FFFFFF"/>
                </a:solidFill>
              </a:defRPr>
            </a:pPr>
            <a:r>
              <a:t>10 – 100 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937760"/>
            <a:ext cx="374903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B4C4E8"/>
                </a:solidFill>
              </a:defRPr>
            </a:pPr>
            <a:r>
              <a:t>disparidade na taxa de</a:t>
            </a:r>
            <a:br/>
            <a:r>
              <a:t>falso positivo entre</a:t>
            </a:r>
            <a:br/>
            <a:r>
              <a:t>grupos demográficos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3566160"/>
            <a:ext cx="67665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 b="1">
                <a:solidFill>
                  <a:srgbClr val="1F2A4E"/>
                </a:solidFill>
              </a:rPr>
              <a:t>NIST 2019 (Grother et al.): </a:t>
            </a:r>
            <a:r>
              <a:rPr sz="1600">
                <a:solidFill>
                  <a:srgbClr val="3D424E"/>
                </a:solidFill>
              </a:rPr>
              <a:t>maior auditoria pública já feita em biometria facial — 189 algoritmos comerciais avaliados sobre 18 milhões de imagens.</a:t>
            </a:r>
          </a:p>
          <a:p>
            <a:pPr>
              <a:spcAft>
                <a:spcPts val="700"/>
              </a:spcAft>
            </a:pPr>
            <a:r>
              <a:rPr sz="1600" b="1">
                <a:solidFill>
                  <a:srgbClr val="1F2A4E"/>
                </a:solidFill>
              </a:rPr>
              <a:t>Gender Shades (Buolamwini &amp; Gebru, 2018): </a:t>
            </a:r>
            <a:r>
              <a:rPr sz="1600">
                <a:solidFill>
                  <a:srgbClr val="3D424E"/>
                </a:solidFill>
              </a:rPr>
              <a:t>estudo fundacional que colocou o viés racial-de-gênero na agenda pública.</a:t>
            </a:r>
          </a:p>
          <a:p>
            <a:pPr>
              <a:spcAft>
                <a:spcPts val="700"/>
              </a:spcAft>
            </a:pPr>
            <a:r>
              <a:rPr sz="1600" b="1">
                <a:solidFill>
                  <a:srgbClr val="1F2A4E"/>
                </a:solidFill>
              </a:rPr>
              <a:t>Conclusão: </a:t>
            </a:r>
            <a:r>
              <a:rPr sz="1600">
                <a:solidFill>
                  <a:srgbClr val="3D424E"/>
                </a:solidFill>
              </a:rPr>
              <a:t>desempenho agregado favorável coexiste com disparidade sistemática entre subgrupos demográficos.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3 / 29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Regulação formal em vigor: European AI Act (2024)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65276" y="2167128"/>
            <a:ext cx="10058400" cy="54864"/>
          </a:xfrm>
          <a:prstGeom prst="rect">
            <a:avLst/>
          </a:prstGeom>
          <a:solidFill>
            <a:srgbClr val="7076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45236" y="1874519"/>
            <a:ext cx="640080" cy="640080"/>
          </a:xfrm>
          <a:prstGeom prst="ellipse">
            <a:avLst/>
          </a:prstGeom>
          <a:solidFill>
            <a:srgbClr val="1F2A4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79476" y="1188719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1F2A4E"/>
                </a:solidFill>
              </a:defRPr>
            </a:pPr>
            <a:r>
              <a:t>2018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-169164" y="2651760"/>
            <a:ext cx="2468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1F2A4E"/>
                </a:solidFill>
              </a:defRPr>
            </a:pPr>
            <a:r>
              <a:t>Gender Shades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-306323" y="3246120"/>
            <a:ext cx="27432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>
                <a:solidFill>
                  <a:srgbClr val="3D424E"/>
                </a:solidFill>
              </a:defRPr>
            </a:pPr>
            <a:r>
              <a:t>Buolamwini &amp; Gebru colocam o viés na agenda.</a:t>
            </a:r>
          </a:p>
        </p:txBody>
      </p:sp>
      <p:sp>
        <p:nvSpPr>
          <p:cNvPr id="9" name="Oval 8"/>
          <p:cNvSpPr/>
          <p:nvPr/>
        </p:nvSpPr>
        <p:spPr>
          <a:xfrm>
            <a:off x="4098036" y="1874519"/>
            <a:ext cx="640080" cy="640080"/>
          </a:xfrm>
          <a:prstGeom prst="ellipse">
            <a:avLst/>
          </a:prstGeom>
          <a:solidFill>
            <a:srgbClr val="1F2A4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32276" y="1188719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1F2A4E"/>
                </a:solidFill>
              </a:defRPr>
            </a:pPr>
            <a:r>
              <a:t>2019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83636" y="2651760"/>
            <a:ext cx="2468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1F2A4E"/>
                </a:solidFill>
              </a:defRPr>
            </a:pPr>
            <a:r>
              <a:t>NIST FRVT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46476" y="3246120"/>
            <a:ext cx="27432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>
                <a:solidFill>
                  <a:srgbClr val="3D424E"/>
                </a:solidFill>
              </a:defRPr>
            </a:pPr>
            <a:r>
              <a:t>Grother et al. documentam disparidade 10–100× em escala industrial.</a:t>
            </a:r>
          </a:p>
        </p:txBody>
      </p:sp>
      <p:sp>
        <p:nvSpPr>
          <p:cNvPr id="13" name="Oval 12"/>
          <p:cNvSpPr/>
          <p:nvPr/>
        </p:nvSpPr>
        <p:spPr>
          <a:xfrm>
            <a:off x="7450836" y="1874519"/>
            <a:ext cx="640080" cy="640080"/>
          </a:xfrm>
          <a:prstGeom prst="ellipse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85076" y="1188719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C0392B"/>
                </a:solidFill>
              </a:defRPr>
            </a:pPr>
            <a:r>
              <a:t>2024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6436" y="2651760"/>
            <a:ext cx="2468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1F2A4E"/>
                </a:solidFill>
              </a:defRPr>
            </a:pPr>
            <a:r>
              <a:t>EU AI 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99276" y="3246120"/>
            <a:ext cx="27432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>
                <a:solidFill>
                  <a:srgbClr val="3D424E"/>
                </a:solidFill>
              </a:defRPr>
            </a:pPr>
            <a:r>
              <a:t>Auditoria de equidade torna-se requisito formal para sistemas biométricos.</a:t>
            </a:r>
          </a:p>
        </p:txBody>
      </p:sp>
      <p:sp>
        <p:nvSpPr>
          <p:cNvPr id="17" name="Oval 16"/>
          <p:cNvSpPr/>
          <p:nvPr/>
        </p:nvSpPr>
        <p:spPr>
          <a:xfrm>
            <a:off x="10803636" y="1874519"/>
            <a:ext cx="640080" cy="640080"/>
          </a:xfrm>
          <a:prstGeom prst="ellipse">
            <a:avLst/>
          </a:prstGeom>
          <a:solidFill>
            <a:srgbClr val="1F2A4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437876" y="1188719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1F2A4E"/>
                </a:solidFill>
              </a:defRPr>
            </a:pPr>
            <a:r>
              <a:t>2025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89236" y="2651760"/>
            <a:ext cx="2468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1F2A4E"/>
                </a:solidFill>
              </a:defRPr>
            </a:pPr>
            <a:r>
              <a:t>FAccT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52076" y="3246120"/>
            <a:ext cx="27432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>
                <a:solidFill>
                  <a:srgbClr val="3D424E"/>
                </a:solidFill>
              </a:defRPr>
            </a:pPr>
            <a:r>
              <a:t>Lafargue et al. propõem pipeline de auditoria com propagação de incerteza.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120640"/>
            <a:ext cx="10881360" cy="100584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5230368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i="1">
                <a:solidFill>
                  <a:srgbClr val="FFFFFF"/>
                </a:solidFill>
              </a:defRPr>
            </a:pPr>
            <a:r>
              <a:t>A questão científica desloca-se da constatação do viés — empiricamente estabelecida — para o desenvolvimento de mecanismos de mitigação defensáveis e auditáveis.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4 / 29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Disparidade sistemática de aproximadamente 30 pontos percentuais entre grupos raciais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disparidade_ra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9190" y="1371600"/>
            <a:ext cx="10010570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893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707682"/>
                </a:solidFill>
              </a:defRPr>
            </a:pPr>
            <a:r>
              <a:t>FaceScanPaliGemma (AlDahoul et al., 2024) avaliado sobre o dataset FairFace (Kärkkäinen &amp; Joo, 2021). Diferencial entre Black e Latinx: 30 pontos percentuais em F1.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5 / 29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Heterogeneidade fenotípica intra-categorial: o caso Latinx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fitzpatrick_vs_m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5669280" cy="22400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852160"/>
            <a:ext cx="5669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707682"/>
                </a:solidFill>
              </a:defRPr>
            </a:pPr>
            <a:r>
              <a:t>Fitzpatrick (esq., 6 tons) × Monk (dir., 10 tons).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0" y="1554480"/>
            <a:ext cx="53035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1F2A4E"/>
                </a:solidFill>
              </a:rPr>
              <a:t>Rótulo monolítico:  </a:t>
            </a:r>
            <a:r>
              <a:rPr sz="1600">
                <a:solidFill>
                  <a:srgbClr val="3D424E"/>
                </a:solidFill>
              </a:rPr>
              <a:t>a rotulagem monolítica agrega fenótipos heterogêneos sob única categoria discreta.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1F2A4E"/>
                </a:solidFill>
              </a:rPr>
              <a:t>Escala Monk (Ellis Monk, 2019):  </a:t>
            </a:r>
            <a:r>
              <a:rPr sz="1600">
                <a:solidFill>
                  <a:srgbClr val="3D424E"/>
                </a:solidFill>
              </a:rPr>
              <a:t>escala de 10 tons — sucessora moderna da escala Fitzpatrick, que sub-representa tons escuros.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1F2A4E"/>
                </a:solidFill>
              </a:rPr>
              <a:t>Schumann et al. (2023):  </a:t>
            </a:r>
            <a:r>
              <a:rPr sz="1600">
                <a:solidFill>
                  <a:srgbClr val="3D424E"/>
                </a:solidFill>
              </a:rPr>
              <a:t>consolida a MST como padrão moderno de auditoria de equidade em análise facial.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1F2A4E"/>
                </a:solidFill>
              </a:rPr>
              <a:t>Consequência:  </a:t>
            </a:r>
            <a:r>
              <a:rPr sz="1600">
                <a:solidFill>
                  <a:srgbClr val="3D424E"/>
                </a:solidFill>
              </a:rPr>
              <a:t>a rotulagem monolítica compromete a acurácia condicional em grupos com maior variabilidade fenotípica, como Latinx.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6 / 29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Refutação concorrente: tom de pele como principal fator (Pangelinan, 2023)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25196" y="1417320"/>
            <a:ext cx="5486400" cy="50292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5196" y="1472184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A CRÍTICA DA LITERATURA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5196" y="2011680"/>
            <a:ext cx="5486400" cy="4343400"/>
          </a:xfrm>
          <a:prstGeom prst="roundRect">
            <a:avLst/>
          </a:prstGeom>
          <a:solidFill>
            <a:srgbClr val="E8EAED"/>
          </a:solidFill>
          <a:ln>
            <a:solidFill>
              <a:srgbClr val="E8E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3796" y="2194560"/>
            <a:ext cx="5029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C0392B"/>
                </a:solidFill>
              </a:rPr>
              <a:t>Pangelinan et al. (2023, FAccT):  </a:t>
            </a:r>
            <a:r>
              <a:rPr sz="1600">
                <a:solidFill>
                  <a:srgbClr val="3D424E"/>
                </a:solidFill>
              </a:rPr>
              <a:t>a disparidade racial em face recognition é primariamente explicada pela fração de área facial útil na imagem (pixel information), não pelo rótulo racial.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C0392B"/>
                </a:solidFill>
              </a:rPr>
              <a:t>Matias et al. (2026):  </a:t>
            </a:r>
            <a:r>
              <a:rPr sz="1600">
                <a:solidFill>
                  <a:srgbClr val="3D424E"/>
                </a:solidFill>
              </a:rPr>
              <a:t>publica o SkinToneNet e reforça o tom de pele como dimensão auditável, tensionando o uso de rótulos nominais.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C0392B"/>
                </a:solidFill>
              </a:rPr>
              <a:t>Implicação forte:  </a:t>
            </a:r>
            <a:r>
              <a:rPr sz="1600">
                <a:solidFill>
                  <a:srgbClr val="3D424E"/>
                </a:solidFill>
              </a:rPr>
              <a:t>se a refutação se sustenta, o condicionamento por rótulo racial nominal perde sustentação teórica em favor do sinal fenotípico direto.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7356" y="1417320"/>
            <a:ext cx="5486400" cy="50292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77356" y="1472184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NOSSA POSIÇÃO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7356" y="2011680"/>
            <a:ext cx="5486400" cy="4343400"/>
          </a:xfrm>
          <a:prstGeom prst="roundRect">
            <a:avLst/>
          </a:prstGeom>
          <a:solidFill>
            <a:srgbClr val="B4C4E8"/>
          </a:solidFill>
          <a:ln>
            <a:solidFill>
              <a:srgbClr val="B4C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05956" y="2194560"/>
            <a:ext cx="5029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F2A4E"/>
                </a:solidFill>
              </a:rPr>
              <a:t>O tom de pele complementa o rótulo racial:  </a:t>
            </a:r>
            <a:r>
              <a:rPr sz="1600">
                <a:solidFill>
                  <a:srgbClr val="3D424E"/>
                </a:solidFill>
              </a:rPr>
              <a:t>o vetor MST atua como sinal condicionante; o rótulo racial permanece como alvo de predição.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2A4E"/>
                </a:solidFill>
              </a:rPr>
              <a:t>Incorporamos a crítica formalmente:  </a:t>
            </a:r>
            <a:r>
              <a:rPr sz="1600">
                <a:solidFill>
                  <a:srgbClr val="3D424E"/>
                </a:solidFill>
              </a:rPr>
              <a:t>a hipótese H6 testa diretamente a tese de Pangelinan (R² ≥ 70 % explicado por pixel information).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2A4E"/>
                </a:solidFill>
              </a:rPr>
              <a:t>Refutação convertida em contribuição:  </a:t>
            </a:r>
            <a:r>
              <a:rPr sz="1600">
                <a:solidFill>
                  <a:srgbClr val="3D424E"/>
                </a:solidFill>
              </a:rPr>
              <a:t>eventual confirmação da refutação produz decomposição quantitativa do erro, resultado científico válido em 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7 / 29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Objetivo geral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371600" y="1828800"/>
            <a:ext cx="9418320" cy="256032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0" y="2194560"/>
            <a:ext cx="8503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FFFFFF"/>
                </a:solidFill>
              </a:defRPr>
            </a:pPr>
            <a:r>
              <a:t>Desenvolver e avaliar um pipeline de classificação racial que usa o tom de pele (escala Monk, 10 tons) como sinal de contexto para reduzir a disparidade entre grupos, sem sacrificar a acurácia geral.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754880"/>
            <a:ext cx="9418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i="1">
                <a:solidFill>
                  <a:srgbClr val="3D424E"/>
                </a:solidFill>
              </a:defRPr>
            </a:pPr>
            <a:r>
              <a:t>Arquitetura escolhida: ConvNeXt-T (Liu et al., 2022) como rede base + FiLM (Perez et al., 2018) como mecanismo que “consulta” o tom de pele antes de decidir.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8 / 29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Objetivos específicos e hipóteses testáveis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70916" y="1417320"/>
            <a:ext cx="5486400" cy="50292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0916" y="146304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6 OBJETIVOS ESPECÍFICOS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8076" y="205740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F2A4E"/>
                </a:solidFill>
              </a:rPr>
              <a:t>1.  </a:t>
            </a:r>
            <a:r>
              <a:rPr sz="1500">
                <a:solidFill>
                  <a:srgbClr val="3D424E"/>
                </a:solidFill>
              </a:rPr>
              <a:t>Quantificar distribuição MST × classe racial no FairFace.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F2A4E"/>
                </a:solidFill>
              </a:rPr>
              <a:t>2.  </a:t>
            </a:r>
            <a:r>
              <a:rPr sz="1500">
                <a:solidFill>
                  <a:srgbClr val="3D424E"/>
                </a:solidFill>
              </a:rPr>
              <a:t>Treinar e avaliar classificador MST próprio + sensitivity.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F2A4E"/>
                </a:solidFill>
              </a:rPr>
              <a:t>3.  </a:t>
            </a:r>
            <a:r>
              <a:rPr sz="1500">
                <a:solidFill>
                  <a:srgbClr val="3D424E"/>
                </a:solidFill>
              </a:rPr>
              <a:t>Implementar FiLM sobre ConvNeXt-T e comparar vs 6 baselines.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F2A4E"/>
                </a:solidFill>
              </a:rPr>
              <a:t>4.  </a:t>
            </a:r>
            <a:r>
              <a:rPr sz="1500">
                <a:solidFill>
                  <a:srgbClr val="3D424E"/>
                </a:solidFill>
              </a:rPr>
              <a:t>Demonstrar transferência do ganho para reconhecimento (RFW/BFW).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F2A4E"/>
                </a:solidFill>
              </a:rPr>
              <a:t>5.  </a:t>
            </a:r>
            <a:r>
              <a:rPr sz="1500">
                <a:solidFill>
                  <a:srgbClr val="3D424E"/>
                </a:solidFill>
              </a:rPr>
              <a:t>Formalizar triangulação de métricas (DR, F1 pior classe, EO).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F2A4E"/>
                </a:solidFill>
              </a:rPr>
              <a:t>6.  </a:t>
            </a:r>
            <a:r>
              <a:rPr sz="1500">
                <a:solidFill>
                  <a:srgbClr val="3D424E"/>
                </a:solidFill>
              </a:rPr>
              <a:t>Decompor erro Latinx: fenótipo (irredutível) vs modelo (mitigável).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1636" y="1417320"/>
            <a:ext cx="5486400" cy="50292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31636" y="146304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6 HIPÓTESES TESTÁVEIS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68796" y="205740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C0392B"/>
                </a:solidFill>
              </a:rPr>
              <a:t>H1.  </a:t>
            </a:r>
            <a:r>
              <a:rPr sz="1500">
                <a:solidFill>
                  <a:srgbClr val="3D424E"/>
                </a:solidFill>
              </a:rPr>
              <a:t>Classificador MST atinge concordância humana  </a:t>
            </a:r>
            <a:r>
              <a:rPr sz="1300" i="1">
                <a:solidFill>
                  <a:srgbClr val="707682"/>
                </a:solidFill>
              </a:rPr>
              <a:t>[κ ≥ 0,7]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C0392B"/>
                </a:solidFill>
              </a:rPr>
              <a:t>H2.  </a:t>
            </a:r>
            <a:r>
              <a:rPr sz="1500">
                <a:solidFill>
                  <a:srgbClr val="3D424E"/>
                </a:solidFill>
              </a:rPr>
              <a:t>Latinx cobre ≥ 5 dos 10 tons Monk  </a:t>
            </a:r>
            <a:r>
              <a:rPr sz="1300" i="1">
                <a:solidFill>
                  <a:srgbClr val="707682"/>
                </a:solidFill>
              </a:rPr>
              <a:t>[cobertura ≥ 5]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C0392B"/>
                </a:solidFill>
              </a:rPr>
              <a:t>H3.  </a:t>
            </a:r>
            <a:r>
              <a:rPr sz="1500">
                <a:solidFill>
                  <a:srgbClr val="3D424E"/>
                </a:solidFill>
              </a:rPr>
              <a:t>Condicionamento reduz disparidade sem perder acurácia  </a:t>
            </a:r>
            <a:r>
              <a:rPr sz="1300" i="1">
                <a:solidFill>
                  <a:srgbClr val="707682"/>
                </a:solidFill>
              </a:rPr>
              <a:t>[DR ↓  ·  F1 ≥ baseline]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C0392B"/>
                </a:solidFill>
              </a:rPr>
              <a:t>H4.  </a:t>
            </a:r>
            <a:r>
              <a:rPr sz="1500">
                <a:solidFill>
                  <a:srgbClr val="3D424E"/>
                </a:solidFill>
              </a:rPr>
              <a:t>≥ 50 % dos erros Latinx em zonas de sobreposição  </a:t>
            </a:r>
            <a:r>
              <a:rPr sz="1300" i="1">
                <a:solidFill>
                  <a:srgbClr val="707682"/>
                </a:solidFill>
              </a:rPr>
              <a:t>[concentração ≥ 50 %]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C0392B"/>
                </a:solidFill>
              </a:rPr>
              <a:t>H5.  </a:t>
            </a:r>
            <a:r>
              <a:rPr sz="1500">
                <a:solidFill>
                  <a:srgbClr val="3D424E"/>
                </a:solidFill>
              </a:rPr>
              <a:t>Módulo FiLM/MST pré-treinado transfere via feature-freeze para RFW/BFW  </a:t>
            </a:r>
            <a:r>
              <a:rPr sz="1300" i="1">
                <a:solidFill>
                  <a:srgbClr val="707682"/>
                </a:solidFill>
              </a:rPr>
              <a:t>[ΔTAR@FAR=1e-4 ≥ +3 pp (African)]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C0392B"/>
                </a:solidFill>
              </a:rPr>
              <a:t>H6.  </a:t>
            </a:r>
            <a:r>
              <a:rPr sz="1500">
                <a:solidFill>
                  <a:srgbClr val="3D424E"/>
                </a:solidFill>
              </a:rPr>
              <a:t>Pixel information explica variância do erro (Pangelinan)  </a:t>
            </a:r>
            <a:r>
              <a:rPr sz="1300" i="1">
                <a:solidFill>
                  <a:srgbClr val="707682"/>
                </a:solidFill>
              </a:rPr>
              <a:t>[R² ≥ 70 %]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9 / 29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Linha do tempo das principais respostas ao problema (2018 – 2026)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timeline_f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47120" cy="250022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57200" y="3154680"/>
            <a:ext cx="64008" cy="2834640"/>
          </a:xfrm>
          <a:prstGeom prst="rect">
            <a:avLst/>
          </a:prstGeom>
          <a:solidFill>
            <a:srgbClr val="3D68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3154680"/>
            <a:ext cx="259918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D68BB"/>
                </a:solidFill>
              </a:rPr>
              <a:t>FOCO</a:t>
            </a:r>
          </a:p>
          <a:p>
            <a:r>
              <a:rPr sz="1100">
                <a:solidFill>
                  <a:srgbClr val="3D424E"/>
                </a:solidFill>
              </a:rPr>
              <a:t>Rebalanceamento amostral e novos
repositórios biométricos.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023360"/>
            <a:ext cx="2599182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D68BB"/>
                </a:solidFill>
              </a:rPr>
              <a:t>MARCOS</a:t>
            </a:r>
          </a:p>
          <a:p>
            <a:r>
              <a:rPr sz="1050">
                <a:solidFill>
                  <a:srgbClr val="1F2A4E"/>
                </a:solidFill>
              </a:rPr>
              <a:t>•  RFW (Wang et al., 2019)</a:t>
            </a:r>
          </a:p>
          <a:p>
            <a:r>
              <a:rPr sz="1050">
                <a:solidFill>
                  <a:srgbClr val="1F2A4E"/>
                </a:solidFill>
              </a:rPr>
              <a:t>•  BFW (Robinson et al., 2020)</a:t>
            </a:r>
          </a:p>
          <a:p>
            <a:r>
              <a:rPr sz="1050">
                <a:solidFill>
                  <a:srgbClr val="1F2A4E"/>
                </a:solidFill>
              </a:rPr>
              <a:t>•  FairFace (Kärkkäinen &amp; Joo, 2021)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5212080"/>
            <a:ext cx="259918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D68BB"/>
                </a:solidFill>
              </a:rPr>
              <a:t>LIMITAÇÃO</a:t>
            </a:r>
          </a:p>
          <a:p>
            <a:r>
              <a:rPr sz="1050" i="1">
                <a:solidFill>
                  <a:srgbClr val="3D424E"/>
                </a:solidFill>
              </a:rPr>
              <a:t>Equilíbrio amostral é necessário mas insuficiente em
populações heterogêneas (Latinx). Uso restrito ao
Fitzpatrick I–VI.</a:t>
            </a:r>
          </a:p>
        </p:txBody>
      </p:sp>
      <p:sp>
        <p:nvSpPr>
          <p:cNvPr id="9" name="Rectangle 8"/>
          <p:cNvSpPr/>
          <p:nvPr/>
        </p:nvSpPr>
        <p:spPr>
          <a:xfrm>
            <a:off x="3303270" y="3154680"/>
            <a:ext cx="64008" cy="2834640"/>
          </a:xfrm>
          <a:prstGeom prst="rect">
            <a:avLst/>
          </a:prstGeom>
          <a:solidFill>
            <a:srgbClr val="3D68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40430" y="3154680"/>
            <a:ext cx="259918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D68BB"/>
                </a:solidFill>
              </a:rPr>
              <a:t>FOCO</a:t>
            </a:r>
          </a:p>
          <a:p>
            <a:r>
              <a:rPr sz="1100">
                <a:solidFill>
                  <a:srgbClr val="3D424E"/>
                </a:solidFill>
              </a:rPr>
              <a:t>Intervenções na otimização e nas
funções de perda.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40430" y="4023360"/>
            <a:ext cx="2599182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D68BB"/>
                </a:solidFill>
              </a:rPr>
              <a:t>MARCOS</a:t>
            </a:r>
          </a:p>
          <a:p>
            <a:r>
              <a:rPr sz="1050">
                <a:solidFill>
                  <a:srgbClr val="1F2A4E"/>
                </a:solidFill>
              </a:rPr>
              <a:t>•  Group DRO (Sagawa et al., 2020)</a:t>
            </a:r>
          </a:p>
          <a:p>
            <a:r>
              <a:rPr sz="1050">
                <a:solidFill>
                  <a:srgbClr val="1F2A4E"/>
                </a:solidFill>
              </a:rPr>
              <a:t>•  FSCL+ (Park et al., 2022)</a:t>
            </a:r>
          </a:p>
          <a:p>
            <a:r>
              <a:rPr sz="1050">
                <a:solidFill>
                  <a:srgbClr val="1F2A4E"/>
                </a:solidFill>
              </a:rPr>
              <a:t>•  FairGRAPE (Lin et al., 2022)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40430" y="5212080"/>
            <a:ext cx="259918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D68BB"/>
                </a:solidFill>
              </a:rPr>
              <a:t>LIMITAÇÃO</a:t>
            </a:r>
          </a:p>
          <a:p>
            <a:r>
              <a:rPr sz="1050" i="1">
                <a:solidFill>
                  <a:srgbClr val="3D424E"/>
                </a:solidFill>
              </a:rPr>
              <a:t>Conflito severo entre acurácia global e paridade
demográfica (Teorema da Impossibilidade,
Kleinberg et al., 2017).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49340" y="3154680"/>
            <a:ext cx="64008" cy="2834640"/>
          </a:xfrm>
          <a:prstGeom prst="rect">
            <a:avLst/>
          </a:prstGeom>
          <a:solidFill>
            <a:srgbClr val="3D68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86500" y="3154680"/>
            <a:ext cx="259918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D68BB"/>
                </a:solidFill>
              </a:rPr>
              <a:t>FOCO</a:t>
            </a:r>
          </a:p>
          <a:p>
            <a:r>
              <a:rPr sz="1100">
                <a:solidFill>
                  <a:srgbClr val="3D424E"/>
                </a:solidFill>
              </a:rPr>
              <a:t>Modelos visão-linguagem e
transição à escala Monk (MST).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86500" y="4023360"/>
            <a:ext cx="2599182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D68BB"/>
                </a:solidFill>
              </a:rPr>
              <a:t>MARCOS</a:t>
            </a:r>
          </a:p>
          <a:p>
            <a:r>
              <a:rPr sz="1050">
                <a:solidFill>
                  <a:srgbClr val="1F2A4E"/>
                </a:solidFill>
              </a:rPr>
              <a:t>•  FaceScanPaliGemma (AlDahoul et al., 2024)</a:t>
            </a:r>
          </a:p>
          <a:p>
            <a:r>
              <a:rPr sz="1050">
                <a:solidFill>
                  <a:srgbClr val="1F2A4E"/>
                </a:solidFill>
              </a:rPr>
              <a:t>•  FairCLIP (Luo et al., 2024)</a:t>
            </a:r>
          </a:p>
          <a:p>
            <a:r>
              <a:rPr sz="1050">
                <a:solidFill>
                  <a:srgbClr val="1F2A4E"/>
                </a:solidFill>
              </a:rPr>
              <a:t>•  MST (Schumann et al., 2023; Pereira, 2026)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6500" y="5212080"/>
            <a:ext cx="259918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D68BB"/>
                </a:solidFill>
              </a:rPr>
              <a:t>LIMITAÇÃO</a:t>
            </a:r>
          </a:p>
          <a:p>
            <a:r>
              <a:rPr sz="1050" i="1">
                <a:solidFill>
                  <a:srgbClr val="3D424E"/>
                </a:solidFill>
              </a:rPr>
              <a:t>Acurácia agregada sobe (75,7 %) mas persiste gap
de ~30 pp em Latinx (F1 ≈ 60 %); vieses herdados
da web.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95410" y="3154680"/>
            <a:ext cx="64008" cy="283464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32570" y="3154680"/>
            <a:ext cx="259918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1F2A4E"/>
                </a:solidFill>
              </a:rPr>
              <a:t>FOCO</a:t>
            </a:r>
          </a:p>
          <a:p>
            <a:r>
              <a:rPr sz="1100">
                <a:solidFill>
                  <a:srgbClr val="3D424E"/>
                </a:solidFill>
              </a:rPr>
              <a:t>Injeção de MST como sinal arquitetural
intermediário via FiLM.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32570" y="4023360"/>
            <a:ext cx="2599182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1F2A4E"/>
                </a:solidFill>
              </a:rPr>
              <a:t>MARCOS</a:t>
            </a:r>
          </a:p>
          <a:p>
            <a:r>
              <a:rPr sz="1050">
                <a:solidFill>
                  <a:srgbClr val="1F2A4E"/>
                </a:solidFill>
              </a:rPr>
              <a:t>•  FiLM · ConvNeXt-T (Perez et al., 2018)</a:t>
            </a:r>
          </a:p>
          <a:p>
            <a:r>
              <a:rPr sz="1050">
                <a:solidFill>
                  <a:srgbClr val="1F2A4E"/>
                </a:solidFill>
              </a:rPr>
              <a:t>•  Triangulação ISO/IEC 19795-10:2024</a:t>
            </a:r>
          </a:p>
          <a:p>
            <a:r>
              <a:rPr sz="1050">
                <a:solidFill>
                  <a:srgbClr val="1F2A4E"/>
                </a:solidFill>
              </a:rPr>
              <a:t>•  Decomposição fenotípico × pixel (H6)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32570" y="5212080"/>
            <a:ext cx="259918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1F2A4E"/>
                </a:solidFill>
              </a:rPr>
              <a:t>DIFERENCIAL</a:t>
            </a:r>
          </a:p>
          <a:p>
            <a:r>
              <a:rPr sz="1050" i="1">
                <a:solidFill>
                  <a:srgbClr val="3D424E"/>
                </a:solidFill>
              </a:rPr>
              <a:t>Modulação do fluxo de features pelo tom contínuo —
supera rótulos raciais nominais sem exigir modelos
de bilhões de parâmetros.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08076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i="1">
                <a:solidFill>
                  <a:srgbClr val="707682"/>
                </a:solidFill>
              </a:defRPr>
            </a:pPr>
            <a:r>
              <a:t>Fluxo cronológico: dados balanceados → funções de perda → modelos visão-linguagem com MST → condicionamento arquitetural.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10 / 29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Baselines de mitigação para comparação sistemática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5943600"/>
              </a:tblGrid>
              <a:tr h="67926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Método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Referência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Ideia central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Adversarial debiasing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Zhang et al. (2018)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Segundo modelo tenta “ler” o atributo sensível — o primeiro se defende.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Group DRO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Sagawa et al. (2020)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Otimiza o erro do pior grupo, não o erro médio.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FSCL+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Park et al. (2022)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Aprendizado contrastivo com controle explícito de viés.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FineFACE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Manzoor et al. (2024)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Atenção mútua entre camadas — operação Pareto-eficiente.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ResNet-34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Kärkkäinen &amp; Joo (2021)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Baseline canônico da própria comunidade FairFace.</a:t>
                      </a:r>
                    </a:p>
                  </a:txBody>
                  <a:tcPr/>
                </a:tc>
              </a:tr>
              <a:tr h="679272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ConvNeXt-T puro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Liu et al. (2022)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Controle arquitetural moderno — efeito da rede base sem condicionamento.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11 / 29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Lacunas científicas identificadas na literatura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7315200"/>
                <a:gridCol w="3657600"/>
              </a:tblGrid>
              <a:tr h="79248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Lacuna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Endereçamento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Ausência de tabulação pública MST × raça sobre FairFace. Schumann et al. (2023, NeurIPS) estabelecem o protocolo MST sem aplicá-lo ao FairFace; Pereira et al. (2026) liberam o STW sobre dataset próprio.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Etapa 2 — Contribuição 2.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FiLM nunca instanciado em classificação racial multi-classe. Nem o mecanismo original (Perez et al., 2018) nem sua formulação equivalente Conditional Batch Normalization (de Vries et al., 2017) foram adotados com condicionamento por tom de pele contínuo.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Etapa 3 — Contribuição 3.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Falta decomposição formal do erro Latinx. Pangelinan et al. (2023) decompõem o gender gap em verificação (FST 6-tons), mas não estendem a classificação racial multi-classe; o patamar F1 ≈ 60 % em Latinx (Lin et al., 2022; AlDahoul et al., 2024) permanece sem explicação quantitativa.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Etapa 6 — Contribuição 5.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Transferência classificação → verificação com condicionamento preservado é lacuna. Madras et al. (2018, LAFTR) provam a transferência fair apenas em dados tabulares; FairCal (2021), MixFairFace (2022) e score normalization (2024) treinam a mitigação diretamente em RFW/BFW.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Etapa 5 — Contribuição 6.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Reporte empírico de mitigação sem triangulação. Apesar do Teorema da Impossibilidade (Kleinberg et al., 2017) e dos surveys que o catalogam (Mehrabi et al., 2021), papers de mitigação continuam reportando um único indicador agregado.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Etapa 4 — Contribuição 4.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12 / 29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Pipeline experimental em seis etapas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56615" y="1325880"/>
            <a:ext cx="3758184" cy="384048"/>
          </a:xfrm>
          <a:prstGeom prst="roundRect">
            <a:avLst/>
          </a:prstGeom>
          <a:solidFill>
            <a:srgbClr val="E8EAED"/>
          </a:solidFill>
          <a:ln w="9525">
            <a:solidFill>
              <a:srgbClr val="3D42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1300" b="1">
                <a:solidFill>
                  <a:srgbClr val="3D424E"/>
                </a:solidFill>
              </a:rPr>
              <a:t>A. DIAGNÓSTICO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15383" y="1325880"/>
            <a:ext cx="1828800" cy="384048"/>
          </a:xfrm>
          <a:prstGeom prst="roundRect">
            <a:avLst/>
          </a:prstGeom>
          <a:solidFill>
            <a:srgbClr val="B4C4E8"/>
          </a:solidFill>
          <a:ln w="9525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1300" b="1">
                <a:solidFill>
                  <a:srgbClr val="1F2A4E"/>
                </a:solidFill>
              </a:rPr>
              <a:t>B. MÉTODO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44768" y="1325880"/>
            <a:ext cx="5687567" cy="384048"/>
          </a:xfrm>
          <a:prstGeom prst="roundRect">
            <a:avLst/>
          </a:prstGeom>
          <a:solidFill>
            <a:srgbClr val="E8EAED"/>
          </a:solidFill>
          <a:ln w="9525">
            <a:solidFill>
              <a:srgbClr val="3D42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1300" b="1">
                <a:solidFill>
                  <a:srgbClr val="3D424E"/>
                </a:solidFill>
              </a:rPr>
              <a:t>C. VALIDAÇÃO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6615" y="1920240"/>
            <a:ext cx="1828800" cy="3931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37160" bIns="109728"/>
          <a:lstStyle/>
          <a:p>
            <a:pPr algn="ctr"/>
            <a:r>
              <a:rPr sz="1100" b="1">
                <a:solidFill>
                  <a:srgbClr val="3D68BB"/>
                </a:solidFill>
              </a:rPr>
              <a:t>ETAPA 1</a:t>
            </a:r>
          </a:p>
          <a:p>
            <a:pPr algn="ctr">
              <a:spcBef>
                <a:spcPts val="600"/>
              </a:spcBef>
            </a:pPr>
            <a:r>
              <a:rPr sz="1600" b="1">
                <a:solidFill>
                  <a:srgbClr val="1F2A4E"/>
                </a:solidFill>
              </a:rPr>
              <a:t>Classificador MST</a:t>
            </a:r>
          </a:p>
          <a:p>
            <a:pPr algn="ctr">
              <a:spcBef>
                <a:spcPts val="1400"/>
              </a:spcBef>
            </a:pPr>
            <a:r>
              <a:rPr sz="1200">
                <a:solidFill>
                  <a:srgbClr val="3D424E"/>
                </a:solidFill>
              </a:rPr>
              <a:t>Treina rede 10-tons sobre MSTE + CCv2.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85999" y="1920240"/>
            <a:ext cx="1828800" cy="3931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37160" bIns="109728"/>
          <a:lstStyle/>
          <a:p>
            <a:pPr algn="ctr"/>
            <a:r>
              <a:rPr sz="1100" b="1">
                <a:solidFill>
                  <a:srgbClr val="3D68BB"/>
                </a:solidFill>
              </a:rPr>
              <a:t>ETAPA 2</a:t>
            </a:r>
          </a:p>
          <a:p>
            <a:pPr algn="ctr">
              <a:spcBef>
                <a:spcPts val="600"/>
              </a:spcBef>
            </a:pPr>
            <a:r>
              <a:rPr sz="1600" b="1">
                <a:solidFill>
                  <a:srgbClr val="1F2A4E"/>
                </a:solidFill>
              </a:rPr>
              <a:t>Matriz MST × raça</a:t>
            </a:r>
          </a:p>
          <a:p>
            <a:pPr algn="ctr">
              <a:spcBef>
                <a:spcPts val="1400"/>
              </a:spcBef>
            </a:pPr>
            <a:r>
              <a:rPr sz="1200">
                <a:solidFill>
                  <a:srgbClr val="3D424E"/>
                </a:solidFill>
              </a:rPr>
              <a:t>Tabula tons preditos pelas 7 classes FairFace.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15383" y="1920240"/>
            <a:ext cx="1828800" cy="3931920"/>
          </a:xfrm>
          <a:prstGeom prst="roundRect">
            <a:avLst/>
          </a:prstGeom>
          <a:solidFill>
            <a:srgbClr val="1F2A4E"/>
          </a:solidFill>
          <a:ln w="2540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37160" bIns="109728"/>
          <a:lstStyle/>
          <a:p>
            <a:pPr algn="ctr"/>
            <a:r>
              <a:rPr sz="1100" b="1">
                <a:solidFill>
                  <a:srgbClr val="B4C4E8"/>
                </a:solidFill>
              </a:rPr>
              <a:t>ETAPA 3</a:t>
            </a:r>
          </a:p>
          <a:p>
            <a:pPr algn="ctr">
              <a:spcBef>
                <a:spcPts val="600"/>
              </a:spcBef>
            </a:pPr>
            <a:r>
              <a:rPr sz="1600" b="1">
                <a:solidFill>
                  <a:srgbClr val="FFFFFF"/>
                </a:solidFill>
              </a:rPr>
              <a:t>FiLM + ConvNeXt-T</a:t>
            </a:r>
          </a:p>
          <a:p>
            <a:pPr algn="ctr">
              <a:spcBef>
                <a:spcPts val="1400"/>
              </a:spcBef>
            </a:pPr>
            <a:r>
              <a:rPr sz="1200">
                <a:solidFill>
                  <a:srgbClr val="B4C4E8"/>
                </a:solidFill>
              </a:rPr>
              <a:t>Rede condiciona features ao vetor MST (método proposto).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44768" y="1920240"/>
            <a:ext cx="1828800" cy="3931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37160" bIns="109728"/>
          <a:lstStyle/>
          <a:p>
            <a:pPr algn="ctr"/>
            <a:r>
              <a:rPr sz="1100" b="1">
                <a:solidFill>
                  <a:srgbClr val="3D68BB"/>
                </a:solidFill>
              </a:rPr>
              <a:t>ETAPA 4</a:t>
            </a:r>
          </a:p>
          <a:p>
            <a:pPr algn="ctr">
              <a:spcBef>
                <a:spcPts val="600"/>
              </a:spcBef>
            </a:pPr>
            <a:r>
              <a:rPr sz="1600" b="1">
                <a:solidFill>
                  <a:srgbClr val="1F2A4E"/>
                </a:solidFill>
              </a:rPr>
              <a:t>Baselines e cenários</a:t>
            </a:r>
          </a:p>
          <a:p>
            <a:pPr algn="ctr">
              <a:spcBef>
                <a:spcPts val="1400"/>
              </a:spcBef>
            </a:pPr>
            <a:r>
              <a:rPr sz="1200">
                <a:solidFill>
                  <a:srgbClr val="3D424E"/>
                </a:solidFill>
              </a:rPr>
              <a:t>Confronta a proposta com seis famílias já publicadas.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4151" y="1920240"/>
            <a:ext cx="1828800" cy="3931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37160" bIns="109728"/>
          <a:lstStyle/>
          <a:p>
            <a:pPr algn="ctr"/>
            <a:r>
              <a:rPr sz="1100" b="1">
                <a:solidFill>
                  <a:srgbClr val="3D68BB"/>
                </a:solidFill>
              </a:rPr>
              <a:t>ETAPA 5</a:t>
            </a:r>
          </a:p>
          <a:p>
            <a:pPr algn="ctr">
              <a:spcBef>
                <a:spcPts val="600"/>
              </a:spcBef>
            </a:pPr>
            <a:r>
              <a:rPr sz="1600" b="1">
                <a:solidFill>
                  <a:srgbClr val="1F2A4E"/>
                </a:solidFill>
              </a:rPr>
              <a:t>Transferência RFW/BFW</a:t>
            </a:r>
          </a:p>
          <a:p>
            <a:pPr algn="ctr">
              <a:spcBef>
                <a:spcPts val="1400"/>
              </a:spcBef>
            </a:pPr>
            <a:r>
              <a:rPr sz="1200">
                <a:solidFill>
                  <a:srgbClr val="3D424E"/>
                </a:solidFill>
              </a:rPr>
              <a:t>Verifica herança do condicionamento em reconhecimento.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03535" y="1920240"/>
            <a:ext cx="1828800" cy="3931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37160" bIns="109728"/>
          <a:lstStyle/>
          <a:p>
            <a:pPr algn="ctr"/>
            <a:r>
              <a:rPr sz="1100" b="1">
                <a:solidFill>
                  <a:srgbClr val="3D68BB"/>
                </a:solidFill>
              </a:rPr>
              <a:t>ETAPA 6</a:t>
            </a:r>
          </a:p>
          <a:p>
            <a:pPr algn="ctr">
              <a:spcBef>
                <a:spcPts val="600"/>
              </a:spcBef>
            </a:pPr>
            <a:r>
              <a:rPr sz="1600" b="1">
                <a:solidFill>
                  <a:srgbClr val="1F2A4E"/>
                </a:solidFill>
              </a:rPr>
              <a:t>Decomposição do erro</a:t>
            </a:r>
          </a:p>
          <a:p>
            <a:pPr algn="ctr">
              <a:spcBef>
                <a:spcPts val="1400"/>
              </a:spcBef>
            </a:pPr>
            <a:r>
              <a:rPr sz="1200">
                <a:solidFill>
                  <a:srgbClr val="3D424E"/>
                </a:solidFill>
              </a:rPr>
              <a:t>Separa componente fenotípico de componente algorítmico.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185415" y="3886200"/>
            <a:ext cx="100584" cy="0"/>
          </a:xfrm>
          <a:prstGeom prst="bentConnector3">
            <a:avLst/>
          </a:prstGeom>
          <a:ln w="31750">
            <a:solidFill>
              <a:srgbClr val="1F2A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114800" y="3886200"/>
            <a:ext cx="100583" cy="0"/>
          </a:xfrm>
          <a:prstGeom prst="bentConnector3">
            <a:avLst/>
          </a:prstGeom>
          <a:ln w="31750">
            <a:solidFill>
              <a:srgbClr val="1F2A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044183" y="3886200"/>
            <a:ext cx="100585" cy="0"/>
          </a:xfrm>
          <a:prstGeom prst="bentConnector3">
            <a:avLst/>
          </a:prstGeom>
          <a:ln w="31750">
            <a:solidFill>
              <a:srgbClr val="1F2A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973567" y="3886200"/>
            <a:ext cx="100584" cy="0"/>
          </a:xfrm>
          <a:prstGeom prst="bentConnector3">
            <a:avLst/>
          </a:prstGeom>
          <a:ln w="31750">
            <a:solidFill>
              <a:srgbClr val="1F2A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902951" y="3886200"/>
            <a:ext cx="100584" cy="0"/>
          </a:xfrm>
          <a:prstGeom prst="bentConnector3">
            <a:avLst/>
          </a:prstGeom>
          <a:ln w="31750">
            <a:solidFill>
              <a:srgbClr val="1F2A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707682"/>
                </a:solidFill>
              </a:defRPr>
            </a:pPr>
            <a:r>
              <a:t>Fluxo em três fases: diagnóstico (etapas 1 e 2), método proposto (etapa 3, destacada) e validação e síntese (etapas 4 a 6).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13 / 29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Evolução do pipeline experimental — estado em 04/10/2026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pipeline_evolu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7339" y="1371600"/>
            <a:ext cx="1222363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893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707682"/>
                </a:solidFill>
              </a:defRPr>
            </a:pPr>
            <a:r>
              <a:t>Etapas 1 a 3 em execução (código implementado, validação preliminar em curso); etapas 4 a 6 planejadas conforme cronograma. Marco de qualificação assegurado.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14 / 29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Etapa 1: classificador MST treinado internamente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O que faz:  </a:t>
            </a:r>
            <a:r>
              <a:rPr sz="1800">
                <a:solidFill>
                  <a:srgbClr val="3D424E"/>
                </a:solidFill>
              </a:rPr>
              <a:t>produz, para cada imagem facial, o vetor softmax sobre os dez tons da escala Monk.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Decisão pós-reunião Ago/2026:  </a:t>
            </a:r>
            <a:r>
              <a:rPr sz="1800">
                <a:solidFill>
                  <a:srgbClr val="3D424E"/>
                </a:solidFill>
              </a:rPr>
              <a:t>adotar treinamento interno do classificador, reduzindo dependência do release do SkinToneNet (Matias, 2026), cujos pesos e dataset STW ainda não foram divulgados publicamente.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Datasets de treino:  </a:t>
            </a:r>
            <a:r>
              <a:rPr sz="1800">
                <a:solidFill>
                  <a:srgbClr val="3D424E"/>
                </a:solidFill>
              </a:rPr>
              <a:t>Monk Skin Tone Examples (Monk, 2019) e Casual Conversations v2 (Porgali et al., 2023).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Camada auto-suficiente:  </a:t>
            </a:r>
            <a:r>
              <a:rPr sz="1800">
                <a:solidFill>
                  <a:srgbClr val="3D424E"/>
                </a:solidFill>
              </a:rPr>
              <a:t>detecção facial (MTCNN, Zhang et al., 2016), alinhamento, recorte e classificação — viabiliza inferência em datasets sem anotação MST.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Validação:  </a:t>
            </a:r>
            <a:r>
              <a:rPr sz="1800">
                <a:solidFill>
                  <a:srgbClr val="3D424E"/>
                </a:solidFill>
              </a:rPr>
              <a:t>protocolo humano interno (aproximadamente 250 imagens do FairFace) e sensitivity analysis com dois a três classificadores alternativos.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15 / 29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Classificador MST em validação: detalhe técnico do backend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mst_detalhe_tecni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818" y="1371600"/>
            <a:ext cx="11443315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893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707682"/>
                </a:solidFill>
              </a:defRPr>
            </a:pPr>
            <a:r>
              <a:t>Pipeline técnico em cinco etapas: detecção MTCNN → alinhamento por landmarks → segmentação de pele → cor dominante via k-means em CIELab → distância euclidiana à paleta Monk. Backend operacional durante a fase de validação (sensitivity analysis — Cap. 4 §4.2).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16 / 29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Classificador MST em validação: amostras FairFace val (qualitativo)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mst_demo_fa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3795" y="1371600"/>
            <a:ext cx="9681361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893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707682"/>
                </a:solidFill>
              </a:defRPr>
            </a:pPr>
            <a:r>
              <a:t>Para cada raça FairFace: face com tom MST mais claro (acima) e mais escuro (abaixo) preditos sobre amostra estratificada de 350 imagens. Evidência visual direta de H1 — heterogeneidade fenotípica intra-categorial.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17 / 29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Classificador MST em validação: distribuição MST × raça (quantitativo)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mst_demo_distribui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499" y="1371600"/>
            <a:ext cx="10821954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893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707682"/>
                </a:solidFill>
              </a:defRPr>
            </a:pPr>
            <a:r>
              <a:t>Distribuição percentual (dentro de cada raça) sobre amostra estratificada (n = 350, 50 por raça). Nenhuma raça colapsa em um único tom Monk — evidência preliminar que sustenta a formalização de H1.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18 / 29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Racional da escolha do backbone: ConvNeXt-T (Liu et al., 2022)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Paridade com ViTs a custo convolucional:  </a:t>
            </a:r>
            <a:r>
              <a:rPr sz="1800">
                <a:solidFill>
                  <a:srgbClr val="3D424E"/>
                </a:solidFill>
              </a:rPr>
              <a:t>82 % top-1 ImageNet, comparável a Swin-T, ~1/3 dos params.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Estável em fine-tuning:  </a:t>
            </a:r>
            <a:r>
              <a:rPr sz="1800">
                <a:solidFill>
                  <a:srgbClr val="3D424E"/>
                </a:solidFill>
              </a:rPr>
              <a:t>LayerNorm (não BatchNorm) — robusto a batch pequeno, essencial para 3 sementes.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Inserção natural de FiLM:  </a:t>
            </a:r>
            <a:r>
              <a:rPr sz="1800">
                <a:solidFill>
                  <a:srgbClr val="3D424E"/>
                </a:solidFill>
              </a:rPr>
              <a:t>4 estágios hierárquicos oferecem 4 pontos de inserção sem modificar blocos internos.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Comparável ao baseline canônico:  </a:t>
            </a:r>
            <a:r>
              <a:rPr sz="1800">
                <a:solidFill>
                  <a:srgbClr val="3D424E"/>
                </a:solidFill>
              </a:rPr>
              <a:t>ResNet-34 do FairFace serve como âncora — ConvNeXt-T isola o efeito do condicionamento.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Viável computacionalmente:  </a:t>
            </a:r>
            <a:r>
              <a:rPr sz="1800">
                <a:solidFill>
                  <a:srgbClr val="3D424E"/>
                </a:solidFill>
              </a:rPr>
              <a:t>28 M params permitem 3 sementes × 3 configs em GPU comum (~300 h total).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19 / 29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Racional do mecanismo de condicionamento: FiLM (Perez et al., 2018)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Adequação dimensional ao sinal MST:  </a:t>
            </a:r>
            <a:r>
              <a:rPr sz="1800">
                <a:solidFill>
                  <a:srgbClr val="3D424E"/>
                </a:solidFill>
              </a:rPr>
              <a:t>sinal 10-dim casa naturalmente com γ, β — sem explosão paramétrica.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Eficiência:  </a:t>
            </a:r>
            <a:r>
              <a:rPr sz="1800">
                <a:solidFill>
                  <a:srgbClr val="3D424E"/>
                </a:solidFill>
              </a:rPr>
              <a:t>~380 k parâmetros (~1,3 % do backbone) — muito abaixo de cross-attention (~3×).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Interpretabilidade direta:  </a:t>
            </a:r>
            <a:r>
              <a:rPr sz="1800">
                <a:solidFill>
                  <a:srgbClr val="3D424E"/>
                </a:solidFill>
              </a:rPr>
              <a:t>γ e β por canal permitem inspecionar como cada tom modula as features.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Compatibilidade nativa:  </a:t>
            </a:r>
            <a:r>
              <a:rPr sz="1800">
                <a:solidFill>
                  <a:srgbClr val="3D424E"/>
                </a:solidFill>
              </a:rPr>
              <a:t>opera bem com LayerNorm do ConvNeXt-T; init identidade preserva backbone.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Lacuna documentada:  </a:t>
            </a:r>
            <a:r>
              <a:rPr sz="1800">
                <a:solidFill>
                  <a:srgbClr val="3D424E"/>
                </a:solidFill>
              </a:rPr>
              <a:t>sem aplicação prévia em fairness facial multi-classe — Contribuição 3 desta pesquisa.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Descartadas com justificativa formal (Cap 2):  </a:t>
            </a:r>
            <a:r>
              <a:rPr sz="1800">
                <a:solidFill>
                  <a:srgbClr val="3D424E"/>
                </a:solidFill>
              </a:rPr>
              <a:t>Concatenação, CBN, Cross-attention, AdaIN, SPADE, HyperNetworks, LoRA/Adaptadores.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20 / 29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Mecanismo FiLM: modulação de features condicionada ao tom de pele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lm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1864" y="1371600"/>
            <a:ext cx="7605222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893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707682"/>
                </a:solidFill>
              </a:defRPr>
            </a:pPr>
            <a:r>
              <a:t>FiLM (Perez et al., 2018) modula as features intermediárias do ConvNeXt-T canal a canal, condicionadas ao vetor MST. Overhead paramétrico: aproximadamente 1,3 % do backbone.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21 / 29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Configurações do estudo de ablation arquitetural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33756" y="1325880"/>
            <a:ext cx="3657600" cy="461772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819656" y="1554480"/>
            <a:ext cx="685800" cy="685800"/>
          </a:xfrm>
          <a:prstGeom prst="ellipse">
            <a:avLst/>
          </a:prstGeom>
          <a:solidFill>
            <a:srgbClr val="1F2A4E"/>
          </a:solidFill>
          <a:ln w="1905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8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0916" y="2331720"/>
            <a:ext cx="3383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F2A4E"/>
                </a:solidFill>
              </a:rPr>
              <a:t>ConvNeXt-T puro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6636" y="3502152"/>
            <a:ext cx="1250899" cy="384048"/>
          </a:xfrm>
          <a:prstGeom prst="roundRect">
            <a:avLst/>
          </a:prstGeom>
          <a:solidFill>
            <a:srgbClr val="E8EAED"/>
          </a:solidFill>
          <a:ln w="13970">
            <a:solidFill>
              <a:srgbClr val="3D42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1000" b="1">
                <a:solidFill>
                  <a:srgbClr val="3D424E"/>
                </a:solidFill>
              </a:rPr>
              <a:t>Imagem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28392" y="3502152"/>
            <a:ext cx="1580083" cy="38404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1000" b="1">
                <a:solidFill>
                  <a:srgbClr val="1F2A4E"/>
                </a:solidFill>
              </a:rPr>
              <a:t>ConvNeXt-T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767535" y="3694176"/>
            <a:ext cx="460857" cy="0"/>
          </a:xfrm>
          <a:prstGeom prst="bentConnector3">
            <a:avLst/>
          </a:prstGeom>
          <a:ln w="25400">
            <a:solidFill>
              <a:srgbClr val="3D42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16636" y="434340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3D424E"/>
                </a:solidFill>
              </a:rPr>
              <a:t>Controle arquitetural
sem condicionamento.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6636" y="5257800"/>
            <a:ext cx="3291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i="1">
                <a:solidFill>
                  <a:srgbClr val="707682"/>
                </a:solidFill>
              </a:rPr>
              <a:t>Baseline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65676" y="1325880"/>
            <a:ext cx="3657600" cy="4617720"/>
          </a:xfrm>
          <a:prstGeom prst="roundRect">
            <a:avLst/>
          </a:prstGeom>
          <a:solidFill>
            <a:srgbClr val="1F2A4E"/>
          </a:solidFill>
          <a:ln w="3048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751576" y="1554480"/>
            <a:ext cx="685800" cy="6858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800" b="1">
                <a:solidFill>
                  <a:srgbClr val="1F2A4E"/>
                </a:solidFill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02836" y="2331720"/>
            <a:ext cx="3383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</a:rPr>
              <a:t>ConvNeXt-T + FiLM
(MST direto, 10-dim)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48556" y="3291839"/>
            <a:ext cx="1382572" cy="384048"/>
          </a:xfrm>
          <a:prstGeom prst="roundRect">
            <a:avLst/>
          </a:prstGeom>
          <a:solidFill>
            <a:srgbClr val="E8EAED"/>
          </a:solidFill>
          <a:ln w="13970">
            <a:solidFill>
              <a:srgbClr val="3D42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1000" b="1">
                <a:solidFill>
                  <a:srgbClr val="3D424E"/>
                </a:solidFill>
              </a:rPr>
              <a:t>Imagem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48556" y="3749039"/>
            <a:ext cx="1382572" cy="384048"/>
          </a:xfrm>
          <a:prstGeom prst="roundRect">
            <a:avLst/>
          </a:prstGeom>
          <a:solidFill>
            <a:srgbClr val="B4C4E8"/>
          </a:solidFill>
          <a:ln w="1397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1000" b="1">
                <a:solidFill>
                  <a:srgbClr val="1F2A4E"/>
                </a:solidFill>
              </a:rPr>
              <a:t>MST (10-dim)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0312" y="3520439"/>
            <a:ext cx="1580083" cy="384048"/>
          </a:xfrm>
          <a:prstGeom prst="roundRect">
            <a:avLst/>
          </a:prstGeom>
          <a:solidFill>
            <a:srgbClr val="B4C4E8"/>
          </a:solidFill>
          <a:ln w="1397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1000" b="1">
                <a:solidFill>
                  <a:srgbClr val="1F2A4E"/>
                </a:solidFill>
              </a:rPr>
              <a:t>FiLM · ConvNeXt-T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831128" y="3483863"/>
            <a:ext cx="329184" cy="228600"/>
          </a:xfrm>
          <a:prstGeom prst="bentConnector3">
            <a:avLst/>
          </a:prstGeom>
          <a:ln w="22860">
            <a:solidFill>
              <a:srgbClr val="3D42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5831128" y="3712463"/>
            <a:ext cx="329184" cy="228600"/>
          </a:xfrm>
          <a:prstGeom prst="bentConnector3">
            <a:avLst/>
          </a:prstGeom>
          <a:ln w="2286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448556" y="434340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B4C4E8"/>
                </a:solidFill>
              </a:rPr>
              <a:t>Proposta principal — tom
de pele contínuo como
contexto arquitetural.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48556" y="5257800"/>
            <a:ext cx="3291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i="1">
                <a:solidFill>
                  <a:srgbClr val="B4C4E8"/>
                </a:solidFill>
              </a:rPr>
              <a:t>Perez et al. (2018) + Monk
(Schumann et al., 2023)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97596" y="1325880"/>
            <a:ext cx="3657600" cy="461772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83496" y="1554480"/>
            <a:ext cx="685800" cy="685800"/>
          </a:xfrm>
          <a:prstGeom prst="ellipse">
            <a:avLst/>
          </a:prstGeom>
          <a:solidFill>
            <a:srgbClr val="1F2A4E"/>
          </a:solidFill>
          <a:ln w="1905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8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4756" y="2331720"/>
            <a:ext cx="3383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F2A4E"/>
                </a:solidFill>
              </a:rPr>
              <a:t>ConvNeXt-T + FiLM
(CLIP-text, 512-dim)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380475" y="3291839"/>
            <a:ext cx="1382572" cy="384048"/>
          </a:xfrm>
          <a:prstGeom prst="roundRect">
            <a:avLst/>
          </a:prstGeom>
          <a:solidFill>
            <a:srgbClr val="E8EAED"/>
          </a:solidFill>
          <a:ln w="13970">
            <a:solidFill>
              <a:srgbClr val="3D42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1000" b="1">
                <a:solidFill>
                  <a:srgbClr val="3D424E"/>
                </a:solidFill>
              </a:rPr>
              <a:t>Imagem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80475" y="3749039"/>
            <a:ext cx="1382572" cy="384048"/>
          </a:xfrm>
          <a:prstGeom prst="roundRect">
            <a:avLst/>
          </a:prstGeom>
          <a:solidFill>
            <a:srgbClr val="3D68BB"/>
          </a:solidFill>
          <a:ln w="1397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1000" b="1">
                <a:solidFill>
                  <a:srgbClr val="FFFFFF"/>
                </a:solidFill>
              </a:rPr>
              <a:t>CLIP-text (512-dim)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092232" y="3520439"/>
            <a:ext cx="1580083" cy="38404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1000" b="1">
                <a:solidFill>
                  <a:srgbClr val="1F2A4E"/>
                </a:solidFill>
              </a:rPr>
              <a:t>FiLM · ConvNeXt-T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763048" y="3483863"/>
            <a:ext cx="329184" cy="228600"/>
          </a:xfrm>
          <a:prstGeom prst="bentConnector3">
            <a:avLst/>
          </a:prstGeom>
          <a:ln w="22860">
            <a:solidFill>
              <a:srgbClr val="3D42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9763048" y="3712463"/>
            <a:ext cx="329184" cy="228600"/>
          </a:xfrm>
          <a:prstGeom prst="bentConnector3">
            <a:avLst/>
          </a:prstGeom>
          <a:ln w="22860">
            <a:solidFill>
              <a:srgbClr val="3D68B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8380475" y="434340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3D424E"/>
                </a:solidFill>
              </a:rPr>
              <a:t>Alternativa moderna —
embedding textual rico
como sinal condicionante.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80475" y="5257800"/>
            <a:ext cx="3291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i="1">
                <a:solidFill>
                  <a:srgbClr val="707682"/>
                </a:solidFill>
              </a:rPr>
              <a:t>Radford et al. (2021) +
Dehdashtian et al. (2024)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03504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707682"/>
                </a:solidFill>
              </a:defRPr>
            </a:pPr>
            <a:r>
              <a:t>Ceteris paribus: mesmo backbone (ConvNeXt-T), mesmo dataset (FairFace), mesmas três sementes, mesma receita de treino — varia-se apenas o sinal condicionante.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22 / 29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Protocolo de validação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70432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707682"/>
                </a:solidFill>
              </a:defRPr>
            </a:pPr>
            <a:r>
              <a:t>Três perguntas, três respostas pré-registradas — nenhum ajuste pós-resultado.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2316" y="1600200"/>
            <a:ext cx="3749039" cy="59436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3152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 QUE AVALIO?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2316" y="2240279"/>
            <a:ext cx="3749039" cy="3657600"/>
          </a:xfrm>
          <a:prstGeom prst="roundRect">
            <a:avLst/>
          </a:prstGeom>
          <a:solidFill>
            <a:srgbClr val="E8E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79476" y="2423160"/>
            <a:ext cx="347472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1F2A4E"/>
                </a:solidFill>
              </a:rPr>
              <a:t>A · 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9476" y="338328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707682"/>
                </a:solidFill>
              </a:rPr>
              <a:t>dois cenários estratificados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16636" y="3840480"/>
            <a:ext cx="3200400" cy="0"/>
          </a:xfrm>
          <a:prstGeom prst="bentConnector3">
            <a:avLst/>
          </a:prstGeom>
          <a:ln w="9525">
            <a:solidFill>
              <a:srgbClr val="7076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70916" y="3977639"/>
            <a:ext cx="32918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F2A4E"/>
                </a:solidFill>
              </a:rPr>
              <a:t>•  Cenário A — reporte pelas 7 classes raciais do FairFace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" y="4617720"/>
            <a:ext cx="32918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F2A4E"/>
                </a:solidFill>
              </a:rPr>
              <a:t>•  Cenário B — reporte pelos 8 subgrupos raça × gênero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" y="5394960"/>
            <a:ext cx="32918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i="1">
                <a:solidFill>
                  <a:srgbClr val="707682"/>
                </a:solidFill>
              </a:rPr>
              <a:t>Protocolo interseccional (Buolamwini &amp; Gebru, 2018)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19956" y="1600200"/>
            <a:ext cx="3749039" cy="59436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3152"/>
          <a:lstStyle/>
          <a:p>
            <a:pPr algn="ctr"/>
            <a:r>
              <a:rPr sz="1600" b="1">
                <a:solidFill>
                  <a:srgbClr val="FFFFFF"/>
                </a:solidFill>
              </a:rPr>
              <a:t>COM QUE RIGOR?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19956" y="2240279"/>
            <a:ext cx="3749039" cy="3657600"/>
          </a:xfrm>
          <a:prstGeom prst="roundRect">
            <a:avLst/>
          </a:prstGeom>
          <a:solidFill>
            <a:srgbClr val="E8E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57116" y="2423160"/>
            <a:ext cx="347472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600" b="1">
                <a:solidFill>
                  <a:srgbClr val="1F2A4E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57116" y="338328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707682"/>
                </a:solidFill>
              </a:rPr>
              <a:t>sementes · IC 95 % · comparação pareada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494276" y="3840480"/>
            <a:ext cx="3200399" cy="0"/>
          </a:xfrm>
          <a:prstGeom prst="bentConnector3">
            <a:avLst/>
          </a:prstGeom>
          <a:ln w="9525">
            <a:solidFill>
              <a:srgbClr val="7076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448556" y="3977639"/>
            <a:ext cx="32918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F2A4E"/>
                </a:solidFill>
              </a:rPr>
              <a:t>•  Sementes independentes: 42, 1 e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48556" y="4617720"/>
            <a:ext cx="32918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F2A4E"/>
                </a:solidFill>
              </a:rPr>
              <a:t>•  Bootstrap não-paramétrico · norma ISO/IEC 19795-10:2024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8556" y="5394960"/>
            <a:ext cx="32918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i="1">
                <a:solidFill>
                  <a:srgbClr val="707682"/>
                </a:solidFill>
              </a:rPr>
              <a:t>Padrão biométrico internacional estratificado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97596" y="1600200"/>
            <a:ext cx="3749039" cy="59436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3152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ONDE GENERALIZA?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97596" y="2240279"/>
            <a:ext cx="3749039" cy="3657600"/>
          </a:xfrm>
          <a:prstGeom prst="roundRect">
            <a:avLst/>
          </a:prstGeom>
          <a:solidFill>
            <a:srgbClr val="E8E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34756" y="2423160"/>
            <a:ext cx="347472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1F2A4E"/>
                </a:solidFill>
              </a:rPr>
              <a:t>RFW · BFW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4756" y="338328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707682"/>
                </a:solidFill>
              </a:rPr>
              <a:t>dois datasets externos de verificação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471916" y="3840480"/>
            <a:ext cx="3200399" cy="0"/>
          </a:xfrm>
          <a:prstGeom prst="bentConnector3">
            <a:avLst/>
          </a:prstGeom>
          <a:ln w="9525">
            <a:solidFill>
              <a:srgbClr val="7076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426196" y="3977639"/>
            <a:ext cx="32918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F2A4E"/>
                </a:solidFill>
              </a:rPr>
              <a:t>•  RFW — 4 raças, pares oficiais 1 : 1 (Wang et al., 2019)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26196" y="4617720"/>
            <a:ext cx="32918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F2A4E"/>
                </a:solidFill>
              </a:rPr>
              <a:t>•  BFW — 4 raças × 2 gêneros, balanceado (Robinson et al., 2020)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26196" y="5394960"/>
            <a:ext cx="32918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i="1">
                <a:solidFill>
                  <a:srgbClr val="707682"/>
                </a:solidFill>
              </a:rPr>
              <a:t>Transferência arquitetural via feature-freeze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6080760"/>
            <a:ext cx="11274552" cy="68580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54864"/>
          <a:lstStyle/>
          <a:p>
            <a:pPr algn="ctr"/>
            <a:r>
              <a:rPr sz="1300" b="1">
                <a:solidFill>
                  <a:srgbClr val="FFFFFF"/>
                </a:solidFill>
              </a:rPr>
              <a:t>Protocolo falsificável</a:t>
            </a:r>
          </a:p>
          <a:p>
            <a:pPr algn="ctr"/>
            <a:r>
              <a:rPr sz="1100">
                <a:solidFill>
                  <a:srgbClr val="B4C4E8"/>
                </a:solidFill>
              </a:rPr>
              <a:t>Critérios binários pré-registrados (H1, H4, H5); nenhum ajuste de métrica pós-resultado — alinhado à metodologia popperiana e à norma biométrica.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23 / 29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As métricas que vamos reportar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70432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707682"/>
                </a:solidFill>
              </a:defRPr>
            </a:pPr>
            <a:r>
              <a:t>Padrão da literatura — valores reportados: SOTA FaceScanPaliGemma (AlDahoul et al., 2024) sobre FairFace 7-class in-domain.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79476" y="1600200"/>
            <a:ext cx="3657600" cy="82296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3152"/>
          <a:lstStyle/>
          <a:p>
            <a:pPr algn="ctr"/>
            <a:r>
              <a:rPr sz="2200" b="1">
                <a:solidFill>
                  <a:srgbClr val="FFFFFF"/>
                </a:solidFill>
              </a:rPr>
              <a:t>F1 macro</a:t>
            </a:r>
          </a:p>
          <a:p>
            <a:pPr algn="ctr"/>
            <a:r>
              <a:rPr sz="1200" i="1">
                <a:solidFill>
                  <a:srgbClr val="B4C4E8"/>
                </a:solidFill>
              </a:rPr>
              <a:t>performance média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79476" y="2468879"/>
            <a:ext cx="3657600" cy="3657600"/>
          </a:xfrm>
          <a:prstGeom prst="roundRect">
            <a:avLst/>
          </a:prstGeom>
          <a:solidFill>
            <a:srgbClr val="E8E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2356" y="260604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3D424E"/>
                </a:solidFill>
              </a:rPr>
              <a:t>Média harmônica de precision/recall por
classe, depois média simples entre as
7 raças do FairFace.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2356" y="3657600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i="1">
                <a:solidFill>
                  <a:srgbClr val="707682"/>
                </a:solidFill>
              </a:rPr>
              <a:t>Referência: van Rijsbergen 1979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53796" y="4251960"/>
            <a:ext cx="3108960" cy="0"/>
          </a:xfrm>
          <a:prstGeom prst="bentConnector3">
            <a:avLst/>
          </a:prstGeom>
          <a:ln w="9525">
            <a:solidFill>
              <a:srgbClr val="7076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62356" y="4343400"/>
            <a:ext cx="3291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i="1">
                <a:solidFill>
                  <a:srgbClr val="707682"/>
                </a:solidFill>
              </a:rPr>
              <a:t>SOTA atual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2356" y="4663440"/>
            <a:ext cx="329184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1F2A4E"/>
                </a:solidFill>
              </a:rPr>
              <a:t>75 %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2356" y="55778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3D424E"/>
                </a:solidFill>
              </a:rPr>
              <a:t>FaceScanPaliGemma  ·  baseline ResNet-34 = 72 %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65676" y="1600200"/>
            <a:ext cx="3657600" cy="82296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3152"/>
          <a:lstStyle/>
          <a:p>
            <a:pPr algn="ctr"/>
            <a:r>
              <a:rPr sz="2200" b="1">
                <a:solidFill>
                  <a:srgbClr val="FFFFFF"/>
                </a:solidFill>
              </a:rPr>
              <a:t>DR</a:t>
            </a:r>
          </a:p>
          <a:p>
            <a:pPr algn="ctr"/>
            <a:r>
              <a:rPr sz="1200" i="1">
                <a:solidFill>
                  <a:srgbClr val="B4C4E8"/>
                </a:solidFill>
              </a:rPr>
              <a:t>Disparity Ratio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65676" y="2468879"/>
            <a:ext cx="3657600" cy="3657600"/>
          </a:xfrm>
          <a:prstGeom prst="roundRect">
            <a:avLst/>
          </a:prstGeom>
          <a:solidFill>
            <a:srgbClr val="E8E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48556" y="260604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3D424E"/>
                </a:solidFill>
              </a:rPr>
              <a:t>Razão F1_min / F1_max entre raças.
Mede o gap entre o pior e o melhor
subgrupo (0 = total disparidade, 1 = paridade).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48556" y="3657600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i="1">
                <a:solidFill>
                  <a:srgbClr val="707682"/>
                </a:solidFill>
              </a:rPr>
              <a:t>Referência: Hardt, Price &amp; Srebro 2016 (NeurIPS)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539996" y="4251960"/>
            <a:ext cx="3108959" cy="0"/>
          </a:xfrm>
          <a:prstGeom prst="bentConnector3">
            <a:avLst/>
          </a:prstGeom>
          <a:ln w="9525">
            <a:solidFill>
              <a:srgbClr val="7076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448556" y="4343400"/>
            <a:ext cx="3291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i="1">
                <a:solidFill>
                  <a:srgbClr val="707682"/>
                </a:solidFill>
              </a:rPr>
              <a:t>SOTA atual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48556" y="4663440"/>
            <a:ext cx="329184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1F2A4E"/>
                </a:solidFill>
              </a:rPr>
              <a:t>0,67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8556" y="55778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3D424E"/>
                </a:solidFill>
              </a:rPr>
              <a:t>F1 Latinx 60 %  ÷  F1 Black 90 %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51875" y="1600200"/>
            <a:ext cx="3657600" cy="82296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3152"/>
          <a:lstStyle/>
          <a:p>
            <a:pPr algn="ctr"/>
            <a:r>
              <a:rPr sz="2200" b="1">
                <a:solidFill>
                  <a:srgbClr val="FFFFFF"/>
                </a:solidFill>
              </a:rPr>
              <a:t>Worst-class F1</a:t>
            </a:r>
          </a:p>
          <a:p>
            <a:pPr algn="ctr"/>
            <a:r>
              <a:rPr sz="1200" i="1">
                <a:solidFill>
                  <a:srgbClr val="B4C4E8"/>
                </a:solidFill>
              </a:rPr>
              <a:t>pior subgrupo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51875" y="2468879"/>
            <a:ext cx="3657600" cy="3657600"/>
          </a:xfrm>
          <a:prstGeom prst="roundRect">
            <a:avLst/>
          </a:prstGeom>
          <a:solidFill>
            <a:srgbClr val="E8E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34755" y="260604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3D424E"/>
                </a:solidFill>
              </a:rPr>
              <a:t>F1 da raça em que o modelo erra mais.
Garante que ninguém fique para trás,
mesmo quando a média agregada é alta.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4755" y="3657600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i="1">
                <a:solidFill>
                  <a:srgbClr val="707682"/>
                </a:solidFill>
              </a:rPr>
              <a:t>Referência: Sagawa et al. 2020 (ICLR) — Group DRO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426196" y="4251960"/>
            <a:ext cx="3108959" cy="0"/>
          </a:xfrm>
          <a:prstGeom prst="bentConnector3">
            <a:avLst/>
          </a:prstGeom>
          <a:ln w="9525">
            <a:solidFill>
              <a:srgbClr val="7076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334755" y="4343400"/>
            <a:ext cx="3291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i="1">
                <a:solidFill>
                  <a:srgbClr val="707682"/>
                </a:solidFill>
              </a:rPr>
              <a:t>SOTA atual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34755" y="4663440"/>
            <a:ext cx="329184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1F2A4E"/>
                </a:solidFill>
              </a:rPr>
              <a:t>60 %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34755" y="55778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3D424E"/>
                </a:solidFill>
              </a:rPr>
              <a:t>Latinx  ·  FaceScanPaliGemma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6080760"/>
            <a:ext cx="11274552" cy="68580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54864"/>
          <a:lstStyle/>
          <a:p>
            <a:pPr algn="ctr"/>
            <a:r>
              <a:rPr sz="1300" b="1">
                <a:solidFill>
                  <a:srgbClr val="FFFFFF"/>
                </a:solidFill>
              </a:rPr>
              <a:t>Por que três métricas e não uma?</a:t>
            </a:r>
          </a:p>
          <a:p>
            <a:pPr algn="ctr"/>
            <a:r>
              <a:rPr sz="1100">
                <a:solidFill>
                  <a:srgbClr val="B4C4E8"/>
                </a:solidFill>
              </a:rPr>
              <a:t>Teorema da Impossibilidade (Kleinberg, Mullainathan &amp; Raghavan 2017, ITCS): nenhuma métrica única de equidade satisfaz simultaneamente calibração, equal FPR e equal FNR — reportar as três é a forma honesta de comunicar trade-offs.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24 / 29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Contribuições esperadas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6400800"/>
              </a:tblGrid>
              <a:tr h="118872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Eixo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Contribuições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Foco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118872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Fenotípico-empírico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1, 2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Documentar como o fenótipo (MST) se distribui dentro de cada rótulo racial.</a:t>
                      </a:r>
                    </a:p>
                  </a:txBody>
                  <a:tcPr/>
                </a:tc>
              </a:tr>
              <a:tr h="118872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Metodológico-arquitetural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3, 4, 7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Injetar tom de pele como contexto arquitetural + triangulação de métricas.</a:t>
                      </a:r>
                    </a:p>
                  </a:txBody>
                  <a:tcPr/>
                </a:tc>
              </a:tr>
              <a:tr h="118872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Diagnóstico-estrutural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5, 6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Decompor o erro em fenotípico (irredutível) e algorítmico (mitigável).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25 / 29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Cronograma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200400"/>
                <a:gridCol w="5943600"/>
              </a:tblGrid>
              <a:tr h="52832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Período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Etapa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Entrega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Ago–Set/2026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Preparação adiantada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Código das 6 etapas pronto (120 testes passando).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05/10/2026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QUALIFICAÇÃO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Marco atual.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Out/2026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Aplicar sugestões da banca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Ajustes de texto e escopo.</a:t>
                      </a:r>
                    </a:p>
                  </a:txBody>
                  <a:tcPr/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Nov–Dez/2026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Etapas 1 e 2 formais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Treino MST + matriz pública MST × raça.</a:t>
                      </a:r>
                    </a:p>
                  </a:txBody>
                  <a:tcPr/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Jan–Mar/2027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Etapa 3 (ablation)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3 configurações A/B/C do FiLM.</a:t>
                      </a:r>
                    </a:p>
                  </a:txBody>
                  <a:tcPr/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Abr–Mai/2027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Etapas 4 e 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6 baselines + transferência RFW/BFW.</a:t>
                      </a:r>
                    </a:p>
                  </a:txBody>
                  <a:tcPr/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Jun/2027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Etapa 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Síntese decompositiva.</a:t>
                      </a:r>
                    </a:p>
                  </a:txBody>
                  <a:tcPr/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2º sem 2027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Redação final + DEFESA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Encerramento.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26 / 29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Riscos identificados e estratégias de mitigação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4114800"/>
                <a:gridCol w="6766560"/>
              </a:tblGrid>
              <a:tr h="950976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Risco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Mitigação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95097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R1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Alguma das 6 hipóteses pode ser refutada.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Cada hipótese tem plano B; refutação é resultado científico válido.</a:t>
                      </a:r>
                    </a:p>
                  </a:txBody>
                  <a:tcPr/>
                </a:tc>
              </a:tr>
              <a:tr h="95097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R2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Qualidade do nosso classificador de tom de pele.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Validação humana + sensitivity com outros classificadores + benchmark externo (STW) quando disponível.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95097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R3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Refutação parcial pela tese Pangelinan (pixel info &gt; tom).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Já incluída como H6 — refutação vira contribuição quantitativa.</a:t>
                      </a:r>
                    </a:p>
                  </a:txBody>
                  <a:tcPr/>
                </a:tc>
              </a:tr>
              <a:tr h="95097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R4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Custo computacional (3 sementes × 3 configs × 6 baselines).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ConvNeXt-T é leve (~28M params); estimativa 200–400 h GPU total.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27 / 29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Estado atual do trabalho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79476" y="1463040"/>
            <a:ext cx="3657600" cy="201168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79476" y="1600200"/>
            <a:ext cx="3657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+3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9476" y="251460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meses adiantados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0916" y="297180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i="1">
                <a:solidFill>
                  <a:srgbClr val="B4C4E8"/>
                </a:solidFill>
              </a:defRPr>
            </a:pPr>
            <a:r>
              <a:t>sobre o cronograma proposto na qualificação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65676" y="1463040"/>
            <a:ext cx="3657600" cy="2011680"/>
          </a:xfrm>
          <a:prstGeom prst="roundRect">
            <a:avLst/>
          </a:prstGeom>
          <a:solidFill>
            <a:srgbClr val="E8E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65676" y="1600200"/>
            <a:ext cx="3657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1F2A4E"/>
                </a:solidFill>
              </a:defRPr>
            </a:pPr>
            <a:r>
              <a:t>6 de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65676" y="251460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F2A4E"/>
                </a:solidFill>
              </a:defRPr>
            </a:pPr>
            <a:r>
              <a:t>etapas com código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57116" y="297180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i="1">
                <a:solidFill>
                  <a:srgbClr val="707682"/>
                </a:solidFill>
              </a:defRPr>
            </a:pPr>
            <a:r>
              <a:t>estruturado, testado e pronto para execução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51875" y="1463040"/>
            <a:ext cx="3657600" cy="2011680"/>
          </a:xfrm>
          <a:prstGeom prst="roundRect">
            <a:avLst/>
          </a:prstGeom>
          <a:solidFill>
            <a:srgbClr val="E8E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51875" y="1600200"/>
            <a:ext cx="3657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1F2A4E"/>
                </a:solidFill>
              </a:defRPr>
            </a:pPr>
            <a:r>
              <a:t>120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1875" y="251460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F2A4E"/>
                </a:solidFill>
              </a:defRPr>
            </a:pPr>
            <a:r>
              <a:t>testes automatizados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3315" y="297180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i="1">
                <a:solidFill>
                  <a:srgbClr val="707682"/>
                </a:solidFill>
              </a:defRPr>
            </a:pPr>
            <a:r>
              <a:t>todos passando (unit + smoke + integração)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84048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F2A4E"/>
                </a:solidFill>
              </a:defRPr>
            </a:pPr>
            <a:r>
              <a:t>Estado das entregas em 28/09/2026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297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F2A4E"/>
                </a:solidFill>
              </a:rPr>
              <a:t>•  Etapas 1 e 2 (código completo):  </a:t>
            </a:r>
            <a:r>
              <a:rPr sz="1600">
                <a:solidFill>
                  <a:srgbClr val="3D424E"/>
                </a:solidFill>
              </a:rPr>
              <a:t>classificador MST treinado internamente, camada de preprocessamento auto-suficiente, matriz MST × raça, teste formal de H2.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2A4E"/>
                </a:solidFill>
              </a:rPr>
              <a:t>•  Etapa 3 (FiLM):  </a:t>
            </a:r>
            <a:r>
              <a:rPr sz="1600">
                <a:solidFill>
                  <a:srgbClr val="3D424E"/>
                </a:solidFill>
              </a:rPr>
              <a:t>camada FiLM, wrapper ConvNeXt-T, ensembler CLIP-text e pipeline de treinamento das três configurações.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2A4E"/>
                </a:solidFill>
              </a:rPr>
              <a:t>•  Etapas 4, 5 e 6:  </a:t>
            </a:r>
            <a:r>
              <a:rPr sz="1600">
                <a:solidFill>
                  <a:srgbClr val="3D424E"/>
                </a:solidFill>
              </a:rPr>
              <a:t>métricas de equidade, quatro baselines, análise Pareto, verificação em RFW/BFW e decomposição ANOVA/R².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2A4E"/>
                </a:solidFill>
              </a:rPr>
              <a:t>•  Texto da dissertação:  </a:t>
            </a:r>
            <a:r>
              <a:rPr sz="1600">
                <a:solidFill>
                  <a:srgbClr val="3D424E"/>
                </a:solidFill>
              </a:rPr>
              <a:t>cinco capítulos consolidados, três passadas de revisão de estilo e 104 fichas bibliográficas.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28 / 29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471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Obrigado.</a:t>
            </a:r>
          </a:p>
          <a:p>
            <a:pPr algn="ctr">
              <a:defRPr sz="2800">
                <a:solidFill>
                  <a:srgbClr val="B4C4E8"/>
                </a:solidFill>
              </a:defRPr>
            </a:pPr>
            <a:r>
              <a:t>Perguntas?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i="1">
                <a:solidFill>
                  <a:srgbClr val="B4C4E8"/>
                </a:solidFill>
              </a:defRPr>
            </a:pPr>
            <a:r>
              <a:t>Marcello Ozzetti · marcello.ozzetti@gmail.com · UNIFESP/ICT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