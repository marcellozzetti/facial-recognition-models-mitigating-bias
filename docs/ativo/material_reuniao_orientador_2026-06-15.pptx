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188720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A4E"/>
                </a:solidFill>
              </a:defRPr>
            </a:pPr>
            <a:r>
              <a:t>Evolução da semana</a:t>
            </a:r>
          </a:p>
          <a:p>
            <a:pPr>
              <a:defRPr sz="2200">
                <a:solidFill>
                  <a:srgbClr val="3D424E"/>
                </a:solidFill>
              </a:defRPr>
            </a:pPr>
            <a:r>
              <a:t>Corpus consolidado (101 fichas) e análise CLIP vs FiLM</a:t>
            </a:r>
          </a:p>
          <a:p>
            <a:pPr>
              <a:defRPr sz="1600" i="1">
                <a:solidFill>
                  <a:srgbClr val="707682"/>
                </a:solidFill>
              </a:defRPr>
            </a:pPr>
            <a:r>
              <a:t>Pente fino crítico do corpus e resposta à sugestão do orientador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Programa:  Mestrado em Ciência da Computação — Unifesp / ICT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Reunião:  15 de junho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Agenda da reunião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Status das decisões da reunião anterior (08/jun)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Corpus consolidado: 101 fichas em 11 tracks temáticos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Pente fino crítico do corpus (classificação por impacto)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Resposta à sugestão do orientador: CLIP (Contrastive Language-Image Pre-training)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FiLM em fairness: lacuna na literatura como contribuição original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Proposta: Contribuição C7 — ablation arquitetural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7.  </a:t>
            </a:r>
            <a:r>
              <a:rPr sz="1600">
                <a:solidFill>
                  <a:srgbClr val="3D424E"/>
                </a:solidFill>
              </a:rPr>
              <a:t>Plano de escrita e decisões a alinhar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Tempo estimado: 12-15 min de apresentação + discussão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Status das decisões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Reunião anterior — 08/jun/2026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Decisões da reunião anterior —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389120"/>
                <a:gridCol w="1645920"/>
                <a:gridCol w="493776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6 etapas validado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Detalhado etapa por etapa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SkinToneNet pré-treinado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Leitura integral concluída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Corpus ≥100 artigos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 — 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+46 fichas na última rodada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≥20 artigos 2025-2026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 — 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Meta superada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Adicionar CLIP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 — Track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 fichas + análise técnica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Primeira revisão ao orientador em 15/jul/2026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 curso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Escrita em andamento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5 itens fechados e 1 em execução conforme planejado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Corpus consolidado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101 fichas em 11 tracks temáticos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Marco atingido: 101 fichas em 11 tracks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Total:  </a:t>
            </a:r>
            <a:r>
              <a:rPr sz="1600">
                <a:solidFill>
                  <a:srgbClr val="3D424E"/>
                </a:solidFill>
              </a:rPr>
              <a:t>101 fichas distribuídas em 11 tracks temáticos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Meta 2025-2026:  </a:t>
            </a:r>
            <a:r>
              <a:rPr sz="1600">
                <a:solidFill>
                  <a:srgbClr val="3D424E"/>
                </a:solidFill>
              </a:rPr>
              <a:t>25 fichas (meta era ≥20) — atingida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Crescimento:  </a:t>
            </a:r>
            <a:r>
              <a:rPr sz="1600">
                <a:solidFill>
                  <a:srgbClr val="3D424E"/>
                </a:solidFill>
              </a:rPr>
              <a:t>+46 fichas na ampliação recente do corpus (55 → 101)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Novos tracks:  </a:t>
            </a:r>
            <a:r>
              <a:rPr sz="1600">
                <a:solidFill>
                  <a:srgbClr val="3D424E"/>
                </a:solidFill>
              </a:rPr>
              <a:t>I, J, K criados em resposta a recomendações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Track I:  </a:t>
            </a:r>
            <a:r>
              <a:rPr sz="1600">
                <a:solidFill>
                  <a:srgbClr val="3D424E"/>
                </a:solidFill>
              </a:rPr>
              <a:t>VLM / CLIP em fairness (14 fichas) — resposta direta ao orientador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Track J:  </a:t>
            </a:r>
            <a:r>
              <a:rPr sz="1600">
                <a:solidFill>
                  <a:srgbClr val="3D424E"/>
                </a:solidFill>
              </a:rPr>
              <a:t>Conditioning moderno LoRA / ViT (5 fichas)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Track K:  </a:t>
            </a:r>
            <a:r>
              <a:rPr sz="1600">
                <a:solidFill>
                  <a:srgbClr val="3D424E"/>
                </a:solidFill>
              </a:rPr>
              <a:t>Fundadores de FR — ArcFace, FaceNet, AdaFace (6 fichas)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Justificativa de cada track (por que existe)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657600"/>
                <a:gridCol w="731520"/>
                <a:gridCol w="6126480"/>
              </a:tblGrid>
              <a:tr h="396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Track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Tema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Papel na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Race classification 7 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Tarefa central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FR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Paradigma dominante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 tone (MST)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Sinal auxiliar do pipeline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Mitigação algorítmica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Baselines a superar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Auditoria e surveys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Infraestrutura intelectual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Fundamentação ética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Posicionamento da tese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Mecanismos ML paradigmáticos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Esqueleto teórico (FiLM, LAFTR)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/ CLIP em fairness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Resposta direta ao orientador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Conditioning moderno (LoRA, ViT)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Alternativas ao FiLM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Fundadores de FR (ArcFace, FaceNet)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Preenche lacuna óbvia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Auxiliar / complementar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Direções adjacentes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Tracks I, J, K são os novos tracks da ampliação recente — destacados para discussão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Pente fino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Classificação por impacto na tese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Classificação crítica das 101 fichas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914400"/>
                <a:gridCol w="667512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Categoria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Implicação para 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Forte favorável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11.9%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Fundamentam etapas e contribuições diretamente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Favorável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Suporte / alinhadas ao argumento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Neutra / contextual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Background, não influenciam decisões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Caminho alternativo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Cobertos pela Contribuição C7 (ablation)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moderado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Endereçáveis — resposta defensiva mapeada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forte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2.0%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Pangelinan (via H6); Neto (limitação reconhecida)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Apenas 2 conflitos fortes — ambos com resposta defensiva pronta. Nenhuma refutação categórica sem resposta.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Conclusão do pente fino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Resumo:  </a:t>
            </a:r>
            <a:r>
              <a:rPr sz="1600">
                <a:solidFill>
                  <a:srgbClr val="3D424E"/>
                </a:solidFill>
              </a:rPr>
              <a:t>68 fichas (67,3%) alinhadas ou neutras / 26 caminho alternativo / 7 conflitos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1:  </a:t>
            </a:r>
            <a:r>
              <a:rPr sz="1600">
                <a:solidFill>
                  <a:srgbClr val="3D424E"/>
                </a:solidFill>
              </a:rPr>
              <a:t>Pangelinan 2023 — 'pixel info' explica disparidades, endereçado pela Hipótese H6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2:  </a:t>
            </a:r>
            <a:r>
              <a:rPr sz="1600">
                <a:solidFill>
                  <a:srgbClr val="3D424E"/>
                </a:solidFill>
              </a:rPr>
              <a:t>Neto 2025 — balanceamento não basta, reconhecido como limitação e parte do framing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Caminho alternativo:  </a:t>
            </a:r>
            <a:r>
              <a:rPr sz="1600">
                <a:solidFill>
                  <a:srgbClr val="3D424E"/>
                </a:solidFill>
              </a:rPr>
              <a:t>26 fichas (VLM, CLIP) cobertas pela Contribuição C7 (ablation arquitetural)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Pontos fortes:  </a:t>
            </a:r>
            <a:r>
              <a:rPr sz="1600">
                <a:solidFill>
                  <a:srgbClr val="3D424E"/>
                </a:solidFill>
              </a:rPr>
              <a:t>12 fichas forte favorável fundamentam as etapas 1-5 do pipeline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Decisão:  </a:t>
            </a:r>
            <a:r>
              <a:rPr sz="1600">
                <a:solidFill>
                  <a:srgbClr val="3D424E"/>
                </a:solidFill>
              </a:rPr>
              <a:t>Corpus está sólido para sustentar a primeira versão da escrita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Resposta ao orientador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CLIP = Contrastive Language-Image Pre-training (Radford et al., ICML 2021)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que é o CLIP — confirmando a referência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original:  </a:t>
            </a:r>
            <a:r>
              <a:rPr sz="1600">
                <a:solidFill>
                  <a:srgbClr val="3D424E"/>
                </a:solidFill>
              </a:rPr>
              <a:t>Radford et al. — 'Learning Transferable Visual Models From Natural Language Supervision', ICML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Mecanismo:  </a:t>
            </a:r>
            <a:r>
              <a:rPr sz="1600">
                <a:solidFill>
                  <a:srgbClr val="3D424E"/>
                </a:solidFill>
              </a:rPr>
              <a:t>Dois encoders (visão e texto) treinados via contrastive loss em 400M pares (imagem, texto)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Resultado:  </a:t>
            </a:r>
            <a:r>
              <a:rPr sz="1600">
                <a:solidFill>
                  <a:srgbClr val="3D424E"/>
                </a:solidFill>
              </a:rPr>
              <a:t>Espaço de embedding compartilhado — imagens e textos relacionados ficam próximos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Capacidade central:  </a:t>
            </a:r>
            <a:r>
              <a:rPr sz="1600">
                <a:solidFill>
                  <a:srgbClr val="3D424E"/>
                </a:solidFill>
              </a:rPr>
              <a:t>Classificação zero-shot — basta uma descrição textual, sem fine-tuning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Adoção em fairness:  </a:t>
            </a:r>
            <a:r>
              <a:rPr sz="1600">
                <a:solidFill>
                  <a:srgbClr val="3D424E"/>
                </a:solidFill>
              </a:rPr>
              <a:t>CLIP virou espinha dorsal da pesquisa em vision-language fairness desde 2022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No contexto da tese:  </a:t>
            </a:r>
            <a:r>
              <a:rPr sz="1600">
                <a:solidFill>
                  <a:srgbClr val="3D424E"/>
                </a:solidFill>
              </a:rPr>
              <a:t>CLIP produz EMBEDDINGS; FiLM é MECANISMO de injeção — são complementares, não substitutos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Radford et al., ICML 2021 — arxiv.org/abs/2103.00020 — mais de 10 mil citações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CLIP em fairness no corpus (Track I)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645920"/>
                <a:gridCol w="2926080"/>
                <a:gridCol w="384048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Venue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Abordagem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Aplicação na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FairCLIP (Luo,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CVPR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Optimal transport / Sinkhorn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principal da C7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FairerCLIP (Dehdashtian,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ICLR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 zero-shot via RKHS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leve da C7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BendVLM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Debiasing em test-time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sem retraining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(Bian, 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ICCV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 + agregação 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Track J — ablation da C7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FaceScanPaliGemma (AlDahoul,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Nature SR 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fine-tuned no FairFace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SOTA 7-class (75,7%)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FairViT (Tian,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ECCV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Adaptive attention masking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Backbone alternativo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Closed-form debias (2026)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Solução analítica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eficiente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Bias subspace VLM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Projeção em subespaço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 alternativo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 multimodal fairness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Contexto para o Capítulo 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14 fichas no total na Track I, além do paper original de CLIP (Radford 2021).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FiLM em fairness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Achado crítico: lacuna na literatura = contribuição original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FiLM em fairness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FiLM original:  </a:t>
            </a:r>
            <a:r>
              <a:rPr sz="1600">
                <a:solidFill>
                  <a:srgbClr val="3D424E"/>
                </a:solidFill>
              </a:rPr>
              <a:t>Perez et al., AAAI 2018 — verificado no corpus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Aplicação em fairness pelos autores:  </a:t>
            </a:r>
            <a:r>
              <a:rPr sz="1600">
                <a:solidFill>
                  <a:srgbClr val="3D424E"/>
                </a:solidFill>
              </a:rPr>
              <a:t>Nenhuma — paper não aborda fairness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Adoção em fairness na literatura:  </a:t>
            </a:r>
            <a:r>
              <a:rPr sz="1600">
                <a:solidFill>
                  <a:srgbClr val="3D424E"/>
                </a:solidFill>
              </a:rPr>
              <a:t>Rara — busca extensiva confirma a escassez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Mecanismos análogos no corpus: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LAFTR (Madras, 2018)  </a:t>
            </a:r>
            <a:r>
              <a:rPr sz="1600">
                <a:solidFill>
                  <a:srgbClr val="3D424E"/>
                </a:solidFill>
              </a:rPr>
              <a:t>adversarial conditioning (não é FiLM)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FairViT (Tian, 2024)  </a:t>
            </a:r>
            <a:r>
              <a:rPr sz="1600">
                <a:solidFill>
                  <a:srgbClr val="3D424E"/>
                </a:solidFill>
              </a:rPr>
              <a:t>adaptive masking em attention (ViT)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LoRA-FAIR (Bian, 2025)  </a:t>
            </a:r>
            <a:r>
              <a:rPr sz="1600">
                <a:solidFill>
                  <a:srgbClr val="3D424E"/>
                </a:solidFill>
              </a:rPr>
              <a:t>low-rank weight modulation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Implicação:  </a:t>
            </a:r>
            <a:r>
              <a:rPr sz="1600">
                <a:solidFill>
                  <a:srgbClr val="3D424E"/>
                </a:solidFill>
              </a:rPr>
              <a:t>FiLM aplicado a fairness em classificação racial é uma direção original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al., AAAI 2018 — paper original não discute fairness nem na seção de Future 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FiLM vs CLIP — esclarecimento conceitual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Confusão categorial:  </a:t>
            </a:r>
            <a:r>
              <a:rPr sz="1600">
                <a:solidFill>
                  <a:srgbClr val="3D424E"/>
                </a:solidFill>
              </a:rPr>
              <a:t>FiLM e CLIP não são objetos comparáveis no mesmo nível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FiLM (Perez, 2018):  </a:t>
            </a:r>
            <a:r>
              <a:rPr sz="1600">
                <a:solidFill>
                  <a:srgbClr val="3D424E"/>
                </a:solidFill>
              </a:rPr>
              <a:t>MECANISMO / camada que modula features via γ·x + β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CLIP (Radford, 2021):  </a:t>
            </a:r>
            <a:r>
              <a:rPr sz="1600">
                <a:solidFill>
                  <a:srgbClr val="3D424E"/>
                </a:solidFill>
              </a:rPr>
              <a:t>MODELO que produz embeddings 512-dim de texto e imagem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Relação real:  </a:t>
            </a:r>
            <a:r>
              <a:rPr sz="1600">
                <a:solidFill>
                  <a:srgbClr val="3D424E"/>
                </a:solidFill>
              </a:rPr>
              <a:t>CLIP fornece o SINAL; FiLM (ou cross-attention) é uma forma de injetar esse sinal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Cronologia:  </a:t>
            </a:r>
            <a:r>
              <a:rPr sz="1600">
                <a:solidFill>
                  <a:srgbClr val="3D424E"/>
                </a:solidFill>
              </a:rPr>
              <a:t>FaceNet 2015, ArcFace 2019, FiLM 2018, CLIP 2021, LoRA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Status em 2024-2026:  </a:t>
            </a:r>
            <a:r>
              <a:rPr sz="1600">
                <a:solidFill>
                  <a:srgbClr val="3D424E"/>
                </a:solidFill>
              </a:rPr>
              <a:t>Todos continuam padrão na literatura — idade não implica obsolescência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Combinação válida:  </a:t>
            </a:r>
            <a:r>
              <a:rPr sz="1600">
                <a:solidFill>
                  <a:srgbClr val="3D424E"/>
                </a:solidFill>
              </a:rPr>
              <a:t>Stable Diffusion = CLIP embeddings + cross-attention. Análogo: CLIP + FiLM é possível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Proposta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Contribuição C7 — ablation arquitetural no Capítulo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C7 — 5 configurações comparadas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4114800"/>
                <a:gridCol w="411480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Arquitetura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Mecanismo de conditioning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Origem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Sem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Controle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 (proposta)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MST 10-dim → γ, β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Nossa contribuição central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→ γ, 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Híbrido CLIP + FiLM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cross-attention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via 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Estilo FairCLIP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LoRA-FAIR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Low-rank weight modulation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(Bian, 2025)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Se CLIP superar FiLM, reportamos como informação útil — não como invalidação. Honra a recomendação do orientador.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Justificativa para manter FiLM como mecanismo central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Adequação a baixa dimensão:  </a:t>
            </a:r>
            <a:r>
              <a:rPr sz="1600">
                <a:solidFill>
                  <a:srgbClr val="3D424E"/>
                </a:solidFill>
              </a:rPr>
              <a:t>MST é vetor 10-dim — FiLM é o ponto ótimo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Custo paramétrico:  </a:t>
            </a:r>
            <a:r>
              <a:rPr sz="1600">
                <a:solidFill>
                  <a:srgbClr val="3D424E"/>
                </a:solidFill>
              </a:rPr>
              <a:t>~1% sobre o backbone (vs. ~3% de cross-attention equivalente)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Interpretabilidade:  </a:t>
            </a:r>
            <a:r>
              <a:rPr sz="1600">
                <a:solidFill>
                  <a:srgbClr val="3D424E"/>
                </a:solidFill>
              </a:rPr>
              <a:t>γ e β são por canal e podem ser visualizados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Compatibilidade:  </a:t>
            </a:r>
            <a:r>
              <a:rPr sz="1600">
                <a:solidFill>
                  <a:srgbClr val="3D424E"/>
                </a:solidFill>
              </a:rPr>
              <a:t>Substitui parâmetros do BatchNorm — 'conditional BatchNorm'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 com a C7:  </a:t>
            </a:r>
            <a:r>
              <a:rPr sz="1600">
                <a:solidFill>
                  <a:srgbClr val="3D424E"/>
                </a:solidFill>
              </a:rPr>
              <a:t>Ablation limpa — liga ou desliga o FiLM mantendo o backbone fixo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Argumento de originalidade:  </a:t>
            </a:r>
            <a:r>
              <a:rPr sz="1600">
                <a:solidFill>
                  <a:srgbClr val="3D424E"/>
                </a:solidFill>
              </a:rPr>
              <a:t>FiLM em fairness é direção pouco explorada — vira contribuição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 (AAAI 2018) + Schumann (2023, MST) + Pereira (2026, SkinToneNet) — ancoragem direta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Plano de escrita e decisões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Cronograma das 4 semanas e pontos a alinhar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Plano de escrita — 4 semanas até a primeira revisão (15/jul/2026)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194560"/>
                <a:gridCol w="4572000"/>
                <a:gridCol w="420624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Semana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Entregável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15-21/jun (esta)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Setup do ambiente + Capítulo 1 (Introdução)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Narrativa de abertura consolidada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22-28/jun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2 (Revisão — 11 tracks)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Pente fino do corpus e 101 fichas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29/jun-05/jul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3 (Objetivos) e Capítulo 4 (Metodologia)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de 6 etapas validado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06-12/jul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5 (Cronograma) e revisão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Integração e ABNT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Folga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13-15/jul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Ajustes finais e entrega ao orientador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Primeira revisão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Decisões a alinhar hoje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Concorda em manter FiLM como mecanismo central e CLIP-conditioning como C7 (ablation)?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Os 11 tracks estão bem cobertos? Algum precisa de mais fichas?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O esclarecimento conceitual CLIP (modelo) vs FiLM (mecanismo) faz sentido?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Há template institucional para a escrita ou seguimos com o padrão?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Co-orientador — já podemos formalizar?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Sugestões para a banca preliminar?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Próximos passos imediatos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Setup do ambiente de escrita com template institucional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Consolidar bibliografia a partir das 101 fichas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Escrever Capítulo 1 (Introdução) usando a narrativa de abertura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Incorporar as imagens já produzidas (pipeline FiLM, ConvNeXt-T, métricas de Hardt)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Aprofundar a leitura das 12 fichas forte favorável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Entrega para a próxima reunião:  </a:t>
            </a:r>
            <a:r>
              <a:rPr sz="1600">
                <a:solidFill>
                  <a:srgbClr val="3D424E"/>
                </a:solidFill>
              </a:rPr>
              <a:t>Capítulo 1 escrito e bibliografia consolidada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Obrigado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Discussão livre — dúvidas e ajustes antes da escrita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