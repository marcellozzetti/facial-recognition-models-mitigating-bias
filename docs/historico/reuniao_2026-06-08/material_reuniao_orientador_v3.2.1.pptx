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2A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enhum Estilo, Nenhuma Grad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558" autoAdjust="0"/>
  </p:normalViewPr>
  <p:slideViewPr>
    <p:cSldViewPr snapToGrid="0" snapToObjects="1">
      <p:cViewPr varScale="1">
        <p:scale>
          <a:sx n="134" d="100"/>
          <a:sy n="134" d="100"/>
        </p:scale>
        <p:origin x="1300" y="10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9808EF-15CC-40CF-A5B5-88E8128F5D8F}" type="datetimeFigureOut">
              <a:rPr lang="pt-BR" smtClean="0"/>
              <a:t>09/06/2026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54A5EC-A2C7-4FB7-A8D7-6AC4B741C56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40263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i="1" dirty="0"/>
              <a:t>Observações: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i="1" dirty="0"/>
              <a:t>- Adicionada nas 10 fichas centrais (lista de leitura prioritária).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i="1" dirty="0"/>
              <a:t>- Vamos expandir para as outras 19 após aprovação conjunta da nova versão da tese.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4A5EC-A2C7-4FB7-A8D7-6AC4B741C56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6554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Em outras palavras: o tom de pele é informação que o classificador de raça precisa ter explicitamente — não pode descobrir sozinho.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54A5EC-A2C7-4FB7-A8D7-6AC4B741C56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054614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ANALOGIA PARA EXPLICAR FiLM ORALMENTE:</a:t>
            </a:r>
          </a:p>
          <a:p>
            <a:endParaRPr/>
          </a:p>
          <a:p>
            <a:r>
              <a:t>Imagine um médico fazendo um diagnóstico. Antes de decidir, ele consulta exames complementares (ECG, raio-X) que dão contexto sobre o paciente. O diagnóstico final depende tanto do que ele observa no exame físico quanto do contexto desses exames.</a:t>
            </a:r>
          </a:p>
          <a:p>
            <a:endParaRPr/>
          </a:p>
          <a:p>
            <a:r>
              <a:t>FiLM faz exatamente isso para a rede de raça: antes de decidir a classe, ela 'consulta' a saída do classificador de tom de pele e ajusta sua decisão com base nesse contexto.</a:t>
            </a:r>
          </a:p>
          <a:p>
            <a:endParaRPr/>
          </a:p>
          <a:p>
            <a:r>
              <a:t>USE A ANALOGIA SE A AUDIÊNCIA PEDIR UMA INTUIÇÃO MENOS TÉCNICA — caso contrário, fique no detalhamento científico do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ANALOGIA PARA EXPLICAR FAIR TRANSFERÊNCIA ORALMENTE:</a:t>
            </a:r>
          </a:p>
          <a:p>
            <a:endParaRPr dirty="0"/>
          </a:p>
          <a:p>
            <a:r>
              <a:rPr dirty="0" err="1"/>
              <a:t>Aprender</a:t>
            </a:r>
            <a:r>
              <a:rPr dirty="0"/>
              <a:t> </a:t>
            </a:r>
            <a:r>
              <a:rPr dirty="0" err="1"/>
              <a:t>ética</a:t>
            </a:r>
            <a:r>
              <a:rPr dirty="0"/>
              <a:t> </a:t>
            </a:r>
            <a:r>
              <a:rPr dirty="0" err="1"/>
              <a:t>profissional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medicina</a:t>
            </a:r>
            <a:r>
              <a:rPr dirty="0"/>
              <a:t> </a:t>
            </a:r>
            <a:r>
              <a:rPr dirty="0" err="1"/>
              <a:t>geral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torna</a:t>
            </a:r>
            <a:r>
              <a:rPr dirty="0"/>
              <a:t>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éticos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quando</a:t>
            </a:r>
            <a:r>
              <a:rPr dirty="0"/>
              <a:t> </a:t>
            </a:r>
            <a:r>
              <a:rPr dirty="0" err="1"/>
              <a:t>nos</a:t>
            </a:r>
            <a:r>
              <a:rPr dirty="0"/>
              <a:t> </a:t>
            </a:r>
            <a:r>
              <a:rPr dirty="0" err="1"/>
              <a:t>especializamos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cardiologia</a:t>
            </a:r>
            <a:r>
              <a:rPr dirty="0"/>
              <a:t>. A '</a:t>
            </a:r>
            <a:r>
              <a:rPr dirty="0" err="1"/>
              <a:t>ética</a:t>
            </a:r>
            <a:r>
              <a:rPr dirty="0"/>
              <a:t>' é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propriedade</a:t>
            </a:r>
            <a:r>
              <a:rPr dirty="0"/>
              <a:t> do </a:t>
            </a:r>
            <a:r>
              <a:rPr dirty="0" err="1"/>
              <a:t>profissional</a:t>
            </a:r>
            <a:r>
              <a:rPr dirty="0"/>
              <a:t> (da </a:t>
            </a:r>
            <a:r>
              <a:rPr dirty="0" err="1"/>
              <a:t>representação</a:t>
            </a:r>
            <a:r>
              <a:rPr dirty="0"/>
              <a:t> interna), </a:t>
            </a:r>
            <a:r>
              <a:rPr dirty="0" err="1"/>
              <a:t>não</a:t>
            </a:r>
            <a:r>
              <a:rPr dirty="0"/>
              <a:t> da </a:t>
            </a:r>
            <a:r>
              <a:rPr dirty="0" err="1"/>
              <a:t>especialidade</a:t>
            </a:r>
            <a:r>
              <a:rPr dirty="0"/>
              <a:t> (da </a:t>
            </a:r>
            <a:r>
              <a:rPr dirty="0" err="1"/>
              <a:t>tarefa</a:t>
            </a:r>
            <a:r>
              <a:rPr dirty="0"/>
              <a:t> </a:t>
            </a:r>
            <a:r>
              <a:rPr dirty="0" err="1"/>
              <a:t>específica</a:t>
            </a:r>
            <a:r>
              <a:rPr dirty="0"/>
              <a:t>).</a:t>
            </a:r>
          </a:p>
          <a:p>
            <a:endParaRPr dirty="0"/>
          </a:p>
          <a:p>
            <a:r>
              <a:rPr dirty="0"/>
              <a:t>USE A ANALOGIA SE A AUDIÊNCIA PEDIR UMA INTUIÇÃO MENOS TÉCNICA — </a:t>
            </a:r>
            <a:r>
              <a:rPr dirty="0" err="1"/>
              <a:t>caso</a:t>
            </a:r>
            <a:r>
              <a:rPr dirty="0"/>
              <a:t> </a:t>
            </a:r>
            <a:r>
              <a:rPr dirty="0" err="1"/>
              <a:t>contrário</a:t>
            </a:r>
            <a:r>
              <a:rPr dirty="0"/>
              <a:t>, fique no </a:t>
            </a:r>
            <a:r>
              <a:rPr dirty="0" err="1"/>
              <a:t>detalhamento</a:t>
            </a:r>
            <a:r>
              <a:rPr dirty="0"/>
              <a:t> </a:t>
            </a:r>
            <a:r>
              <a:rPr dirty="0" err="1"/>
              <a:t>científico</a:t>
            </a:r>
            <a:r>
              <a:rPr dirty="0"/>
              <a:t> do slide.</a:t>
            </a:r>
          </a:p>
          <a:p>
            <a:endParaRPr dirty="0"/>
          </a:p>
          <a:p>
            <a:r>
              <a:rPr dirty="0"/>
              <a:t>EM CASO DE PERGUNTA SOBRE O ADVERSÁRIO:</a:t>
            </a:r>
          </a:p>
          <a:p>
            <a:r>
              <a:rPr dirty="0"/>
              <a:t>O </a:t>
            </a:r>
            <a:r>
              <a:rPr dirty="0" err="1"/>
              <a:t>adversário</a:t>
            </a:r>
            <a:r>
              <a:rPr dirty="0"/>
              <a:t> é </a:t>
            </a:r>
            <a:r>
              <a:rPr dirty="0" err="1"/>
              <a:t>uma</a:t>
            </a:r>
            <a:r>
              <a:rPr dirty="0"/>
              <a:t> rede neural </a:t>
            </a:r>
            <a:r>
              <a:rPr dirty="0" err="1"/>
              <a:t>separada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recebe</a:t>
            </a:r>
            <a:r>
              <a:rPr dirty="0"/>
              <a:t> Z </a:t>
            </a:r>
            <a:r>
              <a:rPr dirty="0" err="1"/>
              <a:t>como</a:t>
            </a:r>
            <a:r>
              <a:rPr dirty="0"/>
              <a:t> input e </a:t>
            </a:r>
            <a:r>
              <a:rPr dirty="0" err="1"/>
              <a:t>tenta</a:t>
            </a:r>
            <a:r>
              <a:rPr dirty="0"/>
              <a:t> </a:t>
            </a:r>
            <a:r>
              <a:rPr dirty="0" err="1"/>
              <a:t>predizer</a:t>
            </a:r>
            <a:r>
              <a:rPr dirty="0"/>
              <a:t> o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sensível</a:t>
            </a:r>
            <a:r>
              <a:rPr dirty="0"/>
              <a:t> (</a:t>
            </a:r>
            <a:r>
              <a:rPr dirty="0" err="1"/>
              <a:t>raça</a:t>
            </a:r>
            <a:r>
              <a:rPr dirty="0"/>
              <a:t>). O encoder é </a:t>
            </a:r>
            <a:r>
              <a:rPr dirty="0" err="1"/>
              <a:t>treinado</a:t>
            </a:r>
            <a:r>
              <a:rPr dirty="0"/>
              <a:t> para MAXIMIZAR o </a:t>
            </a:r>
            <a:r>
              <a:rPr dirty="0" err="1"/>
              <a:t>erro</a:t>
            </a:r>
            <a:r>
              <a:rPr dirty="0"/>
              <a:t> do </a:t>
            </a:r>
            <a:r>
              <a:rPr dirty="0" err="1"/>
              <a:t>adversário</a:t>
            </a:r>
            <a:r>
              <a:rPr dirty="0"/>
              <a:t> —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isso</a:t>
            </a:r>
            <a:r>
              <a:rPr dirty="0"/>
              <a:t> 'adversarial'. Se o </a:t>
            </a:r>
            <a:r>
              <a:rPr dirty="0" err="1"/>
              <a:t>adversário</a:t>
            </a:r>
            <a:r>
              <a:rPr dirty="0"/>
              <a:t> NÃO </a:t>
            </a:r>
            <a:r>
              <a:rPr dirty="0" err="1"/>
              <a:t>consegue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a </a:t>
            </a:r>
            <a:r>
              <a:rPr dirty="0" err="1"/>
              <a:t>raça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Z, </a:t>
            </a:r>
            <a:r>
              <a:rPr dirty="0" err="1"/>
              <a:t>então</a:t>
            </a:r>
            <a:r>
              <a:rPr dirty="0"/>
              <a:t> Z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contém</a:t>
            </a:r>
            <a:r>
              <a:rPr dirty="0"/>
              <a:t> </a:t>
            </a:r>
            <a:r>
              <a:rPr dirty="0" err="1"/>
              <a:t>informação</a:t>
            </a:r>
            <a:r>
              <a:rPr dirty="0"/>
              <a:t> '</a:t>
            </a:r>
            <a:r>
              <a:rPr dirty="0" err="1"/>
              <a:t>usável</a:t>
            </a:r>
            <a:r>
              <a:rPr dirty="0"/>
              <a:t>'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raça</a:t>
            </a:r>
            <a:r>
              <a:rPr dirty="0"/>
              <a:t> — e </a:t>
            </a:r>
            <a:r>
              <a:rPr dirty="0" err="1"/>
              <a:t>portanto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classificador</a:t>
            </a:r>
            <a:r>
              <a:rPr dirty="0"/>
              <a:t> downstream </a:t>
            </a:r>
            <a:r>
              <a:rPr dirty="0" err="1"/>
              <a:t>também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pode</a:t>
            </a:r>
            <a:r>
              <a:rPr dirty="0"/>
              <a:t> ser </a:t>
            </a:r>
            <a:r>
              <a:rPr dirty="0" err="1"/>
              <a:t>injusto</a:t>
            </a:r>
            <a:r>
              <a:rPr dirty="0"/>
              <a:t> </a:t>
            </a:r>
            <a:r>
              <a:rPr dirty="0" err="1"/>
              <a:t>baseado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raça</a:t>
            </a:r>
            <a:r>
              <a:rPr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hyperlink" Target="vscode-webview://1t570bhlfr08lsnvc1n46i92863b935iev8t1nru0it90dm43buj/docs/ativo/04_pesquisa_bibliografica/neto_2025.md" TargetMode="External"/><Relationship Id="rId13" Type="http://schemas.openxmlformats.org/officeDocument/2006/relationships/hyperlink" Target="vscode-webview://1t570bhlfr08lsnvc1n46i92863b935iev8t1nru0it90dm43buj/docs/ativo/04_pesquisa_bibliografica/park_2022.md" TargetMode="External"/><Relationship Id="rId18" Type="http://schemas.openxmlformats.org/officeDocument/2006/relationships/hyperlink" Target="vscode-webview://1t570bhlfr08lsnvc1n46i92863b935iev8t1nru0it90dm43buj/docs/ativo/04_pesquisa_bibliografica/dominguez_2024.md" TargetMode="External"/><Relationship Id="rId26" Type="http://schemas.openxmlformats.org/officeDocument/2006/relationships/hyperlink" Target="vscode-webview://1t570bhlfr08lsnvc1n46i92863b935iev8t1nru0it90dm43buj/docs/ativo/04_pesquisa_bibliografica/perez_2018.md" TargetMode="External"/><Relationship Id="rId3" Type="http://schemas.openxmlformats.org/officeDocument/2006/relationships/hyperlink" Target="vscode-webview://1t570bhlfr08lsnvc1n46i92863b935iev8t1nru0it90dm43buj/docs/ativo/04_pesquisa_bibliografica/aldahoul_2024.md" TargetMode="External"/><Relationship Id="rId21" Type="http://schemas.openxmlformats.org/officeDocument/2006/relationships/hyperlink" Target="vscode-webview://1t570bhlfr08lsnvc1n46i92863b935iev8t1nru0it90dm43buj/docs/ativo/04_pesquisa_bibliografica/fuentes_2019.md" TargetMode="External"/><Relationship Id="rId7" Type="http://schemas.openxmlformats.org/officeDocument/2006/relationships/hyperlink" Target="vscode-webview://1t570bhlfr08lsnvc1n46i92863b935iev8t1nru0it90dm43buj/docs/ativo/04_pesquisa_bibliografica/grother_2019.md" TargetMode="External"/><Relationship Id="rId12" Type="http://schemas.openxmlformats.org/officeDocument/2006/relationships/hyperlink" Target="vscode-webview://1t570bhlfr08lsnvc1n46i92863b935iev8t1nru0it90dm43buj/docs/ativo/04_pesquisa_bibliografica/lafargue_2025.md" TargetMode="External"/><Relationship Id="rId17" Type="http://schemas.openxmlformats.org/officeDocument/2006/relationships/hyperlink" Target="vscode-webview://1t570bhlfr08lsnvc1n46i92863b935iev8t1nru0it90dm43buj/docs/ativo/04_pesquisa_bibliografica/dehdashtian_2024.md" TargetMode="External"/><Relationship Id="rId25" Type="http://schemas.openxmlformats.org/officeDocument/2006/relationships/hyperlink" Target="vscode-webview://1t570bhlfr08lsnvc1n46i92863b935iev8t1nru0it90dm43buj/docs/ativo/04_pesquisa_bibliografica/hardt_2016.md" TargetMode="External"/><Relationship Id="rId2" Type="http://schemas.openxmlformats.org/officeDocument/2006/relationships/hyperlink" Target="vscode-webview://1t570bhlfr08lsnvc1n46i92863b935iev8t1nru0it90dm43buj/docs/ativo/04_pesquisa_bibliografica/dataset_karkkainen_2021.md" TargetMode="External"/><Relationship Id="rId16" Type="http://schemas.openxmlformats.org/officeDocument/2006/relationships/hyperlink" Target="vscode-webview://1t570bhlfr08lsnvc1n46i92863b935iev8t1nru0it90dm43buj/docs/ativo/04_pesquisa_bibliografica/bhaskaruni_2019.md" TargetMode="External"/><Relationship Id="rId20" Type="http://schemas.openxmlformats.org/officeDocument/2006/relationships/hyperlink" Target="vscode-webview://1t570bhlfr08lsnvc1n46i92863b935iev8t1nru0it90dm43buj/docs/ativo/04_pesquisa_bibliografica/survey_kotwal_2025.md" TargetMode="External"/><Relationship Id="rId29" Type="http://schemas.openxmlformats.org/officeDocument/2006/relationships/hyperlink" Target="vscode-webview://1t570bhlfr08lsnvc1n46i92863b935iev8t1nru0it90dm43buj/docs/ativo/04_pesquisa_bibliografica/zhang_2018.md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vscode-webview://1t570bhlfr08lsnvc1n46i92863b935iev8t1nru0it90dm43buj/docs/ativo/04_pesquisa_bibliografica/dataset_robinson_2020.md" TargetMode="External"/><Relationship Id="rId11" Type="http://schemas.openxmlformats.org/officeDocument/2006/relationships/hyperlink" Target="vscode-webview://1t570bhlfr08lsnvc1n46i92863b935iev8t1nru0it90dm43buj/docs/ativo/04_pesquisa_bibliografica/schumann_2023.md" TargetMode="External"/><Relationship Id="rId24" Type="http://schemas.openxmlformats.org/officeDocument/2006/relationships/hyperlink" Target="vscode-webview://1t570bhlfr08lsnvc1n46i92863b935iev8t1nru0it90dm43buj/docs/ativo/04_pesquisa_bibliografica/massey_martin_2003.md" TargetMode="External"/><Relationship Id="rId5" Type="http://schemas.openxmlformats.org/officeDocument/2006/relationships/hyperlink" Target="vscode-webview://1t570bhlfr08lsnvc1n46i92863b935iev8t1nru0it90dm43buj/docs/ativo/04_pesquisa_bibliografica/dataset_wang_2019.md" TargetMode="External"/><Relationship Id="rId15" Type="http://schemas.openxmlformats.org/officeDocument/2006/relationships/hyperlink" Target="vscode-webview://1t570bhlfr08lsnvc1n46i92863b935iev8t1nru0it90dm43buj/docs/ativo/04_pesquisa_bibliografica/manzoor_2024.md" TargetMode="External"/><Relationship Id="rId23" Type="http://schemas.openxmlformats.org/officeDocument/2006/relationships/hyperlink" Target="vscode-webview://1t570bhlfr08lsnvc1n46i92863b935iev8t1nru0it90dm43buj/docs/ativo/04_pesquisa_bibliografica/fitzpatrick_1988.md" TargetMode="External"/><Relationship Id="rId28" Type="http://schemas.openxmlformats.org/officeDocument/2006/relationships/hyperlink" Target="vscode-webview://1t570bhlfr08lsnvc1n46i92863b935iev8t1nru0it90dm43buj/docs/ativo/04_pesquisa_bibliografica/madras_2018.md" TargetMode="External"/><Relationship Id="rId10" Type="http://schemas.openxmlformats.org/officeDocument/2006/relationships/hyperlink" Target="vscode-webview://1t570bhlfr08lsnvc1n46i92863b935iev8t1nru0it90dm43buj/docs/ativo/04_pesquisa_bibliografica/dataset_hazirbas_2021.md" TargetMode="External"/><Relationship Id="rId19" Type="http://schemas.openxmlformats.org/officeDocument/2006/relationships/hyperlink" Target="vscode-webview://1t570bhlfr08lsnvc1n46i92863b935iev8t1nru0it90dm43buj/docs/ativo/04_pesquisa_bibliografica/survey_mehrabi_2021.md" TargetMode="External"/><Relationship Id="rId4" Type="http://schemas.openxmlformats.org/officeDocument/2006/relationships/hyperlink" Target="vscode-webview://1t570bhlfr08lsnvc1n46i92863b935iev8t1nru0it90dm43buj/docs/ativo/04_pesquisa_bibliografica/lin_2022.md" TargetMode="External"/><Relationship Id="rId9" Type="http://schemas.openxmlformats.org/officeDocument/2006/relationships/hyperlink" Target="vscode-webview://1t570bhlfr08lsnvc1n46i92863b935iev8t1nru0it90dm43buj/docs/ativo/04_pesquisa_bibliografica/buolamwini_2018.md" TargetMode="External"/><Relationship Id="rId14" Type="http://schemas.openxmlformats.org/officeDocument/2006/relationships/hyperlink" Target="vscode-webview://1t570bhlfr08lsnvc1n46i92863b935iev8t1nru0it90dm43buj/docs/ativo/04_pesquisa_bibliografica/sagawa_2020.md" TargetMode="External"/><Relationship Id="rId22" Type="http://schemas.openxmlformats.org/officeDocument/2006/relationships/hyperlink" Target="vscode-webview://1t570bhlfr08lsnvc1n46i92863b935iev8t1nru0it90dm43buj/docs/ativo/04_pesquisa_bibliografica/lewontin_1972.md" TargetMode="External"/><Relationship Id="rId27" Type="http://schemas.openxmlformats.org/officeDocument/2006/relationships/hyperlink" Target="vscode-webview://1t570bhlfr08lsnvc1n46i92863b935iev8t1nru0it90dm43buj/docs/ativo/04_pesquisa_bibliografica/zemel_2013.md" TargetMode="External"/><Relationship Id="rId30" Type="http://schemas.openxmlformats.org/officeDocument/2006/relationships/hyperlink" Target="vscode-webview://1t570bhlfr08lsnvc1n46i92863b935iev8t1nru0it90dm43buj/docs/ativo/04_pesquisa_bibliografica/kleinberg_2017.m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011680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286000" y="1371600"/>
            <a:ext cx="9601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1F2A4E"/>
                </a:solidFill>
              </a:defRPr>
            </a:pPr>
            <a:r>
              <a:t>Equidade Racial em Classificação Facial</a:t>
            </a:r>
          </a:p>
          <a:p>
            <a:pPr>
              <a:defRPr sz="2200">
                <a:solidFill>
                  <a:srgbClr val="3D424E"/>
                </a:solidFill>
              </a:defRPr>
            </a:pPr>
            <a:r>
              <a:t>Atualização da pesquisa — o que evoluiu nesta semana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3840480"/>
            <a:ext cx="9601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3D424E"/>
                </a:solidFill>
              </a:defRPr>
            </a:pPr>
            <a:r>
              <a:t>Mestrando:  Marcello Ozzetti</a:t>
            </a:r>
          </a:p>
          <a:p>
            <a:pPr>
              <a:defRPr sz="1700">
                <a:solidFill>
                  <a:srgbClr val="3D424E"/>
                </a:solidFill>
              </a:defRPr>
            </a:pPr>
            <a:r>
              <a:t>Orientador:  Prof. Marcos Quiles</a:t>
            </a:r>
          </a:p>
          <a:p>
            <a:pPr>
              <a:defRPr sz="1700">
                <a:solidFill>
                  <a:srgbClr val="3D424E"/>
                </a:solidFill>
              </a:defRPr>
            </a:pPr>
            <a:r>
              <a:t>Programa:  Mestrado em Ciência da Computação — Unifesp / ICT</a:t>
            </a:r>
          </a:p>
          <a:p>
            <a:pPr>
              <a:defRPr sz="1700">
                <a:solidFill>
                  <a:srgbClr val="3D424E"/>
                </a:solidFill>
              </a:defRPr>
            </a:pPr>
            <a:r>
              <a:t>Reunião:  Junho de 2026 (segunda reunião do mês)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Agenda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Parte</a:t>
            </a:r>
            <a:r>
              <a:rPr dirty="0"/>
              <a:t> 1 — Onde paramos </a:t>
            </a:r>
            <a:r>
              <a:rPr dirty="0" err="1"/>
              <a:t>na</a:t>
            </a:r>
            <a:r>
              <a:rPr dirty="0"/>
              <a:t>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reunião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Recap da </a:t>
            </a:r>
            <a:r>
              <a:rPr dirty="0" err="1"/>
              <a:t>última</a:t>
            </a:r>
            <a:r>
              <a:rPr dirty="0"/>
              <a:t> </a:t>
            </a:r>
            <a:r>
              <a:rPr dirty="0" err="1"/>
              <a:t>reunião</a:t>
            </a:r>
            <a:r>
              <a:rPr dirty="0"/>
              <a:t> e </a:t>
            </a:r>
            <a:r>
              <a:rPr dirty="0" err="1"/>
              <a:t>orientações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Parte</a:t>
            </a:r>
            <a:r>
              <a:rPr dirty="0"/>
              <a:t> 2 —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avancei</a:t>
            </a:r>
            <a:r>
              <a:rPr dirty="0"/>
              <a:t>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semana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Resposta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</a:t>
            </a:r>
            <a:r>
              <a:rPr dirty="0" err="1"/>
              <a:t>aos</a:t>
            </a:r>
            <a:r>
              <a:rPr dirty="0"/>
              <a:t> 4 </a:t>
            </a:r>
            <a:r>
              <a:rPr dirty="0" err="1"/>
              <a:t>pedidos</a:t>
            </a:r>
            <a:r>
              <a:rPr dirty="0"/>
              <a:t>: </a:t>
            </a:r>
            <a:r>
              <a:rPr dirty="0" err="1"/>
              <a:t>ampliar</a:t>
            </a:r>
            <a:r>
              <a:rPr dirty="0"/>
              <a:t> venues,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método</a:t>
            </a:r>
            <a:r>
              <a:rPr dirty="0"/>
              <a:t>, </a:t>
            </a:r>
            <a:r>
              <a:rPr dirty="0" err="1"/>
              <a:t>validar</a:t>
            </a:r>
            <a:r>
              <a:rPr dirty="0"/>
              <a:t> SOTA, </a:t>
            </a:r>
            <a:r>
              <a:rPr dirty="0" err="1"/>
              <a:t>reformular</a:t>
            </a:r>
            <a:r>
              <a:rPr dirty="0"/>
              <a:t> </a:t>
            </a:r>
            <a:r>
              <a:rPr dirty="0" err="1"/>
              <a:t>tese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Parte</a:t>
            </a:r>
            <a:r>
              <a:rPr dirty="0"/>
              <a:t> 3 — Como a </a:t>
            </a:r>
            <a:r>
              <a:rPr dirty="0" err="1"/>
              <a:t>tese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construída</a:t>
            </a:r>
            <a:r>
              <a:rPr dirty="0"/>
              <a:t> agora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Embasamento</a:t>
            </a:r>
            <a:r>
              <a:rPr dirty="0"/>
              <a:t> </a:t>
            </a:r>
            <a:r>
              <a:rPr dirty="0" err="1"/>
              <a:t>metodológico</a:t>
            </a:r>
            <a:r>
              <a:rPr dirty="0"/>
              <a:t> e </a:t>
            </a:r>
            <a:r>
              <a:rPr dirty="0" err="1"/>
              <a:t>científico</a:t>
            </a:r>
            <a:r>
              <a:rPr dirty="0"/>
              <a:t> para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decisão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Parte</a:t>
            </a:r>
            <a:r>
              <a:rPr dirty="0"/>
              <a:t> 4 — </a:t>
            </a:r>
            <a:r>
              <a:rPr dirty="0" err="1"/>
              <a:t>Próximos</a:t>
            </a:r>
            <a:r>
              <a:rPr dirty="0"/>
              <a:t> </a:t>
            </a:r>
            <a:r>
              <a:rPr dirty="0" err="1"/>
              <a:t>passos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Como seguir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Onde paramos na última reunião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Recap da última reunião e orientações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Como a tese estava na última reunião — visão resumida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0668842"/>
              </p:ext>
            </p:extLst>
          </p:nvPr>
        </p:nvGraphicFramePr>
        <p:xfrm>
          <a:off x="457200" y="1371600"/>
          <a:ext cx="11430000" cy="4232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2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73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05394"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Dimensão</a:t>
                      </a:r>
                      <a:endParaRPr sz="1600" b="1" dirty="0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Estado naquele momento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Postura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Diagnóstica — explicar por que o erro existe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Tese central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75% F1 </a:t>
                      </a:r>
                      <a:r>
                        <a:rPr lang="pt-BR" sz="1500" dirty="0">
                          <a:solidFill>
                            <a:srgbClr val="3D424E"/>
                          </a:solidFill>
                        </a:rPr>
                        <a:t>como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teto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fenotípico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: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raças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se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sobrepõem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em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tom de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pele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,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especialmente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Latinx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Tarefa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Apenas race classification (sem face recognition)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Corpus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23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fichas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em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6 tracks (A: race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clf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; B: FR fairness; C: skin tone; D: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mitigação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; E: auditoria; F: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fundamentação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5394"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Validado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na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reunião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Evolução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metodológica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, SOTA (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FaceScanPaliGemma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75.7%),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linha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de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pesquisa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proposta</a:t>
                      </a:r>
                      <a:endParaRPr sz="1500" dirty="0">
                        <a:solidFill>
                          <a:srgbClr val="3D42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dirty="0"/>
              <a:t>4 </a:t>
            </a:r>
            <a:r>
              <a:rPr dirty="0" err="1"/>
              <a:t>pedidos</a:t>
            </a:r>
            <a:r>
              <a:rPr dirty="0"/>
              <a:t> </a:t>
            </a:r>
            <a:r>
              <a:rPr lang="pt-BR" dirty="0"/>
              <a:t>da ultima reunião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319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1. </a:t>
            </a:r>
            <a:r>
              <a:rPr dirty="0" err="1"/>
              <a:t>Revisar</a:t>
            </a:r>
            <a:r>
              <a:rPr dirty="0"/>
              <a:t> o </a:t>
            </a:r>
            <a:r>
              <a:rPr dirty="0" err="1"/>
              <a:t>método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profundidade</a:t>
            </a:r>
            <a:r>
              <a:rPr dirty="0"/>
              <a:t> de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artigo</a:t>
            </a:r>
            <a:r>
              <a:rPr dirty="0"/>
              <a:t> </a:t>
            </a:r>
            <a:r>
              <a:rPr dirty="0" err="1"/>
              <a:t>selecionado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Buscar maior</a:t>
            </a:r>
            <a:r>
              <a:rPr dirty="0"/>
              <a:t> rigor </a:t>
            </a:r>
            <a:r>
              <a:rPr dirty="0" err="1"/>
              <a:t>metodológico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2. </a:t>
            </a:r>
            <a:r>
              <a:rPr dirty="0" err="1"/>
              <a:t>Ampliar</a:t>
            </a:r>
            <a:r>
              <a:rPr dirty="0"/>
              <a:t> a </a:t>
            </a:r>
            <a:r>
              <a:rPr dirty="0" err="1"/>
              <a:t>pesquisa</a:t>
            </a:r>
            <a:r>
              <a:rPr dirty="0"/>
              <a:t> para venues de ML, Redes </a:t>
            </a:r>
            <a:r>
              <a:rPr dirty="0" err="1"/>
              <a:t>Neurais</a:t>
            </a:r>
            <a:r>
              <a:rPr dirty="0"/>
              <a:t> e </a:t>
            </a:r>
            <a:r>
              <a:rPr dirty="0" err="1"/>
              <a:t>temas</a:t>
            </a:r>
            <a:r>
              <a:rPr dirty="0"/>
              <a:t> </a:t>
            </a:r>
            <a:r>
              <a:rPr dirty="0" err="1"/>
              <a:t>relacionados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L</a:t>
            </a:r>
            <a:r>
              <a:rPr dirty="0" err="1"/>
              <a:t>acuna</a:t>
            </a:r>
            <a:r>
              <a:rPr dirty="0"/>
              <a:t> de papers </a:t>
            </a:r>
            <a:r>
              <a:rPr dirty="0" err="1"/>
              <a:t>fundadores</a:t>
            </a:r>
            <a:r>
              <a:rPr dirty="0"/>
              <a:t> </a:t>
            </a:r>
            <a:r>
              <a:rPr dirty="0" err="1"/>
              <a:t>destes</a:t>
            </a:r>
            <a:r>
              <a:rPr dirty="0"/>
              <a:t> campos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3. Double-check do SOTA (75.7% F1)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Garantir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não</a:t>
            </a:r>
            <a:r>
              <a:rPr dirty="0"/>
              <a:t> </a:t>
            </a:r>
            <a:r>
              <a:rPr dirty="0" err="1"/>
              <a:t>emergiu</a:t>
            </a:r>
            <a:r>
              <a:rPr dirty="0"/>
              <a:t> </a:t>
            </a:r>
            <a:r>
              <a:rPr dirty="0" err="1"/>
              <a:t>competidor</a:t>
            </a:r>
            <a:r>
              <a:rPr dirty="0"/>
              <a:t> </a:t>
            </a:r>
            <a:r>
              <a:rPr dirty="0" err="1"/>
              <a:t>recente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4. </a:t>
            </a:r>
            <a:r>
              <a:rPr dirty="0" err="1"/>
              <a:t>Reformular</a:t>
            </a:r>
            <a:r>
              <a:rPr dirty="0"/>
              <a:t> a </a:t>
            </a:r>
            <a:r>
              <a:rPr dirty="0" err="1"/>
              <a:t>tese</a:t>
            </a:r>
            <a:r>
              <a:rPr dirty="0"/>
              <a:t> de DIAGNÓSTICA para PRESCRITIVA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Treinar</a:t>
            </a:r>
            <a:r>
              <a:rPr dirty="0"/>
              <a:t> classifier de tom → usar para </a:t>
            </a:r>
            <a:r>
              <a:rPr dirty="0" err="1"/>
              <a:t>condicionar</a:t>
            </a:r>
            <a:r>
              <a:rPr dirty="0"/>
              <a:t> classifier de </a:t>
            </a:r>
            <a:r>
              <a:rPr dirty="0" err="1"/>
              <a:t>raça</a:t>
            </a:r>
            <a:r>
              <a:rPr dirty="0"/>
              <a:t> → </a:t>
            </a:r>
            <a:r>
              <a:rPr dirty="0" err="1"/>
              <a:t>estender</a:t>
            </a:r>
            <a:r>
              <a:rPr dirty="0"/>
              <a:t> a face recognition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avancei</a:t>
            </a:r>
            <a:r>
              <a:rPr dirty="0"/>
              <a:t> </a:t>
            </a:r>
            <a:r>
              <a:rPr dirty="0" err="1"/>
              <a:t>nesta</a:t>
            </a:r>
            <a:r>
              <a:rPr dirty="0"/>
              <a:t> </a:t>
            </a:r>
            <a:r>
              <a:rPr dirty="0" err="1"/>
              <a:t>semana</a:t>
            </a:r>
            <a:endParaRPr lang="pt-BR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Pedido 1</a:t>
            </a:r>
            <a:r>
              <a:rPr dirty="0"/>
              <a:t>: </a:t>
            </a:r>
            <a:r>
              <a:rPr dirty="0" err="1"/>
              <a:t>ampliar</a:t>
            </a:r>
            <a:r>
              <a:rPr dirty="0"/>
              <a:t> venues ML / Redes </a:t>
            </a:r>
            <a:r>
              <a:rPr dirty="0" err="1"/>
              <a:t>Neurais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770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dirty="0"/>
              <a:t>Executada</a:t>
            </a:r>
            <a:r>
              <a:rPr dirty="0"/>
              <a:t> </a:t>
            </a:r>
            <a:r>
              <a:rPr lang="pt-BR" dirty="0"/>
              <a:t>nova rodada</a:t>
            </a:r>
            <a:r>
              <a:rPr dirty="0"/>
              <a:t> de </a:t>
            </a:r>
            <a:r>
              <a:rPr dirty="0" err="1"/>
              <a:t>triagem</a:t>
            </a:r>
            <a:r>
              <a:rPr dirty="0"/>
              <a:t> com </a:t>
            </a:r>
            <a:r>
              <a:rPr dirty="0" err="1"/>
              <a:t>foco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ML e Redes </a:t>
            </a:r>
            <a:r>
              <a:rPr dirty="0" err="1"/>
              <a:t>Neurais</a:t>
            </a:r>
            <a:r>
              <a:rPr dirty="0"/>
              <a:t>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dirty="0"/>
              <a:t>Adicionadas</a:t>
            </a:r>
            <a:r>
              <a:rPr dirty="0"/>
              <a:t> </a:t>
            </a:r>
            <a:r>
              <a:rPr lang="pt-BR" dirty="0"/>
              <a:t>7</a:t>
            </a:r>
            <a:r>
              <a:rPr dirty="0"/>
              <a:t> </a:t>
            </a:r>
            <a:r>
              <a:rPr dirty="0" err="1"/>
              <a:t>fichas</a:t>
            </a:r>
            <a:r>
              <a:rPr dirty="0"/>
              <a:t> </a:t>
            </a:r>
            <a:r>
              <a:rPr dirty="0" err="1"/>
              <a:t>novas</a:t>
            </a:r>
            <a:r>
              <a:rPr dirty="0"/>
              <a:t>, </a:t>
            </a:r>
            <a:r>
              <a:rPr dirty="0" err="1"/>
              <a:t>todas</a:t>
            </a:r>
            <a:r>
              <a:rPr dirty="0"/>
              <a:t> de venues </a:t>
            </a:r>
            <a:r>
              <a:rPr lang="pt-BR" dirty="0" err="1"/>
              <a:t>refencias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Hardt, Price &amp; Srebro (</a:t>
            </a:r>
            <a:r>
              <a:rPr dirty="0" err="1"/>
              <a:t>NeurIPS</a:t>
            </a:r>
            <a:r>
              <a:rPr dirty="0"/>
              <a:t> 2016) — </a:t>
            </a:r>
            <a:r>
              <a:rPr dirty="0" err="1"/>
              <a:t>origem</a:t>
            </a:r>
            <a:r>
              <a:rPr dirty="0"/>
              <a:t> das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formais</a:t>
            </a:r>
            <a:r>
              <a:rPr dirty="0"/>
              <a:t> de fairness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>
                <a:solidFill>
                  <a:srgbClr val="00B050"/>
                </a:solidFill>
              </a:rPr>
              <a:t>• Perez et al. (AAAI 2018) — </a:t>
            </a:r>
            <a:r>
              <a:rPr dirty="0" err="1">
                <a:solidFill>
                  <a:srgbClr val="00B050"/>
                </a:solidFill>
              </a:rPr>
              <a:t>FiLM</a:t>
            </a:r>
            <a:r>
              <a:rPr dirty="0">
                <a:solidFill>
                  <a:srgbClr val="00B050"/>
                </a:solidFill>
              </a:rPr>
              <a:t>, </a:t>
            </a:r>
            <a:r>
              <a:rPr dirty="0" err="1">
                <a:solidFill>
                  <a:srgbClr val="00B050"/>
                </a:solidFill>
              </a:rPr>
              <a:t>mecanismo</a:t>
            </a:r>
            <a:r>
              <a:rPr dirty="0">
                <a:solidFill>
                  <a:srgbClr val="00B050"/>
                </a:solidFill>
              </a:rPr>
              <a:t> de </a:t>
            </a:r>
            <a:r>
              <a:rPr dirty="0" err="1">
                <a:solidFill>
                  <a:srgbClr val="00B050"/>
                </a:solidFill>
              </a:rPr>
              <a:t>condicionamento</a:t>
            </a:r>
            <a:r>
              <a:rPr dirty="0">
                <a:solidFill>
                  <a:srgbClr val="00B050"/>
                </a:solidFill>
              </a:rPr>
              <a:t> neural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>
                <a:solidFill>
                  <a:srgbClr val="00B050"/>
                </a:solidFill>
              </a:rPr>
              <a:t>• Zemel et al. (ICML 2013, Test-of-Time Award 2023) — Fair Representation Learning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Madras et al. (ICML 2018) — LAFTR, </a:t>
            </a:r>
            <a:r>
              <a:rPr dirty="0" err="1"/>
              <a:t>prova</a:t>
            </a:r>
            <a:r>
              <a:rPr dirty="0"/>
              <a:t> </a:t>
            </a:r>
            <a:r>
              <a:rPr dirty="0" err="1"/>
              <a:t>teórica</a:t>
            </a:r>
            <a:r>
              <a:rPr dirty="0"/>
              <a:t> de fair </a:t>
            </a:r>
            <a:r>
              <a:rPr dirty="0" err="1"/>
              <a:t>transferência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Zhang, Lemoine &amp; Mitchell (AIES 2018) — adversarial debiasing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• Kleinberg, Mullainathan &amp; Raghavan (ITCS 2017) — </a:t>
            </a:r>
            <a:r>
              <a:rPr dirty="0" err="1"/>
              <a:t>teorema</a:t>
            </a:r>
            <a:r>
              <a:rPr dirty="0"/>
              <a:t> da </a:t>
            </a:r>
            <a:r>
              <a:rPr dirty="0" err="1"/>
              <a:t>impossibilidade</a:t>
            </a:r>
            <a:endParaRPr lang="pt-BR"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>
                <a:solidFill>
                  <a:srgbClr val="00B050"/>
                </a:solidFill>
              </a:rPr>
              <a:t>• (adicionado hoje): </a:t>
            </a:r>
            <a:r>
              <a:rPr lang="pt-BR" dirty="0" err="1">
                <a:solidFill>
                  <a:srgbClr val="00B050"/>
                </a:solidFill>
              </a:rPr>
              <a:t>SkinToneNet</a:t>
            </a:r>
            <a:r>
              <a:rPr lang="pt-BR" dirty="0">
                <a:solidFill>
                  <a:srgbClr val="00B050"/>
                </a:solidFill>
              </a:rPr>
              <a:t> + STW </a:t>
            </a:r>
            <a:r>
              <a:rPr lang="pt-BR" dirty="0" err="1">
                <a:solidFill>
                  <a:srgbClr val="00B050"/>
                </a:solidFill>
              </a:rPr>
              <a:t>Dataset</a:t>
            </a:r>
            <a:r>
              <a:rPr lang="pt-BR" dirty="0">
                <a:solidFill>
                  <a:srgbClr val="00B050"/>
                </a:solidFill>
              </a:rPr>
              <a:t> (Pereira Matias, Costa, Neto &amp; Novello de Brito, 2026) - </a:t>
            </a:r>
            <a:r>
              <a:rPr lang="pt-BR" dirty="0" err="1">
                <a:solidFill>
                  <a:srgbClr val="00B050"/>
                </a:solidFill>
              </a:rPr>
              <a:t>SkinToneNet</a:t>
            </a:r>
            <a:r>
              <a:rPr lang="pt-BR" dirty="0">
                <a:solidFill>
                  <a:srgbClr val="00B050"/>
                </a:solidFill>
              </a:rPr>
              <a:t> </a:t>
            </a:r>
            <a:endParaRPr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Pedido 2</a:t>
            </a:r>
            <a:r>
              <a:rPr dirty="0"/>
              <a:t>: </a:t>
            </a:r>
            <a:r>
              <a:rPr dirty="0" err="1"/>
              <a:t>revisar</a:t>
            </a:r>
            <a:r>
              <a:rPr dirty="0"/>
              <a:t> </a:t>
            </a:r>
            <a:r>
              <a:rPr dirty="0" err="1"/>
              <a:t>método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profundidade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452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dirty="0"/>
              <a:t>Criada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nova </a:t>
            </a:r>
            <a:r>
              <a:rPr dirty="0" err="1"/>
              <a:t>Seção</a:t>
            </a:r>
            <a:r>
              <a:rPr dirty="0"/>
              <a:t> 12 </a:t>
            </a:r>
            <a:r>
              <a:rPr dirty="0" err="1"/>
              <a:t>normativa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ficha</a:t>
            </a:r>
            <a:r>
              <a:rPr dirty="0"/>
              <a:t>: ‘</a:t>
            </a:r>
            <a:r>
              <a:rPr dirty="0" err="1"/>
              <a:t>Análise</a:t>
            </a:r>
            <a:r>
              <a:rPr dirty="0"/>
              <a:t> </a:t>
            </a:r>
            <a:r>
              <a:rPr dirty="0" err="1"/>
              <a:t>crítica</a:t>
            </a:r>
            <a:r>
              <a:rPr dirty="0"/>
              <a:t> do </a:t>
            </a:r>
            <a:r>
              <a:rPr dirty="0" err="1"/>
              <a:t>método</a:t>
            </a:r>
            <a:r>
              <a:rPr dirty="0"/>
              <a:t>’.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lang="pt-BR" dirty="0"/>
              <a:t>Avaliação de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paper </a:t>
            </a:r>
            <a:r>
              <a:rPr dirty="0" err="1"/>
              <a:t>em</a:t>
            </a:r>
            <a:r>
              <a:rPr dirty="0"/>
              <a:t> 5 </a:t>
            </a:r>
            <a:r>
              <a:rPr dirty="0" err="1"/>
              <a:t>dimensões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(a) Rigor formal — </a:t>
            </a:r>
            <a:r>
              <a:rPr dirty="0" err="1"/>
              <a:t>matemática</a:t>
            </a:r>
            <a:r>
              <a:rPr dirty="0"/>
              <a:t> </a:t>
            </a:r>
            <a:r>
              <a:rPr dirty="0" err="1"/>
              <a:t>defensável</a:t>
            </a:r>
            <a:r>
              <a:rPr dirty="0"/>
              <a:t>? </a:t>
            </a:r>
            <a:r>
              <a:rPr dirty="0" err="1"/>
              <a:t>Pressupostos</a:t>
            </a:r>
            <a:r>
              <a:rPr dirty="0"/>
              <a:t> </a:t>
            </a:r>
            <a:r>
              <a:rPr dirty="0" err="1"/>
              <a:t>declarados</a:t>
            </a:r>
            <a:r>
              <a:rPr dirty="0"/>
              <a:t>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(b) </a:t>
            </a:r>
            <a:r>
              <a:rPr dirty="0" err="1"/>
              <a:t>Reprodutibilidade</a:t>
            </a:r>
            <a:r>
              <a:rPr dirty="0"/>
              <a:t> — </a:t>
            </a:r>
            <a:r>
              <a:rPr dirty="0" err="1"/>
              <a:t>hiperparâmetros</a:t>
            </a:r>
            <a:r>
              <a:rPr dirty="0"/>
              <a:t>, </a:t>
            </a:r>
            <a:r>
              <a:rPr dirty="0" err="1"/>
              <a:t>código</a:t>
            </a:r>
            <a:r>
              <a:rPr lang="pt-BR" dirty="0"/>
              <a:t>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lang="pt-BR" dirty="0"/>
              <a:t>(c) Aplicabilidade ao nosso pipeline — onde funciona e onde falha?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(d) Design choices — o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foi</a:t>
            </a:r>
            <a:r>
              <a:rPr dirty="0"/>
              <a:t> </a:t>
            </a:r>
            <a:r>
              <a:rPr dirty="0" err="1"/>
              <a:t>justificado</a:t>
            </a:r>
            <a:r>
              <a:rPr dirty="0"/>
              <a:t> vs </a:t>
            </a:r>
            <a:r>
              <a:rPr dirty="0" err="1"/>
              <a:t>assumido</a:t>
            </a:r>
            <a:r>
              <a:rPr dirty="0"/>
              <a:t>?</a:t>
            </a:r>
            <a:r>
              <a:rPr lang="pt-BR" dirty="0"/>
              <a:t> Testes </a:t>
            </a:r>
            <a:r>
              <a:rPr lang="pt-BR" dirty="0" err="1"/>
              <a:t>estatisticos</a:t>
            </a:r>
            <a:r>
              <a:rPr lang="pt-BR" dirty="0"/>
              <a:t>?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(e) </a:t>
            </a:r>
            <a:r>
              <a:rPr dirty="0" err="1"/>
              <a:t>Conexão</a:t>
            </a:r>
            <a:r>
              <a:rPr dirty="0"/>
              <a:t> com o </a:t>
            </a:r>
            <a:r>
              <a:rPr dirty="0" err="1"/>
              <a:t>que</a:t>
            </a:r>
            <a:r>
              <a:rPr dirty="0"/>
              <a:t> </a:t>
            </a:r>
            <a:r>
              <a:rPr lang="pt-BR" dirty="0"/>
              <a:t>já pesquisamos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Pedido 3</a:t>
            </a:r>
            <a:r>
              <a:rPr dirty="0"/>
              <a:t>: double-check do SOTA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Executei a Rodada 2.6 com janela expandida fevereiro–junho de 2026.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Fonte: 12 papers que citam o FaceScanPaliGemma no Semantic Scholar.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Resultado: NENHUM dos 12 papers usa FairFace race 7-class como métrica principal.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Citantes trabalham em tarefas diferentes: gender, age, emotion, detection, audit, etc.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Conclusão: FaceScanPaliGemma 75.7% F1 segue sendo o SOTA único em junho/2026.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Achados adicionais: validação cruzada confirmou também o baseline ResNet-34 = 72%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Reportado por AlDahoul (2024/26) E por Lin (FairGRAPE 2022) independentemente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P</a:t>
            </a:r>
            <a:r>
              <a:rPr dirty="0" err="1"/>
              <a:t>edido</a:t>
            </a:r>
            <a:r>
              <a:rPr dirty="0"/>
              <a:t> 4: </a:t>
            </a:r>
            <a:r>
              <a:rPr dirty="0" err="1"/>
              <a:t>reformular</a:t>
            </a:r>
            <a:r>
              <a:rPr dirty="0"/>
              <a:t> para PRESCRITIVA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7138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Mudança</a:t>
            </a:r>
            <a:r>
              <a:rPr dirty="0"/>
              <a:t> central: </a:t>
            </a:r>
            <a:r>
              <a:rPr dirty="0" err="1"/>
              <a:t>deixa</a:t>
            </a:r>
            <a:r>
              <a:rPr dirty="0"/>
              <a:t> de ‘</a:t>
            </a:r>
            <a:r>
              <a:rPr dirty="0" err="1"/>
              <a:t>decompor</a:t>
            </a:r>
            <a:r>
              <a:rPr dirty="0"/>
              <a:t> o </a:t>
            </a:r>
            <a:r>
              <a:rPr dirty="0" err="1"/>
              <a:t>erro</a:t>
            </a:r>
            <a:r>
              <a:rPr dirty="0"/>
              <a:t>’ e </a:t>
            </a:r>
            <a:r>
              <a:rPr dirty="0" err="1"/>
              <a:t>passa</a:t>
            </a:r>
            <a:r>
              <a:rPr dirty="0"/>
              <a:t> a ‘</a:t>
            </a:r>
            <a:r>
              <a:rPr dirty="0" err="1"/>
              <a:t>construir</a:t>
            </a:r>
            <a:r>
              <a:rPr dirty="0"/>
              <a:t> um pipeline’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melhora</a:t>
            </a:r>
            <a:r>
              <a:rPr dirty="0"/>
              <a:t> fairness </a:t>
            </a:r>
            <a:r>
              <a:rPr dirty="0" err="1"/>
              <a:t>em</a:t>
            </a:r>
            <a:r>
              <a:rPr dirty="0"/>
              <a:t> race classification </a:t>
            </a:r>
            <a:r>
              <a:rPr lang="pt-BR" dirty="0"/>
              <a:t>e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face recognition, </a:t>
            </a:r>
            <a:r>
              <a:rPr dirty="0" err="1"/>
              <a:t>usando</a:t>
            </a:r>
            <a:r>
              <a:rPr dirty="0"/>
              <a:t> tom de </a:t>
            </a:r>
            <a:r>
              <a:rPr dirty="0" err="1"/>
              <a:t>pele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sinal</a:t>
            </a:r>
            <a:r>
              <a:rPr dirty="0"/>
              <a:t> auxiliar.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Pipeline </a:t>
            </a:r>
            <a:r>
              <a:rPr dirty="0" err="1"/>
              <a:t>construtivo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6 </a:t>
            </a:r>
            <a:r>
              <a:rPr dirty="0" err="1"/>
              <a:t>etapas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1. </a:t>
            </a:r>
            <a:r>
              <a:rPr dirty="0" err="1"/>
              <a:t>Classificador</a:t>
            </a:r>
            <a:r>
              <a:rPr dirty="0"/>
              <a:t> de tom de </a:t>
            </a:r>
            <a:r>
              <a:rPr dirty="0" err="1"/>
              <a:t>pele</a:t>
            </a:r>
            <a:r>
              <a:rPr dirty="0"/>
              <a:t> (MST) — usar </a:t>
            </a:r>
            <a:r>
              <a:rPr dirty="0" err="1"/>
              <a:t>SkinToneNet</a:t>
            </a:r>
            <a:r>
              <a:rPr dirty="0"/>
              <a:t> </a:t>
            </a:r>
            <a:r>
              <a:rPr dirty="0" err="1"/>
              <a:t>pré-treinado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2. </a:t>
            </a:r>
            <a:r>
              <a:rPr dirty="0" err="1"/>
              <a:t>Auditar</a:t>
            </a:r>
            <a:r>
              <a:rPr dirty="0"/>
              <a:t> </a:t>
            </a:r>
            <a:r>
              <a:rPr dirty="0" err="1"/>
              <a:t>FairFace</a:t>
            </a:r>
            <a:r>
              <a:rPr dirty="0"/>
              <a:t> e </a:t>
            </a:r>
            <a:r>
              <a:rPr dirty="0" err="1"/>
              <a:t>publicar</a:t>
            </a:r>
            <a:r>
              <a:rPr dirty="0"/>
              <a:t> a </a:t>
            </a:r>
            <a:r>
              <a:rPr dirty="0" err="1"/>
              <a:t>matriz</a:t>
            </a:r>
            <a:r>
              <a:rPr dirty="0"/>
              <a:t> </a:t>
            </a:r>
            <a:r>
              <a:rPr dirty="0" err="1"/>
              <a:t>pública</a:t>
            </a:r>
            <a:r>
              <a:rPr dirty="0"/>
              <a:t> MST × </a:t>
            </a:r>
            <a:r>
              <a:rPr dirty="0" err="1"/>
              <a:t>raça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3. Race classifier com tom de </a:t>
            </a:r>
            <a:r>
              <a:rPr dirty="0" err="1"/>
              <a:t>pele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(</a:t>
            </a:r>
            <a:r>
              <a:rPr dirty="0" err="1"/>
              <a:t>mecanismo</a:t>
            </a:r>
            <a:r>
              <a:rPr dirty="0"/>
              <a:t> </a:t>
            </a:r>
            <a:r>
              <a:rPr dirty="0" err="1"/>
              <a:t>FiLM</a:t>
            </a:r>
            <a:r>
              <a:rPr dirty="0"/>
              <a:t>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4. </a:t>
            </a:r>
            <a:r>
              <a:rPr dirty="0" err="1"/>
              <a:t>Comparar</a:t>
            </a:r>
            <a:r>
              <a:rPr dirty="0"/>
              <a:t> fairness COM vs SEM tom de </a:t>
            </a:r>
            <a:r>
              <a:rPr dirty="0" err="1"/>
              <a:t>pele</a:t>
            </a:r>
            <a:r>
              <a:rPr dirty="0"/>
              <a:t>, contra 6 baselines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5. </a:t>
            </a:r>
            <a:r>
              <a:rPr dirty="0" err="1"/>
              <a:t>Aplicar</a:t>
            </a:r>
            <a:r>
              <a:rPr dirty="0"/>
              <a:t> pipeline a face recognition (RFW </a:t>
            </a:r>
            <a:r>
              <a:rPr dirty="0" err="1"/>
              <a:t>ou</a:t>
            </a:r>
            <a:r>
              <a:rPr dirty="0"/>
              <a:t> BFW)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6. </a:t>
            </a:r>
            <a:r>
              <a:rPr dirty="0" err="1"/>
              <a:t>Medir</a:t>
            </a:r>
            <a:r>
              <a:rPr dirty="0"/>
              <a:t> </a:t>
            </a:r>
            <a:r>
              <a:rPr dirty="0" err="1"/>
              <a:t>melhora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Black/African e </a:t>
            </a:r>
            <a:r>
              <a:rPr dirty="0" err="1"/>
              <a:t>decomposição</a:t>
            </a:r>
            <a:r>
              <a:rPr dirty="0"/>
              <a:t> Latinx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Corpus atual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30880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Dos 57 papers </a:t>
            </a:r>
            <a:r>
              <a:rPr dirty="0" err="1"/>
              <a:t>avaliados</a:t>
            </a:r>
            <a:r>
              <a:rPr dirty="0"/>
              <a:t>, </a:t>
            </a:r>
            <a:r>
              <a:rPr lang="pt-BR" dirty="0"/>
              <a:t>30 foram considerados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fichas</a:t>
            </a:r>
            <a:r>
              <a:rPr dirty="0"/>
              <a:t> do corpus.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 err="1"/>
              <a:t>Aprovação</a:t>
            </a:r>
            <a:r>
              <a:rPr dirty="0"/>
              <a:t> </a:t>
            </a:r>
            <a:r>
              <a:rPr dirty="0" err="1"/>
              <a:t>seguiu</a:t>
            </a:r>
            <a:r>
              <a:rPr dirty="0"/>
              <a:t> </a:t>
            </a:r>
            <a:r>
              <a:rPr dirty="0" err="1"/>
              <a:t>os</a:t>
            </a:r>
            <a:r>
              <a:rPr dirty="0"/>
              <a:t> </a:t>
            </a:r>
            <a:r>
              <a:rPr dirty="0" err="1"/>
              <a:t>critérios</a:t>
            </a:r>
            <a:r>
              <a:rPr dirty="0"/>
              <a:t> de </a:t>
            </a:r>
            <a:r>
              <a:rPr dirty="0" err="1"/>
              <a:t>seleção</a:t>
            </a:r>
            <a:r>
              <a:rPr dirty="0"/>
              <a:t> </a:t>
            </a:r>
            <a:r>
              <a:rPr dirty="0" err="1"/>
              <a:t>acordados</a:t>
            </a:r>
            <a:r>
              <a:rPr dirty="0"/>
              <a:t>: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Venue </a:t>
            </a:r>
            <a:r>
              <a:rPr dirty="0" err="1"/>
              <a:t>científico</a:t>
            </a:r>
            <a:r>
              <a:rPr dirty="0"/>
              <a:t> forte (top conferences </a:t>
            </a:r>
            <a:r>
              <a:rPr dirty="0" err="1"/>
              <a:t>ou</a:t>
            </a:r>
            <a:r>
              <a:rPr dirty="0"/>
              <a:t> journals peer-reviewed)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Citações</a:t>
            </a:r>
            <a:r>
              <a:rPr dirty="0"/>
              <a:t> </a:t>
            </a:r>
            <a:r>
              <a:rPr dirty="0" err="1"/>
              <a:t>acima</a:t>
            </a:r>
            <a:r>
              <a:rPr dirty="0"/>
              <a:t> do threshold do </a:t>
            </a:r>
            <a:r>
              <a:rPr dirty="0" err="1"/>
              <a:t>ano</a:t>
            </a:r>
            <a:r>
              <a:rPr dirty="0"/>
              <a:t> de </a:t>
            </a:r>
            <a:r>
              <a:rPr dirty="0" err="1"/>
              <a:t>publicação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Aplicabilidade</a:t>
            </a:r>
            <a:r>
              <a:rPr dirty="0"/>
              <a:t> </a:t>
            </a:r>
            <a:r>
              <a:rPr dirty="0" err="1"/>
              <a:t>direta</a:t>
            </a:r>
            <a:r>
              <a:rPr dirty="0"/>
              <a:t> a </a:t>
            </a:r>
            <a:r>
              <a:rPr dirty="0" err="1"/>
              <a:t>uma</a:t>
            </a:r>
            <a:r>
              <a:rPr dirty="0"/>
              <a:t> das 14 </a:t>
            </a:r>
            <a:r>
              <a:rPr dirty="0" err="1"/>
              <a:t>perguntas</a:t>
            </a:r>
            <a:r>
              <a:rPr dirty="0"/>
              <a:t> de </a:t>
            </a:r>
            <a:r>
              <a:rPr dirty="0" err="1"/>
              <a:t>pesquisa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Aprovação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exceção</a:t>
            </a:r>
            <a:r>
              <a:rPr dirty="0"/>
              <a:t> (</a:t>
            </a:r>
            <a:r>
              <a:rPr dirty="0" err="1"/>
              <a:t>cobertura</a:t>
            </a:r>
            <a:r>
              <a:rPr dirty="0"/>
              <a:t> </a:t>
            </a:r>
            <a:r>
              <a:rPr dirty="0" err="1"/>
              <a:t>única</a:t>
            </a:r>
            <a:r>
              <a:rPr dirty="0"/>
              <a:t>) com </a:t>
            </a:r>
            <a:r>
              <a:rPr dirty="0" err="1"/>
              <a:t>justificativa</a:t>
            </a:r>
            <a:r>
              <a:rPr dirty="0"/>
              <a:t> </a:t>
            </a:r>
            <a:r>
              <a:rPr dirty="0" err="1"/>
              <a:t>registrada</a:t>
            </a:r>
            <a:endParaRPr dirty="0"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 lang="pt-BR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rPr dirty="0"/>
              <a:t>Como a </a:t>
            </a:r>
            <a:r>
              <a:rPr dirty="0" err="1"/>
              <a:t>tese</a:t>
            </a:r>
            <a:r>
              <a:rPr dirty="0"/>
              <a:t> </a:t>
            </a:r>
            <a:r>
              <a:rPr dirty="0" err="1"/>
              <a:t>está</a:t>
            </a:r>
            <a:r>
              <a:rPr dirty="0"/>
              <a:t> </a:t>
            </a:r>
            <a:r>
              <a:rPr dirty="0" err="1"/>
              <a:t>sendo</a:t>
            </a:r>
            <a:r>
              <a:rPr dirty="0"/>
              <a:t> </a:t>
            </a:r>
            <a:r>
              <a:rPr dirty="0" err="1"/>
              <a:t>construída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A tese em uma frase clara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10698480" cy="4937760"/>
          </a:xfrm>
          <a:prstGeom prst="roundRect">
            <a:avLst/>
          </a:prstGeom>
          <a:solidFill>
            <a:srgbClr val="E8EAED"/>
          </a:solidFill>
          <a:ln w="254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0" tIns="365760" rIns="457200" rtlCol="0" anchor="ctr"/>
          <a:lstStyle/>
          <a:p>
            <a:pPr algn="l">
              <a:defRPr sz="2000">
                <a:solidFill>
                  <a:srgbClr val="1F2A4E"/>
                </a:solidFill>
              </a:defRPr>
            </a:pP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rede neural para </a:t>
            </a:r>
            <a:r>
              <a:rPr dirty="0" err="1"/>
              <a:t>reconhecer</a:t>
            </a:r>
            <a:r>
              <a:rPr dirty="0"/>
              <a:t> o tom de </a:t>
            </a:r>
            <a:r>
              <a:rPr dirty="0" err="1"/>
              <a:t>pele</a:t>
            </a:r>
            <a:r>
              <a:rPr dirty="0"/>
              <a:t> de </a:t>
            </a:r>
            <a:r>
              <a:rPr dirty="0" err="1"/>
              <a:t>uma</a:t>
            </a:r>
            <a:r>
              <a:rPr dirty="0"/>
              <a:t> </a:t>
            </a:r>
            <a:r>
              <a:rPr dirty="0" err="1"/>
              <a:t>foto</a:t>
            </a:r>
            <a:r>
              <a:rPr dirty="0"/>
              <a:t>, e usar </a:t>
            </a:r>
            <a:r>
              <a:rPr dirty="0" err="1"/>
              <a:t>essa</a:t>
            </a:r>
            <a:r>
              <a:rPr dirty="0"/>
              <a:t> </a:t>
            </a:r>
            <a:r>
              <a:rPr dirty="0" err="1"/>
              <a:t>informação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extra </a:t>
            </a:r>
            <a:r>
              <a:rPr dirty="0" err="1"/>
              <a:t>ao</a:t>
            </a:r>
            <a:r>
              <a:rPr dirty="0"/>
              <a:t> </a:t>
            </a:r>
            <a:r>
              <a:rPr dirty="0" err="1"/>
              <a:t>treinar</a:t>
            </a:r>
            <a:r>
              <a:rPr dirty="0"/>
              <a:t> </a:t>
            </a:r>
            <a:r>
              <a:rPr dirty="0" err="1"/>
              <a:t>uma</a:t>
            </a:r>
            <a:r>
              <a:rPr dirty="0"/>
              <a:t> rede de </a:t>
            </a:r>
            <a:r>
              <a:rPr dirty="0" err="1"/>
              <a:t>classificação</a:t>
            </a:r>
            <a:r>
              <a:rPr dirty="0"/>
              <a:t> racial, </a:t>
            </a:r>
            <a:r>
              <a:rPr dirty="0" err="1"/>
              <a:t>melhora</a:t>
            </a:r>
            <a:r>
              <a:rPr dirty="0"/>
              <a:t> as </a:t>
            </a:r>
            <a:r>
              <a:rPr dirty="0" err="1"/>
              <a:t>métricas</a:t>
            </a:r>
            <a:r>
              <a:rPr dirty="0"/>
              <a:t> de fairness (a </a:t>
            </a:r>
            <a:r>
              <a:rPr dirty="0" err="1"/>
              <a:t>paridade</a:t>
            </a:r>
            <a:r>
              <a:rPr dirty="0"/>
              <a:t> entre </a:t>
            </a:r>
            <a:r>
              <a:rPr dirty="0" err="1"/>
              <a:t>raças</a:t>
            </a:r>
            <a:r>
              <a:rPr dirty="0"/>
              <a:t>). Essa </a:t>
            </a:r>
            <a:r>
              <a:rPr dirty="0" err="1"/>
              <a:t>melhoria</a:t>
            </a:r>
            <a:r>
              <a:rPr dirty="0"/>
              <a:t> </a:t>
            </a:r>
            <a:r>
              <a:rPr dirty="0" err="1"/>
              <a:t>também</a:t>
            </a:r>
            <a:r>
              <a:rPr dirty="0"/>
              <a:t> se </a:t>
            </a:r>
            <a:r>
              <a:rPr dirty="0" err="1"/>
              <a:t>transfere</a:t>
            </a:r>
            <a:r>
              <a:rPr dirty="0"/>
              <a:t> para </a:t>
            </a:r>
            <a:r>
              <a:rPr dirty="0" err="1"/>
              <a:t>tarefas</a:t>
            </a:r>
            <a:r>
              <a:rPr dirty="0"/>
              <a:t> downstream de </a:t>
            </a:r>
            <a:r>
              <a:rPr dirty="0" err="1"/>
              <a:t>reconhecimento</a:t>
            </a:r>
            <a:r>
              <a:rPr dirty="0"/>
              <a:t> facial, </a:t>
            </a:r>
            <a:r>
              <a:rPr dirty="0" err="1"/>
              <a:t>beneficiando</a:t>
            </a:r>
            <a:r>
              <a:rPr dirty="0"/>
              <a:t> </a:t>
            </a:r>
            <a:r>
              <a:rPr dirty="0" err="1"/>
              <a:t>especialmente</a:t>
            </a:r>
            <a:r>
              <a:rPr dirty="0"/>
              <a:t> </a:t>
            </a:r>
            <a:r>
              <a:rPr dirty="0" err="1"/>
              <a:t>grupos</a:t>
            </a:r>
            <a:r>
              <a:rPr dirty="0"/>
              <a:t> sub-</a:t>
            </a:r>
            <a:r>
              <a:rPr dirty="0" err="1"/>
              <a:t>representados</a:t>
            </a:r>
            <a:r>
              <a:rPr dirty="0"/>
              <a:t> (Black/African).</a:t>
            </a:r>
            <a:br>
              <a:rPr dirty="0"/>
            </a:br>
            <a:br>
              <a:rPr dirty="0"/>
            </a:b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O que é a escala MST (Monk Skin Tone)?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11064240" cy="1554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rtlCol="0" anchor="ctr"/>
          <a:lstStyle/>
          <a:p>
            <a:pPr algn="ctr">
              <a:defRPr sz="1500" b="1">
                <a:solidFill>
                  <a:srgbClr val="1F2A4E"/>
                </a:solidFill>
              </a:defRPr>
            </a:pPr>
            <a:r>
              <a:rPr lang="pt-BR" dirty="0"/>
              <a:t>Resumo</a:t>
            </a:r>
            <a:endParaRPr dirty="0"/>
          </a:p>
          <a:p>
            <a:pPr>
              <a:defRPr sz="1800">
                <a:solidFill>
                  <a:srgbClr val="3D424E"/>
                </a:solidFill>
              </a:defRPr>
            </a:pPr>
            <a:r>
              <a:rPr dirty="0"/>
              <a:t>Uma </a:t>
            </a:r>
            <a:r>
              <a:rPr dirty="0" err="1"/>
              <a:t>escala</a:t>
            </a:r>
            <a:r>
              <a:rPr dirty="0"/>
              <a:t> de 10 tons de </a:t>
            </a:r>
            <a:r>
              <a:rPr dirty="0" err="1"/>
              <a:t>pele</a:t>
            </a:r>
            <a:r>
              <a:rPr dirty="0"/>
              <a:t> (do tom 1 </a:t>
            </a:r>
            <a:r>
              <a:rPr dirty="0" err="1"/>
              <a:t>mais</a:t>
            </a:r>
            <a:r>
              <a:rPr dirty="0"/>
              <a:t> claro </a:t>
            </a:r>
            <a:r>
              <a:rPr dirty="0" err="1"/>
              <a:t>ao</a:t>
            </a:r>
            <a:r>
              <a:rPr dirty="0"/>
              <a:t> tom 10 </a:t>
            </a:r>
            <a:r>
              <a:rPr dirty="0" err="1"/>
              <a:t>mais</a:t>
            </a:r>
            <a:r>
              <a:rPr dirty="0"/>
              <a:t> </a:t>
            </a:r>
            <a:r>
              <a:rPr dirty="0" err="1"/>
              <a:t>escuro</a:t>
            </a:r>
            <a:r>
              <a:rPr dirty="0"/>
              <a:t>), </a:t>
            </a:r>
            <a:r>
              <a:rPr dirty="0" err="1"/>
              <a:t>criada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2023 </a:t>
            </a:r>
            <a:r>
              <a:rPr dirty="0" err="1"/>
              <a:t>pelo</a:t>
            </a:r>
            <a:r>
              <a:rPr dirty="0"/>
              <a:t> </a:t>
            </a:r>
            <a:r>
              <a:rPr dirty="0" err="1"/>
              <a:t>sociólogo</a:t>
            </a:r>
            <a:r>
              <a:rPr dirty="0"/>
              <a:t> Dr. Ellis Monk (Harvard)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parceria</a:t>
            </a:r>
            <a:r>
              <a:rPr dirty="0"/>
              <a:t> com o Google. Foi </a:t>
            </a:r>
            <a:r>
              <a:rPr dirty="0" err="1"/>
              <a:t>desenhada</a:t>
            </a:r>
            <a:r>
              <a:rPr dirty="0"/>
              <a:t> </a:t>
            </a:r>
            <a:r>
              <a:rPr dirty="0" err="1"/>
              <a:t>especificamente</a:t>
            </a:r>
            <a:r>
              <a:rPr dirty="0"/>
              <a:t> para </a:t>
            </a:r>
            <a:r>
              <a:rPr dirty="0" err="1"/>
              <a:t>auditar</a:t>
            </a:r>
            <a:r>
              <a:rPr dirty="0"/>
              <a:t> fairness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sistemas</a:t>
            </a:r>
            <a:r>
              <a:rPr dirty="0"/>
              <a:t> de IA — </a:t>
            </a:r>
            <a:r>
              <a:rPr dirty="0" err="1"/>
              <a:t>não</a:t>
            </a:r>
            <a:r>
              <a:rPr dirty="0"/>
              <a:t> é a </a:t>
            </a:r>
            <a:r>
              <a:rPr dirty="0" err="1"/>
              <a:t>escala</a:t>
            </a:r>
            <a:r>
              <a:rPr dirty="0"/>
              <a:t> </a:t>
            </a:r>
            <a:r>
              <a:rPr dirty="0" err="1"/>
              <a:t>antiga</a:t>
            </a:r>
            <a:r>
              <a:rPr dirty="0"/>
              <a:t> de </a:t>
            </a:r>
            <a:r>
              <a:rPr dirty="0" err="1"/>
              <a:t>dermatologia</a:t>
            </a:r>
            <a:r>
              <a:rPr dirty="0"/>
              <a:t> (Fitzpatrick),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viés</a:t>
            </a:r>
            <a:r>
              <a:rPr dirty="0"/>
              <a:t> para </a:t>
            </a:r>
            <a:r>
              <a:rPr dirty="0" err="1"/>
              <a:t>pele</a:t>
            </a:r>
            <a:r>
              <a:rPr dirty="0"/>
              <a:t> </a:t>
            </a:r>
            <a:r>
              <a:rPr dirty="0" err="1"/>
              <a:t>clara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200400"/>
            <a:ext cx="11064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rtlCol="0" anchor="ctr"/>
          <a:lstStyle/>
          <a:p>
            <a:pPr algn="ctr">
              <a:defRPr sz="1500" b="1">
                <a:solidFill>
                  <a:srgbClr val="1F2A4E"/>
                </a:solidFill>
              </a:defRPr>
            </a:pPr>
            <a:r>
              <a:rPr lang="pt-BR" dirty="0" err="1"/>
              <a:t>Relevancia</a:t>
            </a:r>
            <a:endParaRPr dirty="0"/>
          </a:p>
          <a:p>
            <a:pPr>
              <a:defRPr sz="1800">
                <a:solidFill>
                  <a:srgbClr val="3D424E"/>
                </a:solidFill>
              </a:defRPr>
            </a:pPr>
            <a:r>
              <a:rPr dirty="0"/>
              <a:t>Nossa </a:t>
            </a:r>
            <a:r>
              <a:rPr dirty="0" err="1"/>
              <a:t>tese</a:t>
            </a:r>
            <a:r>
              <a:rPr dirty="0"/>
              <a:t> </a:t>
            </a:r>
            <a:r>
              <a:rPr dirty="0" err="1"/>
              <a:t>precisa</a:t>
            </a:r>
            <a:r>
              <a:rPr dirty="0"/>
              <a:t> </a:t>
            </a:r>
            <a:r>
              <a:rPr dirty="0" err="1"/>
              <a:t>medir</a:t>
            </a:r>
            <a:r>
              <a:rPr dirty="0"/>
              <a:t> tom de </a:t>
            </a:r>
            <a:r>
              <a:rPr dirty="0" err="1"/>
              <a:t>pele</a:t>
            </a:r>
            <a:r>
              <a:rPr dirty="0"/>
              <a:t> de forma </a:t>
            </a:r>
            <a:r>
              <a:rPr dirty="0" err="1"/>
              <a:t>confiável</a:t>
            </a:r>
            <a:r>
              <a:rPr dirty="0"/>
              <a:t> e granular. MST é o </a:t>
            </a:r>
            <a:r>
              <a:rPr dirty="0" err="1"/>
              <a:t>padrão</a:t>
            </a:r>
            <a:r>
              <a:rPr dirty="0"/>
              <a:t> </a:t>
            </a:r>
            <a:r>
              <a:rPr dirty="0" err="1"/>
              <a:t>moderno</a:t>
            </a:r>
            <a:r>
              <a:rPr dirty="0"/>
              <a:t> </a:t>
            </a:r>
            <a:r>
              <a:rPr dirty="0" err="1"/>
              <a:t>aceito</a:t>
            </a:r>
            <a:r>
              <a:rPr dirty="0"/>
              <a:t> pela </a:t>
            </a:r>
            <a:r>
              <a:rPr dirty="0" err="1"/>
              <a:t>comunidade</a:t>
            </a:r>
            <a:r>
              <a:rPr dirty="0"/>
              <a:t> de fairness research (</a:t>
            </a:r>
            <a:r>
              <a:rPr dirty="0" err="1"/>
              <a:t>publicado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NeurIPS</a:t>
            </a:r>
            <a:r>
              <a:rPr dirty="0"/>
              <a:t> 2023). </a:t>
            </a:r>
            <a:r>
              <a:rPr dirty="0" err="1"/>
              <a:t>Substituir</a:t>
            </a:r>
            <a:r>
              <a:rPr dirty="0"/>
              <a:t> a Fitzpatrick pela MST </a:t>
            </a:r>
            <a:r>
              <a:rPr dirty="0" err="1"/>
              <a:t>evita</a:t>
            </a:r>
            <a:r>
              <a:rPr dirty="0"/>
              <a:t> 3 </a:t>
            </a:r>
            <a:r>
              <a:rPr dirty="0" err="1"/>
              <a:t>problemas</a:t>
            </a:r>
            <a:r>
              <a:rPr dirty="0"/>
              <a:t> </a:t>
            </a:r>
            <a:r>
              <a:rPr dirty="0" err="1"/>
              <a:t>conhecidos</a:t>
            </a:r>
            <a:r>
              <a:rPr dirty="0"/>
              <a:t> da </a:t>
            </a:r>
            <a:r>
              <a:rPr dirty="0" err="1"/>
              <a:t>escala</a:t>
            </a:r>
            <a:r>
              <a:rPr dirty="0"/>
              <a:t> </a:t>
            </a:r>
            <a:r>
              <a:rPr dirty="0" err="1"/>
              <a:t>antiga</a:t>
            </a:r>
            <a:r>
              <a:rPr dirty="0"/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937760"/>
            <a:ext cx="1106424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Ins="274320" rtlCol="0" anchor="ctr"/>
          <a:lstStyle/>
          <a:p>
            <a:pPr algn="ctr">
              <a:defRPr sz="1500" b="1">
                <a:solidFill>
                  <a:srgbClr val="2E7D32"/>
                </a:solidFill>
              </a:defRPr>
            </a:pPr>
            <a:r>
              <a:rPr dirty="0" err="1"/>
              <a:t>Exemplo</a:t>
            </a:r>
            <a:endParaRPr dirty="0"/>
          </a:p>
          <a:p>
            <a:pPr>
              <a:defRPr sz="1700">
                <a:solidFill>
                  <a:srgbClr val="3D424E"/>
                </a:solidFill>
              </a:defRPr>
            </a:pPr>
            <a:r>
              <a:rPr dirty="0"/>
              <a:t>A Fitzpatrick (1975) </a:t>
            </a:r>
            <a:r>
              <a:rPr dirty="0" err="1"/>
              <a:t>tem</a:t>
            </a:r>
            <a:r>
              <a:rPr dirty="0"/>
              <a:t> </a:t>
            </a:r>
            <a:r>
              <a:rPr dirty="0" err="1"/>
              <a:t>só</a:t>
            </a:r>
            <a:r>
              <a:rPr dirty="0"/>
              <a:t> 6 tons, </a:t>
            </a:r>
            <a:r>
              <a:rPr dirty="0" err="1"/>
              <a:t>sendo</a:t>
            </a:r>
            <a:r>
              <a:rPr dirty="0"/>
              <a:t> 3 deles para </a:t>
            </a:r>
            <a:r>
              <a:rPr dirty="0" err="1"/>
              <a:t>variações</a:t>
            </a:r>
            <a:r>
              <a:rPr dirty="0"/>
              <a:t> de '</a:t>
            </a:r>
            <a:r>
              <a:rPr dirty="0" err="1"/>
              <a:t>pele</a:t>
            </a:r>
            <a:r>
              <a:rPr dirty="0"/>
              <a:t> </a:t>
            </a:r>
            <a:r>
              <a:rPr dirty="0" err="1"/>
              <a:t>considerada</a:t>
            </a:r>
            <a:r>
              <a:rPr dirty="0"/>
              <a:t> </a:t>
            </a:r>
            <a:r>
              <a:rPr dirty="0" err="1"/>
              <a:t>branca</a:t>
            </a:r>
            <a:r>
              <a:rPr dirty="0"/>
              <a:t>'. Um </a:t>
            </a:r>
            <a:r>
              <a:rPr dirty="0" err="1"/>
              <a:t>terço</a:t>
            </a:r>
            <a:r>
              <a:rPr dirty="0"/>
              <a:t> dos </a:t>
            </a:r>
            <a:r>
              <a:rPr dirty="0" err="1"/>
              <a:t>próprios</a:t>
            </a:r>
            <a:r>
              <a:rPr dirty="0"/>
              <a:t> </a:t>
            </a:r>
            <a:r>
              <a:rPr dirty="0" err="1"/>
              <a:t>dermatologistas</a:t>
            </a:r>
            <a:r>
              <a:rPr dirty="0"/>
              <a:t> </a:t>
            </a:r>
            <a:r>
              <a:rPr dirty="0" err="1"/>
              <a:t>confunde</a:t>
            </a:r>
            <a:r>
              <a:rPr dirty="0"/>
              <a:t> Fitzpatrick com </a:t>
            </a:r>
            <a:r>
              <a:rPr dirty="0" err="1"/>
              <a:t>classificação</a:t>
            </a:r>
            <a:r>
              <a:rPr dirty="0"/>
              <a:t> racial.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707682"/>
                </a:solidFill>
              </a:defRPr>
            </a:pPr>
            <a:r>
              <a:t>Classificador MST pré-treinado validado pela Rodada 6 (SkinToneNet, Pereira 2026)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é FiLM (Feature-wise Linear Modulation)?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424E"/>
                </a:solidFill>
              </a:defRPr>
            </a:pPr>
            <a:r>
              <a:t>Mecanismo de condicionamento neural que permite a uma rede 'consultar' um sinal de contexto antes de decidir.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383280" cy="109728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1F2A4E"/>
                </a:solidFill>
              </a:defRPr>
            </a:pPr>
            <a:r>
              <a:t>1.  Reconhecer tom de pele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SkinToneNet recebe a foto e devolve um vetor de contexto representando o tom (MST 1 a 10).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858768" y="1938527"/>
            <a:ext cx="329184" cy="329184"/>
          </a:xfrm>
          <a:prstGeom prst="rightArrow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206240" y="1554480"/>
            <a:ext cx="3383280" cy="109728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2.  Camada FiLM</a:t>
            </a:r>
          </a:p>
          <a:p>
            <a:pPr>
              <a:defRPr sz="1100">
                <a:solidFill>
                  <a:srgbClr val="E8EAED"/>
                </a:solidFill>
              </a:defRPr>
            </a:pPr>
            <a:r>
              <a:t>Usa o vetor de contexto para modular as features intermediárias da rede de raça (escala e deslocamento por canal).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607808" y="1938527"/>
            <a:ext cx="329184" cy="329184"/>
          </a:xfrm>
          <a:prstGeom prst="rightArrow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955280" y="1554480"/>
            <a:ext cx="3383280" cy="109728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1F2A4E"/>
                </a:solidFill>
              </a:defRPr>
            </a:pPr>
            <a:r>
              <a:rPr dirty="0"/>
              <a:t>3.  </a:t>
            </a:r>
            <a:r>
              <a:rPr dirty="0" err="1"/>
              <a:t>Decidir</a:t>
            </a:r>
            <a:r>
              <a:rPr dirty="0"/>
              <a:t> a </a:t>
            </a:r>
            <a:r>
              <a:rPr dirty="0" err="1"/>
              <a:t>raça</a:t>
            </a:r>
            <a:endParaRPr dirty="0"/>
          </a:p>
          <a:p>
            <a:pPr>
              <a:defRPr sz="1100">
                <a:solidFill>
                  <a:srgbClr val="3D424E"/>
                </a:solidFill>
              </a:defRPr>
            </a:pPr>
            <a:r>
              <a:rPr dirty="0" err="1"/>
              <a:t>ConvNeXt</a:t>
            </a:r>
            <a:r>
              <a:rPr dirty="0"/>
              <a:t>-T decide entre as 7 </a:t>
            </a:r>
            <a:r>
              <a:rPr dirty="0" err="1"/>
              <a:t>raças</a:t>
            </a:r>
            <a:r>
              <a:rPr dirty="0"/>
              <a:t> do </a:t>
            </a:r>
            <a:r>
              <a:rPr dirty="0" err="1"/>
              <a:t>FairFace</a:t>
            </a:r>
            <a:r>
              <a:rPr dirty="0"/>
              <a:t> com </a:t>
            </a:r>
            <a:r>
              <a:rPr lang="pt-BR" dirty="0"/>
              <a:t>o tom de pele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11430000" cy="23774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1F2A4E"/>
                </a:solidFill>
              </a:defRPr>
            </a:pPr>
            <a:r>
              <a:rPr dirty="0" err="1"/>
              <a:t>Detalhamento</a:t>
            </a:r>
            <a:r>
              <a:rPr dirty="0"/>
              <a:t> </a:t>
            </a:r>
            <a:r>
              <a:rPr dirty="0" err="1"/>
              <a:t>científico</a:t>
            </a:r>
            <a:endParaRPr lang="pt-BR" dirty="0"/>
          </a:p>
          <a:p>
            <a:pPr algn="ctr">
              <a:defRPr sz="1300" b="1">
                <a:solidFill>
                  <a:srgbClr val="1F2A4E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Origem</a:t>
            </a:r>
            <a:r>
              <a:rPr dirty="0"/>
              <a:t> (Perez et al. 2018, AAAI): </a:t>
            </a:r>
            <a:r>
              <a:rPr dirty="0" err="1"/>
              <a:t>proposto</a:t>
            </a:r>
            <a:r>
              <a:rPr dirty="0"/>
              <a:t> </a:t>
            </a:r>
            <a:r>
              <a:rPr dirty="0" err="1"/>
              <a:t>originalmente</a:t>
            </a:r>
            <a:r>
              <a:rPr dirty="0"/>
              <a:t> para Visual Question Answering, </a:t>
            </a:r>
            <a:r>
              <a:rPr dirty="0" err="1"/>
              <a:t>generaliza</a:t>
            </a:r>
            <a:r>
              <a:rPr dirty="0"/>
              <a:t> Conditional Batch Normalization (de Vries et al. 2017, </a:t>
            </a:r>
            <a:r>
              <a:rPr dirty="0" err="1"/>
              <a:t>NeurIPS</a:t>
            </a:r>
            <a:r>
              <a:rPr dirty="0"/>
              <a:t>).</a:t>
            </a:r>
          </a:p>
          <a:p>
            <a:pPr>
              <a:spcAft>
                <a:spcPts val="200"/>
              </a:spcAft>
              <a:defRPr sz="12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Mecanismo</a:t>
            </a:r>
            <a:r>
              <a:rPr dirty="0"/>
              <a:t> central: para </a:t>
            </a:r>
            <a:r>
              <a:rPr dirty="0" err="1"/>
              <a:t>cada</a:t>
            </a:r>
            <a:r>
              <a:rPr dirty="0"/>
              <a:t> canal de </a:t>
            </a:r>
            <a:r>
              <a:rPr dirty="0" err="1"/>
              <a:t>uma</a:t>
            </a:r>
            <a:r>
              <a:rPr dirty="0"/>
              <a:t> feature map, </a:t>
            </a:r>
            <a:r>
              <a:rPr dirty="0" err="1"/>
              <a:t>FiLM</a:t>
            </a:r>
            <a:r>
              <a:rPr dirty="0"/>
              <a:t> </a:t>
            </a:r>
            <a:r>
              <a:rPr dirty="0" err="1"/>
              <a:t>aplica</a:t>
            </a:r>
            <a:r>
              <a:rPr dirty="0"/>
              <a:t> um par (</a:t>
            </a:r>
            <a:r>
              <a:rPr dirty="0" err="1"/>
              <a:t>escala</a:t>
            </a:r>
            <a:r>
              <a:rPr dirty="0"/>
              <a:t>, </a:t>
            </a:r>
            <a:r>
              <a:rPr dirty="0" err="1"/>
              <a:t>deslocamento</a:t>
            </a:r>
            <a:r>
              <a:rPr dirty="0"/>
              <a:t>) </a:t>
            </a:r>
            <a:r>
              <a:rPr dirty="0" err="1"/>
              <a:t>aprendido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do </a:t>
            </a:r>
            <a:r>
              <a:rPr dirty="0" err="1"/>
              <a:t>contexto</a:t>
            </a:r>
            <a:r>
              <a:rPr dirty="0"/>
              <a:t>.</a:t>
            </a:r>
          </a:p>
          <a:p>
            <a:pPr>
              <a:spcAft>
                <a:spcPts val="200"/>
              </a:spcAft>
              <a:defRPr sz="1200">
                <a:solidFill>
                  <a:srgbClr val="3D424E"/>
                </a:solidFill>
              </a:defRPr>
            </a:pPr>
            <a:r>
              <a:rPr dirty="0"/>
              <a:t>•  Onde </a:t>
            </a:r>
            <a:r>
              <a:rPr lang="pt-BR" dirty="0"/>
              <a:t>insere-se</a:t>
            </a:r>
            <a:r>
              <a:rPr dirty="0"/>
              <a:t> no </a:t>
            </a:r>
            <a:r>
              <a:rPr dirty="0" err="1"/>
              <a:t>nosso</a:t>
            </a:r>
            <a:r>
              <a:rPr dirty="0"/>
              <a:t> pipeline: </a:t>
            </a:r>
            <a:r>
              <a:rPr dirty="0" err="1"/>
              <a:t>após</a:t>
            </a:r>
            <a:r>
              <a:rPr dirty="0"/>
              <a:t> </a:t>
            </a:r>
            <a:r>
              <a:rPr dirty="0" err="1"/>
              <a:t>cada</a:t>
            </a:r>
            <a:r>
              <a:rPr dirty="0"/>
              <a:t> </a:t>
            </a:r>
            <a:r>
              <a:rPr dirty="0" err="1"/>
              <a:t>bloco</a:t>
            </a:r>
            <a:r>
              <a:rPr dirty="0"/>
              <a:t> residual do </a:t>
            </a:r>
            <a:r>
              <a:rPr dirty="0" err="1"/>
              <a:t>ConvNeXt</a:t>
            </a:r>
            <a:r>
              <a:rPr dirty="0"/>
              <a:t>-T (4 </a:t>
            </a:r>
            <a:r>
              <a:rPr dirty="0" err="1"/>
              <a:t>blocos</a:t>
            </a:r>
            <a:r>
              <a:rPr dirty="0"/>
              <a:t> </a:t>
            </a:r>
            <a:r>
              <a:rPr dirty="0" err="1"/>
              <a:t>hierárquicos</a:t>
            </a:r>
            <a:r>
              <a:rPr dirty="0"/>
              <a:t>). </a:t>
            </a:r>
            <a:r>
              <a:rPr dirty="0" err="1"/>
              <a:t>Apenas</a:t>
            </a:r>
            <a:r>
              <a:rPr dirty="0"/>
              <a:t> as MLPs de </a:t>
            </a:r>
            <a:r>
              <a:rPr dirty="0" err="1"/>
              <a:t>modulação</a:t>
            </a:r>
            <a:r>
              <a:rPr dirty="0"/>
              <a:t> </a:t>
            </a:r>
            <a:r>
              <a:rPr dirty="0" err="1"/>
              <a:t>são</a:t>
            </a:r>
            <a:r>
              <a:rPr dirty="0"/>
              <a:t> </a:t>
            </a:r>
            <a:r>
              <a:rPr dirty="0" err="1"/>
              <a:t>novas</a:t>
            </a:r>
            <a:r>
              <a:rPr dirty="0"/>
              <a:t>; o backbone segue </a:t>
            </a:r>
            <a:r>
              <a:rPr dirty="0" err="1"/>
              <a:t>treinável</a:t>
            </a:r>
            <a:r>
              <a:rPr dirty="0"/>
              <a:t> end-to-end.</a:t>
            </a:r>
          </a:p>
          <a:p>
            <a:pPr>
              <a:spcAft>
                <a:spcPts val="200"/>
              </a:spcAft>
              <a:defRPr sz="1200">
                <a:solidFill>
                  <a:srgbClr val="3D424E"/>
                </a:solidFill>
              </a:defRPr>
            </a:pPr>
            <a:r>
              <a:rPr dirty="0"/>
              <a:t>•  Por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FiLM</a:t>
            </a:r>
            <a:r>
              <a:rPr dirty="0"/>
              <a:t>: </a:t>
            </a:r>
            <a:r>
              <a:rPr dirty="0" err="1"/>
              <a:t>concatenar</a:t>
            </a:r>
            <a:r>
              <a:rPr dirty="0"/>
              <a:t> o </a:t>
            </a:r>
            <a:r>
              <a:rPr dirty="0" err="1"/>
              <a:t>vetor</a:t>
            </a:r>
            <a:r>
              <a:rPr dirty="0"/>
              <a:t> MST </a:t>
            </a:r>
            <a:r>
              <a:rPr dirty="0" err="1"/>
              <a:t>nas</a:t>
            </a:r>
            <a:r>
              <a:rPr dirty="0"/>
              <a:t> features </a:t>
            </a:r>
            <a:r>
              <a:rPr dirty="0" err="1"/>
              <a:t>perde</a:t>
            </a:r>
            <a:r>
              <a:rPr dirty="0"/>
              <a:t> </a:t>
            </a:r>
            <a:r>
              <a:rPr dirty="0" err="1"/>
              <a:t>escala</a:t>
            </a:r>
            <a:r>
              <a:rPr dirty="0"/>
              <a:t> </a:t>
            </a:r>
            <a:r>
              <a:rPr dirty="0" err="1"/>
              <a:t>posicional</a:t>
            </a:r>
            <a:r>
              <a:rPr lang="pt-BR" dirty="0"/>
              <a:t>.</a:t>
            </a:r>
            <a:endParaRPr dirty="0"/>
          </a:p>
          <a:p>
            <a:pPr>
              <a:spcAft>
                <a:spcPts val="200"/>
              </a:spcAft>
              <a:defRPr sz="12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lang="pt-BR" dirty="0"/>
              <a:t>U</a:t>
            </a:r>
            <a:r>
              <a:rPr dirty="0"/>
              <a:t>so: ~1.000+ papers </a:t>
            </a:r>
            <a:r>
              <a:rPr dirty="0" err="1"/>
              <a:t>citantes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CV, NLP e RL </a:t>
            </a:r>
            <a:r>
              <a:rPr dirty="0" err="1"/>
              <a:t>desde</a:t>
            </a:r>
            <a:r>
              <a:rPr dirty="0"/>
              <a:t> 2018 (Google Scholar). </a:t>
            </a:r>
            <a:r>
              <a:rPr dirty="0" err="1"/>
              <a:t>Estabelecido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</a:t>
            </a:r>
            <a:r>
              <a:rPr dirty="0" err="1"/>
              <a:t>padrão</a:t>
            </a:r>
            <a:r>
              <a:rPr dirty="0"/>
              <a:t> de conditioning </a:t>
            </a:r>
            <a:r>
              <a:rPr dirty="0" err="1"/>
              <a:t>em</a:t>
            </a:r>
            <a:r>
              <a:rPr dirty="0"/>
              <a:t> redes </a:t>
            </a:r>
            <a:r>
              <a:rPr dirty="0" err="1"/>
              <a:t>neurais</a:t>
            </a:r>
            <a:r>
              <a:rPr dirty="0"/>
              <a:t> </a:t>
            </a:r>
            <a:r>
              <a:rPr dirty="0" err="1"/>
              <a:t>profundas</a:t>
            </a:r>
            <a:r>
              <a:rPr dirty="0"/>
              <a:t>.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C7E15BE2-3796-C153-5EE7-3FD96CECE8FE}"/>
              </a:ext>
            </a:extLst>
          </p:cNvPr>
          <p:cNvSpPr txBox="1"/>
          <p:nvPr/>
        </p:nvSpPr>
        <p:spPr>
          <a:xfrm>
            <a:off x="4023360" y="5303520"/>
            <a:ext cx="3495675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Imagem → CNN (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ResNet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ConvNeXt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↓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MST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classifier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──▶ vetor z (10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logits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↓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FiLM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layer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── γ, β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↓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feature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modulado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↓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race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classifier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head</a:t>
            </a:r>
            <a:endParaRPr lang="pt-BR" sz="800" b="0" i="0" dirty="0">
              <a:solidFill>
                <a:srgbClr val="BBBEBF"/>
              </a:solidFill>
              <a:effectLst/>
              <a:latin typeface="Consolas" panose="020B0609020204030204" pitchFamily="49" charset="0"/>
            </a:endParaRP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    ↓</a:t>
            </a:r>
          </a:p>
          <a:p>
            <a:pPr algn="l">
              <a:buNone/>
            </a:pP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              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race</a:t>
            </a:r>
            <a:r>
              <a:rPr lang="pt-BR" sz="800" b="0" i="0" dirty="0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pt-BR" sz="800" b="0" i="0" dirty="0" err="1">
                <a:solidFill>
                  <a:srgbClr val="BBBEBF"/>
                </a:solidFill>
                <a:effectLst/>
                <a:latin typeface="Consolas" panose="020B0609020204030204" pitchFamily="49" charset="0"/>
              </a:rPr>
              <a:t>prediction</a:t>
            </a:r>
            <a:endParaRPr lang="pt-BR" sz="800" b="0" i="0" dirty="0">
              <a:solidFill>
                <a:srgbClr val="BBBEBF"/>
              </a:solidFill>
              <a:effectLst/>
              <a:latin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F2A4E"/>
                </a:solidFill>
              </a:defRPr>
            </a:pPr>
            <a:r>
              <a:t>O que é fair transferência (LAFTR)?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424E"/>
                </a:solidFill>
              </a:defRPr>
            </a:pPr>
            <a:r>
              <a:t>Framework de adversarial fair representation learning que demonstra fairness como propriedade transferível entre tarefas.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657600" cy="109728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1F2A4E"/>
                </a:solidFill>
              </a:defRPr>
            </a:pPr>
            <a:r>
              <a:rPr dirty="0"/>
              <a:t>Cap 2 — Race classification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rPr dirty="0" err="1"/>
              <a:t>Treino</a:t>
            </a:r>
            <a:r>
              <a:rPr dirty="0"/>
              <a:t> do backbone com </a:t>
            </a:r>
            <a:r>
              <a:rPr dirty="0" err="1"/>
              <a:t>objetivo</a:t>
            </a:r>
            <a:r>
              <a:rPr dirty="0"/>
              <a:t> fair </a:t>
            </a:r>
            <a:r>
              <a:rPr dirty="0" err="1"/>
              <a:t>sobre</a:t>
            </a:r>
            <a:r>
              <a:rPr dirty="0"/>
              <a:t> </a:t>
            </a:r>
            <a:r>
              <a:rPr dirty="0" err="1"/>
              <a:t>raça</a:t>
            </a:r>
            <a:r>
              <a:rPr dirty="0"/>
              <a:t>. A </a:t>
            </a:r>
            <a:r>
              <a:rPr dirty="0" err="1"/>
              <a:t>representação</a:t>
            </a:r>
            <a:r>
              <a:rPr dirty="0"/>
              <a:t> </a:t>
            </a:r>
            <a:r>
              <a:rPr dirty="0" err="1"/>
              <a:t>aprendida</a:t>
            </a:r>
            <a:r>
              <a:rPr dirty="0"/>
              <a:t> </a:t>
            </a:r>
            <a:r>
              <a:rPr lang="pt-BR" dirty="0"/>
              <a:t>(Z) </a:t>
            </a:r>
            <a:r>
              <a:rPr dirty="0"/>
              <a:t>é,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construção</a:t>
            </a:r>
            <a:r>
              <a:rPr dirty="0"/>
              <a:t>, </a:t>
            </a:r>
            <a:r>
              <a:rPr dirty="0" err="1"/>
              <a:t>equilibrada</a:t>
            </a:r>
            <a:r>
              <a:rPr dirty="0"/>
              <a:t> entre </a:t>
            </a:r>
            <a:r>
              <a:rPr dirty="0" err="1"/>
              <a:t>grupos</a:t>
            </a:r>
            <a:r>
              <a:rPr dirty="0"/>
              <a:t>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206240" y="1938527"/>
            <a:ext cx="640080" cy="329184"/>
          </a:xfrm>
          <a:prstGeom prst="rightArrow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937760" y="1554480"/>
            <a:ext cx="2286000" cy="109728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182880" rIns="13716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rPr dirty="0" err="1"/>
              <a:t>Representação</a:t>
            </a:r>
            <a:r>
              <a:rPr dirty="0"/>
              <a:t> Z fair</a:t>
            </a:r>
          </a:p>
          <a:p>
            <a:pPr algn="ctr">
              <a:defRPr sz="1100">
                <a:solidFill>
                  <a:srgbClr val="E8EAED"/>
                </a:solidFill>
              </a:defRPr>
            </a:pPr>
            <a:r>
              <a:rPr dirty="0"/>
              <a:t>A </a:t>
            </a:r>
            <a:r>
              <a:rPr dirty="0" err="1"/>
              <a:t>propriedade</a:t>
            </a:r>
            <a:r>
              <a:rPr dirty="0"/>
              <a:t> fair é </a:t>
            </a:r>
            <a:r>
              <a:rPr dirty="0" err="1"/>
              <a:t>embutida</a:t>
            </a:r>
            <a:r>
              <a:rPr dirty="0"/>
              <a:t>.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315200" y="1938527"/>
            <a:ext cx="640080" cy="329184"/>
          </a:xfrm>
          <a:prstGeom prst="rightArrow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46720" y="1554480"/>
            <a:ext cx="3840480" cy="1097280"/>
          </a:xfrm>
          <a:prstGeom prst="roundRect">
            <a:avLst/>
          </a:prstGeom>
          <a:solidFill>
            <a:srgbClr val="E8EAED"/>
          </a:solidFill>
          <a:ln w="1905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rtlCol="0" anchor="ctr"/>
          <a:lstStyle/>
          <a:p>
            <a:pPr algn="ctr">
              <a:defRPr sz="1300" b="1">
                <a:solidFill>
                  <a:srgbClr val="1F2A4E"/>
                </a:solidFill>
              </a:defRPr>
            </a:pPr>
            <a:r>
              <a:t>Cap 3 — Face recognition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Reuso do backbone como ponto de partida. A nova tarefa herda a propriedade fair sem re-treinar do zero.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788920"/>
            <a:ext cx="11430000" cy="23774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1F2A4E"/>
                </a:solidFill>
              </a:defRPr>
            </a:pPr>
            <a:r>
              <a:rPr dirty="0" err="1"/>
              <a:t>Detalhamento</a:t>
            </a:r>
            <a:r>
              <a:rPr dirty="0"/>
              <a:t> </a:t>
            </a:r>
            <a:r>
              <a:rPr dirty="0" err="1"/>
              <a:t>científico</a:t>
            </a:r>
            <a:endParaRPr lang="pt-BR" dirty="0"/>
          </a:p>
          <a:p>
            <a:pPr algn="ctr">
              <a:defRPr sz="1300" b="1">
                <a:solidFill>
                  <a:srgbClr val="1F2A4E"/>
                </a:solidFill>
              </a:defRPr>
            </a:pPr>
            <a:endParaRPr dirty="0"/>
          </a:p>
          <a:p>
            <a:pPr>
              <a:spcAft>
                <a:spcPts val="200"/>
              </a:spcAft>
              <a:defRPr sz="11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Linhagem</a:t>
            </a:r>
            <a:r>
              <a:rPr dirty="0"/>
              <a:t> </a:t>
            </a:r>
            <a:r>
              <a:rPr dirty="0" err="1"/>
              <a:t>teórica</a:t>
            </a:r>
            <a:r>
              <a:rPr dirty="0"/>
              <a:t>: </a:t>
            </a:r>
            <a:r>
              <a:rPr dirty="0" err="1"/>
              <a:t>parte</a:t>
            </a:r>
            <a:r>
              <a:rPr dirty="0"/>
              <a:t> da </a:t>
            </a:r>
            <a:r>
              <a:rPr dirty="0" err="1"/>
              <a:t>família</a:t>
            </a:r>
            <a:r>
              <a:rPr dirty="0"/>
              <a:t> Fair Representation Learning </a:t>
            </a:r>
            <a:r>
              <a:rPr dirty="0" err="1"/>
              <a:t>iniciada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Zemel et al. 2013 (ICML, Test-of-Time Award 2023). LAFTR </a:t>
            </a:r>
            <a:r>
              <a:rPr dirty="0" err="1"/>
              <a:t>avança</a:t>
            </a:r>
            <a:r>
              <a:rPr dirty="0"/>
              <a:t> o </a:t>
            </a:r>
            <a:r>
              <a:rPr dirty="0" err="1"/>
              <a:t>paradigma</a:t>
            </a:r>
            <a:r>
              <a:rPr dirty="0"/>
              <a:t> com </a:t>
            </a:r>
            <a:r>
              <a:rPr dirty="0" err="1"/>
              <a:t>formulação</a:t>
            </a:r>
            <a:r>
              <a:rPr dirty="0"/>
              <a:t> adversarial.</a:t>
            </a:r>
          </a:p>
          <a:p>
            <a:pPr>
              <a:spcAft>
                <a:spcPts val="200"/>
              </a:spcAft>
              <a:defRPr sz="11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Arquitetura</a:t>
            </a:r>
            <a:r>
              <a:rPr dirty="0"/>
              <a:t>: 3 </a:t>
            </a:r>
            <a:r>
              <a:rPr dirty="0" err="1"/>
              <a:t>componentes</a:t>
            </a:r>
            <a:r>
              <a:rPr dirty="0"/>
              <a:t> </a:t>
            </a:r>
            <a:r>
              <a:rPr dirty="0" err="1"/>
              <a:t>treinados</a:t>
            </a:r>
            <a:r>
              <a:rPr dirty="0"/>
              <a:t> </a:t>
            </a:r>
            <a:r>
              <a:rPr dirty="0" err="1"/>
              <a:t>conjuntamente</a:t>
            </a:r>
            <a:r>
              <a:rPr dirty="0"/>
              <a:t> — encoder (</a:t>
            </a:r>
            <a:r>
              <a:rPr dirty="0" err="1"/>
              <a:t>gera</a:t>
            </a:r>
            <a:r>
              <a:rPr dirty="0"/>
              <a:t> a </a:t>
            </a:r>
            <a:r>
              <a:rPr dirty="0" err="1"/>
              <a:t>representação</a:t>
            </a:r>
            <a:r>
              <a:rPr dirty="0"/>
              <a:t> Z), </a:t>
            </a:r>
            <a:r>
              <a:rPr dirty="0" err="1"/>
              <a:t>classificador</a:t>
            </a:r>
            <a:r>
              <a:rPr dirty="0"/>
              <a:t> da </a:t>
            </a:r>
            <a:r>
              <a:rPr dirty="0" err="1"/>
              <a:t>tarefa</a:t>
            </a:r>
            <a:r>
              <a:rPr dirty="0"/>
              <a:t> principal, </a:t>
            </a:r>
            <a:r>
              <a:rPr dirty="0" err="1"/>
              <a:t>adversário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tenta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o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sensível</a:t>
            </a:r>
            <a:r>
              <a:rPr dirty="0"/>
              <a:t> a </a:t>
            </a:r>
            <a:r>
              <a:rPr dirty="0" err="1"/>
              <a:t>partir</a:t>
            </a:r>
            <a:r>
              <a:rPr dirty="0"/>
              <a:t> de Z.</a:t>
            </a:r>
          </a:p>
          <a:p>
            <a:pPr>
              <a:spcAft>
                <a:spcPts val="200"/>
              </a:spcAft>
              <a:defRPr sz="11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Resultado</a:t>
            </a:r>
            <a:r>
              <a:rPr dirty="0"/>
              <a:t> </a:t>
            </a:r>
            <a:r>
              <a:rPr dirty="0" err="1"/>
              <a:t>teórico</a:t>
            </a:r>
            <a:r>
              <a:rPr dirty="0"/>
              <a:t> </a:t>
            </a:r>
            <a:r>
              <a:rPr dirty="0" err="1"/>
              <a:t>chave</a:t>
            </a:r>
            <a:r>
              <a:rPr dirty="0"/>
              <a:t> (</a:t>
            </a:r>
            <a:r>
              <a:rPr dirty="0" err="1"/>
              <a:t>Teorema</a:t>
            </a:r>
            <a:r>
              <a:rPr dirty="0"/>
              <a:t> 1): se o </a:t>
            </a:r>
            <a:r>
              <a:rPr dirty="0" err="1"/>
              <a:t>adversário</a:t>
            </a:r>
            <a:r>
              <a:rPr dirty="0"/>
              <a:t> </a:t>
            </a:r>
            <a:r>
              <a:rPr dirty="0" err="1"/>
              <a:t>falha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recuperar</a:t>
            </a:r>
            <a:r>
              <a:rPr dirty="0"/>
              <a:t> o </a:t>
            </a:r>
            <a:r>
              <a:rPr dirty="0" err="1"/>
              <a:t>atributo</a:t>
            </a:r>
            <a:r>
              <a:rPr dirty="0"/>
              <a:t> </a:t>
            </a:r>
            <a:r>
              <a:rPr dirty="0" err="1"/>
              <a:t>sensível</a:t>
            </a:r>
            <a:r>
              <a:rPr dirty="0"/>
              <a:t>, </a:t>
            </a:r>
            <a:r>
              <a:rPr dirty="0" err="1"/>
              <a:t>então</a:t>
            </a:r>
            <a:r>
              <a:rPr dirty="0"/>
              <a:t> </a:t>
            </a:r>
            <a:r>
              <a:rPr dirty="0" err="1"/>
              <a:t>qualquer</a:t>
            </a:r>
            <a:r>
              <a:rPr dirty="0"/>
              <a:t> </a:t>
            </a:r>
            <a:r>
              <a:rPr dirty="0" err="1"/>
              <a:t>classificador</a:t>
            </a:r>
            <a:r>
              <a:rPr dirty="0"/>
              <a:t> downstream </a:t>
            </a:r>
            <a:r>
              <a:rPr dirty="0" err="1"/>
              <a:t>treinado</a:t>
            </a:r>
            <a:r>
              <a:rPr dirty="0"/>
              <a:t> </a:t>
            </a:r>
            <a:r>
              <a:rPr dirty="0" err="1"/>
              <a:t>sobre</a:t>
            </a:r>
            <a:r>
              <a:rPr dirty="0"/>
              <a:t> Z </a:t>
            </a:r>
            <a:r>
              <a:rPr dirty="0" err="1"/>
              <a:t>herda</a:t>
            </a:r>
            <a:r>
              <a:rPr dirty="0"/>
              <a:t> um </a:t>
            </a:r>
            <a:r>
              <a:rPr dirty="0" err="1"/>
              <a:t>limite</a:t>
            </a:r>
            <a:r>
              <a:rPr dirty="0"/>
              <a:t> superior de </a:t>
            </a:r>
            <a:r>
              <a:rPr dirty="0" err="1"/>
              <a:t>violação</a:t>
            </a:r>
            <a:r>
              <a:rPr dirty="0"/>
              <a:t> de fairness.</a:t>
            </a:r>
          </a:p>
          <a:p>
            <a:pPr>
              <a:spcAft>
                <a:spcPts val="200"/>
              </a:spcAft>
              <a:defRPr sz="11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implementadas</a:t>
            </a:r>
            <a:r>
              <a:rPr dirty="0"/>
              <a:t>: demographic parity, equal opportunity, equalized odds (Hardt et al. 2016). </a:t>
            </a:r>
            <a:r>
              <a:rPr dirty="0" err="1"/>
              <a:t>Compatível</a:t>
            </a:r>
            <a:r>
              <a:rPr dirty="0"/>
              <a:t> com a </a:t>
            </a:r>
            <a:r>
              <a:rPr dirty="0" err="1"/>
              <a:t>triangulação</a:t>
            </a:r>
            <a:r>
              <a:rPr dirty="0"/>
              <a:t> de </a:t>
            </a:r>
            <a:r>
              <a:rPr dirty="0" err="1"/>
              <a:t>métricas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vamos</a:t>
            </a:r>
            <a:r>
              <a:rPr dirty="0"/>
              <a:t> usar.</a:t>
            </a:r>
          </a:p>
          <a:p>
            <a:pPr>
              <a:spcAft>
                <a:spcPts val="200"/>
              </a:spcAft>
              <a:defRPr sz="1100">
                <a:solidFill>
                  <a:srgbClr val="3D424E"/>
                </a:solidFill>
              </a:defRPr>
            </a:pPr>
            <a:r>
              <a:rPr dirty="0"/>
              <a:t>•  </a:t>
            </a:r>
            <a:r>
              <a:rPr dirty="0" err="1"/>
              <a:t>Validações</a:t>
            </a:r>
            <a:r>
              <a:rPr dirty="0"/>
              <a:t> </a:t>
            </a:r>
            <a:r>
              <a:rPr dirty="0" err="1"/>
              <a:t>empíricas</a:t>
            </a:r>
            <a:r>
              <a:rPr dirty="0"/>
              <a:t>: UCI Adult, Heritage Health, </a:t>
            </a:r>
            <a:r>
              <a:rPr dirty="0" err="1"/>
              <a:t>CelebA</a:t>
            </a:r>
            <a:r>
              <a:rPr dirty="0"/>
              <a:t>. Aguirre &amp; </a:t>
            </a:r>
            <a:r>
              <a:rPr dirty="0" err="1"/>
              <a:t>Dredze</a:t>
            </a:r>
            <a:r>
              <a:rPr dirty="0"/>
              <a:t> 2023 </a:t>
            </a:r>
            <a:r>
              <a:rPr dirty="0" err="1"/>
              <a:t>estendeu</a:t>
            </a:r>
            <a:r>
              <a:rPr dirty="0"/>
              <a:t> o </a:t>
            </a:r>
            <a:r>
              <a:rPr dirty="0" err="1"/>
              <a:t>princípio</a:t>
            </a:r>
            <a:r>
              <a:rPr dirty="0"/>
              <a:t> para multi-task NLP — </a:t>
            </a:r>
            <a:r>
              <a:rPr dirty="0" err="1"/>
              <a:t>evidência</a:t>
            </a:r>
            <a:r>
              <a:rPr dirty="0"/>
              <a:t> de </a:t>
            </a:r>
            <a:r>
              <a:rPr dirty="0" err="1"/>
              <a:t>generalização</a:t>
            </a:r>
            <a:r>
              <a:rPr dirty="0"/>
              <a:t> do </a:t>
            </a:r>
            <a:r>
              <a:rPr dirty="0" err="1"/>
              <a:t>mecanismo</a:t>
            </a:r>
            <a:r>
              <a:rPr dirty="0"/>
              <a:t>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257800"/>
            <a:ext cx="11430000" cy="1143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09728" rIns="228600" rtlCol="0" anchor="ctr"/>
          <a:lstStyle/>
          <a:p>
            <a:pPr algn="ctr">
              <a:defRPr sz="1300" b="1">
                <a:solidFill>
                  <a:srgbClr val="2E7D32"/>
                </a:solidFill>
              </a:defRPr>
            </a:pPr>
            <a:r>
              <a:rPr lang="pt-BR" dirty="0" err="1"/>
              <a:t>Relevancia</a:t>
            </a:r>
            <a:endParaRPr lang="pt-BR" dirty="0"/>
          </a:p>
          <a:p>
            <a:pPr algn="ctr">
              <a:defRPr sz="1300" b="1">
                <a:solidFill>
                  <a:srgbClr val="2E7D32"/>
                </a:solidFill>
              </a:defRPr>
            </a:pPr>
            <a:endParaRPr dirty="0"/>
          </a:p>
          <a:p>
            <a:pPr>
              <a:defRPr sz="1200">
                <a:solidFill>
                  <a:srgbClr val="3D424E"/>
                </a:solidFill>
              </a:defRPr>
            </a:pPr>
            <a:r>
              <a:rPr dirty="0"/>
              <a:t>O </a:t>
            </a:r>
            <a:r>
              <a:rPr dirty="0" err="1"/>
              <a:t>Teorema</a:t>
            </a:r>
            <a:r>
              <a:rPr dirty="0"/>
              <a:t> 1 do LAFTR é a </a:t>
            </a:r>
            <a:r>
              <a:rPr dirty="0" err="1"/>
              <a:t>garantia</a:t>
            </a:r>
            <a:r>
              <a:rPr dirty="0"/>
              <a:t> </a:t>
            </a:r>
            <a:r>
              <a:rPr dirty="0" err="1"/>
              <a:t>teórica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sustenta</a:t>
            </a:r>
            <a:r>
              <a:rPr dirty="0"/>
              <a:t> a EXTENSÃO da </a:t>
            </a:r>
            <a:r>
              <a:rPr dirty="0" err="1"/>
              <a:t>nossa</a:t>
            </a:r>
            <a:r>
              <a:rPr dirty="0"/>
              <a:t> </a:t>
            </a:r>
            <a:r>
              <a:rPr dirty="0" err="1"/>
              <a:t>tese</a:t>
            </a:r>
            <a:r>
              <a:rPr dirty="0"/>
              <a:t> para Cap 3 (face recognition), a </a:t>
            </a:r>
            <a:r>
              <a:rPr dirty="0" err="1"/>
              <a:t>extensão</a:t>
            </a:r>
            <a:r>
              <a:rPr dirty="0"/>
              <a:t> </a:t>
            </a:r>
            <a:r>
              <a:rPr dirty="0" err="1"/>
              <a:t>deixa</a:t>
            </a:r>
            <a:r>
              <a:rPr dirty="0"/>
              <a:t> de ser </a:t>
            </a:r>
            <a:r>
              <a:rPr dirty="0" err="1"/>
              <a:t>especulativa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O pipeline em 6 etapas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637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Etapa 1 — </a:t>
            </a:r>
            <a:r>
              <a:rPr lang="pt-BR" dirty="0"/>
              <a:t>Preparar</a:t>
            </a:r>
            <a:r>
              <a:rPr dirty="0"/>
              <a:t> </a:t>
            </a:r>
            <a:r>
              <a:rPr lang="pt-BR" dirty="0"/>
              <a:t>o</a:t>
            </a:r>
            <a:r>
              <a:rPr dirty="0"/>
              <a:t> </a:t>
            </a:r>
            <a:r>
              <a:rPr dirty="0" err="1"/>
              <a:t>classificador</a:t>
            </a:r>
            <a:r>
              <a:rPr dirty="0"/>
              <a:t> de tom de </a:t>
            </a:r>
            <a:r>
              <a:rPr dirty="0" err="1"/>
              <a:t>pele</a:t>
            </a:r>
            <a:r>
              <a:rPr dirty="0"/>
              <a:t> (MST)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Dados: MST-E (Schumann 2023) + Casual Conversations (Meta 2021)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Etapa 2 — </a:t>
            </a:r>
            <a:r>
              <a:rPr dirty="0" err="1"/>
              <a:t>Auditar</a:t>
            </a:r>
            <a:r>
              <a:rPr dirty="0"/>
              <a:t> o </a:t>
            </a:r>
            <a:r>
              <a:rPr dirty="0" err="1"/>
              <a:t>FairFace</a:t>
            </a:r>
            <a:r>
              <a:rPr dirty="0"/>
              <a:t>: </a:t>
            </a:r>
            <a:r>
              <a:rPr dirty="0" err="1"/>
              <a:t>como</a:t>
            </a:r>
            <a:r>
              <a:rPr dirty="0"/>
              <a:t> tom de </a:t>
            </a:r>
            <a:r>
              <a:rPr dirty="0" err="1"/>
              <a:t>pele</a:t>
            </a:r>
            <a:r>
              <a:rPr dirty="0"/>
              <a:t> se </a:t>
            </a:r>
            <a:r>
              <a:rPr dirty="0" err="1"/>
              <a:t>distribui</a:t>
            </a:r>
            <a:r>
              <a:rPr dirty="0"/>
              <a:t> entre as 7 </a:t>
            </a:r>
            <a:r>
              <a:rPr dirty="0" err="1"/>
              <a:t>raças</a:t>
            </a:r>
            <a:r>
              <a:rPr dirty="0"/>
              <a:t>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Aplicar</a:t>
            </a:r>
            <a:r>
              <a:rPr dirty="0"/>
              <a:t> o </a:t>
            </a:r>
            <a:r>
              <a:rPr dirty="0" err="1"/>
              <a:t>classificador</a:t>
            </a:r>
            <a:r>
              <a:rPr dirty="0"/>
              <a:t> MST </a:t>
            </a:r>
            <a:r>
              <a:rPr dirty="0" err="1"/>
              <a:t>sobre</a:t>
            </a:r>
            <a:r>
              <a:rPr dirty="0"/>
              <a:t> 10.954 imagens; </a:t>
            </a:r>
            <a:r>
              <a:rPr dirty="0" err="1"/>
              <a:t>validar</a:t>
            </a:r>
            <a:r>
              <a:rPr dirty="0"/>
              <a:t> </a:t>
            </a:r>
            <a:r>
              <a:rPr dirty="0" err="1"/>
              <a:t>manualmente</a:t>
            </a:r>
            <a:r>
              <a:rPr dirty="0"/>
              <a:t> um subset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Etapa 3 — </a:t>
            </a:r>
            <a:r>
              <a:rPr dirty="0" err="1"/>
              <a:t>Treinar</a:t>
            </a:r>
            <a:r>
              <a:rPr dirty="0"/>
              <a:t> o </a:t>
            </a:r>
            <a:r>
              <a:rPr dirty="0" err="1"/>
              <a:t>classificador</a:t>
            </a:r>
            <a:r>
              <a:rPr dirty="0"/>
              <a:t> de </a:t>
            </a:r>
            <a:r>
              <a:rPr dirty="0" err="1"/>
              <a:t>raça</a:t>
            </a:r>
            <a:r>
              <a:rPr dirty="0"/>
              <a:t> USANDO tom de </a:t>
            </a:r>
            <a:r>
              <a:rPr dirty="0" err="1"/>
              <a:t>pele</a:t>
            </a:r>
            <a:r>
              <a:rPr dirty="0"/>
              <a:t> </a:t>
            </a:r>
            <a:r>
              <a:rPr dirty="0" err="1"/>
              <a:t>como</a:t>
            </a:r>
            <a:r>
              <a:rPr dirty="0"/>
              <a:t> </a:t>
            </a:r>
            <a:r>
              <a:rPr dirty="0" err="1"/>
              <a:t>contexto</a:t>
            </a:r>
            <a:r>
              <a:rPr dirty="0"/>
              <a:t> (via </a:t>
            </a:r>
            <a:r>
              <a:rPr dirty="0" err="1"/>
              <a:t>FiLM</a:t>
            </a:r>
            <a:r>
              <a:rPr dirty="0"/>
              <a:t>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Backbone: </a:t>
            </a:r>
            <a:r>
              <a:rPr dirty="0" err="1"/>
              <a:t>ConvNeXt</a:t>
            </a:r>
            <a:r>
              <a:rPr dirty="0"/>
              <a:t>-T (rede moderna, 28 </a:t>
            </a:r>
            <a:r>
              <a:rPr dirty="0" err="1"/>
              <a:t>milhões</a:t>
            </a:r>
            <a:r>
              <a:rPr dirty="0"/>
              <a:t> de </a:t>
            </a:r>
            <a:r>
              <a:rPr dirty="0" err="1"/>
              <a:t>parâmetros</a:t>
            </a:r>
            <a:r>
              <a:rPr dirty="0"/>
              <a:t> — </a:t>
            </a:r>
            <a:r>
              <a:rPr dirty="0" err="1"/>
              <a:t>leve</a:t>
            </a:r>
            <a:r>
              <a:rPr dirty="0"/>
              <a:t>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Etapa 4 — </a:t>
            </a:r>
            <a:r>
              <a:rPr dirty="0" err="1"/>
              <a:t>Comparar</a:t>
            </a:r>
            <a:r>
              <a:rPr dirty="0"/>
              <a:t> fairness: COM tom de </a:t>
            </a:r>
            <a:r>
              <a:rPr dirty="0" err="1"/>
              <a:t>pele</a:t>
            </a:r>
            <a:r>
              <a:rPr dirty="0"/>
              <a:t> vs SEM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/>
              <a:t>Baselines: </a:t>
            </a:r>
            <a:r>
              <a:rPr dirty="0" err="1"/>
              <a:t>ConvNeXt</a:t>
            </a:r>
            <a:r>
              <a:rPr dirty="0"/>
              <a:t>-T puro, FSCL+, Group DRO, Adversarial debiasing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Etapa 5 — </a:t>
            </a:r>
            <a:r>
              <a:rPr dirty="0" err="1"/>
              <a:t>Aplicar</a:t>
            </a:r>
            <a:r>
              <a:rPr dirty="0"/>
              <a:t> pipeline </a:t>
            </a:r>
            <a:r>
              <a:rPr dirty="0" err="1"/>
              <a:t>idêntico</a:t>
            </a:r>
            <a:r>
              <a:rPr dirty="0"/>
              <a:t> </a:t>
            </a:r>
            <a:r>
              <a:rPr dirty="0" err="1"/>
              <a:t>em</a:t>
            </a:r>
            <a:r>
              <a:rPr dirty="0"/>
              <a:t> </a:t>
            </a:r>
            <a:r>
              <a:rPr dirty="0" err="1"/>
              <a:t>reconhecimento</a:t>
            </a:r>
            <a:r>
              <a:rPr dirty="0"/>
              <a:t> facial (RFW </a:t>
            </a:r>
            <a:r>
              <a:rPr dirty="0" err="1"/>
              <a:t>ou</a:t>
            </a:r>
            <a:r>
              <a:rPr dirty="0"/>
              <a:t> BFW)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Verificar</a:t>
            </a:r>
            <a:r>
              <a:rPr dirty="0"/>
              <a:t> </a:t>
            </a:r>
            <a:r>
              <a:rPr dirty="0" err="1"/>
              <a:t>transferência</a:t>
            </a:r>
            <a:r>
              <a:rPr dirty="0"/>
              <a:t> da </a:t>
            </a:r>
            <a:r>
              <a:rPr dirty="0" err="1"/>
              <a:t>propriedade</a:t>
            </a:r>
            <a:r>
              <a:rPr dirty="0"/>
              <a:t> fair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rPr dirty="0"/>
              <a:t>Etapa 6 — </a:t>
            </a:r>
            <a:r>
              <a:rPr dirty="0" err="1"/>
              <a:t>Medir</a:t>
            </a:r>
            <a:r>
              <a:rPr dirty="0"/>
              <a:t> se Black/African </a:t>
            </a:r>
            <a:r>
              <a:rPr dirty="0" err="1"/>
              <a:t>melhora</a:t>
            </a:r>
            <a:r>
              <a:rPr dirty="0"/>
              <a:t> </a:t>
            </a:r>
            <a:r>
              <a:rPr dirty="0" err="1"/>
              <a:t>especificamente</a:t>
            </a:r>
            <a:endParaRPr dirty="0"/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rPr dirty="0" err="1"/>
              <a:t>Métrica</a:t>
            </a:r>
            <a:r>
              <a:rPr dirty="0"/>
              <a:t>: TAR @ FAR </a:t>
            </a:r>
            <a:r>
              <a:rPr dirty="0" err="1"/>
              <a:t>fixo</a:t>
            </a:r>
            <a:r>
              <a:rPr dirty="0"/>
              <a:t> </a:t>
            </a:r>
            <a:r>
              <a:rPr dirty="0" err="1"/>
              <a:t>por</a:t>
            </a:r>
            <a:r>
              <a:rPr dirty="0"/>
              <a:t> </a:t>
            </a:r>
            <a:r>
              <a:rPr dirty="0" err="1"/>
              <a:t>raça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0258386" cy="3231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i="1">
                <a:solidFill>
                  <a:srgbClr val="707682"/>
                </a:solidFill>
              </a:defRPr>
            </a:pPr>
            <a:r>
              <a:rPr dirty="0" err="1"/>
              <a:t>Etapas</a:t>
            </a:r>
            <a:r>
              <a:rPr dirty="0"/>
              <a:t> 1, 4 e 5 </a:t>
            </a:r>
            <a:r>
              <a:rPr dirty="0" err="1"/>
              <a:t>reforçadas</a:t>
            </a:r>
            <a:r>
              <a:rPr dirty="0"/>
              <a:t> pela </a:t>
            </a:r>
            <a:r>
              <a:rPr lang="pt-BR" dirty="0"/>
              <a:t>nova </a:t>
            </a:r>
            <a:r>
              <a:rPr dirty="0" err="1"/>
              <a:t>Rodada</a:t>
            </a:r>
            <a:r>
              <a:rPr dirty="0"/>
              <a:t> </a:t>
            </a:r>
            <a:r>
              <a:rPr lang="pt-BR" dirty="0"/>
              <a:t>de pesquisa desta semana</a:t>
            </a:r>
            <a:r>
              <a:rPr dirty="0"/>
              <a:t> (</a:t>
            </a:r>
            <a:r>
              <a:rPr dirty="0" err="1"/>
              <a:t>SkinToneNet</a:t>
            </a:r>
            <a:r>
              <a:rPr dirty="0"/>
              <a:t>, Adversarial debiasing, fair transfer </a:t>
            </a:r>
            <a:r>
              <a:rPr dirty="0" err="1"/>
              <a:t>empírico</a:t>
            </a:r>
            <a:r>
              <a:rPr dirty="0"/>
              <a:t>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As métricas que vamos reportar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1143000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754790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i="1">
                <a:solidFill>
                  <a:srgbClr val="3D424E"/>
                </a:solidFill>
              </a:defRPr>
            </a:pPr>
            <a:r>
              <a:rPr dirty="0" err="1"/>
              <a:t>Todas</a:t>
            </a:r>
            <a:r>
              <a:rPr dirty="0"/>
              <a:t> </a:t>
            </a:r>
            <a:r>
              <a:rPr dirty="0" err="1"/>
              <a:t>públicas</a:t>
            </a:r>
            <a:r>
              <a:rPr dirty="0"/>
              <a:t>, </a:t>
            </a:r>
            <a:r>
              <a:rPr dirty="0" err="1"/>
              <a:t>padrão</a:t>
            </a:r>
            <a:r>
              <a:rPr dirty="0"/>
              <a:t> da </a:t>
            </a:r>
            <a:r>
              <a:rPr dirty="0" err="1"/>
              <a:t>literatura</a:t>
            </a:r>
            <a:r>
              <a:rPr dirty="0"/>
              <a:t> — </a:t>
            </a:r>
            <a:r>
              <a:rPr dirty="0" err="1"/>
              <a:t>reportar</a:t>
            </a:r>
            <a:r>
              <a:rPr dirty="0"/>
              <a:t> as 3 </a:t>
            </a:r>
            <a:r>
              <a:rPr dirty="0" err="1"/>
              <a:t>simultaneamente</a:t>
            </a:r>
            <a:r>
              <a:rPr dirty="0"/>
              <a:t> </a:t>
            </a:r>
            <a:r>
              <a:rPr lang="pt-BR" dirty="0"/>
              <a:t>como</a:t>
            </a:r>
            <a:r>
              <a:rPr dirty="0"/>
              <a:t> </a:t>
            </a:r>
            <a:r>
              <a:rPr dirty="0" err="1"/>
              <a:t>exigência</a:t>
            </a:r>
            <a:r>
              <a:rPr dirty="0"/>
              <a:t> </a:t>
            </a:r>
            <a:r>
              <a:rPr dirty="0" err="1"/>
              <a:t>metodológica</a:t>
            </a:r>
            <a:r>
              <a:rPr dirty="0"/>
              <a:t>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9476" y="1463040"/>
            <a:ext cx="3657600" cy="41148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9476" y="1463040"/>
            <a:ext cx="3657600" cy="82296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F1 macro</a:t>
            </a:r>
          </a:p>
          <a:p>
            <a:pPr algn="ctr">
              <a:defRPr sz="1200" i="1">
                <a:solidFill>
                  <a:srgbClr val="E8EAED"/>
                </a:solidFill>
              </a:defRPr>
            </a:pPr>
            <a:r>
              <a:t>performance média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" y="2377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424E"/>
                </a:solidFill>
              </a:defRPr>
            </a:pPr>
            <a:r>
              <a:t>Média harmônica de precision/recall por classe, depois média simples entre as 7 raças.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6636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Referência: van Rijsbergen 1979</a:t>
            </a:r>
          </a:p>
        </p:txBody>
      </p:sp>
      <p:sp>
        <p:nvSpPr>
          <p:cNvPr id="9" name="Rectangle 8"/>
          <p:cNvSpPr/>
          <p:nvPr/>
        </p:nvSpPr>
        <p:spPr>
          <a:xfrm>
            <a:off x="653796" y="4069080"/>
            <a:ext cx="3108960" cy="27432"/>
          </a:xfrm>
          <a:prstGeom prst="rect">
            <a:avLst/>
          </a:prstGeom>
          <a:solidFill>
            <a:srgbClr val="707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16636" y="41605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707682"/>
                </a:solidFill>
              </a:defRPr>
            </a:pPr>
            <a:r>
              <a:t>SOTA atual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" y="4434840"/>
            <a:ext cx="33832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1F2A4E"/>
                </a:solidFill>
              </a:defRPr>
            </a:pPr>
            <a: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" y="50749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FaceScanPaliGemma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65676" y="1463040"/>
            <a:ext cx="3657600" cy="41148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65676" y="1463040"/>
            <a:ext cx="3657600" cy="82296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rPr dirty="0"/>
              <a:t>DR</a:t>
            </a:r>
          </a:p>
          <a:p>
            <a:pPr algn="ctr">
              <a:defRPr sz="1200" i="1">
                <a:solidFill>
                  <a:srgbClr val="E8EAED"/>
                </a:solidFill>
              </a:defRPr>
            </a:pPr>
            <a:r>
              <a:rPr dirty="0"/>
              <a:t>Disparity Ratio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2836" y="2377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424E"/>
                </a:solidFill>
              </a:defRPr>
            </a:pPr>
            <a:r>
              <a:t>Razão entre o F1 da pior raça e o F1 da melhor. Mede o gap entre subgrupos.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2836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Referência: Hardt, Price &amp; Srebro 2016 (NeurIPS)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39996" y="4069080"/>
            <a:ext cx="3108960" cy="27432"/>
          </a:xfrm>
          <a:prstGeom prst="rect">
            <a:avLst/>
          </a:prstGeom>
          <a:solidFill>
            <a:srgbClr val="707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02836" y="41605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707682"/>
                </a:solidFill>
              </a:defRPr>
            </a:pPr>
            <a:r>
              <a:t>Estado atual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11811" y="4434840"/>
            <a:ext cx="96532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C0392B"/>
                </a:solidFill>
              </a:defRPr>
            </a:pPr>
            <a:r>
              <a:rPr dirty="0">
                <a:solidFill>
                  <a:srgbClr val="1F2A4E"/>
                </a:solidFill>
              </a:rPr>
              <a:t>0.67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2836" y="50749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60% Latinx ÷ 90% Black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51875" y="1463040"/>
            <a:ext cx="3657600" cy="41148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51875" y="1463040"/>
            <a:ext cx="3657600" cy="82296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91440" rIns="182880"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Worst-class F1</a:t>
            </a:r>
          </a:p>
          <a:p>
            <a:pPr algn="ctr">
              <a:defRPr sz="1200" i="1">
                <a:solidFill>
                  <a:srgbClr val="E8EAED"/>
                </a:solidFill>
              </a:defRPr>
            </a:pPr>
            <a:r>
              <a:t>pior subgrupo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89036" y="2377440"/>
            <a:ext cx="33832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3D424E"/>
                </a:solidFill>
              </a:defRPr>
            </a:pPr>
            <a:r>
              <a:t>F1 da raça em que o modelo erra mais. Garante que ninguém fique para trás.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89036" y="3611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Referência: Sagawa et al. 2020 (ICLR) — Group DRO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426196" y="4069080"/>
            <a:ext cx="3108960" cy="27432"/>
          </a:xfrm>
          <a:prstGeom prst="rect">
            <a:avLst/>
          </a:prstGeom>
          <a:solidFill>
            <a:srgbClr val="707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289036" y="41605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707682"/>
                </a:solidFill>
              </a:defRPr>
            </a:pPr>
            <a:r>
              <a:t>Estado atual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8431" y="4434840"/>
            <a:ext cx="944489" cy="6155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2E7D32"/>
                </a:solidFill>
              </a:defRPr>
            </a:pPr>
            <a:r>
              <a:rPr>
                <a:solidFill>
                  <a:srgbClr val="1F2A4E"/>
                </a:solidFill>
              </a:rPr>
              <a:t>60%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89036" y="507492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3D424E"/>
                </a:solidFill>
              </a:defRPr>
            </a:pPr>
            <a:r>
              <a:t>Latinx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760720"/>
            <a:ext cx="11430000" cy="868680"/>
          </a:xfrm>
          <a:prstGeom prst="round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91440" rIns="274320"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Por que 3 métricas e não uma?</a:t>
            </a:r>
          </a:p>
          <a:p>
            <a:pPr>
              <a:defRPr sz="1200">
                <a:solidFill>
                  <a:srgbClr val="E8EAED"/>
                </a:solidFill>
              </a:defRPr>
            </a:pPr>
            <a:r>
              <a:t>Teorema da impossibilidade (Kleinberg, Mullainathan &amp; Raghavan 2017, ITCS): não existe métrica única de fairness que satisfaça simultaneamente calibração, equal FPR e equal FNR — reportar as 3 simultaneamente é a forma honesta de comunicar trade-offs.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As 5 hipóteses que vamos testar (na forma de perguntas)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5336370"/>
              </p:ext>
            </p:extLst>
          </p:nvPr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54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637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119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22960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Pergunta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Como </a:t>
                      </a:r>
                      <a:r>
                        <a:rPr sz="1600" b="1" dirty="0" err="1">
                          <a:solidFill>
                            <a:srgbClr val="FFFFFF"/>
                          </a:solidFill>
                        </a:rPr>
                        <a:t>saberemos</a:t>
                      </a:r>
                      <a:r>
                        <a:rPr sz="1600" b="1" dirty="0">
                          <a:solidFill>
                            <a:srgbClr val="FFFFFF"/>
                          </a:solidFill>
                        </a:rPr>
                        <a:t> se SIM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O pipeline com tom de pele melhora fairness em classificação?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F1 sobe ≥+2pp E DR cai ≥20% vs ResNet-34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H2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Trocar a rede (ResNet-34 → ConvNeXt-T) por si só ajuda Latinx?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Latinx permanece em ≈60% (não muda)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Latinx tem tom de pele espalhado em várias categorias?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Spread cobre ≥5 das 10 categorias MST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H4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 maior parte dos erros do Latinx é por sobreposição de tom?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≥50% dos erros estão em zonas de overlap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2296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H5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 melhoria transfere para reconhecimento facial?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dirty="0">
                          <a:solidFill>
                            <a:srgbClr val="3D424E"/>
                          </a:solidFill>
                        </a:rPr>
                        <a:t>Black/African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melhora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≥+3pp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em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RFW </a:t>
                      </a:r>
                      <a:r>
                        <a:rPr sz="1500" dirty="0" err="1">
                          <a:solidFill>
                            <a:srgbClr val="3D424E"/>
                          </a:solidFill>
                        </a:rPr>
                        <a:t>ou</a:t>
                      </a:r>
                      <a:r>
                        <a:rPr sz="1500" dirty="0">
                          <a:solidFill>
                            <a:srgbClr val="3D424E"/>
                          </a:solidFill>
                        </a:rPr>
                        <a:t> BFW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Próximos passos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Plano experimental e calendário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2407069" cy="55399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rPr lang="pt-BR" dirty="0"/>
              <a:t>Planejamento</a:t>
            </a:r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1143000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37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Target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O que será entregue</a:t>
                      </a:r>
                    </a:p>
                  </a:txBody>
                  <a:tcPr>
                    <a:solidFill>
                      <a:srgbClr val="1F2A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Aprovação conjunta da nova versão da tese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Junho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Ajustes na tese se necessário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Submissão para qualificação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Julho 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Documento de qualificação ao programa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Setup metodológico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Agosto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Documentos com especificações detalhadas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Capítulo 1 — Classificador MST + matriz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Setembro 2026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Resultado de H3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Capítulo 2 — Race + condicionamento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Dezembro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Resultados de H1, H2, H4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Capítulo 3 — Face recognition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Fevereiro 2027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Resultado de H5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Síntese final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Março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Decomposição do erro Latinx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Escrita dos capítulos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Em paralelo (Set 2026 → Mar 2027)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Texto final da dissertação</a:t>
                      </a:r>
                    </a:p>
                  </a:txBody>
                  <a:tcPr>
                    <a:solidFill>
                      <a:srgbClr val="E8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9377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Defesa prevista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Abril 2027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3D424E"/>
                          </a:solidFill>
                        </a:rPr>
                        <a:t>Defesa da dissertação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Os 3 capítulos experimentais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Capítulo 1 — Construir o classificador de tom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Treinar sobre MST-E + Casual Conversations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Aplicar no FairFace e construir a matriz pública tom × raça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Testa H3 (Latinx tem spread amplo)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Capítulo 2 — Classificador de raça com tom como contexto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Pipeline ConvNeXt-T + FiLM, comparado com 4 baselines independentes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3 seeds para significância estatística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Testa H1 (pipeline funciona), H2 (Latinx é estrutural), H4 (overlap explica erros)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Capítulo 3 — Aplicar a reconhecimento facial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Mesmo pipeline em RFW ou BFW (datasets que já estão catalogados)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Foco em accuracy de Black/African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Testa H5 (fair transferência funciona)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2A4E"/>
                </a:solidFill>
              </a:defRPr>
            </a:pPr>
            <a:r>
              <a:t>O que precisamos decidir nesta reunião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4300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2471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1. Aprovação da nova versão da tese (prescritiva, pipeline integrado)?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Se aprovarmos, seguimos para o detalhamento metodológico.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Se houver ajustes, fazemos e revisamos juntos antes de prosseguir.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2. Alguma das 5 hipóteses precisa ser reformulada?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São o esqueleto da dissertação — se uma estiver mal formulada, melhor descobrir agora.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3. Escolha definitiva entre RFW e BFW para o Capítulo 3?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Temos preferência por RFW (mais escala, mais histórico) — precisamos validar essa escolha juntos.</a:t>
            </a:r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endParaRPr/>
          </a:p>
          <a:p>
            <a:pPr>
              <a:spcAft>
                <a:spcPts val="800"/>
              </a:spcAft>
              <a:defRPr sz="2000" b="0">
                <a:solidFill>
                  <a:srgbClr val="3D424E"/>
                </a:solidFill>
              </a:defRPr>
            </a:pPr>
            <a:r>
              <a:t>4. Alguma nova frente de literatura que ficou faltando?</a:t>
            </a:r>
          </a:p>
          <a:p>
            <a:pPr lvl="1">
              <a:spcAft>
                <a:spcPts val="800"/>
              </a:spcAft>
              <a:defRPr sz="1700">
                <a:solidFill>
                  <a:srgbClr val="707682"/>
                </a:solidFill>
              </a:defRPr>
            </a:pPr>
            <a:r>
              <a:t>Podemos fazer Rodada 6 se necessário, mas o corpus já está consistente.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Discussão e feedback</a:t>
            </a:r>
          </a:p>
          <a:p>
            <a:pPr algn="ctr">
              <a:defRPr sz="2200">
                <a:solidFill>
                  <a:srgbClr val="E8EAED"/>
                </a:solidFill>
              </a:defRPr>
            </a:pPr>
            <a:r>
              <a:t>Aprovação da nova versão da tese — decidir os 4 itens acima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0" b="1">
                <a:solidFill>
                  <a:srgbClr val="FFFFFF"/>
                </a:solidFill>
              </a:defRPr>
            </a:pPr>
            <a: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0" y="228600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Slides de apoio</a:t>
            </a:r>
          </a:p>
          <a:p>
            <a:pPr>
              <a:defRPr sz="2000">
                <a:solidFill>
                  <a:srgbClr val="E8EAED"/>
                </a:solidFill>
              </a:defRPr>
            </a:pPr>
            <a:r>
              <a:t>Material complementar para consulta durante a discussão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2A4E"/>
                </a:solidFill>
              </a:defRPr>
            </a:pPr>
            <a:r>
              <a:t>As 14 perguntas de pesquisa respondidas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430000" cy="45720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Q01  </a:t>
            </a:r>
            <a:r>
              <a:rPr sz="1300">
                <a:solidFill>
                  <a:srgbClr val="3D424E"/>
                </a:solidFill>
              </a:rPr>
              <a:t>Existem melhores datasets para corrigir fairness em biometria facial de raças?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Q02  </a:t>
            </a:r>
            <a:r>
              <a:rPr sz="1300">
                <a:solidFill>
                  <a:srgbClr val="3D424E"/>
                </a:solidFill>
              </a:rPr>
              <a:t>Qual o dataset mais utilizado nos estudos de fairness?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Q03  </a:t>
            </a:r>
            <a:r>
              <a:rPr sz="1300">
                <a:solidFill>
                  <a:srgbClr val="3D424E"/>
                </a:solidFill>
              </a:rPr>
              <a:t>Qual o split oficial do FairFace e por que diferentes papers usam splits distintos?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Q04  </a:t>
            </a:r>
            <a:r>
              <a:rPr sz="1300">
                <a:solidFill>
                  <a:srgbClr val="3D424E"/>
                </a:solidFill>
              </a:rPr>
              <a:t>Quais técnicas de mitigação algorítmica já foram testadas em FairFace race 7-class?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Q05  </a:t>
            </a:r>
            <a:r>
              <a:rPr sz="1300">
                <a:solidFill>
                  <a:srgbClr val="3D424E"/>
                </a:solidFill>
              </a:rPr>
              <a:t>Existe consenso sobre métrica de fairness para classificação multi-classe?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Q06  </a:t>
            </a:r>
            <a:r>
              <a:rPr sz="1300">
                <a:solidFill>
                  <a:srgbClr val="3D424E"/>
                </a:solidFill>
              </a:rPr>
              <a:t>O baseline ResNet-34 = 72% acurácia é teto da arquitetura ou da metodologia?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Q07  </a:t>
            </a:r>
            <a:r>
              <a:rPr sz="1300">
                <a:solidFill>
                  <a:srgbClr val="3D424E"/>
                </a:solidFill>
              </a:rPr>
              <a:t>Existe pesquisa de fairness em biometria facial sem usar FairFace?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128016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Q08  </a:t>
            </a:r>
            <a:r>
              <a:rPr sz="1300">
                <a:solidFill>
                  <a:srgbClr val="3D424E"/>
                </a:solidFill>
              </a:rPr>
              <a:t>Por que os estudos tentam sempre fazer merge de classes raciais?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Q09  </a:t>
            </a:r>
            <a:r>
              <a:rPr sz="1300">
                <a:solidFill>
                  <a:srgbClr val="3D424E"/>
                </a:solidFill>
              </a:rPr>
              <a:t>7 classes é realmente a taxonomia correta para fairness racial facial?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Q10  </a:t>
            </a:r>
            <a:r>
              <a:rPr sz="1300">
                <a:solidFill>
                  <a:srgbClr val="3D424E"/>
                </a:solidFill>
              </a:rPr>
              <a:t>Existe matriz associativa Fitzpatrick/MST × FairFace 7-race?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Q11  </a:t>
            </a:r>
            <a:r>
              <a:rPr sz="1300">
                <a:solidFill>
                  <a:srgbClr val="3D424E"/>
                </a:solidFill>
              </a:rPr>
              <a:t>As 7 categorias raciais do FairFace têm fundamento biológico ou socio-político?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Q12  </a:t>
            </a:r>
            <a:r>
              <a:rPr sz="1300">
                <a:solidFill>
                  <a:srgbClr val="3D424E"/>
                </a:solidFill>
              </a:rPr>
              <a:t>Como antropologia forense moderna trata 'raça'?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Q13  </a:t>
            </a:r>
            <a:r>
              <a:rPr sz="1300">
                <a:solidFill>
                  <a:srgbClr val="3D424E"/>
                </a:solidFill>
              </a:rPr>
              <a:t>Origem e propósito da escala Fitzpatrick — para que foi criada?</a:t>
            </a:r>
          </a:p>
          <a:p>
            <a:pPr>
              <a:spcAft>
                <a:spcPts val="600"/>
              </a:spcAft>
            </a:pPr>
            <a:r>
              <a:rPr sz="1300" b="1">
                <a:solidFill>
                  <a:srgbClr val="1F2A4E"/>
                </a:solidFill>
              </a:rPr>
              <a:t>Q14  </a:t>
            </a:r>
            <a:r>
              <a:rPr sz="1300">
                <a:solidFill>
                  <a:srgbClr val="3D424E"/>
                </a:solidFill>
              </a:rPr>
              <a:t>Quantos tons de pele existem cientificamente?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465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707682"/>
                </a:solidFill>
              </a:defRPr>
            </a:pPr>
            <a:r>
              <a:t>Detalhamento completo em docs/ativo/04_pesquisa_bibliografica/_perguntas.md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Pangelinan et al. (2023) — Causas de variação demográfica em FR accuracy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arXiv:2304.07175 — Notre Dame / Florida Tech / IST — preprint abril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52144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715000" cy="13716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Contexto teórico / motivação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Buolamwini &amp; Gebru 2018 documentaram disparities em FR sem isolar mecanismo causal. Trabalhos subsequentes assumiram skin tone como variável dominante. Esta limpeza causal era um buraco aberto na literatura.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5715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Pergunta de pesquisa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A disparity racial em accuracy de face recognition é causada por skin tone direto, face size/shape, desbalanceamento de treino ou qualidade da imagem (pixel info útil após crop/alinhamento)?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5715000" cy="2697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Metodologia detalhada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Auditoria de ArcFace e AdaFace (SOTA em FR) sobre RFW e MORPH. Mede 4 variáveis: (1) skin tone via ITA, (2) face pixel area (pós-detecção), (3) balanceamento de treino, (4) face geometry. Correlaciona com TAR@FAR por grupo demográfico. Análise estratificada para isolar efeitos.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715000" cy="14630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Resultados principais (números/achados)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Face pixel information explica a MAIOR PARTE da variação de accuracy entre grupos. Skin tone direto é fator secundário. Balanceamento de treino tem efeito menor que o esperado. Sugere que muito do 'race bias' em FR é mediado por qualidade da imagem.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39"/>
            <a:ext cx="5715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7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707682"/>
                </a:solidFill>
              </a:defRPr>
            </a:pPr>
            <a:r>
              <a:t>Crítica metodológica e limitações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Trabalha com FR (verificação 1:1), NÃO com race classification multi-classe. Análise correlacional, não causal estrito. Não testa intervenção arquitetural para mitigar pixel info. RFW e MORPH têm vieses próprios de coleta.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31920"/>
            <a:ext cx="5715000" cy="11430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Conexões com outras fichas do corpus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Conversa com Grother 2019 (NIST FRVT) que documenta disparity industry-wide. Refuta implicitamente parte da narrativa de Buolamwini 2018 (PPB) que enfatiza skin tone direto. Compatível com Dooley 2022 que aponta arquitetura como fator independente.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120640"/>
            <a:ext cx="5715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100" b="1">
                <a:solidFill>
                  <a:srgbClr val="C0392B"/>
                </a:solidFill>
              </a:defRPr>
            </a:pPr>
            <a:r>
              <a:t>Impacto na nossa tese</a:t>
            </a:r>
          </a:p>
          <a:p>
            <a:pPr>
              <a:defRPr sz="1200">
                <a:solidFill>
                  <a:srgbClr val="3D424E"/>
                </a:solidFill>
              </a:defRPr>
            </a:pPr>
            <a:r>
              <a:t>REFUTAÇÃO POTENCIAL DE H5. Se pixel info é causa primária em FR, a transferência de fairness do Cap 2 para Cap 3 pode ser confounded por qualidade da imagem. Motivou as 3 versões de reformulação de H5 (V1/V2/V3) na pauta de hoje.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Pereira et al. (2026) — SkinToneNet + dataset STW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arXiv:2603.02475 — ICMC-USP / IMPA — preprint março 2026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52144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715000" cy="13716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Contexto teórico / motivação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Schumann et al. 2023 (NeurIPS) propuseram MST como padrão para auditoria mas sem classificador automático em larga escala. Datasets MST-anotados eram pequenos (MST-E ~1.500). Faltava um classificador SOTA generalizável e um dataset 'in-the-wild' grande.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5715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Pergunta de pesquisa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É possível treinar um classificador de tom de pele (MST 10-classe) robusto e cross-domain, e qual é a distribuição de tons em datasets faciais largamente usados pela comunidade de fairness?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5715000" cy="2697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Metodologia detalhada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Constrói STW (Skin Tone in the Wild): 42.313 imagens de 3.564 indivíduos, anotadas pela escala Monk Skin Tone (10 classes), agregadas de múltiplas fontes web. Treina SkinToneNet (ViT-Small fine-tuned a partir de ImageNet). Audita FairFace, CelebA, BUPT, UTKFace, CASIA, CK+ usando o classificador treinado.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715000" cy="14630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Resultados principais (números/achados)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SkinToneNet atinge SOTA em skin-tone classification cross-domain (precisão &gt;90% out-of-distribution). FairFace exibe distribuição AGREGADA com forte ausência de MST 6-10 (subrepresentação severa de pele escura). NÃO publica matriz cruzada MST × race — apenas distribuição global.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39"/>
            <a:ext cx="5715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7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707682"/>
                </a:solidFill>
              </a:defRPr>
            </a:pPr>
            <a:r>
              <a:t>Crítica metodológica e limitações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STW concentra sujeitos de imagens web (viés de quem é fotografado e publicado). Dataset não tem split público fixo para benchmarks reprodutíveis. Anotação MST sem protocolo multi-anotador como Schumann 2023. Apenas um classificador (ViT-Small) avaliado.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31920"/>
            <a:ext cx="5715000" cy="11430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Conexões com outras fichas do corpus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Estende Schumann et al. 2023 (MST scale + protocolo) com classificador SOTA. Conversa com Dominguez-Catena et al. 2024 (DSAP) que auditou datasets via métricas unificadas. Insumo direto para nossa C2 (matriz cruzada MST × race do FairFace).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120640"/>
            <a:ext cx="5715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100" b="1">
                <a:solidFill>
                  <a:srgbClr val="2E7D32"/>
                </a:solidFill>
              </a:defRPr>
            </a:pPr>
            <a:r>
              <a:t>Impacto na nossa tese</a:t>
            </a:r>
          </a:p>
          <a:p>
            <a:pPr>
              <a:defRPr sz="1200">
                <a:solidFill>
                  <a:srgbClr val="3D424E"/>
                </a:solidFill>
              </a:defRPr>
            </a:pPr>
            <a:r>
              <a:t>DECISÃO TÉCNICA: usar SkinToneNet pré-treinado como insumo do pipeline (economiza ~3 semanas de cronograma). Nossa C2 (matriz cruzada MST × raça) segue contribuição original. STW pode ser dataset de validação externa do Cap 1.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Dooley et al. (2022/23) — Fairer architectures make for fairer FR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arXiv:2210.09943 — Maryland / Bosch / ELLIS / Tübingen — versão dez 2023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52144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715000" cy="13716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Contexto teórico / motivação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A literatura de fairness mitigation focava majoritariamente em dados (re-sampling) e loss functions (FSCL, Group DRO). Arquitetura era assumida como variável neutra. Faltava investigação sobre se NAS pode encontrar arquiteturas inerentemente mais fair.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5715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Pergunta de pesquisa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Bias em FR é apenas consequência dos dados de treino ou também emerge da arquitetura? Existe arquitetura que reduza disparity sem qualquer intervenção em dados ou loss?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5715000" cy="2697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Metodologia detalhada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Neural Architecture Search (NAS) bi-objetivo: accuracy E fairness (medida por DR / EOD). Busca jointly arquitetura + hiperparâmetros em espaço de centenas de candidatos. Datasets de avaliação: CelebA, RFW, BFW. Métricas: TAR@FAR por grupo + Demographic Parity Difference.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715000" cy="14630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Resultados principais (números/achados)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Frente de Pareto inclui arquiteturas que DOMINAM ResNet-50/100 e MobileNet em accuracy E fairness simultaneamente. Modificações arquiteturais SOZINHAS (sem dados extra, sem mitigação algorítmica) reduzem disparity em até 30%. Arquiteturas vencedoras têm padrões distintos (mais skip connections, menos depth).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39"/>
            <a:ext cx="5715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7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707682"/>
                </a:solidFill>
              </a:defRPr>
            </a:pPr>
            <a:r>
              <a:t>Crítica metodológica e limitações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Custo computacional altíssimo — NAS proibitivo para a maioria dos labs. Arquiteturas vencedoras não têm interpretação semântica clara (por que essa estrutura é mais fair?). Não testa em FairFace 7-class race especificamente. ConvNeXt-T não está no espaço de busca.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31920"/>
            <a:ext cx="5715000" cy="11430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Conexões com outras fichas do corpus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Conversa com Manzoor &amp; Rattani 2024 (FineFACE) que também aposta em mudança arquitetural (cross-layer attention). Implicitamente reforça preocupação de Lin et al. 2022 (FairGRAPE) com modificações estruturais. Contrasta com Park et al. 2022 (FSCL) que muda apenas a loss.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120640"/>
            <a:ext cx="5715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100" b="1">
                <a:solidFill>
                  <a:srgbClr val="1F2A4E"/>
                </a:solidFill>
              </a:defRPr>
            </a:pPr>
            <a:r>
              <a:t>Impacto na nossa tese</a:t>
            </a:r>
          </a:p>
          <a:p>
            <a:pPr>
              <a:defRPr sz="1200">
                <a:solidFill>
                  <a:srgbClr val="3D424E"/>
                </a:solidFill>
              </a:defRPr>
            </a:pPr>
            <a:r>
              <a:t>REFORÇA H2 (testar se trocar de ResNet-34 para ConvNeXt-T já reduz disparity). Justifica escolha de backbone moderno. Se H1 falhar mas ConvNeXt-T puro já reduzir disparity, parte do efeito é atribuível à arquitetura — resultado científico válido.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Aguirre &amp; Dredze (2023) — Transferring fairness via multi-task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arXiv:2305.12671 — Johns Hopkins (NLP) — versão revisada abr 2024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52144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715000" cy="13716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Contexto teórico / motivação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LAFTR (Madras 2018) provou teoricamente que fairness pode transferir entre tarefas via representação compartilhada, mas a validação empírica era limitada. Quando demographic labels existem em uma tarefa mas não na outra, esse princípio teórico tinha utilidade prática não explorada.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5715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Pergunta de pesquisa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Quando demographic labels estão disponíveis APENAS em uma tarefa relacionada (não na tarefa-alvo), é possível transferir fairness via multi-task learning? Em que magnitude e sob quais condições?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5715000" cy="2697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Metodologia detalhada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Adapta single-task fairness loss para framework multi-task. Treina classificador na tarefa-alvo SEM demographic labels, usando demographic labels APENAS na tarefa auxiliar. Avalia em datasets de NLP (toxicidade Jigsaw, sentiment Twitter) com atributos sensíveis de raça e gênero. Compara contra single-task baseline e contra multi-task sem fairness loss auxiliar.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715000" cy="14630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Resultados principais (números/achados)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Objetivos de fairness demográfico se transferem empiricamente para a tarefa-alvo em todos os datasets testados. Permite intersectional fairness combinando datasets com atributos demográficos diferentes (single-axis). Magnitude da transferência: ~70-80% da redução de disparity vista em single-task fair.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39"/>
            <a:ext cx="5715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7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707682"/>
                </a:solidFill>
              </a:defRPr>
            </a:pPr>
            <a:r>
              <a:t>Crítica metodológica e limitações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Experimentos em NLP — não validados em CV/face. Magnitude da transferência depende de correlação entre tarefas auxiliar e alvo. Não testa robustez sob distribution shift. Único atributo sensível por experimento.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31920"/>
            <a:ext cx="5715000" cy="11430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Conexões com outras fichas do corpus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Reforço empírico direto de Madras et al. 2018 (LAFTR). Conversa com Zemel et al. 2013 (LFR — paradigma fundador). Compatível com Hardt et al. 2016 (métricas de fairness).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120640"/>
            <a:ext cx="5715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100" b="1">
                <a:solidFill>
                  <a:srgbClr val="1F2A4E"/>
                </a:solidFill>
              </a:defRPr>
            </a:pPr>
            <a:r>
              <a:t>Impacto na nossa tese</a:t>
            </a:r>
          </a:p>
          <a:p>
            <a:pPr>
              <a:defRPr sz="1200">
                <a:solidFill>
                  <a:srgbClr val="3D424E"/>
                </a:solidFill>
              </a:defRPr>
            </a:pPr>
            <a:r>
              <a:t>REFORÇO EMPÍRICO do princípio teórico do LAFTR. Suporta etapa 3 (race + tom auxiliar) e etapa 5 (transferência para FR) do pipeline. Princípio é independente da modalidade, mas precisamos validar empiricamente em face — é o que faremos no Cap 3.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Kolla &amp; Savadamuthu (2022/23) — Impact of racial distribution in FR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arXiv:2211.14498 — WACVW 2023 (IEEE/CVF Winter Conf. Workshops)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52144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715000" cy="13716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Contexto teórico / motivação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A linha de mitigação 'rebalancear o dataset' (Karkkainen &amp; Joo 2021 com FairFace) era assumida como suficiente. Mas se balanceamento bastasse, o gap Latinx no FairFace já estaria resolvido — e não está. Faltava investigação sistemática do limite dessa abordagem.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5715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Pergunta de pesquisa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Balancear a distribuição racial no dataset de treino é SUFICIENTE para eliminar disparities raciais em face recognition? Em que cenários falha?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5715000" cy="2697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Metodologia detalhada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Treina ArcFace em variantes do dataset MS1MV2 com proporções variáveis de raças: uniforme (33% cada), skewed-toward-Black (60% Black), skewed-toward-White (60% White). Introduz métrica 'racial gradation' para medir correlação intra/inter-classe. Avalia em RFW e auditoria estratificada por qualidade da imagem.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715000" cy="14630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Resultados principais (números/achados)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Distribuição uniforme de raças no treino NÃO garante FR sem viés. Skewed-toward-Black supera uniforme para grupo Black em ~3pp TAR@FAR. Qualidade da imagem introduz disparity adicional que NENHUMA distribuição de treino captura. Sugere limite fundamental da estratégia 'só balancear dados'.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39"/>
            <a:ext cx="5715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7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707682"/>
                </a:solidFill>
              </a:defRPr>
            </a:pPr>
            <a:r>
              <a:t>Crítica metodológica e limitações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Workshop paper — revisão menos profunda que main conference. Foco em ArcFace específico (outras losses podem se comportar diferente). Não compara contra intervenções arquiteturais. Skewed-toward-Black testado apenas com 60% (não outras proporções).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31920"/>
            <a:ext cx="5715000" cy="11430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Conexões com outras fichas do corpus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Refina Karkkainen &amp; Joo 2021 (FairFace — premissa do balanceamento). Compatível com Pangelinan 2023 (pixel info como confounder). Reforça argumento de Dooley 2022 (arquitetura importa).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120640"/>
            <a:ext cx="5715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100" b="1">
                <a:solidFill>
                  <a:srgbClr val="1F2A4E"/>
                </a:solidFill>
              </a:defRPr>
            </a:pPr>
            <a:r>
              <a:t>Impacto na nossa tese</a:t>
            </a:r>
          </a:p>
          <a:p>
            <a:pPr>
              <a:defRPr sz="1200">
                <a:solidFill>
                  <a:srgbClr val="3D424E"/>
                </a:solidFill>
              </a:defRPr>
            </a:pPr>
            <a:r>
              <a:t>JUSTIFICA INTERVENÇÃO ARQUITETURAL além de balanceamento de dados. FairFace JÁ é balanceado, e o gap Latinx persiste — coerente com nossa tese de que precisamos do FiLM-conditioning. Reforça argumento contra resolver fairness apenas com dados.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82880"/>
            <a:ext cx="11521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t>Liu et al. (2025) — BNMR: Bayesian Network meta-learning para fairness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40080"/>
            <a:ext cx="115214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707682"/>
                </a:solidFill>
              </a:defRPr>
            </a:pPr>
            <a:r>
              <a:t>arXiv:2505.01699 — ACM FAccT 2025 (top venue ética AI)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960120"/>
            <a:ext cx="11521440" cy="36576"/>
          </a:xfrm>
          <a:prstGeom prst="rect">
            <a:avLst/>
          </a:prstGeom>
          <a:solidFill>
            <a:srgbClr val="1F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5715000" cy="13716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Contexto teórico / motivação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Mitigation methods existentes (FSCL, Group DRO, AdvDebias) requerem hiperparâmetros fixos a priori que controlam o trade-off accuracy×fairness. Esses hiperparâmetros são frágeis: ótimo varia por subgrupo, por época de treino e por configuração de dados. Faltava abordagem adaptativa.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2514600"/>
            <a:ext cx="571500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Pergunta de pesquisa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É possível mitigar bias em face attribute classification de forma adaptativa, sem hiperparâmetros de fairness fixos a priori, ajustando o trade-off em tempo de treino?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886200"/>
            <a:ext cx="5715000" cy="269748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Metodologia detalhada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BNMR (Bayesian Network-informed Meta Reweighting): (1) rede bayesiana modela dependências entre atributos faciais (componentes); (2) meta-learning calibra reweighting de amostras durante treino; (3) tracking dinâmico de viés do modelo em cada época. Avalia em CelebA com atributos sensíveis raça e gênero. Compara contra FSCL+, Group DRO, AdvDebias.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5352" y="1097280"/>
            <a:ext cx="5715000" cy="146304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Resultados principais (números/achados)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Supera baselines em CelebA em DEMOGRAPHIC PARITY (+12% vs FSCL+) e EQUAL OPPORTUNITY (+8% vs Group DRO). Permite calibração adaptativa do trade-off accuracy×fairness sem grid search — economiza ordens de magnitude em compute de tuning.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606039"/>
            <a:ext cx="5715000" cy="1280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076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707682"/>
                </a:solidFill>
              </a:defRPr>
            </a:pPr>
            <a:r>
              <a:t>Crítica metodológica e limitações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Custo computacional adicional da rede bayesiana (precisa ser treinada conjuntamente). Testado em CelebA, NÃO em FairFace race 7-class. Pressupõe que o usuário define corretamente a estrutura causal entre atributos — pressuposto forte. Sem ablação clara do componente bayesiano.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45352" y="3931920"/>
            <a:ext cx="5715000" cy="1143000"/>
          </a:xfrm>
          <a:prstGeom prst="roundRect">
            <a:avLst/>
          </a:prstGeom>
          <a:solidFill>
            <a:srgbClr val="E8E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000" b="1">
                <a:solidFill>
                  <a:srgbClr val="1F2A4E"/>
                </a:solidFill>
              </a:defRPr>
            </a:pPr>
            <a:r>
              <a:t>Conexões com outras fichas do corpus</a:t>
            </a:r>
          </a:p>
          <a:p>
            <a:pPr>
              <a:defRPr sz="1100">
                <a:solidFill>
                  <a:srgbClr val="3D424E"/>
                </a:solidFill>
              </a:defRPr>
            </a:pPr>
            <a:r>
              <a:t>Alternativa metodológica a Park et al. 2022 (FSCL+) e Sagawa et al. 2020 (Group DRO). Estende ideia de Zhang et al. 2018 (AdvDebias) com adaptividade. Usa métricas de Hardt 2016.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5120640"/>
            <a:ext cx="5715000" cy="1463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2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54864" rIns="164592" rtlCol="0" anchor="ctr"/>
          <a:lstStyle/>
          <a:p>
            <a:pPr algn="ctr">
              <a:defRPr sz="1100" b="1">
                <a:solidFill>
                  <a:srgbClr val="1F2A4E"/>
                </a:solidFill>
              </a:defRPr>
            </a:pPr>
            <a:r>
              <a:t>Impacto na nossa tese</a:t>
            </a:r>
          </a:p>
          <a:p>
            <a:pPr>
              <a:defRPr sz="1200">
                <a:solidFill>
                  <a:srgbClr val="3D424E"/>
                </a:solidFill>
              </a:defRPr>
            </a:pPr>
            <a:r>
              <a:t>BASELINE COMPETITIVO recente do Cap 2. Mecanismo ortogonal ao nosso (sample reweighting vs FiLM-conditioning) — comparação justa contra SOTA em fairness 2025. Se BNMR superar nosso pipeline, é informação útil para a tese (não falha — calibra expectativa).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38FBB4EF-F467-0C00-AB8C-8C5D5A85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D72453-877B-E3BB-6EB7-FC08227970B2}"/>
              </a:ext>
            </a:extLst>
          </p:cNvPr>
          <p:cNvSpPr txBox="1"/>
          <p:nvPr/>
        </p:nvSpPr>
        <p:spPr>
          <a:xfrm>
            <a:off x="365760" y="182880"/>
            <a:ext cx="373698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F2A4E"/>
                </a:solidFill>
              </a:defRPr>
            </a:pPr>
            <a:r>
              <a:rPr lang="pt-BR" dirty="0"/>
              <a:t>29 Artigos organizados nas 7 Tracking</a:t>
            </a:r>
            <a:endParaRPr dirty="0"/>
          </a:p>
        </p:txBody>
      </p:sp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09F86733-569E-7179-7640-773B1795E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61248"/>
              </p:ext>
            </p:extLst>
          </p:nvPr>
        </p:nvGraphicFramePr>
        <p:xfrm>
          <a:off x="495300" y="1600201"/>
          <a:ext cx="10953750" cy="452596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5476875">
                  <a:extLst>
                    <a:ext uri="{9D8B030D-6E8A-4147-A177-3AD203B41FA5}">
                      <a16:colId xmlns:a16="http://schemas.microsoft.com/office/drawing/2014/main" val="3571605357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3873332870"/>
                    </a:ext>
                  </a:extLst>
                </a:gridCol>
              </a:tblGrid>
              <a:tr h="2384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>
                          <a:effectLst/>
                        </a:rPr>
                        <a:t>Track</a:t>
                      </a: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effectLst/>
                        </a:rPr>
                        <a:t>Papers (links diretos)</a:t>
                      </a: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1449477240"/>
                  </a:ext>
                </a:extLst>
              </a:tr>
              <a:tr h="456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effectLst/>
                        </a:rPr>
                        <a:t>A — Race classification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2"/>
                        </a:rPr>
                        <a:t>Karkkainen 2021 (FairFace)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3"/>
                        </a:rPr>
                        <a:t>AlDahoul 2024 (SOTA)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4"/>
                        </a:rPr>
                        <a:t>Lin 2022 (FairGRAPE)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1745330482"/>
                  </a:ext>
                </a:extLst>
              </a:tr>
              <a:tr h="456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effectLst/>
                        </a:rPr>
                        <a:t>B — FR fairness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5"/>
                        </a:rPr>
                        <a:t>Wang 2019 (RFW)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6"/>
                        </a:rPr>
                        <a:t>Robinson 2020 (BFW)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7"/>
                        </a:rPr>
                        <a:t>Grother 2019 (NIST)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8"/>
                        </a:rPr>
                        <a:t>Neto 2025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1216747291"/>
                  </a:ext>
                </a:extLst>
              </a:tr>
              <a:tr h="674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effectLst/>
                        </a:rPr>
                        <a:t>C — </a:t>
                      </a:r>
                      <a:r>
                        <a:rPr lang="pt-BR" sz="1400" b="1" dirty="0" err="1">
                          <a:effectLst/>
                        </a:rPr>
                        <a:t>Skin</a:t>
                      </a:r>
                      <a:r>
                        <a:rPr lang="pt-BR" sz="1400" b="1" dirty="0">
                          <a:effectLst/>
                        </a:rPr>
                        <a:t> </a:t>
                      </a:r>
                      <a:r>
                        <a:rPr lang="pt-BR" sz="1400" b="1" dirty="0" err="1">
                          <a:effectLst/>
                        </a:rPr>
                        <a:t>tone</a:t>
                      </a:r>
                      <a:endParaRPr lang="pt-BR" sz="1400" dirty="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9"/>
                        </a:rPr>
                        <a:t>Buolamwini 2018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0"/>
                        </a:rPr>
                        <a:t>Hazirbas 2021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1"/>
                        </a:rPr>
                        <a:t>Schumann 2023 (MST)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2"/>
                        </a:rPr>
                        <a:t>Lafargue 2025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149015989"/>
                  </a:ext>
                </a:extLst>
              </a:tr>
              <a:tr h="89306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effectLst/>
                        </a:rPr>
                        <a:t>D — Mitigação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3"/>
                        </a:rPr>
                        <a:t>Park 2022 (FSCL)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4"/>
                        </a:rPr>
                        <a:t>Sagawa 2020 (Group DRO)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5"/>
                        </a:rPr>
                        <a:t>Manzoor 2024 (FineFACE)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6"/>
                        </a:rPr>
                        <a:t>Bhaskaruni 2019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7"/>
                        </a:rPr>
                        <a:t>Dehdashtian 2024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3228955285"/>
                  </a:ext>
                </a:extLst>
              </a:tr>
              <a:tr h="4566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effectLst/>
                        </a:rPr>
                        <a:t>E — Auditoria/metodologia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8"/>
                        </a:rPr>
                        <a:t>Dominguez 2024 (DSAP)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19"/>
                        </a:rPr>
                        <a:t>Mehrabi 2021 (survey)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20"/>
                        </a:rPr>
                        <a:t>Kotwal 2025 (survey)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2269658635"/>
                  </a:ext>
                </a:extLst>
              </a:tr>
              <a:tr h="674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>
                          <a:effectLst/>
                        </a:rPr>
                        <a:t>F — Fundamentação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21"/>
                        </a:rPr>
                        <a:t>Fuentes 2019 (AAPA)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22"/>
                        </a:rPr>
                        <a:t>Lewontin 1972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23"/>
                        </a:rPr>
                        <a:t>Fitzpatrick 1988</a:t>
                      </a:r>
                      <a:r>
                        <a:rPr lang="pt-BR" sz="1400">
                          <a:effectLst/>
                        </a:rPr>
                        <a:t> · </a:t>
                      </a:r>
                      <a:r>
                        <a:rPr lang="pt-BR" sz="1400">
                          <a:solidFill>
                            <a:srgbClr val="48A0C7"/>
                          </a:solidFill>
                          <a:effectLst/>
                          <a:hlinkClick r:id="rId24"/>
                        </a:rPr>
                        <a:t>Massey &amp; Martin 2003</a:t>
                      </a:r>
                      <a:endParaRPr lang="pt-BR" sz="140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2693752794"/>
                  </a:ext>
                </a:extLst>
              </a:tr>
              <a:tr h="6748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b="1" dirty="0">
                          <a:effectLst/>
                        </a:rPr>
                        <a:t>G — Mecanismos ML</a:t>
                      </a:r>
                      <a:endParaRPr lang="pt-BR" sz="1400" dirty="0">
                        <a:effectLst/>
                      </a:endParaRPr>
                    </a:p>
                  </a:txBody>
                  <a:tcPr marL="10103" marR="10103" marT="10103" marB="10103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400" dirty="0" err="1">
                          <a:solidFill>
                            <a:srgbClr val="48A0C7"/>
                          </a:solidFill>
                          <a:effectLst/>
                          <a:hlinkClick r:id="rId25"/>
                        </a:rPr>
                        <a:t>Hardt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25"/>
                        </a:rPr>
                        <a:t> 2016</a:t>
                      </a:r>
                      <a:r>
                        <a:rPr lang="pt-BR" sz="1400" dirty="0">
                          <a:effectLst/>
                        </a:rPr>
                        <a:t> · 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26"/>
                        </a:rPr>
                        <a:t>Perez 2018 (</a:t>
                      </a:r>
                      <a:r>
                        <a:rPr lang="pt-BR" sz="1400" dirty="0" err="1">
                          <a:solidFill>
                            <a:srgbClr val="48A0C7"/>
                          </a:solidFill>
                          <a:effectLst/>
                          <a:hlinkClick r:id="rId26"/>
                        </a:rPr>
                        <a:t>FiLM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26"/>
                        </a:rPr>
                        <a:t>)</a:t>
                      </a:r>
                      <a:r>
                        <a:rPr lang="pt-BR" sz="1400" dirty="0">
                          <a:effectLst/>
                        </a:rPr>
                        <a:t> · 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27"/>
                        </a:rPr>
                        <a:t>Zemel 2013 (LFR)</a:t>
                      </a:r>
                      <a:r>
                        <a:rPr lang="pt-BR" sz="1400" dirty="0">
                          <a:effectLst/>
                        </a:rPr>
                        <a:t> · 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28"/>
                        </a:rPr>
                        <a:t>Madras 2018 (LAFTR)</a:t>
                      </a:r>
                      <a:r>
                        <a:rPr lang="pt-BR" sz="1400" dirty="0">
                          <a:effectLst/>
                        </a:rPr>
                        <a:t> · 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29"/>
                        </a:rPr>
                        <a:t>Zhang 2018 (Adversarial)</a:t>
                      </a:r>
                      <a:r>
                        <a:rPr lang="pt-BR" sz="1400" dirty="0">
                          <a:effectLst/>
                        </a:rPr>
                        <a:t> · </a:t>
                      </a:r>
                      <a:r>
                        <a:rPr lang="pt-BR" sz="1400" dirty="0" err="1">
                          <a:solidFill>
                            <a:srgbClr val="48A0C7"/>
                          </a:solidFill>
                          <a:effectLst/>
                          <a:hlinkClick r:id="rId30"/>
                        </a:rPr>
                        <a:t>Kleinberg</a:t>
                      </a:r>
                      <a:r>
                        <a:rPr lang="pt-BR" sz="1400" dirty="0">
                          <a:solidFill>
                            <a:srgbClr val="48A0C7"/>
                          </a:solidFill>
                          <a:effectLst/>
                          <a:hlinkClick r:id="rId30"/>
                        </a:rPr>
                        <a:t> 2017</a:t>
                      </a:r>
                      <a:endParaRPr lang="pt-BR" sz="1400" dirty="0">
                        <a:effectLst/>
                      </a:endParaRPr>
                    </a:p>
                  </a:txBody>
                  <a:tcPr marL="10103" marR="10103" marT="10103" marB="10103" anchor="ctr"/>
                </a:tc>
                <a:extLst>
                  <a:ext uri="{0D108BD9-81ED-4DB2-BD59-A6C34878D82A}">
                    <a16:rowId xmlns:a16="http://schemas.microsoft.com/office/drawing/2014/main" val="41510812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535826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620</TotalTime>
  <Words>5361</Words>
  <Application>Microsoft Office PowerPoint</Application>
  <PresentationFormat>Widescreen</PresentationFormat>
  <Paragraphs>426</Paragraphs>
  <Slides>33</Slides>
  <Notes>4</Notes>
  <HiddenSlides>10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9" baseType="lpstr">
      <vt:lpstr>Aptos</vt:lpstr>
      <vt:lpstr>Arial</vt:lpstr>
      <vt:lpstr>Calibri</vt:lpstr>
      <vt:lpstr>Consolas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Marcello Vinicius Alves Ozzetti</cp:lastModifiedBy>
  <cp:revision>31</cp:revision>
  <dcterms:created xsi:type="dcterms:W3CDTF">2013-01-27T09:14:16Z</dcterms:created>
  <dcterms:modified xsi:type="dcterms:W3CDTF">2026-06-09T18:15:37Z</dcterms:modified>
  <cp:category/>
</cp:coreProperties>
</file>