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188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A4E"/>
                </a:solidFill>
              </a:defRPr>
            </a:pPr>
            <a:r>
              <a:t>Qualificacao — escrita fechada</a:t>
            </a:r>
          </a:p>
          <a:p>
            <a:pPr>
              <a:defRPr sz="2200">
                <a:solidFill>
                  <a:srgbClr val="3D424E"/>
                </a:solidFill>
              </a:defRPr>
            </a:pPr>
            <a:r>
              <a:t>Consolidacao da monografia + revisao critica</a:t>
            </a:r>
          </a:p>
          <a:p>
            <a:pPr>
              <a:defRPr sz="1600" i="1">
                <a:solidFill>
                  <a:srgbClr val="707682"/>
                </a:solidFill>
              </a:defRPr>
            </a:pPr>
            <a:r>
              <a:t>5 capitulos, 104 fichas bibliograficas, pipeline em 6 etapas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Programa:  Mestrado em Ciencia da Computacao — Unifesp / ICT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Reuniao: 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Cronograma proposto — qualificacao ate defesa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114800"/>
                <a:gridCol w="5120640"/>
              </a:tblGrid>
              <a:tr h="43226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Periodo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Etapa do pipeline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Marco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Jul/2026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Solicitacao da qualificacao ao PPG-CC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Set-Out/2026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EXAME DE QUALIFICACAO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Nov/2026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1 — Classificador MST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Infraestrutura + SkinToneNet + datasets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Dez/2026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2 — Auditoria fenotipica FairFace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Matriz MST x raca + validacao humana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Jan-Mar/2027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3 — Classificador racial +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ConvNeXt-T + 4 configs de ablation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Abr/2027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4 — Comparacao com baselines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6 baselines + triangulacao de metricas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Mai/2027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5 — Transferencia 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RFW/BFW + pixel information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Jun/2027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6 — Sintese decompositiva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Decomposicao do erro Latinx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Nov/2026 - Jul/2027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Redacao em paralelo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2o sem 2027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DEFESA DA DISSERTACAO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Mapeamento 1:1 com as 6 Etapas do Cap 4. Abril/2027 (Etapa 4) preenche gap anterior do cronograma.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Resumo da escrita — 5 capitulos consolidados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8138160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Cap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Titulo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entrega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Introducao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Contexto (NIST 2019, FaceScanPaliGemma 75.7%), problema (gap Latinx 30 pp), objetivo (FiLM+MST sobre ConvNeXt-T), 3 eixos de contribuicao, European AI Act 2024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Revisao bibliografica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12 secoes: 6 frentes cronologicas (dados &gt; algoritmos &gt; VLMs &gt; MST &gt; heterogeneidade &gt; refutacao) + backbones + metricas + auditoria + alternativas conditioning + 5 lacunas cientificas. 104 fichas, 5 figuras integradas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Objetivos, hipoteses, contribuicoes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Objetivo geral + 6 objetivos especificos + 6 hipoteses testaveis (com criterios de confirmacao/refutacao) + 7 contribuicoes esperadas em 3 eixos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Metodologia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em 6 etapas + 4 configs ablation (A/B/C/D) + 6 baselines + escolha do ConvNeXt-T + mecanismo FiLM + triangulacao de metricas em 2 cenarios + ISO 19795-10 + rigor experimental (3 sementes)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Cronograma e riscos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Cronograma alinhado as 6 etapas (Nov/2026 - Jun/2027) + 4 riscos com estrategias de mitigacao documentadas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Resumo PT: 488 palavras, 5 keywords. Abstract EN: 474 palavras. Ambos dentro dos limites ABNT NBR 6028.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Pipeline experimental em 6 etapas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4389120"/>
                <a:gridCol w="402336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Insumo / Modelo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Saida esperada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Classificador MST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SkinToneNet pre-treinado (Matias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Vetor MST 10-dim por imagem do FairFace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Auditoria fenotipica FairFace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Saida da Etapa 1 sobre FairFace 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Matriz publica MST x classes raciais (Contribuicao 2)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Classificador racial condicionado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ConvNeXt-T + camadas FiLM (vetor MST)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F1 macro + F1 por classe (config B principal + A/C/D em ablation)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Comparacao com baselines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vs 6 baselines: ResNet-34, ConvNeXt-T puro, FSCL+, Group DRO, FineFACE, adv. debiasing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Triangulacao de metricas (DR, worst-class F1, EO) + visualizacao Pareto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Transferencia fair para 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Backbone fair da Etapa 3 aplicado a RFW / BFW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Ganho de fairness em face recognition + controle pixel information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Sintese decompositiva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Resultados Etapas 2 + 5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Decomposicao erro Latinx: fenotipico irredutivel vs algoritmico mitigavel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Etapas 3 e 6 concentram as contribuicoes metodologica e diagnostica principais.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Contribuicoes esperadas — 3 eixos, 7 contribuicoes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1F2A4E"/>
                </a:solidFill>
              </a:defRPr>
            </a:pPr>
            <a:r>
              <a:t>EIXO FENOTIPICO-EMPIRICO</a:t>
            </a:r>
          </a:p>
          <a:p>
            <a:pPr>
              <a:defRPr sz="1100" i="1">
                <a:solidFill>
                  <a:srgbClr val="C0392B"/>
                </a:solidFill>
              </a:defRPr>
            </a:pPr>
            <a:r>
              <a:t>Contribuicoes 1 e 2</a:t>
            </a:r>
          </a:p>
          <a:p>
            <a:pPr>
              <a:spcAft>
                <a:spcPts val="400"/>
              </a:spcAft>
              <a:defRPr sz="1100">
                <a:solidFill>
                  <a:srgbClr val="3D424E"/>
                </a:solidFill>
              </a:defRPr>
            </a:pPr>
            <a:r>
              <a:t>Documenta a distribuicao real do fenotipo (MST) dentro das classes raciais</a:t>
            </a:r>
          </a:p>
          <a:p>
            <a:pPr>
              <a:spcBef>
                <a:spcPts val="1200"/>
              </a:spcBef>
              <a:defRPr sz="1300" b="1">
                <a:solidFill>
                  <a:srgbClr val="1F2A4E"/>
                </a:solidFill>
              </a:defRPr>
            </a:pPr>
            <a:r>
              <a:t>EIXO METODOLOGICO-ARQUITETURAL</a:t>
            </a:r>
          </a:p>
          <a:p>
            <a:pPr>
              <a:defRPr sz="1100" i="1">
                <a:solidFill>
                  <a:srgbClr val="C0392B"/>
                </a:solidFill>
              </a:defRPr>
            </a:pPr>
            <a:r>
              <a:t>Contribuicoes 3, 4 e 7</a:t>
            </a:r>
          </a:p>
          <a:p>
            <a:pPr>
              <a:spcAft>
                <a:spcPts val="400"/>
              </a:spcAft>
              <a:defRPr sz="1100">
                <a:solidFill>
                  <a:srgbClr val="3D424E"/>
                </a:solidFill>
              </a:defRPr>
            </a:pPr>
            <a:r>
              <a:t>Introduz o tom de pele como sinal condicionante via mecanismo arquitetural</a:t>
            </a:r>
          </a:p>
          <a:p>
            <a:pPr>
              <a:spcBef>
                <a:spcPts val="1200"/>
              </a:spcBef>
              <a:defRPr sz="1300" b="1">
                <a:solidFill>
                  <a:srgbClr val="1F2A4E"/>
                </a:solidFill>
              </a:defRPr>
            </a:pPr>
            <a:r>
              <a:t>EIXO DIAGNOSTICO-ESTRUTURAL</a:t>
            </a:r>
          </a:p>
          <a:p>
            <a:pPr>
              <a:defRPr sz="1100" i="1">
                <a:solidFill>
                  <a:srgbClr val="C0392B"/>
                </a:solidFill>
              </a:defRPr>
            </a:pPr>
            <a:r>
              <a:t>Contribuicoes 5 e 6</a:t>
            </a:r>
          </a:p>
          <a:p>
            <a:pPr>
              <a:spcAft>
                <a:spcPts val="400"/>
              </a:spcAft>
              <a:defRPr sz="1100">
                <a:solidFill>
                  <a:srgbClr val="3D424E"/>
                </a:solidFill>
              </a:defRPr>
            </a:pPr>
            <a:r>
              <a:t>Decompoe o erro em componentes fenotipico e algoritmico, com transferencia 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7315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1.  </a:t>
            </a:r>
            <a:r>
              <a:rPr sz="1100">
                <a:solidFill>
                  <a:srgbClr val="3D424E"/>
                </a:solidFill>
              </a:rPr>
              <a:t>Avaliacao comparativa de modelos MST pre-treinados com sensitivity analysis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2.  </a:t>
            </a:r>
            <a:r>
              <a:rPr sz="1100">
                <a:solidFill>
                  <a:srgbClr val="3D424E"/>
                </a:solidFill>
              </a:rPr>
              <a:t>Primeira matriz publica MST x classes raciais sobre o FairFace val set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3.  </a:t>
            </a:r>
            <a:r>
              <a:rPr sz="1100">
                <a:solidFill>
                  <a:srgbClr val="3D424E"/>
                </a:solidFill>
              </a:rPr>
              <a:t>Primeira aplicacao documentada de FiLM-conditioning a race classification multi-classe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4.  </a:t>
            </a:r>
            <a:r>
              <a:rPr sz="1100">
                <a:solidFill>
                  <a:srgbClr val="3D424E"/>
                </a:solidFill>
              </a:rPr>
              <a:t>Triangulacao de metricas multi-classe (DR + worst-class F1 + EO/EqOdds), aderente a ISO 19795-10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5.  </a:t>
            </a:r>
            <a:r>
              <a:rPr sz="1100">
                <a:solidFill>
                  <a:srgbClr val="3D424E"/>
                </a:solidFill>
              </a:rPr>
              <a:t>Demonstracao empirica de transferencia fair de classification para face recognition, com controle de pixel information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6.  </a:t>
            </a:r>
            <a:r>
              <a:rPr sz="1100">
                <a:solidFill>
                  <a:srgbClr val="3D424E"/>
                </a:solidFill>
              </a:rPr>
              <a:t>Decomposicao quantitativa do erro Latinx: fenotipico irredutivel vs algoritmico mitigavel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7.  </a:t>
            </a:r>
            <a:r>
              <a:rPr sz="1100">
                <a:solidFill>
                  <a:srgbClr val="3D424E"/>
                </a:solidFill>
              </a:rPr>
              <a:t>Estudo comparativo entre 4 configuracoes de conditioning (baseline, FiLM linear, FiLM com porta, FiLM CLIP)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Cada contribuicao esta vinculada a um objetivo especifico e a uma hipotese testavel do Cap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Estrategia: ConvNeXt-T como backbone + FiLM como conditioning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BACKBONE — ConvNeXt-T (Liu et al. 2022, CVPR)  </a:t>
            </a:r>
            <a:r>
              <a:rPr sz="15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Por que ConvNeXt-T:  </a:t>
            </a:r>
            <a:r>
              <a:rPr sz="1500">
                <a:solidFill>
                  <a:srgbClr val="3D424E"/>
                </a:solidFill>
              </a:rPr>
              <a:t>28M parametros, CNN moderna com LayerNorm e depthwise 7x7 (inspirada em ViT)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Nao e ViT:  </a:t>
            </a:r>
            <a:r>
              <a:rPr sz="1500">
                <a:solidFill>
                  <a:srgbClr val="3D424E"/>
                </a:solidFill>
              </a:rPr>
              <a:t>Permanece dentro do paradigma convolucional — 82.0% top-1 ImageNet-1K, supera Swin-T (81.3%)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Comparabilidade:  </a:t>
            </a:r>
            <a:r>
              <a:rPr sz="1500">
                <a:solidFill>
                  <a:srgbClr val="3D424E"/>
                </a:solidFill>
              </a:rPr>
              <a:t>Config A e o ConvNeXt-T puro (isola contribuicao do backbone vs ResNet-34 canonico)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Compatibilidade:  </a:t>
            </a:r>
            <a:r>
              <a:rPr sz="1500">
                <a:solidFill>
                  <a:srgbClr val="3D424E"/>
                </a:solidFill>
              </a:rPr>
              <a:t>4 estagios hierarquicos = 4 pontos naturais de insercao de camadas FiLM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  </a:t>
            </a:r>
            <a:r>
              <a:rPr sz="15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MECANISMO — FiLM (Perez et al. 2018, AAAI)  </a:t>
            </a:r>
            <a:r>
              <a:rPr sz="15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Formulacao:  </a:t>
            </a:r>
            <a:r>
              <a:rPr sz="1500">
                <a:solidFill>
                  <a:srgbClr val="3D424E"/>
                </a:solidFill>
              </a:rPr>
              <a:t>FiLM(x | gamma, beta) = gamma * x + beta, modulacao afim canal-a-canal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Sinal condicionante:  </a:t>
            </a:r>
            <a:r>
              <a:rPr sz="1500">
                <a:solidFill>
                  <a:srgbClr val="3D424E"/>
                </a:solidFill>
              </a:rPr>
              <a:t>Vetor MST 10-dim produzido pelo SkinToneNet (Etapa 1)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Overhead:  </a:t>
            </a:r>
            <a:r>
              <a:rPr sz="1500">
                <a:solidFill>
                  <a:srgbClr val="3D424E"/>
                </a:solidFill>
              </a:rPr>
              <a:t>~380k parametros adicionais (~1.3% sobre o backbone) — parameter-efficient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Lacuna coberta:  </a:t>
            </a:r>
            <a:r>
              <a:rPr sz="1500">
                <a:solidFill>
                  <a:srgbClr val="3D424E"/>
                </a:solidFill>
              </a:rPr>
              <a:t>Primeira aplicacao documentada de FiLM em race classification multi-classe (Contribuicao 3)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2A4E"/>
                </a:solidFill>
              </a:rPr>
              <a:t>Ablation:  </a:t>
            </a:r>
            <a:r>
              <a:rPr sz="1500">
                <a:solidFill>
                  <a:srgbClr val="3D424E"/>
                </a:solidFill>
              </a:rPr>
              <a:t>Config B (linear, principal) vs C (porta multiplicativa) vs D (CLIP-text embedding)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Justificativa detalhada em Cap 4, Sec. 5 (Escolha do backbone) e Sec. 6 (Mecanismo FiLM).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