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188720"/>
            <a:ext cx="9601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F2A4E"/>
                </a:solidFill>
              </a:defRPr>
            </a:pPr>
            <a:r>
              <a:t>Reta final até 15 de julho</a:t>
            </a:r>
          </a:p>
          <a:p>
            <a:pPr>
              <a:defRPr sz="2000">
                <a:solidFill>
                  <a:srgbClr val="3D424E"/>
                </a:solidFill>
              </a:defRPr>
            </a:pPr>
            <a:r>
              <a:t>Estado da escrita, decisões éticas e ajuste de cronograma</a:t>
            </a:r>
          </a:p>
          <a:p>
            <a:pPr>
              <a:defRPr sz="1400" i="1">
                <a:solidFill>
                  <a:srgbClr val="707682"/>
                </a:solidFill>
              </a:defRPr>
            </a:pPr>
            <a:r>
              <a:t>Equidade racial em classificação facial via conditioning por tom de pele (MST) sobre FairFace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411480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D424E"/>
                </a:solidFill>
              </a:defRPr>
            </a:pPr>
            <a:r>
              <a:t>Mestrando:  Marcello Ozzetti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Orientador:  Prof. Marcos Quiles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Programa:  Mestrado em Ciência da Computação — Unifesp / ICT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Reunião:  8 de julho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Objetivo desta reunião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Plano até a defesa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Estado real da escrita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Decisão de pesquisa ética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Solicitação pessoal e debate técnico fecham a reunião como pontos complementares.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Recapitulando o objetivo da tese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Objetivo geral:  </a:t>
            </a:r>
            <a:r>
              <a:rPr sz="1600">
                <a:solidFill>
                  <a:srgbClr val="3D424E"/>
                </a:solidFill>
              </a:rPr>
              <a:t>desenvolver e avaliar um pipeline de classificação racial em imagens faciais que incorpora tom de pele (escala Monk Skin Tone) como sinal auxiliar condicionante via mecanismo arquitetural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Problema empírico atacado:  </a:t>
            </a:r>
            <a:r>
              <a:rPr sz="1600">
                <a:solidFill>
                  <a:srgbClr val="3D424E"/>
                </a:solidFill>
              </a:rPr>
              <a:t>disparidade severa entre Black F1 ≈ 90 % e Latinx F1 ≈ 60 % em SOTA sobre FairFace (FaceScanPaliGemma, AlDahoul 2024)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Contribuição principal esperada:  </a:t>
            </a:r>
            <a:r>
              <a:rPr sz="1600">
                <a:solidFill>
                  <a:srgbClr val="3D424E"/>
                </a:solidFill>
              </a:rPr>
              <a:t>primeira instância empírica documentada do uso de tom de pele explícito como contexto arquitetural para race classification multi-classe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Diagnóstico central da tese:  </a:t>
            </a:r>
            <a:r>
              <a:rPr sz="1600">
                <a:solidFill>
                  <a:srgbClr val="3D424E"/>
                </a:solidFill>
              </a:rPr>
              <a:t>o erro Latinx tem componente fenotípico irredutível (heterogeneidade MST intra-categoria) + componente algorítmico — a decomposição desses dois é o principal diferencial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Base para tudo que vem a seguir — pipeline, quatro configurações, sete contribuições, seis hipóteses.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Corpus consolidado — 104 fichas em 11 linhas de pesquisa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640080"/>
                <a:gridCol w="1097280"/>
                <a:gridCol w="53035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Linha de pesquisa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% corpus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Papers-âncora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 — Race classification multi-classe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3,8 %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Kärkkäinen 2021 (FairFace), AlDahoul 2024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 — Face recognition 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15,4 %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Wang RFW 2019, Robinson BFW 2020, Deng ArcFace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 — Skin tone alternativo (Fitzpatrick, MST, ITA)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6,7 %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Schumann 2023 (MST), Pereira 2026 (SkinToneNet)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 — Mitigação algorítmica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9,6 %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Madras LAFTR 2018, Sagawa Group DRO 2020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 — Auditoria e Surveys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13,5 %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Buolamwini 2018, Mehrabi 2021 survey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 — Fundamentação científica e ética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2,9 %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Fuentes AAPA 2019, Lewontin 1972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G — Mecanismos ML paradigmáticos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8,7 %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Perez FiLM 2018, Ba LayerNorm, He ResNet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 — VLM / CLIP em 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13,5 %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Radford CLIP 2021, Luo FairCLIP 2024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J — Conditioning moderno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4,8 %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Liu ConvNeXt 2022, Dhariwal ADM 2021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K — Fundadores de FR (DeepFace, ArcFace, CosFace)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5,8 %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Taigman DeepFace 2014, Wang CosFace 2018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 — Auxiliar / complementar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12,5 %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Karkkainen datasets, Hendrycks robustness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R8 — Diversidade Latinx (antropo + genética + socio)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2,9 %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Telles 2014, Bryc 2015, Pew 2017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Corpus preparado ao longo de 8 rodadas de expansão. 99 % das fichas verified via leitura direta do PDF.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Densidade do corpus — distribuição temporal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097280"/>
                <a:gridCol w="1188720"/>
                <a:gridCol w="548640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Período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N fichas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% corpus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Papel na 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Pré-2015 (fundações históricas)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4,8 %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Lewontin 1972, Taigman DeepFace 2014, Telles 2014 — fundamentam OG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2015-2017 (fairness formal)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5,8 %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Hardt 2016 (Equal Opportunity), Kleinberg 2017 (impossibility)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2018-2020 (marcos canônicos)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13,5 %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Perez FiLM 2018, Buolamwini 2018, Madras LAFTR 2018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2021-2022 (state of the art anterior)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16,3 %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Radford CLIP 2021, Kärkkäinen FairFace 2021, Liu ConvNeXt 2022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2023 (contexto imediato)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4,8 %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Schumann MST-E, Pangelinan (refutação central)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2024-2026 (fronteira)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55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52,9 %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AlDahoul 2024, Luo FairCLIP 2024, Pereira SkinToneNet 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Mais de metade do corpus é 2024+. Cinco papers 2026 sustentam o argumento de trabalho na fronteira.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Plano até a defesa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Três marcos formais, novo horizonte de outubro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Plano até a defesa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Três marcos formais, novo horizonte de outubro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Cronograma consolidado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8872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5029200"/>
                <a:gridCol w="1828800"/>
                <a:gridCol w="4572000"/>
              </a:tblGrid>
              <a:tr h="11887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Marco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Data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Comentário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Primeira revisão da qualificação ao orientador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15/jul/2026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Sete dias a partir de hoje — em curso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Pedido formal de qualificação ao PPG-CC / ICT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30/jul/2026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Prazo regimental do Programa — mantido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Defesa da qualificação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outubro/2026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Ajuste de agosto → outubro (extensão de 2 meses solicitada)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Os dois primeiros marcos ficam intactos. A extensão só empurra o marco final.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Estado da escrita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O que já está escrito e como vai virar Overleaf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 que cada capítulo já 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Capítulo 1 — Introdução  </a:t>
            </a:r>
            <a:r>
              <a:rPr sz="1600">
                <a:solidFill>
                  <a:srgbClr val="3D424E"/>
                </a:solidFill>
              </a:rPr>
              <a:t>argumento central: F1 macro alto mascara disparidade Black 90 % × Latinx 60 % em SOTA sobre FairFace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Capítulo 2 — Revisão  </a:t>
            </a:r>
            <a:r>
              <a:rPr sz="1600">
                <a:solidFill>
                  <a:srgbClr val="3D424E"/>
                </a:solidFill>
              </a:rPr>
              <a:t>fairness (Buolamwini, Hardt, Kleinberg), MST (Schumann, Pereira), FiLM (Perez), 104 papers verificados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Capítulo 3 — Objetivos  </a:t>
            </a:r>
            <a:r>
              <a:rPr sz="1600">
                <a:solidFill>
                  <a:srgbClr val="3D424E"/>
                </a:solidFill>
              </a:rPr>
              <a:t>objetivo geral, seis específicos, seis hipóteses testáveis, sete contribuições esperadas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Capítulo 4 — Metodologia  </a:t>
            </a:r>
            <a:r>
              <a:rPr sz="1600">
                <a:solidFill>
                  <a:srgbClr val="3D424E"/>
                </a:solidFill>
              </a:rPr>
              <a:t>pipeline em seis etapas, quatro configurações comparativas, adequação ética já resolvida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Capítulo 5 — Cronograma  </a:t>
            </a:r>
            <a:r>
              <a:rPr sz="1600">
                <a:solidFill>
                  <a:srgbClr val="3D424E"/>
                </a:solidFill>
              </a:rPr>
              <a:t>único capítulo que só fecha depois desta reunião (marcos ajustados hoje)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Formato:  </a:t>
            </a:r>
            <a:r>
              <a:rPr sz="1600">
                <a:solidFill>
                  <a:srgbClr val="3D424E"/>
                </a:solidFill>
              </a:rPr>
              <a:t>corpo escrito em Markdown estruturado; próximos sete dias faço a transposição para LaTeX/Overleaf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Se quiser ver, abro qualquer capítulo agora — está tudo no GitHub.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A pergunta central da tese, em uma frase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Pergunta de pesquisa:  </a:t>
            </a:r>
            <a:r>
              <a:rPr sz="1600">
                <a:solidFill>
                  <a:srgbClr val="3D424E"/>
                </a:solidFill>
              </a:rPr>
              <a:t>condicionar arquiteturalmente um classificador racial pelo tom de pele (MST) reduz a disparidade Black × Latinx sem sacrificar acurácia agregada?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Por que MST em vez de Fitzpatrick:  </a:t>
            </a:r>
            <a:r>
              <a:rPr sz="1600">
                <a:solidFill>
                  <a:srgbClr val="3D424E"/>
                </a:solidFill>
              </a:rPr>
              <a:t>Fitzpatrick foi projetada para dermatologia (queimadura solar), tem apenas 6 classes e viés fototípico documentado. MST tem 10 classes e foi desenhada para representatividade em CV — Google 2022, Schumann 2023.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Por que FiLM em vez de concatenação simples:  </a:t>
            </a:r>
            <a:r>
              <a:rPr sz="1600">
                <a:solidFill>
                  <a:srgbClr val="3D424E"/>
                </a:solidFill>
              </a:rPr>
              <a:t>FiLM (Perez, AAAI 2018) modula features por escala e deslocamento condicionados — permite que o mesmo backbone reaja diferente ao mesmo pixel dependendo do contexto MST. Concatenação exige que o modelo re-aprenda a semântica do sinal.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Slide-âncora do Cap 1. Toda a argumentação da tese sai daqui.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Pipeline proposto — seis etapas encadeadas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5029200"/>
                <a:gridCol w="384048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Etapa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faz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Entrega / contribuição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1. Classificador MST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SkinToneNet pré-treinado + validação interna em subset FairFace estratificado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Insumo do pipeline (não é contribuição)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2. Auditoria FairFace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Aplicar SkinToneNet sobre todo FairFace validation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Matriz pública MST × race classes — Contribuição C2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3. Race classifier com conditioning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fine-tuned em FairFace, camadas FiLM por estágio recebendo vetor MST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Configurações A/B/C/D — Contribuição C3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4. Comparação contra baselines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 baselines: ResNet-34, ConvNeXt-T puro, FSCL+, Group DRO, FineFACE, Adversarial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Triangulação DR + worst-class F1 + EO_h — Contribuição C4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5. Fair transferência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Aplicar backbone fair em face recognition downstream (RFW ou BFW)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Demonstração de fair transfer — Contribuição C5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6. Síntese decompositiva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Combinar C2 + C5 para separar componente fenotípico do algorítmico do erro Latinx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Decomposição pixel info × skin tone — Contribuição C6/OE-6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Etapa 3 é onde o mecanismo FiLM entra. Etapa 6 é o diagnóstico central da tese.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Quatro configurações do estudo comparativo (Etapa 3)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21615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474720"/>
                <a:gridCol w="3200400"/>
                <a:gridCol w="4572000"/>
              </a:tblGrid>
              <a:tr h="95097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Config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Backbone + conditioning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Sinal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Papel no estudo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sem conditioning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de controle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FiLM linear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MST 10-dim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Proposta principal — hipótese central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Gated FiLM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MST 10-dim (não-linear)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Ablação: linear vs não-linear importa?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FiLM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Embedding CLIP-text 512-dim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Recomendação da reunião 15/jun — CLIP como alternativa moderna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B é a proposta central. C isola a não-linearidade. D compara com sinal semântico rico via CLIP.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 achado que ancora a tese (Rodada 8, junho)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Problema conhecido:  </a:t>
            </a:r>
            <a:r>
              <a:rPr sz="1600">
                <a:solidFill>
                  <a:srgbClr val="3D424E"/>
                </a:solidFill>
              </a:rPr>
              <a:t>modelos SOTA reportam F1 Latinx próximo de 60 % há três anos — persiste mesmo em modelos multimodais recentes (AlDahoul 2024)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Diagnóstico novo:  </a:t>
            </a:r>
            <a:r>
              <a:rPr sz="1600">
                <a:solidFill>
                  <a:srgbClr val="3D424E"/>
                </a:solidFill>
              </a:rPr>
              <a:t>não é só bias algorítmico. É heterogeneidade fenotípica intra-categoria que a rotulagem monolítica de FairFace apaga.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  <a:defRPr sz="1600">
                <a:solidFill>
                  <a:srgbClr val="3D424E"/>
                </a:solidFill>
              </a:defRPr>
            </a:pPr>
            <a:r>
              <a:t>— Fundamentação empírica agora tripla: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Antropologia:  </a:t>
            </a:r>
            <a:r>
              <a:rPr sz="1600">
                <a:solidFill>
                  <a:srgbClr val="3D424E"/>
                </a:solidFill>
              </a:rPr>
              <a:t>Telles 2014 (PERLA, 4 países latino-americanos) documenta pigmentocracia — tom de pele varia mais dentro da categoria do que entre elas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Genética:  </a:t>
            </a:r>
            <a:r>
              <a:rPr sz="1600">
                <a:solidFill>
                  <a:srgbClr val="3D424E"/>
                </a:solidFill>
              </a:rPr>
              <a:t>Bryc 2015 (AJHG, 162 mil indivíduos) — ancestralidade Native + European + African altamente variável em Latinos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Sociologia:  </a:t>
            </a:r>
            <a:r>
              <a:rPr sz="1600">
                <a:solidFill>
                  <a:srgbClr val="3D424E"/>
                </a:solidFill>
              </a:rPr>
              <a:t>Pew 2017 — identidade Hispanic cai de 97 % para 50 % em quatro gerações nos EUA. Categoria é sociopolítica, não fenotípica.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Esse é o argumento pelo qual C6 (decomposição fenotípico × algorítmico) vira contribuição central.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Postura sobre uso de LLM — como quero deixar explícito na defesa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2011680"/>
            <a:ext cx="73152" cy="32004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2011680"/>
            <a:ext cx="9601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000" i="1">
                <a:solidFill>
                  <a:srgbClr val="3D424E"/>
                </a:solidFill>
              </a:defRPr>
            </a:pPr>
            <a:r>
              <a:t>A LLM me poupou tempo em bibliotecas de referência, formatação de fichas e revisão de coerência entre capítulos. Mas cada afirmação central da tese — a pergunta de pesquisa, a escolha do backbone, o mecanismo FiLM, o ajuste ético do OE-1, o argumento de heterogeneidade intra-Latinx — nasceu de leitura minha e de conversas nesta sala. A transposição para o Overleaf é manual, linha a linha, exatamente para forçar essa apropriação.</a:t>
            </a:r>
          </a:p>
          <a:p>
            <a:pPr>
              <a:defRPr sz="1400">
                <a:solidFill>
                  <a:srgbClr val="707682"/>
                </a:solidFill>
              </a:defRPr>
            </a:pPr>
            <a:r>
              <a:t>— posição que vou defender se questionado na banca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Preferi trazer isso já, para o senhor calibrar comigo o quanto explicitar em texto vs quanto só demonstrar em resposta.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Decisão ética que tomei sozinho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Preciso validar o enquadramento no Art. 8º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 contexto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O que investiguei:  </a:t>
            </a:r>
            <a:r>
              <a:rPr sz="1600">
                <a:solidFill>
                  <a:srgbClr val="3D424E"/>
                </a:solidFill>
              </a:rPr>
              <a:t>Resolução 200/2021 do Conselho Universitário — dispõe sobre projetos que devem passar pelo CEP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Por que fui atrás disso:  </a:t>
            </a:r>
            <a:r>
              <a:rPr sz="1600">
                <a:solidFill>
                  <a:srgbClr val="3D424E"/>
                </a:solidFill>
              </a:rPr>
              <a:t>no OE-1 original eu previa validar a classificação MST em ~700 imagens usando três anotadores externos via Prolific. Isso é crowdsourcing pago — margem cinzenta.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O que a resolução diz:  </a:t>
            </a:r>
            <a:r>
              <a:rPr sz="1600">
                <a:solidFill>
                  <a:srgbClr val="3D424E"/>
                </a:solidFill>
              </a:rPr>
              <a:t>Art. 1º — todo projeto que envolve seres humanos direta ou indiretamente precisa passar pelo CEP antes de começar. Não pode retroagir.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Art. 8º:  </a:t>
            </a:r>
            <a:r>
              <a:rPr sz="1600">
                <a:solidFill>
                  <a:srgbClr val="3D424E"/>
                </a:solidFill>
              </a:rPr>
              <a:t>pesquisas que não envolvem seres humanos ficam dispensadas do cadastro, mas exigem Declaração de Responsabilidade assinada por estudante, orientador e chefe de departamento.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 trade-off que enfrentei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Opção A — manter Prolific:  </a:t>
            </a:r>
            <a:r>
              <a:rPr sz="1600">
                <a:solidFill>
                  <a:srgbClr val="3D424E"/>
                </a:solidFill>
              </a:rPr>
              <a:t>amostra maior (700 × 3 = 2.100 anotações), diversidade de anotadores, mas exige submissão ao CEP com prazo estimado de 2-3 meses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Opção B — abandonar validação humana:  </a:t>
            </a:r>
            <a:r>
              <a:rPr sz="1600">
                <a:solidFill>
                  <a:srgbClr val="3D424E"/>
                </a:solidFill>
              </a:rPr>
              <a:t>confiaria só no SkinToneNet (Pereira 2026), mas isso vira ponto único de falha — foi exatamente a crítica do NotebookLM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Opção C — validação interna reduzida:  </a:t>
            </a:r>
            <a:r>
              <a:rPr sz="1600">
                <a:solidFill>
                  <a:srgbClr val="3D424E"/>
                </a:solidFill>
              </a:rPr>
              <a:t>eu + o senhor anotamos ~200-300 imagens estratificadas por raça e MST. Menor escala, mas suficiente estatisticamente para inter-annotator agreement + concordância com SkinToneNet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Decisão que tomei:  </a:t>
            </a:r>
            <a:r>
              <a:rPr sz="1600">
                <a:solidFill>
                  <a:srgbClr val="3D424E"/>
                </a:solidFill>
              </a:rPr>
              <a:t>Opção C — preserva rigor metodológico via estratificação, elimina risco regulatório, não bloqueia o cronograma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O que preciso do senhor hoje:  </a:t>
            </a:r>
            <a:r>
              <a:rPr sz="1600">
                <a:solidFill>
                  <a:srgbClr val="3D424E"/>
                </a:solidFill>
              </a:rPr>
              <a:t>1) validar a decisão; 2) me dizer quem é o chefe do departamento que assina a Declaração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Se preferir voltar para Prolific, eu topo — mas aí a defesa em outubro fica em risco por causa do prazo CEP.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 que muda tecnicamente entre v3.5 e v3.6 do OE-1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57200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Aspecto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v3.5 (com Prolific)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v3.6 (interno)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Escala da validação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~700 imagens × 3 anotadores externos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~200-300 imagens × 2-3 anotadores internos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Diversidade dos anotadores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Crowdworkers com perfil variado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Mestrando + orientador (potencial viés declarado)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Métrica de concordância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Fleiss' kappa (múltiplos anotadores)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Cohen's kappa (par a par)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Poder estatístico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IC 95 % com margem menor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IC 95 % com margem maior — declarado como limitação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Risco regulatório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Requer CEP (2-3 meses)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Art. 8º — apenas Declaração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Cronograma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Bloqueia defesa em outubro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Compatível com outubro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A perda de escala é real. Vou declarar explicitamente como limitação metodológica no Cap 4.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Solicitação pessoal — extensão de dois meses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Nascimento da minha filha em 28/março e afastamento subsequente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 contexto e o que estou pedindo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O que aconteceu:  </a:t>
            </a:r>
            <a:r>
              <a:rPr sz="1600">
                <a:solidFill>
                  <a:srgbClr val="3D424E"/>
                </a:solidFill>
              </a:rPr>
              <a:t>minha filha nasceu em 28 de março. Fiquei afastado das atividades acadêmicas nas semanas seguintes para dar o cuidado que ela e a mãe precisaram.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O que preservei:  </a:t>
            </a:r>
            <a:r>
              <a:rPr sz="1600">
                <a:solidFill>
                  <a:srgbClr val="3D424E"/>
                </a:solidFill>
              </a:rPr>
              <a:t>os marcos de 15/jul e 30/jul continuam de pé. Não estou pedindo prazo para a primeira revisão nem para o pedido formal.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O que estou pedindo:  </a:t>
            </a:r>
            <a:r>
              <a:rPr sz="1600">
                <a:solidFill>
                  <a:srgbClr val="3D424E"/>
                </a:solidFill>
              </a:rPr>
              <a:t>extensão de dois meses no prazo da defesa da qualificação — de agosto para outubro. Isso me dá margem para escrever a versão final com o rigor que o trabalho merece.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Documento:  </a:t>
            </a:r>
            <a:r>
              <a:rPr sz="1600">
                <a:solidFill>
                  <a:srgbClr val="3D424E"/>
                </a:solidFill>
              </a:rPr>
              <a:t>carta em dois parágrafos redigida, pronta para envio. Preciso só do senhor me confirmar o trâmite — se é carta direta, requerimento via SEI ou processo formal com anexos.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Debate aberto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Seis perguntas onde preciso da opinião do orientador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Perguntas técnicas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A quantidade de configurações comparativas (A, B, C, D) é suficiente ou o senhor recomenda incluir uma quinta variante — por exemplo, FiLM com skin tone contínuo (ITA/L*) em vez de MST discreto?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No Cap 2, faz sentido eu incluir uma subseção de meia página comparando FiLM com CBN, cross-attention e AdaIN — ou deixo isso para a defesa oral?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Sobre a extensão para face recognition (OE-4) — o senhor concorda que a métrica principal deva ser TPR@FAR=1e-4 estratificada por raça, ou prefere DR agregado?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Perguntas administrativas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Quem é o chefe do departamento que deve assinar a Declaração de Responsabilidade do CEP?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Qual o trâmite correto para a solicitação de extensão de dois meses — carta direta, requerimento SEI ao PPG ou processo formal com anexos?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6.  </a:t>
            </a:r>
            <a:r>
              <a:rPr sz="1600">
                <a:solidFill>
                  <a:srgbClr val="3D424E"/>
                </a:solidFill>
              </a:rPr>
              <a:t>O senhor tem preferência sobre template Overleaf (padrão institucional Unifesp / ICT vs template ABNT genérico do abnTeX2)?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Bônus (se der tempo):  </a:t>
            </a:r>
            <a:r>
              <a:rPr sz="1600">
                <a:solidFill>
                  <a:srgbClr val="3D424E"/>
                </a:solidFill>
              </a:rPr>
              <a:t>alguma sugestão sobre composição da banca preliminar? Estou pensando em alguém de fairness (pode ser externo) + alguém de visão computacional aplicada.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Próximos sete dias — como vou organizar a semana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Hoje (08/jul):  </a:t>
            </a:r>
            <a:r>
              <a:rPr sz="1600">
                <a:solidFill>
                  <a:srgbClr val="3D424E"/>
                </a:solidFill>
              </a:rPr>
              <a:t>aplicar o que sair desta reunião; setar Overleaf; iniciar transposição do Cap 1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09-10/jul:  </a:t>
            </a:r>
            <a:r>
              <a:rPr sz="1600">
                <a:solidFill>
                  <a:srgbClr val="3D424E"/>
                </a:solidFill>
              </a:rPr>
              <a:t>finalizar Cap 1 no Overleaf; transpor Cap 2 (Revisão bibliográfica — o mais denso)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11-12/jul:  </a:t>
            </a:r>
            <a:r>
              <a:rPr sz="1600">
                <a:solidFill>
                  <a:srgbClr val="3D424E"/>
                </a:solidFill>
              </a:rPr>
              <a:t>transpor Cap 3 (Objetivos) e Cap 4 (Metodologia)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13/jul:  </a:t>
            </a:r>
            <a:r>
              <a:rPr sz="1600">
                <a:solidFill>
                  <a:srgbClr val="3D424E"/>
                </a:solidFill>
              </a:rPr>
              <a:t>fechar Cap 5 (Cronograma) com marcos ajustados hoje; revisão final integrada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14/jul:  </a:t>
            </a:r>
            <a:r>
              <a:rPr sz="1600">
                <a:solidFill>
                  <a:srgbClr val="3D424E"/>
                </a:solidFill>
              </a:rPr>
              <a:t>leitura completa de ponta a ponta; ajustes de coerência e ABNT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15/jul:  </a:t>
            </a:r>
            <a:r>
              <a:rPr sz="1600">
                <a:solidFill>
                  <a:srgbClr val="3D424E"/>
                </a:solidFill>
              </a:rPr>
              <a:t>entrega da primeira revisão ao senhor via Overleaf compartilhado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Em paralelo:  </a:t>
            </a:r>
            <a:r>
              <a:rPr sz="1600">
                <a:solidFill>
                  <a:srgbClr val="3D424E"/>
                </a:solidFill>
              </a:rPr>
              <a:t>iniciar tramitação da Declaração de Responsabilidade + protocolar carta de extensão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Obrigado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Aberto para o debate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