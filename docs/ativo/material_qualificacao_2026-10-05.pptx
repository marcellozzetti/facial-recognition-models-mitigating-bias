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nifesp_completa_policromi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0040"/>
            <a:ext cx="1920240" cy="1158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" y="27432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Ciência e</a:t>
            </a:r>
            <a:br/>
            <a:r>
              <a:t>Tecnologia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Mitigação de viés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classificação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Mestrando:  </a:t>
            </a:r>
            <a:r>
              <a:rPr sz="16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Orientador:  </a:t>
            </a:r>
            <a:r>
              <a:rPr sz="1600">
                <a:solidFill>
                  <a:srgbClr val="3D424E"/>
                </a:solidFill>
              </a:rPr>
              <a:t>Prof. Dr. Marcos Gonçalves Quiles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Programa:  </a:t>
            </a:r>
            <a:r>
              <a:rPr sz="1600">
                <a:solidFill>
                  <a:srgbClr val="3D424E"/>
                </a:solidFill>
              </a:rPr>
              <a:t>Pós-Graduação em Ciência da Computação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Data:  </a:t>
            </a:r>
            <a:r>
              <a:rPr sz="1600">
                <a:solidFill>
                  <a:srgbClr val="3D424E"/>
                </a:solidFill>
              </a:rPr>
              <a:t>05 de setembro de 2026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Local:  </a:t>
            </a:r>
            <a:r>
              <a:rPr sz="1600">
                <a:solidFill>
                  <a:srgbClr val="3D424E"/>
                </a:solidFill>
              </a:rPr>
              <a:t>UNIFESP / ICT — São José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Motivação acadêmica: origem do problema de pesquisa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37160" cy="283464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i="1">
                <a:solidFill>
                  <a:srgbClr val="1F2A4E"/>
                </a:solidFill>
              </a:defRPr>
            </a:pPr>
            <a:r>
              <a:t>Em 2016, durante projeto acadêmico no MIT Media Lab, a então mestranda Joy Buolamwini constatou que sistemas comerciais de análise facial falhavam em detectar seu próprio rosto, enquanto detectavam, sem falha, interlocutores fenotipicamente mais claros. A conclusão do projeto exigiu o uso de uma máscara branca para que a face fosse reconhecida — episódio que converteu uma observação pessoal em programa de pesquisa.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Reescritura acadêmica da narrativa relatada em Unmasking AI: My Mission to Protect What Is Human in a World of Machines (Buolamwini, 2023, W. W. Norton).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Consolidação científica:  </a:t>
            </a:r>
            <a:r>
              <a:rPr sz="1500">
                <a:solidFill>
                  <a:srgbClr val="3D424E"/>
                </a:solidFill>
              </a:rPr>
              <a:t>a observação foi formalizada em Gender Shades (Buolamwini &amp; Gebru, 2018, PMLR), estudo seminal que quantificou disparidade de até 34,4 pontos percentuais em acurácia entre homens de pele clara e mulheres de pele escura em três APIs comerciais de análise facial.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Herança científica desta pesquisa:  </a:t>
            </a:r>
            <a:r>
              <a:rPr sz="1500">
                <a:solidFill>
                  <a:srgbClr val="3D424E"/>
                </a:solidFill>
              </a:rPr>
              <a:t>inscreve-se formalmente na mesma agenda — dissociar o desempenho de classificadores faciais do tom de pele —, deslocando a pergunta de "existe viés?" para "como mitigá-lo de forma defensável e auditável?".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Reconhecimento facial: adoção sociotécnica em larga escala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5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DISPOSITIVOS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Desbloqueio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 celular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273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BANCOS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Autenticação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financeira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FRONTEIRAS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Controle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migratório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1481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SEGURANÇA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625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Identificação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policial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4114800" cy="23774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947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10 – 100 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B4C4E8"/>
                </a:solidFill>
              </a:defRPr>
            </a:pPr>
            <a:r>
              <a:t>disparidade na taxa de</a:t>
            </a:r>
            <a:br/>
            <a:r>
              <a:t>falso positivo entre</a:t>
            </a:r>
            <a:br/>
            <a:r>
              <a:t>grupos demográficos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56616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NIST 2019 (Grother et al.): </a:t>
            </a:r>
            <a:r>
              <a:rPr sz="1600">
                <a:solidFill>
                  <a:srgbClr val="3D424E"/>
                </a:solidFill>
              </a:rPr>
              <a:t>maior auditoria pública já feita em biometria facial — 189 algoritmos comerciais avaliados sobre 18 milhões de imagens.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Gender Shades (Buolamwini &amp; Gebru, 2018): </a:t>
            </a:r>
            <a:r>
              <a:rPr sz="1600">
                <a:solidFill>
                  <a:srgbClr val="3D424E"/>
                </a:solidFill>
              </a:rPr>
              <a:t>estudo fundacional que colocou o viés racial-de-gênero na agenda pública.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Conclusão: </a:t>
            </a:r>
            <a:r>
              <a:rPr sz="1600">
                <a:solidFill>
                  <a:srgbClr val="3D424E"/>
                </a:solidFill>
              </a:rPr>
              <a:t>desempenho agregado favorável coexiste com disparidade sistemática entre subgrupos demográficos.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Regulação formal em vigor: European AI Act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5276" y="2167128"/>
            <a:ext cx="10058400" cy="54864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52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94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69164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Gender Shades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306323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Buolamwini &amp; Gebru colocam o viés na agenda.</a:t>
            </a:r>
          </a:p>
        </p:txBody>
      </p:sp>
      <p:sp>
        <p:nvSpPr>
          <p:cNvPr id="9" name="Oval 8"/>
          <p:cNvSpPr/>
          <p:nvPr/>
        </p:nvSpPr>
        <p:spPr>
          <a:xfrm>
            <a:off x="40980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22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36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NIST FRVT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64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Grother et al. documentam disparidade 10–100× em escala industrial.</a:t>
            </a:r>
          </a:p>
        </p:txBody>
      </p:sp>
      <p:sp>
        <p:nvSpPr>
          <p:cNvPr id="13" name="Oval 12"/>
          <p:cNvSpPr/>
          <p:nvPr/>
        </p:nvSpPr>
        <p:spPr>
          <a:xfrm>
            <a:off x="745083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50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C0392B"/>
                </a:solidFill>
              </a:defRPr>
            </a:pPr>
            <a: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64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EU AI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92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Auditoria de equidade torna-se requisito formal para sistemas biométricos.</a:t>
            </a:r>
          </a:p>
        </p:txBody>
      </p:sp>
      <p:sp>
        <p:nvSpPr>
          <p:cNvPr id="17" name="Oval 16"/>
          <p:cNvSpPr/>
          <p:nvPr/>
        </p:nvSpPr>
        <p:spPr>
          <a:xfrm>
            <a:off x="108036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378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2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FAccT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20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Lafargue et al. propõem pipeline de auditoria com propagação de incerteza.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881360" cy="10058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30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FFFFFF"/>
                </a:solidFill>
              </a:defRPr>
            </a:pPr>
            <a:r>
              <a:t>A questão científica desloca-se da constatação do viés — empiricamente estabelecida — para o desenvolvimento de mecanismos de mitigação defensáveis e auditáveis.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Disparidade sistemática de aproximadamente 30 pontos percentuais entre grupos raciais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FaceScanPaliGemma (AlDahoul et al., 2024) avaliado sobre o dataset FairFace (Kärkkäinen &amp; Joo, 2021). Diferencial entre Black e Latinx: 30 pontos percentuais em F1.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Heterogeneidade fenotípica intra-categorial: o caso Latinx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itzpatrick_vs_m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69280" cy="22921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Fitzpatrick (esq., 6 tons) × Monk (dir., 10 tons).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Rótulo monolítico:  </a:t>
            </a:r>
            <a:r>
              <a:rPr sz="1600">
                <a:solidFill>
                  <a:srgbClr val="3D424E"/>
                </a:solidFill>
              </a:rPr>
              <a:t>a rotulagem monolítica agrega fenótipos heterogêneos sob única categoria discreta.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Escala Monk (Ellis Monk, 2019):  </a:t>
            </a:r>
            <a:r>
              <a:rPr sz="1600">
                <a:solidFill>
                  <a:srgbClr val="3D424E"/>
                </a:solidFill>
              </a:rPr>
              <a:t>escala de 10 tons — sucessora moderna da escala Fitzpatrick, que sub-representa tons escuros.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Schumann et al. (2023):  </a:t>
            </a:r>
            <a:r>
              <a:rPr sz="1600">
                <a:solidFill>
                  <a:srgbClr val="3D424E"/>
                </a:solidFill>
              </a:rPr>
              <a:t>consolida a MST como padrão moderno de auditoria de equidade em análise facial.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Consequência:  </a:t>
            </a:r>
            <a:r>
              <a:rPr sz="1600">
                <a:solidFill>
                  <a:srgbClr val="3D424E"/>
                </a:solidFill>
              </a:rPr>
              <a:t>a rotulagem monolítica compromete a acurácia condicional em grupos com maior variabilidade fenotípica, como Latinx.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Refutação concorrente: tom de pele como principal fator (Pangelinan, 2023)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519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 CRÍTICA DA 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" y="2011680"/>
            <a:ext cx="5486400" cy="434340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Pangelinan et al. (2023, FAccT):  </a:t>
            </a:r>
            <a:r>
              <a:rPr sz="1600">
                <a:solidFill>
                  <a:srgbClr val="3D424E"/>
                </a:solidFill>
              </a:rPr>
              <a:t>a disparidade racial em face recognition é primariamente explicada pela fração de área facial útil na imagem (pixel information), não pelo rótulo racial.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Matias et al. (2026):  </a:t>
            </a:r>
            <a:r>
              <a:rPr sz="1600">
                <a:solidFill>
                  <a:srgbClr val="3D424E"/>
                </a:solidFill>
              </a:rPr>
              <a:t>publica o SkinToneNet e reforça o tom de pele como dimensão auditável, tensionando o uso de rótulos nominais.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Implicação forte:  </a:t>
            </a:r>
            <a:r>
              <a:rPr sz="1600">
                <a:solidFill>
                  <a:srgbClr val="3D424E"/>
                </a:solidFill>
              </a:rPr>
              <a:t>se a refutação se sustenta, o condicionamento por rótulo racial nominal perde sustentação teórica em favor do sinal fenotípico direto.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735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735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NOSSA POSIÇÃO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7356" y="2011680"/>
            <a:ext cx="5486400" cy="4343400"/>
          </a:xfrm>
          <a:prstGeom prst="roundRect">
            <a:avLst/>
          </a:prstGeom>
          <a:solidFill>
            <a:srgbClr val="B4C4E8"/>
          </a:solidFill>
          <a:ln>
            <a:solidFill>
              <a:srgbClr val="B4C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O tom de pele complementa o rótulo racial:  </a:t>
            </a:r>
            <a:r>
              <a:rPr sz="1600">
                <a:solidFill>
                  <a:srgbClr val="3D424E"/>
                </a:solidFill>
              </a:rPr>
              <a:t>o vetor MST atua como sinal condicionante; o rótulo racial permanece como alvo de predição.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Incorporamos a crítica formalmente:  </a:t>
            </a:r>
            <a:r>
              <a:rPr sz="1600">
                <a:solidFill>
                  <a:srgbClr val="3D424E"/>
                </a:solidFill>
              </a:rPr>
              <a:t>a hipótese H6 testa diretamente a tese de Pangelinan (R² ≥ 70 % explicado por pixel information).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Refutação convertida em contribuição:  </a:t>
            </a:r>
            <a:r>
              <a:rPr sz="1600">
                <a:solidFill>
                  <a:srgbClr val="3D424E"/>
                </a:solidFill>
              </a:rPr>
              <a:t>eventual confirmação da refutação produz decomposição quantitativa do erro, resultado científico válido em 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25603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classificação racial que usa o tom de pele (escala Monk, 10 tons) como sinal de contexto para reduzir a disparidade entre grupos, sem sacrificar a acurácia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(Liu et al., 2022) como rede base + FiLM (Perez et al., 2018) como mecanismo que “consulta” o tom de pele antes de decidir.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Objetivos específicos e hipóteses testáveis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7091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091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OBJETIVOS ESPECÍFICOS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1.  </a:t>
            </a:r>
            <a:r>
              <a:rPr sz="1500">
                <a:solidFill>
                  <a:srgbClr val="3D424E"/>
                </a:solidFill>
              </a:rPr>
              <a:t>Quantificar distribuição MST × classe racial no FairFace.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2.  </a:t>
            </a:r>
            <a:r>
              <a:rPr sz="1500">
                <a:solidFill>
                  <a:srgbClr val="3D424E"/>
                </a:solidFill>
              </a:rPr>
              <a:t>Treinar e avaliar classificador MST próprio + sensitivity.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3.  </a:t>
            </a:r>
            <a:r>
              <a:rPr sz="1500">
                <a:solidFill>
                  <a:srgbClr val="3D424E"/>
                </a:solidFill>
              </a:rPr>
              <a:t>Implementar FiLM sobre ConvNeXt-T e comparar vs 6 baselines.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4.  </a:t>
            </a:r>
            <a:r>
              <a:rPr sz="1500">
                <a:solidFill>
                  <a:srgbClr val="3D424E"/>
                </a:solidFill>
              </a:rPr>
              <a:t>Demonstrar transferência do ganho para reconhecimento (RFW/BFW).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5.  </a:t>
            </a:r>
            <a:r>
              <a:rPr sz="1500">
                <a:solidFill>
                  <a:srgbClr val="3D424E"/>
                </a:solidFill>
              </a:rPr>
              <a:t>Formalizar triangulação de métricas (DR, F1 pior classe, EO).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6.  </a:t>
            </a:r>
            <a:r>
              <a:rPr sz="1500">
                <a:solidFill>
                  <a:srgbClr val="3D424E"/>
                </a:solidFill>
              </a:rPr>
              <a:t>Decompor erro Latinx: fenótipo (irredutível) vs modelo (mitigável).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163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HIPÓTESES TESTÁVEIS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879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H1.  </a:t>
            </a:r>
            <a:r>
              <a:rPr sz="1500">
                <a:solidFill>
                  <a:srgbClr val="3D424E"/>
                </a:solidFill>
              </a:rPr>
              <a:t>Classificador MST atinge concordância humana  </a:t>
            </a:r>
            <a:r>
              <a:rPr sz="1300" i="1">
                <a:solidFill>
                  <a:srgbClr val="707682"/>
                </a:solidFill>
              </a:rPr>
              <a:t>[κ ≥ 0,7]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H2.  </a:t>
            </a:r>
            <a:r>
              <a:rPr sz="1500">
                <a:solidFill>
                  <a:srgbClr val="3D424E"/>
                </a:solidFill>
              </a:rPr>
              <a:t>Latinx cobre ≥ 5 dos 10 tons Monk  </a:t>
            </a:r>
            <a:r>
              <a:rPr sz="1300" i="1">
                <a:solidFill>
                  <a:srgbClr val="707682"/>
                </a:solidFill>
              </a:rPr>
              <a:t>[cobertura ≥ 5]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H3.  </a:t>
            </a:r>
            <a:r>
              <a:rPr sz="1500">
                <a:solidFill>
                  <a:srgbClr val="3D424E"/>
                </a:solidFill>
              </a:rPr>
              <a:t>Condicionamento reduz disparidade sem perder acurácia  </a:t>
            </a:r>
            <a:r>
              <a:rPr sz="1300" i="1">
                <a:solidFill>
                  <a:srgbClr val="707682"/>
                </a:solidFill>
              </a:rPr>
              <a:t>[DR ↓  ·  F1 ≥ baseline]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H4.  </a:t>
            </a:r>
            <a:r>
              <a:rPr sz="1500">
                <a:solidFill>
                  <a:srgbClr val="3D424E"/>
                </a:solidFill>
              </a:rPr>
              <a:t>≥ 50 % dos erros Latinx em zonas de sobreposição  </a:t>
            </a:r>
            <a:r>
              <a:rPr sz="1300" i="1">
                <a:solidFill>
                  <a:srgbClr val="707682"/>
                </a:solidFill>
              </a:rPr>
              <a:t>[concentração ≥ 50 %]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H5.  </a:t>
            </a:r>
            <a:r>
              <a:rPr sz="1500">
                <a:solidFill>
                  <a:srgbClr val="3D424E"/>
                </a:solidFill>
              </a:rPr>
              <a:t>Ganho transfere para reconhecimento (RFW/BFW)  </a:t>
            </a:r>
            <a:r>
              <a:rPr sz="1300" i="1">
                <a:solidFill>
                  <a:srgbClr val="707682"/>
                </a:solidFill>
              </a:rPr>
              <a:t>[gap ↓ downstream]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H6.  </a:t>
            </a:r>
            <a:r>
              <a:rPr sz="1500">
                <a:solidFill>
                  <a:srgbClr val="3D424E"/>
                </a:solidFill>
              </a:rPr>
              <a:t>Pixel information explica variância do erro (Pangelinan)  </a:t>
            </a:r>
            <a:r>
              <a:rPr sz="1300" i="1">
                <a:solidFill>
                  <a:srgbClr val="707682"/>
                </a:solidFill>
              </a:rPr>
              <a:t>[R² ≥ 70 %]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Linha do tempo das principais respostas ao problema (2018–2026)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imeline_mitiga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882" y="1371600"/>
            <a:ext cx="10547188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Frentes cronológicas: dados balanceados → funções de perda → arquiteturas Pareto-eficientes → modelos vision-language → escalas MST → heterogeneidade fenotípica.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Baselines de mitigação para comparação sistemática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6792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Método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Referência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Adversarial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Zhang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Segundo modelo tenta “ler” o atributo sensível —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Group 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Sagawa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Otimiza o erro do pior grupo, não o erro médio.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FSCL+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Park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Aprendizado contrastivo com controle explícito de viés.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FineFACE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Manzoor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Atenção mútua entre camadas — operação Pareto-eficiente.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Kärkkäinen &amp; Joo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Baseline canônico da própria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Liu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Controle arquitetural moderno — efeito da rede base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Lacunas científicas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943600"/>
                <a:gridCol w="4937760"/>
              </a:tblGrid>
              <a:tr h="7924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Como endereçamos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Não existe matriz pública MST × classes raciais no FairFace.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2 — Contribuição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FiLM (Perez 2018) nunca foi aplicado em classificação racial multi-classe.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3 — Contribuição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Métricas de fairness multi-classe estão fragmentadas na literatura.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4 — Contribuição 4 (triangulação).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Transferência de fairness (Madras et al., 2018) para reconhecimento é pouco estudada.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5 — Contribuição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Não há decomposição quantitativa do gap Latinx (fenótipo × algoritmo).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6 — Contribuição 6.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Pipeline experimental em seis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6et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0534" y="1371600"/>
            <a:ext cx="410788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Fluxo top-down organizado em três fases: diagnóstico (etapas 1 e 2), método proposto (etapa 3) e validação e síntese (etapas 4 a 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Evolução do pipeline experimental — estado em 04/10/2026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evol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339" y="1371600"/>
            <a:ext cx="1222363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Etapas 1 a 3 em execução (código implementado, validação preliminar em curso); etapas 4 a 6 planejadas conforme cronograma. Marco de qualificação assegurado.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1: classificador MST treinado internamente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O que faz:  </a:t>
            </a:r>
            <a:r>
              <a:rPr sz="1800">
                <a:solidFill>
                  <a:srgbClr val="3D424E"/>
                </a:solidFill>
              </a:rPr>
              <a:t>produz, para cada imagem facial, o vetor softmax sobre os dez tons da escala Monk.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Decisão pós-reunião Ago/2026:  </a:t>
            </a:r>
            <a:r>
              <a:rPr sz="1800">
                <a:solidFill>
                  <a:srgbClr val="3D424E"/>
                </a:solidFill>
              </a:rPr>
              <a:t>adotar treinamento interno do classificador, reduzindo dependência do release do SkinToneNet (Matias, 2026), cujos pesos e dataset STW ainda não foram divulgados publicamente.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treino:  </a:t>
            </a:r>
            <a:r>
              <a:rPr sz="1800">
                <a:solidFill>
                  <a:srgbClr val="3D424E"/>
                </a:solidFill>
              </a:rPr>
              <a:t>Monk Skin Tone Examples (Monk, 2019) e Casual Conversations v2 (Porgali et al., 2023).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Camada auto-suficiente:  </a:t>
            </a:r>
            <a:r>
              <a:rPr sz="1800">
                <a:solidFill>
                  <a:srgbClr val="3D424E"/>
                </a:solidFill>
              </a:rPr>
              <a:t>detecção facial (MTCNN, Zhang et al., 2016), alinhamento, recorte e classificação — viabiliza inferência em datasets sem anotação MST.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Validação:  </a:t>
            </a:r>
            <a:r>
              <a:rPr sz="1800">
                <a:solidFill>
                  <a:srgbClr val="3D424E"/>
                </a:solidFill>
              </a:rPr>
              <a:t>protocolo humano interno (aproximadamente 250 imagens do FairFace) e sensitivity analysis com dois a três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detalhe técnico do backend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talhe_tecn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18" y="1371600"/>
            <a:ext cx="11443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Pipeline técnico em cinco etapas: detecção MTCNN → alinhamento por landmarks → segmentação de pele → cor dominante via k-means em CIELab → distância euclidiana à paleta Monk. Backend operacional durante a fase de validação (sensitivity analysis — Cap. 4 §4.2).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amostras FairFace val (qualitativo)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795" y="1371600"/>
            <a:ext cx="968136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Para cada raça FairFace: face com tom MST mais claro (acima) e mais escuro (abaixo) preditos sobre amostra estratificada de 350 imagens. Evidência visual direta de H1 — heterogeneidade fenotípica intra-categorial.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distribuição MST × raça (quantitativo)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distribu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99" y="1371600"/>
            <a:ext cx="10821954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Distribuição percentual (dentro de cada raça) sobre amostra estratificada (n = 350, 50 por raça). Nenhuma raça colapsa em um único tom Monk — evidência preliminar que sustenta a formalização de H1.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da escolha do backbone: ConvNeXt-T (Liu et al., 2022)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Paridade com ViTs a custo convolucional:  </a:t>
            </a:r>
            <a:r>
              <a:rPr sz="1800">
                <a:solidFill>
                  <a:srgbClr val="3D424E"/>
                </a:solidFill>
              </a:rPr>
              <a:t>82 % top-1 ImageNet, comparável a Swin-T, ~1/3 dos params.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Estável em fine-tuning:  </a:t>
            </a:r>
            <a:r>
              <a:rPr sz="1800">
                <a:solidFill>
                  <a:srgbClr val="3D424E"/>
                </a:solidFill>
              </a:rPr>
              <a:t>LayerNorm (não BatchNorm) — robusto a batch pequeno, essencial para 3 sementes.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Inserção natural de FiLM:  </a:t>
            </a:r>
            <a:r>
              <a:rPr sz="1800">
                <a:solidFill>
                  <a:srgbClr val="3D424E"/>
                </a:solidFill>
              </a:rPr>
              <a:t>4 estágios hierárquicos oferecem 4 pontos de inserção sem modificar blocos internos.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Comparável ao baseline canônico:  </a:t>
            </a:r>
            <a:r>
              <a:rPr sz="1800">
                <a:solidFill>
                  <a:srgbClr val="3D424E"/>
                </a:solidFill>
              </a:rPr>
              <a:t>ResNet-34 do FairFace serve como âncora — ConvNeXt-T isola o efeito do condicionamento.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Viável computacionalmente:  </a:t>
            </a:r>
            <a:r>
              <a:rPr sz="1800">
                <a:solidFill>
                  <a:srgbClr val="3D424E"/>
                </a:solidFill>
              </a:rPr>
              <a:t>28 M params permitem 3 sementes × 3 configs em GPU comum (~300 h total).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do mecanismo de condicionamento: FiLM (Perez et al., 2018)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Adequação dimensional ao sinal MST:  </a:t>
            </a:r>
            <a:r>
              <a:rPr sz="1800">
                <a:solidFill>
                  <a:srgbClr val="3D424E"/>
                </a:solidFill>
              </a:rPr>
              <a:t>sinal 10-dim casa naturalmente com γ, β — sem explosão paramétrica.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Eficiência:  </a:t>
            </a:r>
            <a:r>
              <a:rPr sz="1800">
                <a:solidFill>
                  <a:srgbClr val="3D424E"/>
                </a:solidFill>
              </a:rPr>
              <a:t>~380 k parâmetros (~1,3 % do backbone) — muito abaixo de cross-attention (~3×).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Interpretabilidade direta:  </a:t>
            </a:r>
            <a:r>
              <a:rPr sz="1800">
                <a:solidFill>
                  <a:srgbClr val="3D424E"/>
                </a:solidFill>
              </a:rPr>
              <a:t>γ e β por canal permitem inspecionar como cada tom modula as features.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Compatibilidade nativa:  </a:t>
            </a:r>
            <a:r>
              <a:rPr sz="1800">
                <a:solidFill>
                  <a:srgbClr val="3D424E"/>
                </a:solidFill>
              </a:rPr>
              <a:t>opera bem com LayerNorm do ConvNeXt-T; init identidade preserva backbone.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Lacuna documentada:  </a:t>
            </a:r>
            <a:r>
              <a:rPr sz="1800">
                <a:solidFill>
                  <a:srgbClr val="3D424E"/>
                </a:solidFill>
              </a:rPr>
              <a:t>sem aplicação prévia em fairness facial multi-classe — Contribuição 3 desta pesquisa.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Descartadas com justificativa formal (Cap 2):  </a:t>
            </a:r>
            <a:r>
              <a:rPr sz="1800">
                <a:solidFill>
                  <a:srgbClr val="3D424E"/>
                </a:solidFill>
              </a:rPr>
              <a:t>Concatenação, CBN, Cross-attention, AdaIN, SPADE, HyperNetworks, LoRA/Adaptadores.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Mecanismo FiLM: modulação de features condicionada ao tom de pele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864" y="1371600"/>
            <a:ext cx="760522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FiLM (Perez et al., 2018) modula as features intermediárias do ConvNeXt-T canal a canal, condicionadas ao vetor MST. Overhead paramétrico: aproximadamente 1,3 % do backbone.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Configurações do estudo de ablation arquitetural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937760"/>
                <a:gridCol w="59436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Configuração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O que testa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puro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Sem condicionamento — controle arquitetural.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+ FiLM (sinal MST direto, 10-dim)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Proposta principal — tom de pele entra como contexto.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+ FiLM (sinal via CLIP-text, 512-dim)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Alternativa moderna — Radford et al. (2021) + Dehdashtian et al. (2024).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Protocolo de validação: cenários e norma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Cenário A — apenas raça:  </a:t>
            </a:r>
            <a:r>
              <a:rPr sz="1800">
                <a:solidFill>
                  <a:srgbClr val="3D424E"/>
                </a:solidFill>
              </a:rPr>
              <a:t>reporte estratificado por classe racial (sete classes do FairFace).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Cenário B — raça × gênero:  </a:t>
            </a:r>
            <a:r>
              <a:rPr sz="1800">
                <a:solidFill>
                  <a:srgbClr val="3D424E"/>
                </a:solidFill>
              </a:rPr>
              <a:t>análise interseccional (oito subgrupos), conforme protocolo estabelecido por Gender Shades (Buolamwini &amp; Gebru, 2018).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Norma seguida:  </a:t>
            </a:r>
            <a:r>
              <a:rPr sz="1800">
                <a:solidFill>
                  <a:srgbClr val="3D424E"/>
                </a:solidFill>
              </a:rPr>
              <a:t>ISO/IEC 19795-10:2024, padrão internacional para reporte de desempenho biométrico estratificado entre grupos demográficos.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Rigor experimental:  </a:t>
            </a:r>
            <a:r>
              <a:rPr sz="1800">
                <a:solidFill>
                  <a:srgbClr val="3D424E"/>
                </a:solidFill>
              </a:rPr>
              <a:t>três sementes independentes por experimento (42, 1, 2), comparação pareada e intervalo de confiança de 95 % via bootstrap não paramétrico.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transferência (Etapa 5):  </a:t>
            </a:r>
            <a:r>
              <a:rPr sz="1800">
                <a:solidFill>
                  <a:srgbClr val="3D424E"/>
                </a:solidFill>
              </a:rPr>
              <a:t>RFW (Wang et al., 2019) e BFW (Robinson et al., 2020), com pares oficiais de verificação 1:1.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Triangulação de métricas de equidade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Por que triangular — Kleinberg et al. (2017):  </a:t>
            </a:r>
            <a:r>
              <a:rPr sz="1800">
                <a:solidFill>
                  <a:srgbClr val="3D424E"/>
                </a:solidFill>
              </a:rPr>
              <a:t>Teorema da Impossibilidade — demonstra a impossibilidade formal de satisfação simultânea de múltiplas definições de equidade quando as prevalências diferem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Disparity Ratio:  </a:t>
            </a:r>
            <a:r>
              <a:rPr sz="1800">
                <a:solidFill>
                  <a:srgbClr val="3D424E"/>
                </a:solidFill>
              </a:rPr>
              <a:t>razão entre F1 mínimo e máximo entre grupos; mensura a desigualdade de desempenho.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F1 da pior classe:  </a:t>
            </a:r>
            <a:r>
              <a:rPr sz="1800">
                <a:solidFill>
                  <a:srgbClr val="3D424E"/>
                </a:solidFill>
              </a:rPr>
              <a:t>protege o grupo sub-representado; evita ganhos concentrados apenas na média agregada.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Equal Opportunity — Hardt et al. (2016, NeurIPS):  </a:t>
            </a:r>
            <a:r>
              <a:rPr sz="1800">
                <a:solidFill>
                  <a:srgbClr val="3D424E"/>
                </a:solidFill>
              </a:rPr>
              <a:t>requer igualdade de taxa de verdadeiro positivo (TPR) condicionada ao rótulo verdadeiro.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Equalized Odds — Hardt et al. (2016):  </a:t>
            </a:r>
            <a:r>
              <a:rPr sz="1800">
                <a:solidFill>
                  <a:srgbClr val="3D424E"/>
                </a:solidFill>
              </a:rPr>
              <a:t>requisito estrito: igualdade simultânea de TPR e FPR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Visualização Pareto:  </a:t>
            </a:r>
            <a:r>
              <a:rPr sz="1800">
                <a:solidFill>
                  <a:srgbClr val="3D424E"/>
                </a:solidFill>
              </a:rPr>
              <a:t>identificação da fronteira Pareto no trade-off acurácia agregada × disparidade demográfica.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Contribuições esperadas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Contribuições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Fenotípico-empírico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Documentar como o fenótipo (MST) se distribui dentro de cada rótulo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Metodológico-arquitetural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Injetar tom de pele como contexto arquitetural + triangulação de métricas.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Diagnóstico-estrutural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Decompor o erro em fenotípico (irredutível) e algorítmico (mitigável).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5943600"/>
              </a:tblGrid>
              <a:tr h="528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Ago–Set/2026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Preparação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Código das 6 etapas pronto (120 testes passando).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05/10/2026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Aplicar sugestões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Nov–Dez/2026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1 e 2 formais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Treino MST + matriz pública MST × raça.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Jan–Mar/2027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3 (ablation)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3 configurações A/B/C do FiLM.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Abr–Mai/2027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4 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6 baselines + transferência RFW/BFW.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Síntese decompositiva.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2º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Redação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Riscos identificados e estratégias de mitigação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Alguma das 6 hipóteses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Cada hipótese tem plano B; refutação é resultado científico válido.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Validação humana + sensitivity com outros classificadores + benchmark externo (STW) quando disponível.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Refutação parcial pela tese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Já incluída como H6 — refutação vira contribuição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Custo computacional (3 sementes × 3 configs × 6 baselines).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é leve (~28M params); estimativa 200–400 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Estado atual do trabalho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B4C4E8"/>
                </a:solidFill>
              </a:defRPr>
            </a:pPr>
            <a:r>
              <a:t>sobre o cronograma proposto na qualificação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6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estruturado, testado e pronto para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todos passando (unit + smoke + integração)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A4E"/>
                </a:solidFill>
              </a:defRPr>
            </a:pPr>
            <a:r>
              <a:t>Estado das entregas em 28/09/2026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1 e 2 (código completo):  </a:t>
            </a:r>
            <a:r>
              <a:rPr sz="1600">
                <a:solidFill>
                  <a:srgbClr val="3D424E"/>
                </a:solidFill>
              </a:rPr>
              <a:t>classificador MST treinado internamente, camada de preprocessamento auto-suficiente, matriz MST × raça, teste formal de H2.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 3 (FiLM):  </a:t>
            </a:r>
            <a:r>
              <a:rPr sz="1600">
                <a:solidFill>
                  <a:srgbClr val="3D424E"/>
                </a:solidFill>
              </a:rPr>
              <a:t>camada FiLM, wrapper ConvNeXt-T, ensembler CLIP-text e pipeline de treinamento das três configurações.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4, 5 e 6:  </a:t>
            </a:r>
            <a:r>
              <a:rPr sz="1600">
                <a:solidFill>
                  <a:srgbClr val="3D424E"/>
                </a:solidFill>
              </a:rPr>
              <a:t>métricas de equidade, quatro baselines, análise Pareto, verificação em RFW/BFW e decomposição ANOVA/R².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Texto da dissertação:  </a:t>
            </a:r>
            <a:r>
              <a:rPr sz="1600">
                <a:solidFill>
                  <a:srgbClr val="3D424E"/>
                </a:solidFill>
              </a:rPr>
              <a:t>cinco capítulos consolidados, três passadas de revisão de estilo e 104 fichas bibliográficas.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· marcello.ozzetti@gmail.com ·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