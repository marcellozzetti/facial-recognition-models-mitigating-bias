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0" y="1371600"/>
            <a:ext cx="9601200" cy="1828800"/>
          </a:xfrm>
          <a:prstGeom prst="rect">
            <a:avLst/>
          </a:prstGeom>
          <a:noFill/>
        </p:spPr>
        <p:txBody>
          <a:bodyPr wrap="square">
            <a:spAutoFit/>
          </a:bodyPr>
          <a:lstStyle/>
          <a:p>
            <a:pPr>
              <a:defRPr sz="3800" b="1">
                <a:solidFill>
                  <a:srgbClr val="1F2A4E"/>
                </a:solidFill>
              </a:defRPr>
            </a:pPr>
            <a:r>
              <a:t>Equidade Racial em Classificação Facial</a:t>
            </a:r>
          </a:p>
          <a:p>
            <a:pPr>
              <a:defRPr sz="2200">
                <a:solidFill>
                  <a:srgbClr val="3D424E"/>
                </a:solidFill>
              </a:defRPr>
            </a:pPr>
            <a:r>
              <a:t>Atualização da pesquisa — o que evoluiu nesta semana</a:t>
            </a:r>
          </a:p>
        </p:txBody>
      </p:sp>
      <p:sp>
        <p:nvSpPr>
          <p:cNvPr id="4" name="TextBox 3"/>
          <p:cNvSpPr txBox="1"/>
          <p:nvPr/>
        </p:nvSpPr>
        <p:spPr>
          <a:xfrm>
            <a:off x="2286000" y="3840480"/>
            <a:ext cx="9601200" cy="2286000"/>
          </a:xfrm>
          <a:prstGeom prst="rect">
            <a:avLst/>
          </a:prstGeom>
          <a:noFill/>
        </p:spPr>
        <p:txBody>
          <a:bodyPr wrap="square">
            <a:spAutoFit/>
          </a:bodyPr>
          <a:lstStyle/>
          <a:p>
            <a:pPr>
              <a:defRPr sz="1700">
                <a:solidFill>
                  <a:srgbClr val="3D424E"/>
                </a:solidFill>
              </a:defRPr>
            </a:pPr>
            <a:r>
              <a:t>Mestrando:  Marcello Ozzetti</a:t>
            </a:r>
          </a:p>
          <a:p>
            <a:pPr>
              <a:defRPr sz="1700">
                <a:solidFill>
                  <a:srgbClr val="3D424E"/>
                </a:solidFill>
              </a:defRPr>
            </a:pPr>
            <a:r>
              <a:t>Orientador:  Prof. Marcos Quiles</a:t>
            </a:r>
          </a:p>
          <a:p>
            <a:pPr>
              <a:defRPr sz="1700">
                <a:solidFill>
                  <a:srgbClr val="3D424E"/>
                </a:solidFill>
              </a:defRPr>
            </a:pPr>
            <a:r>
              <a:t>Programa:  Mestrado em Ciência da Computação — Unifesp / ICT</a:t>
            </a:r>
          </a:p>
          <a:p>
            <a:pPr>
              <a:defRPr sz="1700">
                <a:solidFill>
                  <a:srgbClr val="3D424E"/>
                </a:solidFill>
              </a:defRPr>
            </a:pPr>
            <a:r>
              <a:t>Reunião:  Junho de 2026 (segunda reunião do mês)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Principais alinhamentos e decisões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Parte 1 — Onde paramos na última reunião</a:t>
            </a:r>
          </a:p>
          <a:p>
            <a:pPr lvl="1">
              <a:spcAft>
                <a:spcPts val="800"/>
              </a:spcAft>
              <a:defRPr sz="1700">
                <a:solidFill>
                  <a:srgbClr val="707682"/>
                </a:solidFill>
              </a:defRPr>
            </a:pPr>
            <a:r>
              <a:t>Recap da última reunião e orientações</a:t>
            </a:r>
          </a:p>
          <a:p>
            <a:pPr>
              <a:spcAft>
                <a:spcPts val="800"/>
              </a:spcAft>
              <a:defRPr sz="2000" b="0">
                <a:solidFill>
                  <a:srgbClr val="3D424E"/>
                </a:solidFill>
              </a:defRPr>
            </a:pPr>
            <a:r>
              <a:t>Parte 2 — O que avancei nesta semana</a:t>
            </a:r>
          </a:p>
          <a:p>
            <a:pPr lvl="1">
              <a:spcAft>
                <a:spcPts val="800"/>
              </a:spcAft>
              <a:defRPr sz="1700">
                <a:solidFill>
                  <a:srgbClr val="707682"/>
                </a:solidFill>
              </a:defRPr>
            </a:pPr>
            <a:r>
              <a:t>Resposta direta aos 4 pedidos: ampliar venues, revisar método, validar SOTA, reformular tese</a:t>
            </a:r>
          </a:p>
          <a:p>
            <a:pPr>
              <a:spcAft>
                <a:spcPts val="800"/>
              </a:spcAft>
              <a:defRPr sz="2000" b="0">
                <a:solidFill>
                  <a:srgbClr val="3D424E"/>
                </a:solidFill>
              </a:defRPr>
            </a:pPr>
            <a:r>
              <a:t>Parte 3 — Como a tese está sendo construída agora</a:t>
            </a:r>
          </a:p>
          <a:p>
            <a:pPr lvl="1">
              <a:spcAft>
                <a:spcPts val="800"/>
              </a:spcAft>
              <a:defRPr sz="1700">
                <a:solidFill>
                  <a:srgbClr val="707682"/>
                </a:solidFill>
              </a:defRPr>
            </a:pPr>
            <a:r>
              <a:t>Linguagem clara: cada conceito explicado antes de usar</a:t>
            </a:r>
          </a:p>
          <a:p>
            <a:pPr>
              <a:spcAft>
                <a:spcPts val="800"/>
              </a:spcAft>
              <a:defRPr sz="2000" b="0">
                <a:solidFill>
                  <a:srgbClr val="3D424E"/>
                </a:solidFill>
              </a:defRPr>
            </a:pPr>
            <a:r>
              <a:t>Parte 4 — Próximos passos</a:t>
            </a:r>
          </a:p>
          <a:p>
            <a:pPr lvl="1">
              <a:spcAft>
                <a:spcPts val="800"/>
              </a:spcAft>
              <a:defRPr sz="1700">
                <a:solidFill>
                  <a:srgbClr val="707682"/>
                </a:solidFill>
              </a:defRPr>
            </a:pPr>
            <a:r>
              <a:t>O que preciso decidir nesta reunião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1</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Onde paramos na última reunião</a:t>
            </a:r>
          </a:p>
          <a:p>
            <a:pPr>
              <a:defRPr sz="2000">
                <a:solidFill>
                  <a:srgbClr val="E8EAED"/>
                </a:solidFill>
              </a:defRPr>
            </a:pPr>
            <a:r>
              <a:t>Recap da última reunião e orientações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Como a tese estava na última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A tese era DIAGNÓSTICA — focada em explicar por que o erro existe:</a:t>
            </a:r>
          </a:p>
          <a:p>
            <a:pPr>
              <a:spcAft>
                <a:spcPts val="800"/>
              </a:spcAft>
              <a:defRPr sz="2000" b="0">
                <a:solidFill>
                  <a:srgbClr val="3D424E"/>
                </a:solidFill>
              </a:defRPr>
            </a:pPr>
          </a:p>
          <a:p>
            <a:pPr>
              <a:spcAft>
                <a:spcPts val="800"/>
              </a:spcAft>
              <a:defRPr sz="2000" b="0">
                <a:solidFill>
                  <a:srgbClr val="3D424E"/>
                </a:solidFill>
              </a:defRPr>
            </a:pPr>
            <a:r>
              <a:t>“O limite atual de 75% F1 em classificação racial sobre o FairFace não é só problema de arquitetura nem só problema de método. Tem um componente fenotípico irredutível: as raças se sobrepõem em tom de pele, especialmente Latinx. A dissertação ia construir a primeira matriz pública dessa sobreposição e quantificar o que dá para reduzir vs o que é estrutural.”</a:t>
            </a:r>
          </a:p>
          <a:p>
            <a:pPr>
              <a:spcAft>
                <a:spcPts val="800"/>
              </a:spcAft>
              <a:defRPr sz="2000" b="0">
                <a:solidFill>
                  <a:srgbClr val="3D424E"/>
                </a:solidFill>
              </a:defRPr>
            </a:pPr>
          </a:p>
          <a:p>
            <a:pPr>
              <a:spcAft>
                <a:spcPts val="800"/>
              </a:spcAft>
              <a:defRPr sz="2000" b="0">
                <a:solidFill>
                  <a:srgbClr val="3D424E"/>
                </a:solidFill>
              </a:defRPr>
            </a:pPr>
            <a:r>
              <a:t>Corpus naquele momento: 23 fichas catalogadas em 6 tracks temáticos:</a:t>
            </a:r>
          </a:p>
          <a:p>
            <a:pPr lvl="1">
              <a:spcAft>
                <a:spcPts val="800"/>
              </a:spcAft>
              <a:defRPr sz="1700">
                <a:solidFill>
                  <a:srgbClr val="707682"/>
                </a:solidFill>
              </a:defRPr>
            </a:pPr>
            <a:r>
              <a:t>Track A — Race classification (alvo direto da dissertação)</a:t>
            </a:r>
          </a:p>
          <a:p>
            <a:pPr lvl="1">
              <a:spcAft>
                <a:spcPts val="800"/>
              </a:spcAft>
              <a:defRPr sz="1700">
                <a:solidFill>
                  <a:srgbClr val="707682"/>
                </a:solidFill>
              </a:defRPr>
            </a:pPr>
            <a:r>
              <a:t>Track B — Face recognition fairness (paralelo)</a:t>
            </a:r>
          </a:p>
          <a:p>
            <a:pPr lvl="1">
              <a:spcAft>
                <a:spcPts val="800"/>
              </a:spcAft>
              <a:defRPr sz="1700">
                <a:solidFill>
                  <a:srgbClr val="707682"/>
                </a:solidFill>
              </a:defRPr>
            </a:pPr>
            <a:r>
              <a:t>Track C — Skin tone como dimensão alternativa</a:t>
            </a:r>
          </a:p>
          <a:p>
            <a:pPr lvl="1">
              <a:spcAft>
                <a:spcPts val="800"/>
              </a:spcAft>
              <a:defRPr sz="1700">
                <a:solidFill>
                  <a:srgbClr val="707682"/>
                </a:solidFill>
              </a:defRPr>
            </a:pPr>
            <a:r>
              <a:t>Track D — Mitigação algorítmica (técnicas)</a:t>
            </a:r>
          </a:p>
          <a:p>
            <a:pPr lvl="1">
              <a:spcAft>
                <a:spcPts val="800"/>
              </a:spcAft>
              <a:defRPr sz="1700">
                <a:solidFill>
                  <a:srgbClr val="707682"/>
                </a:solidFill>
              </a:defRPr>
            </a:pPr>
            <a:r>
              <a:t>Track E — Auditoria e metodologia</a:t>
            </a:r>
          </a:p>
          <a:p>
            <a:pPr lvl="1">
              <a:spcAft>
                <a:spcPts val="800"/>
              </a:spcAft>
              <a:defRPr sz="1700">
                <a:solidFill>
                  <a:srgbClr val="707682"/>
                </a:solidFill>
              </a:defRPr>
            </a:pPr>
            <a:r>
              <a:t>Track F — Fundamentação científica de raça e tom de pele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validamos na última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  Concordamos que a evolução metodológica melhorou significativamente</a:t>
            </a:r>
          </a:p>
          <a:p>
            <a:pPr>
              <a:spcAft>
                <a:spcPts val="800"/>
              </a:spcAft>
              <a:defRPr sz="2000" b="0">
                <a:solidFill>
                  <a:srgbClr val="3D424E"/>
                </a:solidFill>
              </a:defRPr>
            </a:pPr>
          </a:p>
          <a:p>
            <a:pPr>
              <a:spcAft>
                <a:spcPts val="800"/>
              </a:spcAft>
              <a:defRPr sz="2000" b="0">
                <a:solidFill>
                  <a:srgbClr val="3D424E"/>
                </a:solidFill>
              </a:defRPr>
            </a:pPr>
            <a:r>
              <a:t>✓  Validamos que o SOTA encontrado (FaceScanPaliGemma 75.7% F1) é mesmo o atual</a:t>
            </a:r>
          </a:p>
          <a:p>
            <a:pPr>
              <a:spcAft>
                <a:spcPts val="800"/>
              </a:spcAft>
              <a:defRPr sz="2000" b="0">
                <a:solidFill>
                  <a:srgbClr val="3D424E"/>
                </a:solidFill>
              </a:defRPr>
            </a:pPr>
          </a:p>
          <a:p>
            <a:pPr>
              <a:spcAft>
                <a:spcPts val="800"/>
              </a:spcAft>
              <a:defRPr sz="2000" b="0">
                <a:solidFill>
                  <a:srgbClr val="3D424E"/>
                </a:solidFill>
              </a:defRPr>
            </a:pPr>
            <a:r>
              <a:t>✓  Alinhamos e validamos a linha de pesquisa proposta</a:t>
            </a:r>
          </a:p>
          <a:p>
            <a:pPr>
              <a:spcAft>
                <a:spcPts val="800"/>
              </a:spcAft>
              <a:defRPr sz="2000" b="0">
                <a:solidFill>
                  <a:srgbClr val="3D424E"/>
                </a:solidFill>
              </a:defRPr>
            </a:pPr>
          </a:p>
          <a:p>
            <a:pPr>
              <a:spcAft>
                <a:spcPts val="800"/>
              </a:spcAft>
              <a:defRPr sz="2000" b="0">
                <a:solidFill>
                  <a:srgbClr val="3D424E"/>
                </a:solidFill>
              </a:defRPr>
            </a:pPr>
            <a:r>
              <a:t>Estas 3 validações são a base sobre a qual estou construindo a nova versão da tese.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4 pedidos que combinamos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Revisar o método em profundidade de cada artigo selecionado</a:t>
            </a:r>
          </a:p>
          <a:p>
            <a:pPr lvl="1">
              <a:spcAft>
                <a:spcPts val="800"/>
              </a:spcAft>
              <a:defRPr sz="1700">
                <a:solidFill>
                  <a:srgbClr val="707682"/>
                </a:solidFill>
              </a:defRPr>
            </a:pPr>
            <a:r>
              <a:t>Queremos enxergar não só o resultado, mas o rigor metodológico</a:t>
            </a:r>
          </a:p>
          <a:p>
            <a:pPr>
              <a:spcAft>
                <a:spcPts val="800"/>
              </a:spcAft>
              <a:defRPr sz="2000" b="0">
                <a:solidFill>
                  <a:srgbClr val="3D424E"/>
                </a:solidFill>
              </a:defRPr>
            </a:pPr>
          </a:p>
          <a:p>
            <a:pPr>
              <a:spcAft>
                <a:spcPts val="800"/>
              </a:spcAft>
              <a:defRPr sz="2000" b="0">
                <a:solidFill>
                  <a:srgbClr val="3D424E"/>
                </a:solidFill>
              </a:defRPr>
            </a:pPr>
            <a:r>
              <a:t>2. Ampliar a pesquisa para venues de ML, Redes Neurais e temas relacionados</a:t>
            </a:r>
          </a:p>
          <a:p>
            <a:pPr lvl="1">
              <a:spcAft>
                <a:spcPts val="800"/>
              </a:spcAft>
              <a:defRPr sz="1700">
                <a:solidFill>
                  <a:srgbClr val="707682"/>
                </a:solidFill>
              </a:defRPr>
            </a:pPr>
            <a:r>
              <a:t>Identificamos lacuna de papers fundadores destes campos</a:t>
            </a:r>
          </a:p>
          <a:p>
            <a:pPr>
              <a:spcAft>
                <a:spcPts val="800"/>
              </a:spcAft>
              <a:defRPr sz="2000" b="0">
                <a:solidFill>
                  <a:srgbClr val="3D424E"/>
                </a:solidFill>
              </a:defRPr>
            </a:pPr>
          </a:p>
          <a:p>
            <a:pPr>
              <a:spcAft>
                <a:spcPts val="800"/>
              </a:spcAft>
              <a:defRPr sz="2000" b="0">
                <a:solidFill>
                  <a:srgbClr val="3D424E"/>
                </a:solidFill>
              </a:defRPr>
            </a:pPr>
            <a:r>
              <a:t>3. Double-check do SOTA (75.7% F1)</a:t>
            </a:r>
          </a:p>
          <a:p>
            <a:pPr lvl="1">
              <a:spcAft>
                <a:spcPts val="800"/>
              </a:spcAft>
              <a:defRPr sz="1700">
                <a:solidFill>
                  <a:srgbClr val="707682"/>
                </a:solidFill>
              </a:defRPr>
            </a:pPr>
            <a:r>
              <a:t>Garantir que não emergiu competidor recente</a:t>
            </a:r>
          </a:p>
          <a:p>
            <a:pPr>
              <a:spcAft>
                <a:spcPts val="800"/>
              </a:spcAft>
              <a:defRPr sz="2000" b="0">
                <a:solidFill>
                  <a:srgbClr val="3D424E"/>
                </a:solidFill>
              </a:defRPr>
            </a:pPr>
          </a:p>
          <a:p>
            <a:pPr>
              <a:spcAft>
                <a:spcPts val="800"/>
              </a:spcAft>
              <a:defRPr sz="2000" b="0">
                <a:solidFill>
                  <a:srgbClr val="3D424E"/>
                </a:solidFill>
              </a:defRPr>
            </a:pPr>
            <a:r>
              <a:t>4. Reformular a tese de DIAGNÓSTICA para PRESCRITIVA</a:t>
            </a:r>
          </a:p>
          <a:p>
            <a:pPr lvl="1">
              <a:spcAft>
                <a:spcPts val="800"/>
              </a:spcAft>
              <a:defRPr sz="1700">
                <a:solidFill>
                  <a:srgbClr val="707682"/>
                </a:solidFill>
              </a:defRPr>
            </a:pPr>
            <a:r>
              <a:t>Treinar classifier de tom → usar para condicionar classifier de raça → estender a face recognition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2</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 que avancei nesta semana</a:t>
            </a:r>
          </a:p>
          <a:p>
            <a:pPr>
              <a:defRPr sz="2000">
                <a:solidFill>
                  <a:srgbClr val="E8EAED"/>
                </a:solidFill>
              </a:defRPr>
            </a:pPr>
            <a:r>
              <a:t>Resposta direta aos 4 pedidos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2: ampliar venues ML / Redes Neurais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Rodada 5 de triagem com foco em ML e Redes Neurais.</a:t>
            </a:r>
          </a:p>
          <a:p>
            <a:pPr>
              <a:spcAft>
                <a:spcPts val="800"/>
              </a:spcAft>
              <a:defRPr sz="2000" b="0">
                <a:solidFill>
                  <a:srgbClr val="3D424E"/>
                </a:solidFill>
              </a:defRPr>
            </a:pPr>
          </a:p>
          <a:p>
            <a:pPr>
              <a:spcAft>
                <a:spcPts val="800"/>
              </a:spcAft>
              <a:defRPr sz="2000" b="0">
                <a:solidFill>
                  <a:srgbClr val="3D424E"/>
                </a:solidFill>
              </a:defRPr>
            </a:pPr>
            <a:r>
              <a:t>Adicionei 6 fichas novas, todas de venues top da área:</a:t>
            </a:r>
          </a:p>
          <a:p>
            <a:pPr lvl="1">
              <a:spcAft>
                <a:spcPts val="800"/>
              </a:spcAft>
              <a:defRPr sz="1700">
                <a:solidFill>
                  <a:srgbClr val="707682"/>
                </a:solidFill>
              </a:defRPr>
            </a:pPr>
            <a:r>
              <a:t>• Hardt, Price &amp; Srebro (NeurIPS 2016) — origem das métricas formais de fairness</a:t>
            </a:r>
          </a:p>
          <a:p>
            <a:pPr lvl="1">
              <a:spcAft>
                <a:spcPts val="800"/>
              </a:spcAft>
              <a:defRPr sz="1700">
                <a:solidFill>
                  <a:srgbClr val="707682"/>
                </a:solidFill>
              </a:defRPr>
            </a:pPr>
            <a:r>
              <a:t>• Perez et al. (AAAI 2018) — FiLM, mecanismo de condicionamento neural</a:t>
            </a:r>
          </a:p>
          <a:p>
            <a:pPr lvl="1">
              <a:spcAft>
                <a:spcPts val="800"/>
              </a:spcAft>
              <a:defRPr sz="1700">
                <a:solidFill>
                  <a:srgbClr val="707682"/>
                </a:solidFill>
              </a:defRPr>
            </a:pPr>
            <a:r>
              <a:t>• Zemel et al. (ICML 2013, Test-of-Time Award 2023) — Fair Representation Learning</a:t>
            </a:r>
          </a:p>
          <a:p>
            <a:pPr lvl="1">
              <a:spcAft>
                <a:spcPts val="800"/>
              </a:spcAft>
              <a:defRPr sz="1700">
                <a:solidFill>
                  <a:srgbClr val="707682"/>
                </a:solidFill>
              </a:defRPr>
            </a:pPr>
            <a:r>
              <a:t>• Madras et al. (ICML 2018) — LAFTR, prova teórica de fair transferência</a:t>
            </a:r>
          </a:p>
          <a:p>
            <a:pPr lvl="1">
              <a:spcAft>
                <a:spcPts val="800"/>
              </a:spcAft>
              <a:defRPr sz="1700">
                <a:solidFill>
                  <a:srgbClr val="707682"/>
                </a:solidFill>
              </a:defRPr>
            </a:pPr>
            <a:r>
              <a:t>• Zhang, Lemoine &amp; Mitchell (AIES 2018) — adversarial debiasing</a:t>
            </a:r>
          </a:p>
          <a:p>
            <a:pPr lvl="1">
              <a:spcAft>
                <a:spcPts val="800"/>
              </a:spcAft>
              <a:defRPr sz="1700">
                <a:solidFill>
                  <a:srgbClr val="707682"/>
                </a:solidFill>
              </a:defRPr>
            </a:pPr>
            <a:r>
              <a:t>• Kleinberg, Mullainathan &amp; Raghavan (ITCS 2017) — teorema da impossibilidade</a:t>
            </a:r>
          </a:p>
          <a:p>
            <a:pPr>
              <a:spcAft>
                <a:spcPts val="800"/>
              </a:spcAft>
              <a:defRPr sz="2000" b="0">
                <a:solidFill>
                  <a:srgbClr val="3D424E"/>
                </a:solidFill>
              </a:defRPr>
            </a:pPr>
          </a:p>
          <a:p>
            <a:pPr>
              <a:spcAft>
                <a:spcPts val="800"/>
              </a:spcAft>
              <a:defRPr sz="2000" b="0">
                <a:solidFill>
                  <a:srgbClr val="3D424E"/>
                </a:solidFill>
              </a:defRPr>
            </a:pPr>
            <a:r>
              <a:t>Cada um destes é base de algum baseline ou mecanismo do pipeline.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1: revisar método em profundidade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Criei uma nova Seção 12 normativa em cada ficha: ‘Análise crítica do método’.</a:t>
            </a:r>
          </a:p>
          <a:p>
            <a:pPr>
              <a:spcAft>
                <a:spcPts val="800"/>
              </a:spcAft>
              <a:defRPr sz="2000" b="0">
                <a:solidFill>
                  <a:srgbClr val="3D424E"/>
                </a:solidFill>
              </a:defRPr>
            </a:pPr>
          </a:p>
          <a:p>
            <a:pPr>
              <a:spcAft>
                <a:spcPts val="800"/>
              </a:spcAft>
              <a:defRPr sz="2000" b="0">
                <a:solidFill>
                  <a:srgbClr val="3D424E"/>
                </a:solidFill>
              </a:defRPr>
            </a:pPr>
            <a:r>
              <a:t>Avalia cada paper em 5 dimensões:</a:t>
            </a:r>
          </a:p>
          <a:p>
            <a:pPr lvl="1">
              <a:spcAft>
                <a:spcPts val="800"/>
              </a:spcAft>
              <a:defRPr sz="1700">
                <a:solidFill>
                  <a:srgbClr val="707682"/>
                </a:solidFill>
              </a:defRPr>
            </a:pPr>
            <a:r>
              <a:t>(a) Rigor formal — matemática defensável? Pressupostos declarados?</a:t>
            </a:r>
          </a:p>
          <a:p>
            <a:pPr lvl="1">
              <a:spcAft>
                <a:spcPts val="800"/>
              </a:spcAft>
              <a:defRPr sz="1700">
                <a:solidFill>
                  <a:srgbClr val="707682"/>
                </a:solidFill>
              </a:defRPr>
            </a:pPr>
            <a:r>
              <a:t>(b) Reprodutibilidade — hiperparâmetros, código, seeds?</a:t>
            </a:r>
          </a:p>
          <a:p>
            <a:pPr lvl="1">
              <a:spcAft>
                <a:spcPts val="800"/>
              </a:spcAft>
              <a:defRPr sz="1700">
                <a:solidFill>
                  <a:srgbClr val="707682"/>
                </a:solidFill>
              </a:defRPr>
            </a:pPr>
            <a:r>
              <a:t>(c) Aplicabilidade ao nosso pipeline — onde funciona e onde falha?</a:t>
            </a:r>
          </a:p>
          <a:p>
            <a:pPr lvl="1">
              <a:spcAft>
                <a:spcPts val="800"/>
              </a:spcAft>
              <a:defRPr sz="1700">
                <a:solidFill>
                  <a:srgbClr val="707682"/>
                </a:solidFill>
              </a:defRPr>
            </a:pPr>
            <a:r>
              <a:t>(d) Design choices — o que foi justificado vs assumido?</a:t>
            </a:r>
          </a:p>
          <a:p>
            <a:pPr lvl="1">
              <a:spcAft>
                <a:spcPts val="800"/>
              </a:spcAft>
              <a:defRPr sz="1700">
                <a:solidFill>
                  <a:srgbClr val="707682"/>
                </a:solidFill>
              </a:defRPr>
            </a:pPr>
            <a:r>
              <a:t>(e) Conexão com o que aprendi na Rodada 5</a:t>
            </a:r>
          </a:p>
          <a:p>
            <a:pPr>
              <a:spcAft>
                <a:spcPts val="800"/>
              </a:spcAft>
              <a:defRPr sz="2000" b="0">
                <a:solidFill>
                  <a:srgbClr val="3D424E"/>
                </a:solidFill>
              </a:defRPr>
            </a:pPr>
          </a:p>
          <a:p>
            <a:pPr>
              <a:spcAft>
                <a:spcPts val="800"/>
              </a:spcAft>
              <a:defRPr sz="2000" b="0">
                <a:solidFill>
                  <a:srgbClr val="3D424E"/>
                </a:solidFill>
              </a:defRPr>
            </a:pPr>
            <a:r>
              <a:t>Adicionada nas 10 fichas centrais (lista de leitura prioritária).</a:t>
            </a:r>
          </a:p>
          <a:p>
            <a:pPr>
              <a:spcAft>
                <a:spcPts val="800"/>
              </a:spcAft>
              <a:defRPr sz="2000" b="0">
                <a:solidFill>
                  <a:srgbClr val="3D424E"/>
                </a:solidFill>
              </a:defRPr>
            </a:pPr>
            <a:r>
              <a:t>Vamos expandir para as outras 19 após aprovação conjunta da nova versão da tese.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3: double-check do SOTA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a Rodada 2.6 com janela expandida fevereiro–junho de 2026.</a:t>
            </a:r>
          </a:p>
          <a:p>
            <a:pPr>
              <a:spcAft>
                <a:spcPts val="800"/>
              </a:spcAft>
              <a:defRPr sz="2000" b="0">
                <a:solidFill>
                  <a:srgbClr val="3D424E"/>
                </a:solidFill>
              </a:defRPr>
            </a:pPr>
          </a:p>
          <a:p>
            <a:pPr>
              <a:spcAft>
                <a:spcPts val="800"/>
              </a:spcAft>
              <a:defRPr sz="2000" b="0">
                <a:solidFill>
                  <a:srgbClr val="3D424E"/>
                </a:solidFill>
              </a:defRPr>
            </a:pPr>
            <a:r>
              <a:t>Fonte: 12 papers que citam o FaceScanPaliGemma no Semantic Scholar.</a:t>
            </a:r>
          </a:p>
          <a:p>
            <a:pPr>
              <a:spcAft>
                <a:spcPts val="800"/>
              </a:spcAft>
              <a:defRPr sz="2000" b="0">
                <a:solidFill>
                  <a:srgbClr val="3D424E"/>
                </a:solidFill>
              </a:defRPr>
            </a:pPr>
          </a:p>
          <a:p>
            <a:pPr>
              <a:spcAft>
                <a:spcPts val="800"/>
              </a:spcAft>
              <a:defRPr sz="2000" b="0">
                <a:solidFill>
                  <a:srgbClr val="3D424E"/>
                </a:solidFill>
              </a:defRPr>
            </a:pPr>
            <a:r>
              <a:t>Resultado: NENHUM dos 12 papers usa FairFace race 7-class como métrica principal.</a:t>
            </a:r>
          </a:p>
          <a:p>
            <a:pPr lvl="1">
              <a:spcAft>
                <a:spcPts val="800"/>
              </a:spcAft>
              <a:defRPr sz="1700">
                <a:solidFill>
                  <a:srgbClr val="707682"/>
                </a:solidFill>
              </a:defRPr>
            </a:pPr>
            <a:r>
              <a:t>Citantes trabalham em tarefas diferentes: gender, age, emotion, detection, audit, etc.</a:t>
            </a:r>
          </a:p>
          <a:p>
            <a:pPr>
              <a:spcAft>
                <a:spcPts val="800"/>
              </a:spcAft>
              <a:defRPr sz="2000" b="0">
                <a:solidFill>
                  <a:srgbClr val="3D424E"/>
                </a:solidFill>
              </a:defRPr>
            </a:pPr>
          </a:p>
          <a:p>
            <a:pPr>
              <a:spcAft>
                <a:spcPts val="800"/>
              </a:spcAft>
              <a:defRPr sz="2000" b="0">
                <a:solidFill>
                  <a:srgbClr val="3D424E"/>
                </a:solidFill>
              </a:defRPr>
            </a:pPr>
            <a:r>
              <a:t>Conclusão: FaceScanPaliGemma 75.7% F1 segue sendo o SOTA único em junho/2026.</a:t>
            </a:r>
          </a:p>
          <a:p>
            <a:pPr>
              <a:spcAft>
                <a:spcPts val="800"/>
              </a:spcAft>
              <a:defRPr sz="2000" b="0">
                <a:solidFill>
                  <a:srgbClr val="3D424E"/>
                </a:solidFill>
              </a:defRPr>
            </a:pPr>
          </a:p>
          <a:p>
            <a:pPr>
              <a:spcAft>
                <a:spcPts val="800"/>
              </a:spcAft>
              <a:defRPr sz="2000" b="0">
                <a:solidFill>
                  <a:srgbClr val="3D424E"/>
                </a:solidFill>
              </a:defRPr>
            </a:pPr>
            <a:r>
              <a:t>Achados adicionais: validação cruzada confirmou também o baseline ResNet-34 = 72%</a:t>
            </a:r>
          </a:p>
          <a:p>
            <a:pPr lvl="1">
              <a:spcAft>
                <a:spcPts val="800"/>
              </a:spcAft>
              <a:defRPr sz="1700">
                <a:solidFill>
                  <a:srgbClr val="707682"/>
                </a:solidFill>
              </a:defRPr>
            </a:pPr>
            <a:r>
              <a:t>Reportado por AlDahoul (2024/26) E por Lin (FairGRAPE 2022) independentemente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4: reformular para PRESCRITIVA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Mudança central: deixa de ‘decompor o erro’ e passa a ‘construir um pipeline’ que melhora fairness em race classification E em face recognition, usando tom de pele como sinal auxiliar.</a:t>
            </a:r>
          </a:p>
          <a:p>
            <a:pPr>
              <a:spcAft>
                <a:spcPts val="800"/>
              </a:spcAft>
              <a:defRPr sz="2000" b="0">
                <a:solidFill>
                  <a:srgbClr val="3D424E"/>
                </a:solidFill>
              </a:defRPr>
            </a:pPr>
          </a:p>
          <a:p>
            <a:pPr>
              <a:spcAft>
                <a:spcPts val="800"/>
              </a:spcAft>
              <a:defRPr sz="2000" b="0">
                <a:solidFill>
                  <a:srgbClr val="3D424E"/>
                </a:solidFill>
              </a:defRPr>
            </a:pPr>
            <a:r>
              <a:t>Pipeline construtivo em 6 etapas:</a:t>
            </a:r>
          </a:p>
          <a:p>
            <a:pPr lvl="1">
              <a:spcAft>
                <a:spcPts val="800"/>
              </a:spcAft>
              <a:defRPr sz="1700">
                <a:solidFill>
                  <a:srgbClr val="707682"/>
                </a:solidFill>
              </a:defRPr>
            </a:pPr>
            <a:r>
              <a:t>1. Classificador de tom de pele (MST) — usar SkinToneNet pré-treinado</a:t>
            </a:r>
          </a:p>
          <a:p>
            <a:pPr lvl="1">
              <a:spcAft>
                <a:spcPts val="800"/>
              </a:spcAft>
              <a:defRPr sz="1700">
                <a:solidFill>
                  <a:srgbClr val="707682"/>
                </a:solidFill>
              </a:defRPr>
            </a:pPr>
            <a:r>
              <a:t>2. Auditar FairFace e publicar a matriz pública MST × raça</a:t>
            </a:r>
          </a:p>
          <a:p>
            <a:pPr lvl="1">
              <a:spcAft>
                <a:spcPts val="800"/>
              </a:spcAft>
              <a:defRPr sz="1700">
                <a:solidFill>
                  <a:srgbClr val="707682"/>
                </a:solidFill>
              </a:defRPr>
            </a:pPr>
            <a:r>
              <a:t>3. Race classifier com tom de pele como contexto (mecanismo FiLM)</a:t>
            </a:r>
          </a:p>
          <a:p>
            <a:pPr lvl="1">
              <a:spcAft>
                <a:spcPts val="800"/>
              </a:spcAft>
              <a:defRPr sz="1700">
                <a:solidFill>
                  <a:srgbClr val="707682"/>
                </a:solidFill>
              </a:defRPr>
            </a:pPr>
            <a:r>
              <a:t>4. Comparar fairness COM vs SEM tom de pele, contra 6 baselines</a:t>
            </a:r>
          </a:p>
          <a:p>
            <a:pPr lvl="1">
              <a:spcAft>
                <a:spcPts val="800"/>
              </a:spcAft>
              <a:defRPr sz="1700">
                <a:solidFill>
                  <a:srgbClr val="707682"/>
                </a:solidFill>
              </a:defRPr>
            </a:pPr>
            <a:r>
              <a:t>5. Aplicar pipeline a face recognition (RFW ou BFW)</a:t>
            </a:r>
          </a:p>
          <a:p>
            <a:pPr lvl="1">
              <a:spcAft>
                <a:spcPts val="800"/>
              </a:spcAft>
              <a:defRPr sz="1700">
                <a:solidFill>
                  <a:srgbClr val="707682"/>
                </a:solidFill>
              </a:defRPr>
            </a:pPr>
            <a:r>
              <a:t>6. Medir melhora em Black/African e decomposição Latinx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Triagem do corpus de pesquisa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Dos 57 papers avaliados, aprovamos 29 como fichas do corpus.</a:t>
            </a:r>
          </a:p>
          <a:p>
            <a:pPr>
              <a:spcAft>
                <a:spcPts val="800"/>
              </a:spcAft>
              <a:defRPr sz="2000" b="0">
                <a:solidFill>
                  <a:srgbClr val="3D424E"/>
                </a:solidFill>
              </a:defRPr>
            </a:pPr>
          </a:p>
          <a:p>
            <a:pPr>
              <a:spcAft>
                <a:spcPts val="800"/>
              </a:spcAft>
              <a:defRPr sz="2000" b="0">
                <a:solidFill>
                  <a:srgbClr val="3D424E"/>
                </a:solidFill>
              </a:defRPr>
            </a:pPr>
            <a:r>
              <a:t>Aprovação seguiu os critérios de seleção acordados:</a:t>
            </a:r>
          </a:p>
          <a:p>
            <a:pPr lvl="1">
              <a:spcAft>
                <a:spcPts val="800"/>
              </a:spcAft>
              <a:defRPr sz="1700">
                <a:solidFill>
                  <a:srgbClr val="707682"/>
                </a:solidFill>
              </a:defRPr>
            </a:pPr>
            <a:r>
              <a:t>Venue científico forte (top conferences ou journals peer-reviewed)</a:t>
            </a:r>
          </a:p>
          <a:p>
            <a:pPr lvl="1">
              <a:spcAft>
                <a:spcPts val="800"/>
              </a:spcAft>
              <a:defRPr sz="1700">
                <a:solidFill>
                  <a:srgbClr val="707682"/>
                </a:solidFill>
              </a:defRPr>
            </a:pPr>
            <a:r>
              <a:t>Citações acima do threshold do ano de publicação</a:t>
            </a:r>
          </a:p>
          <a:p>
            <a:pPr lvl="1">
              <a:spcAft>
                <a:spcPts val="800"/>
              </a:spcAft>
              <a:defRPr sz="1700">
                <a:solidFill>
                  <a:srgbClr val="707682"/>
                </a:solidFill>
              </a:defRPr>
            </a:pPr>
            <a:r>
              <a:t>Aplicabilidade direta a uma das 14 perguntas de pesquisa</a:t>
            </a:r>
          </a:p>
          <a:p>
            <a:pPr lvl="1">
              <a:spcAft>
                <a:spcPts val="800"/>
              </a:spcAft>
              <a:defRPr sz="1700">
                <a:solidFill>
                  <a:srgbClr val="707682"/>
                </a:solidFill>
              </a:defRPr>
            </a:pPr>
            <a:r>
              <a:t>Aprovação por exceção (cobertura única) com justificativa registrada</a:t>
            </a:r>
          </a:p>
          <a:p>
            <a:pPr>
              <a:spcAft>
                <a:spcPts val="800"/>
              </a:spcAft>
              <a:defRPr sz="2000" b="0">
                <a:solidFill>
                  <a:srgbClr val="3D424E"/>
                </a:solidFill>
              </a:defRPr>
            </a:pPr>
          </a:p>
          <a:p>
            <a:pPr>
              <a:spcAft>
                <a:spcPts val="800"/>
              </a:spcAft>
              <a:defRPr sz="2000" b="0">
                <a:solidFill>
                  <a:srgbClr val="3D424E"/>
                </a:solidFill>
              </a:defRPr>
            </a:pPr>
            <a:r>
              <a:t>Cada decisão (aprovado / standby / descartado) tem data e justificativa em _triagem.md.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3</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Como a tese está sendo construída</a:t>
            </a:r>
          </a:p>
          <a:p>
            <a:pPr>
              <a:defRPr sz="2000">
                <a:solidFill>
                  <a:srgbClr val="E8EAED"/>
                </a:solidFill>
              </a:defRPr>
            </a:pPr>
            <a:r>
              <a:t>Agora prescritiva, com conceitos explicados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 tese em uma frase clara</a:t>
            </a:r>
          </a:p>
        </p:txBody>
      </p:sp>
      <p:sp>
        <p:nvSpPr>
          <p:cNvPr id="3" name="Rounded Rectangle 2"/>
          <p:cNvSpPr/>
          <p:nvPr/>
        </p:nvSpPr>
        <p:spPr>
          <a:xfrm>
            <a:off x="731520" y="1554480"/>
            <a:ext cx="10698480" cy="4937760"/>
          </a:xfrm>
          <a:prstGeom prst="roundRect">
            <a:avLst/>
          </a:prstGeom>
          <a:solidFill>
            <a:srgbClr val="E8EAED"/>
          </a:solidFill>
          <a:ln w="254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365760"/>
          <a:lstStyle/>
          <a:p>
            <a:pPr algn="l">
              <a:defRPr sz="2000">
                <a:solidFill>
                  <a:srgbClr val="1F2A4E"/>
                </a:solidFill>
              </a:defRPr>
            </a:pPr>
            <a:r>
              <a:t>Treinar uma rede neural para reconhecer o tom de pele de uma foto, e usar essa informação como contexto extra ao treinar uma rede de classificação racial, melhora as métricas de fairness (a paridade entre raças). Essa melhoria também se transfere para tarefas downstream de reconhecimento facial, beneficiando especialmente grupos sub-representados (Black/African).</a:t>
            </a:r>
            <a:br/>
            <a:br/>
            <a:r>
              <a:t>Em outras palavras: o tom de pele é informação que o classificador de raça precisa ter explicitamente — não pode descobrir sozinho.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a escala MST (Monk Skin Tone)?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escala de 10 tons de pele (do tom 1 mais claro ao tom 10 mais escuro), criada em 2023 pelo sociólogo Dr. Ellis Monk (Harvard) em parceria com o Google. Foi desenhada especificamente para auditar fairness em sistemas de IA — não é a escala antiga de dermatologia (Fitzpatrick), que tem viés para pele clara.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Nossa tese precisa medir tom de pele de forma confiável e granular. MST é o padrão moderno aceito pela comunidade de fairness research (publicado em NeurIPS 2023). Substituir a Fitzpatrick pela MST evita 3 problemas conhecidos da escala antiga.</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 Fitzpatrick (1975) tem só 6 tons, sendo 3 deles para variações de 'pele considerada branca'. Um terço dos próprios dermatologistas confunde Fitzpatrick com classificação racial — erro categorial endêmico.</a:t>
            </a:r>
          </a:p>
        </p:txBody>
      </p:sp>
      <p:sp>
        <p:nvSpPr>
          <p:cNvPr id="7" name="TextBox 6"/>
          <p:cNvSpPr txBox="1"/>
          <p:nvPr/>
        </p:nvSpPr>
        <p:spPr>
          <a:xfrm>
            <a:off x="457200" y="6446520"/>
            <a:ext cx="11430000" cy="365760"/>
          </a:xfrm>
          <a:prstGeom prst="rect">
            <a:avLst/>
          </a:prstGeom>
          <a:noFill/>
        </p:spPr>
        <p:txBody>
          <a:bodyPr wrap="none">
            <a:spAutoFit/>
          </a:bodyPr>
          <a:lstStyle/>
          <a:p>
            <a:pPr>
              <a:defRPr sz="1400" i="1">
                <a:solidFill>
                  <a:srgbClr val="707682"/>
                </a:solidFill>
              </a:defRPr>
            </a:pPr>
            <a:r>
              <a:t>Classificador MST pré-treinado validado pela Rodada 6 (SkinToneNet, Pereira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800" b="1">
                <a:solidFill>
                  <a:srgbClr val="1F2A4E"/>
                </a:solidFill>
              </a:defRPr>
            </a:pPr>
            <a:r>
              <a:t>O que é FiLM (Feature-wise Linear Modulation)?</a:t>
            </a:r>
          </a:p>
        </p:txBody>
      </p:sp>
      <p:sp>
        <p:nvSpPr>
          <p:cNvPr id="3" name="Rectangle 2"/>
          <p:cNvSpPr/>
          <p:nvPr/>
        </p:nvSpPr>
        <p:spPr>
          <a:xfrm>
            <a:off x="457200" y="109728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Formulação matemática (Perez et al. 2018, AAAI)</a:t>
            </a:r>
          </a:p>
          <a:p>
            <a:pPr>
              <a:defRPr sz="1500">
                <a:solidFill>
                  <a:srgbClr val="3D424E"/>
                </a:solidFill>
              </a:defRPr>
            </a:pPr>
            <a:r>
              <a:t>Dada uma feature map intermediária F do backbone e um vetor de contexto z (no nosso caso, vetor MST de 10 dimensões saído do SkinToneNet):</a:t>
            </a:r>
          </a:p>
          <a:p>
            <a:pPr>
              <a:defRPr sz="1700" b="1">
                <a:solidFill>
                  <a:srgbClr val="1F2A4E"/>
                </a:solidFill>
              </a:defRPr>
            </a:pPr>
            <a:r>
              <a:t>    FiLM(F | γ, β) = γ ⊙ F + β       onde γ = fγ(z) e β = fβ(z)</a:t>
            </a:r>
          </a:p>
          <a:p>
            <a:pPr>
              <a:defRPr sz="1400">
                <a:solidFill>
                  <a:srgbClr val="3D424E"/>
                </a:solidFill>
              </a:defRPr>
            </a:pPr>
            <a:r>
              <a:t>fγ e fβ são duas pequenas MLPs treináveis que mapeiam o contexto z para os parâmetros de modulação (γ, β) por canal. O símbolo ⊙ é multiplicação elemento-a-elemento.</a:t>
            </a:r>
          </a:p>
        </p:txBody>
      </p:sp>
      <p:sp>
        <p:nvSpPr>
          <p:cNvPr id="5" name="Rounded Rectangle 4"/>
          <p:cNvSpPr/>
          <p:nvPr/>
        </p:nvSpPr>
        <p:spPr>
          <a:xfrm>
            <a:off x="548640" y="3657600"/>
            <a:ext cx="11064240" cy="210312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Como aplicar no nosso pipeline (receita prática)</a:t>
            </a:r>
          </a:p>
          <a:p>
            <a:pPr>
              <a:spcAft>
                <a:spcPts val="200"/>
              </a:spcAft>
              <a:defRPr sz="1400">
                <a:solidFill>
                  <a:srgbClr val="3D424E"/>
                </a:solidFill>
              </a:defRPr>
            </a:pPr>
            <a:r>
              <a:t>1. Extrair vetor MST z ∈ ℝ¹⁰ da imagem usando o SkinToneNet pré-treinado.</a:t>
            </a:r>
          </a:p>
          <a:p>
            <a:pPr>
              <a:spcAft>
                <a:spcPts val="200"/>
              </a:spcAft>
              <a:defRPr sz="1400">
                <a:solidFill>
                  <a:srgbClr val="3D424E"/>
                </a:solidFill>
              </a:defRPr>
            </a:pPr>
            <a:r>
              <a:t>2. Para cada bloco residual do ConvNeXt-T, inserir um bloco FiLM que recebe z e produz (γ, β).</a:t>
            </a:r>
          </a:p>
          <a:p>
            <a:pPr>
              <a:spcAft>
                <a:spcPts val="200"/>
              </a:spcAft>
              <a:defRPr sz="1400">
                <a:solidFill>
                  <a:srgbClr val="3D424E"/>
                </a:solidFill>
              </a:defRPr>
            </a:pPr>
            <a:r>
              <a:t>3. Modular as features intermediárias F do bloco: F' = γ ⊙ F + β.</a:t>
            </a:r>
          </a:p>
          <a:p>
            <a:pPr>
              <a:spcAft>
                <a:spcPts val="200"/>
              </a:spcAft>
              <a:defRPr sz="1400">
                <a:solidFill>
                  <a:srgbClr val="3D424E"/>
                </a:solidFill>
              </a:defRPr>
            </a:pPr>
            <a:r>
              <a:t>4. Backbone e cabeça de classificação treinam normalmente; só os parâmetros das MLPs (fγ, fβ) são novos.</a:t>
            </a:r>
          </a:p>
        </p:txBody>
      </p:sp>
      <p:sp>
        <p:nvSpPr>
          <p:cNvPr id="6" name="Rounded Rectangle 5"/>
          <p:cNvSpPr/>
          <p:nvPr/>
        </p:nvSpPr>
        <p:spPr>
          <a:xfrm>
            <a:off x="548640" y="5943600"/>
            <a:ext cx="11064240" cy="822960"/>
          </a:xfrm>
          <a:prstGeom prst="roundRect">
            <a:avLst/>
          </a:prstGeom>
          <a:solidFill>
            <a:srgbClr val="FFFFFF"/>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91440"/>
          <a:lstStyle/>
          <a:p>
            <a:pPr algn="ctr">
              <a:defRPr sz="1300" b="1">
                <a:solidFill>
                  <a:srgbClr val="2E7D32"/>
                </a:solidFill>
              </a:defRPr>
            </a:pPr>
            <a:r>
              <a:t>Por que importa para a tese</a:t>
            </a:r>
          </a:p>
          <a:p>
            <a:pPr>
              <a:defRPr sz="1300">
                <a:solidFill>
                  <a:srgbClr val="3D424E"/>
                </a:solidFill>
              </a:defRPr>
            </a:pPr>
            <a:r>
              <a:t>Sem FiLM, 'usar tom de pele como contexto' seria vaga. Com FiLM, é matemática e código concreto — qualquer revisor consegue reproduzir.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800" b="1">
                <a:solidFill>
                  <a:srgbClr val="1F2A4E"/>
                </a:solidFill>
              </a:defRPr>
            </a:pPr>
            <a:r>
              <a:t>O que é fair transferência (LAFTR)?</a:t>
            </a:r>
          </a:p>
        </p:txBody>
      </p:sp>
      <p:sp>
        <p:nvSpPr>
          <p:cNvPr id="3" name="Rectangle 2"/>
          <p:cNvSpPr/>
          <p:nvPr/>
        </p:nvSpPr>
        <p:spPr>
          <a:xfrm>
            <a:off x="457200" y="109728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71600"/>
            <a:ext cx="11064240" cy="219456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Formalização teórica (Madras et al. 2018, ICML)</a:t>
            </a:r>
          </a:p>
          <a:p>
            <a:pPr>
              <a:spcAft>
                <a:spcPts val="200"/>
              </a:spcAft>
              <a:defRPr sz="1300">
                <a:solidFill>
                  <a:srgbClr val="3D424E"/>
                </a:solidFill>
              </a:defRPr>
            </a:pPr>
            <a:r>
              <a:t>Encoder e: X → Z      mapeia entrada para representação latente Z</a:t>
            </a:r>
          </a:p>
          <a:p>
            <a:pPr>
              <a:spcAft>
                <a:spcPts val="200"/>
              </a:spcAft>
              <a:defRPr sz="1300">
                <a:solidFill>
                  <a:srgbClr val="3D424E"/>
                </a:solidFill>
              </a:defRPr>
            </a:pPr>
            <a:r>
              <a:t>Classificador c: Z → Y      prediz a tarefa de interesse</a:t>
            </a:r>
          </a:p>
          <a:p>
            <a:pPr>
              <a:spcAft>
                <a:spcPts val="200"/>
              </a:spcAft>
              <a:defRPr sz="1300">
                <a:solidFill>
                  <a:srgbClr val="3D424E"/>
                </a:solidFill>
              </a:defRPr>
            </a:pPr>
            <a:r>
              <a:t>Adversário a: Z → S      tenta prever atributo sensível S a partir de Z</a:t>
            </a:r>
          </a:p>
          <a:p>
            <a:pPr>
              <a:spcAft>
                <a:spcPts val="200"/>
              </a:spcAft>
              <a:defRPr sz="1300" b="1">
                <a:solidFill>
                  <a:srgbClr val="1F2A4E"/>
                </a:solidFill>
              </a:defRPr>
            </a:pPr>
            <a:r>
              <a:t>Objetivo:    min_{e,c} max_a  [ L_clf(c(e(X)), Y)  +  λ · L_adv(a(e(X)), S) ]</a:t>
            </a:r>
          </a:p>
          <a:p>
            <a:pPr>
              <a:spcAft>
                <a:spcPts val="200"/>
              </a:spcAft>
              <a:defRPr sz="1300" b="1">
                <a:solidFill>
                  <a:srgbClr val="1F2A4E"/>
                </a:solidFill>
              </a:defRPr>
            </a:pPr>
            <a:r>
              <a:t>Resultado teórico: se a falha (L_adv → 0), então Z é fair sob demographic parity / equalized odds.</a:t>
            </a:r>
          </a:p>
        </p:txBody>
      </p:sp>
      <p:sp>
        <p:nvSpPr>
          <p:cNvPr id="5" name="Rounded Rectangle 4"/>
          <p:cNvSpPr/>
          <p:nvPr/>
        </p:nvSpPr>
        <p:spPr>
          <a:xfrm>
            <a:off x="548640" y="3703320"/>
            <a:ext cx="11064240" cy="17373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Garantia de transferência (Teorema 1, Madras 2018)</a:t>
            </a:r>
          </a:p>
          <a:p>
            <a:pPr>
              <a:defRPr sz="1400">
                <a:solidFill>
                  <a:srgbClr val="3D424E"/>
                </a:solidFill>
              </a:defRPr>
            </a:pPr>
            <a:r>
              <a:t>Para QUALQUER classificador downstream c' treinado sobre a mesma representação Z, a violação de fairness de c' é limitada superiormente pela violação de fairness em c. Em palavras simples: a propriedade fair é PROPRIEDADE DA REPRESENTAÇÃO Z, não da tarefa específica.</a:t>
            </a:r>
          </a:p>
          <a:p>
            <a:pPr>
              <a:defRPr sz="1300">
                <a:solidFill>
                  <a:srgbClr val="3D424E"/>
                </a:solidFill>
              </a:defRPr>
            </a:pPr>
            <a:r>
              <a:t>Implicação: ao treinar fair em race classification (Cap 2), o backbone passa a Z fair. Reaproveitamos esse mesmo Z em face recognition (Cap 3) sem re-treinar fairness do zero.</a:t>
            </a:r>
          </a:p>
        </p:txBody>
      </p:sp>
      <p:sp>
        <p:nvSpPr>
          <p:cNvPr id="6" name="Rounded Rectangle 5"/>
          <p:cNvSpPr/>
          <p:nvPr/>
        </p:nvSpPr>
        <p:spPr>
          <a:xfrm>
            <a:off x="548640" y="5577840"/>
            <a:ext cx="11064240" cy="1188720"/>
          </a:xfrm>
          <a:prstGeom prst="roundRect">
            <a:avLst/>
          </a:prstGeom>
          <a:solidFill>
            <a:srgbClr val="FFFFFF"/>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91440"/>
          <a:lstStyle/>
          <a:p>
            <a:pPr algn="ctr">
              <a:defRPr sz="1300" b="1">
                <a:solidFill>
                  <a:srgbClr val="2E7D32"/>
                </a:solidFill>
              </a:defRPr>
            </a:pPr>
            <a:r>
              <a:t>Evidência empírica complementar</a:t>
            </a:r>
          </a:p>
          <a:p>
            <a:pPr>
              <a:defRPr sz="1300">
                <a:solidFill>
                  <a:srgbClr val="3D424E"/>
                </a:solidFill>
              </a:defRPr>
            </a:pPr>
            <a:r>
              <a:t>Aguirre &amp; Dredze 2023 (arXiv:2305.12671) — confirmaram empiricamente que objetivos de fairness demográfico SE TRANSFEREM entre tarefas que compartilham representação (domínio NLP, mas princípio é independente da modalidade).</a:t>
            </a:r>
          </a:p>
        </p:txBody>
      </p:sp>
      <p:sp>
        <p:nvSpPr>
          <p:cNvPr id="7" name="TextBox 6"/>
          <p:cNvSpPr txBox="1"/>
          <p:nvPr/>
        </p:nvSpPr>
        <p:spPr>
          <a:xfrm>
            <a:off x="457200" y="6446520"/>
            <a:ext cx="11430000" cy="365760"/>
          </a:xfrm>
          <a:prstGeom prst="rect">
            <a:avLst/>
          </a:prstGeom>
          <a:noFill/>
        </p:spPr>
        <p:txBody>
          <a:bodyPr wrap="none">
            <a:spAutoFit/>
          </a:bodyPr>
          <a:lstStyle/>
          <a:p>
            <a:pPr>
              <a:defRPr sz="1300" i="1">
                <a:solidFill>
                  <a:srgbClr val="707682"/>
                </a:solidFill>
              </a:defRPr>
            </a:pPr>
            <a:r>
              <a:t>H5 em revisão após Pangelinan 2023 (Rodada 6): pixel info pode ser confounder adicional em FR — discussão na pauta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pipeline em 6 etapas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Etapa 1 — Treinar um classificador de tom de pele (MST)</a:t>
            </a:r>
          </a:p>
          <a:p>
            <a:pPr lvl="1">
              <a:spcAft>
                <a:spcPts val="800"/>
              </a:spcAft>
              <a:defRPr sz="1700">
                <a:solidFill>
                  <a:srgbClr val="707682"/>
                </a:solidFill>
              </a:defRPr>
            </a:pPr>
            <a:r>
              <a:t>Dados: MST-E (Schumann 2023) + Casual Conversations (Meta 2021)</a:t>
            </a:r>
          </a:p>
          <a:p>
            <a:pPr>
              <a:spcAft>
                <a:spcPts val="800"/>
              </a:spcAft>
              <a:defRPr sz="2000" b="0">
                <a:solidFill>
                  <a:srgbClr val="3D424E"/>
                </a:solidFill>
              </a:defRPr>
            </a:pPr>
            <a:r>
              <a:t>Etapa 2 — Auditar o FairFace: como tom de pele se distribui entre as 7 raças?</a:t>
            </a:r>
          </a:p>
          <a:p>
            <a:pPr lvl="1">
              <a:spcAft>
                <a:spcPts val="800"/>
              </a:spcAft>
              <a:defRPr sz="1700">
                <a:solidFill>
                  <a:srgbClr val="707682"/>
                </a:solidFill>
              </a:defRPr>
            </a:pPr>
            <a:r>
              <a:t>Aplicar o classificador MST sobre 10.954 imagens; validar manualmente um subset</a:t>
            </a:r>
          </a:p>
          <a:p>
            <a:pPr>
              <a:spcAft>
                <a:spcPts val="800"/>
              </a:spcAft>
              <a:defRPr sz="2000" b="0">
                <a:solidFill>
                  <a:srgbClr val="3D424E"/>
                </a:solidFill>
              </a:defRPr>
            </a:pPr>
            <a:r>
              <a:t>Etapa 3 — Treinar o classificador de raça USANDO tom de pele como contexto (via FiLM)</a:t>
            </a:r>
          </a:p>
          <a:p>
            <a:pPr lvl="1">
              <a:spcAft>
                <a:spcPts val="800"/>
              </a:spcAft>
              <a:defRPr sz="1700">
                <a:solidFill>
                  <a:srgbClr val="707682"/>
                </a:solidFill>
              </a:defRPr>
            </a:pPr>
            <a:r>
              <a:t>Backbone: ConvNeXt-T (rede moderna, 28 milhões de parâmetros — leve)</a:t>
            </a:r>
          </a:p>
          <a:p>
            <a:pPr>
              <a:spcAft>
                <a:spcPts val="800"/>
              </a:spcAft>
              <a:defRPr sz="2000" b="0">
                <a:solidFill>
                  <a:srgbClr val="3D424E"/>
                </a:solidFill>
              </a:defRPr>
            </a:pPr>
            <a:r>
              <a:t>Etapa 4 — Comparar fairness: COM tom de pele vs SEM</a:t>
            </a:r>
          </a:p>
          <a:p>
            <a:pPr lvl="1">
              <a:spcAft>
                <a:spcPts val="800"/>
              </a:spcAft>
              <a:defRPr sz="1700">
                <a:solidFill>
                  <a:srgbClr val="707682"/>
                </a:solidFill>
              </a:defRPr>
            </a:pPr>
            <a:r>
              <a:t>Baselines: ConvNeXt-T puro, FSCL+, Group DRO, Adversarial debiasing</a:t>
            </a:r>
          </a:p>
          <a:p>
            <a:pPr>
              <a:spcAft>
                <a:spcPts val="800"/>
              </a:spcAft>
              <a:defRPr sz="2000" b="0">
                <a:solidFill>
                  <a:srgbClr val="3D424E"/>
                </a:solidFill>
              </a:defRPr>
            </a:pPr>
            <a:r>
              <a:t>Etapa 5 — Aplicar pipeline idêntico em reconhecimento facial (RFW ou BFW)</a:t>
            </a:r>
          </a:p>
          <a:p>
            <a:pPr lvl="1">
              <a:spcAft>
                <a:spcPts val="800"/>
              </a:spcAft>
              <a:defRPr sz="1700">
                <a:solidFill>
                  <a:srgbClr val="707682"/>
                </a:solidFill>
              </a:defRPr>
            </a:pPr>
            <a:r>
              <a:t>Verificar transferência da propriedade fair</a:t>
            </a:r>
          </a:p>
          <a:p>
            <a:pPr>
              <a:spcAft>
                <a:spcPts val="800"/>
              </a:spcAft>
              <a:defRPr sz="2000" b="0">
                <a:solidFill>
                  <a:srgbClr val="3D424E"/>
                </a:solidFill>
              </a:defRPr>
            </a:pPr>
            <a:r>
              <a:t>Etapa 6 — Medir se Black/African melhora especificamente</a:t>
            </a:r>
          </a:p>
          <a:p>
            <a:pPr lvl="1">
              <a:spcAft>
                <a:spcPts val="800"/>
              </a:spcAft>
              <a:defRPr sz="1700">
                <a:solidFill>
                  <a:srgbClr val="707682"/>
                </a:solidFill>
              </a:defRPr>
            </a:pPr>
            <a:r>
              <a:t>Métrica: TAR @ FAR fixo por raça</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Etapas 1, 4 e 5 reforçadas pela Rodada 6 (SkinToneNet, Adversarial debiasing, fair transfer empírico)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As métricas que vamos reportar — todas públicas e estabelecidas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F1 macro — média das pontuações nas 7 raças, tratando todas igualmente</a:t>
            </a:r>
          </a:p>
          <a:p>
            <a:pPr lvl="1">
              <a:spcAft>
                <a:spcPts val="800"/>
              </a:spcAft>
              <a:defRPr sz="1700">
                <a:solidFill>
                  <a:srgbClr val="707682"/>
                </a:solidFill>
              </a:defRPr>
            </a:pPr>
            <a:r>
              <a:t>Referência: van Rijsbergen 1979 (livro Information Retrieval). Implementação: sklearn.metrics.f1_score(average='macro').</a:t>
            </a:r>
          </a:p>
          <a:p>
            <a:pPr lvl="1">
              <a:spcAft>
                <a:spcPts val="800"/>
              </a:spcAft>
              <a:defRPr sz="1700">
                <a:solidFill>
                  <a:srgbClr val="707682"/>
                </a:solidFill>
              </a:defRPr>
            </a:pPr>
            <a:r>
              <a:t>Quanto maior, melhor. SOTA atual = 75% (FaceScanPaliGemma).</a:t>
            </a:r>
          </a:p>
          <a:p>
            <a:pPr>
              <a:spcAft>
                <a:spcPts val="800"/>
              </a:spcAft>
              <a:defRPr sz="2000" b="0">
                <a:solidFill>
                  <a:srgbClr val="3D424E"/>
                </a:solidFill>
              </a:defRPr>
            </a:pPr>
          </a:p>
          <a:p>
            <a:pPr>
              <a:spcAft>
                <a:spcPts val="800"/>
              </a:spcAft>
              <a:defRPr sz="2000" b="0">
                <a:solidFill>
                  <a:srgbClr val="3D424E"/>
                </a:solidFill>
              </a:defRPr>
            </a:pPr>
            <a:r>
              <a:t>DR (Disparity Ratio) — razão entre a melhor e a pior raça</a:t>
            </a:r>
          </a:p>
          <a:p>
            <a:pPr lvl="1">
              <a:spcAft>
                <a:spcPts val="800"/>
              </a:spcAft>
              <a:defRPr sz="1700">
                <a:solidFill>
                  <a:srgbClr val="707682"/>
                </a:solidFill>
              </a:defRPr>
            </a:pPr>
            <a:r>
              <a:t>Referência: Hardt, Price &amp; Srebro 2016 (NeurIPS) — Equal Opportunity / Equalized Odds.</a:t>
            </a:r>
          </a:p>
          <a:p>
            <a:pPr lvl="1">
              <a:spcAft>
                <a:spcPts val="800"/>
              </a:spcAft>
              <a:defRPr sz="1700">
                <a:solidFill>
                  <a:srgbClr val="707682"/>
                </a:solidFill>
              </a:defRPr>
            </a:pPr>
            <a:r>
              <a:t>Quanto mais perto de 1.0, mais justo. Latinx vs Black atualmente = 60% / 90% = 0.67.</a:t>
            </a:r>
          </a:p>
          <a:p>
            <a:pPr>
              <a:spcAft>
                <a:spcPts val="800"/>
              </a:spcAft>
              <a:defRPr sz="2000" b="0">
                <a:solidFill>
                  <a:srgbClr val="3D424E"/>
                </a:solidFill>
              </a:defRPr>
            </a:pPr>
          </a:p>
          <a:p>
            <a:pPr>
              <a:spcAft>
                <a:spcPts val="800"/>
              </a:spcAft>
              <a:defRPr sz="2000" b="0">
                <a:solidFill>
                  <a:srgbClr val="3D424E"/>
                </a:solidFill>
              </a:defRPr>
            </a:pPr>
            <a:r>
              <a:t>Worst-class F1 — pontuação na raça em que o modelo se sai pior</a:t>
            </a:r>
          </a:p>
          <a:p>
            <a:pPr lvl="1">
              <a:spcAft>
                <a:spcPts val="800"/>
              </a:spcAft>
              <a:defRPr sz="1700">
                <a:solidFill>
                  <a:srgbClr val="707682"/>
                </a:solidFill>
              </a:defRPr>
            </a:pPr>
            <a:r>
              <a:t>Referência: Sagawa et al. 2020 (ICLR) — Group DRO. Métrica = min_g F1(g).</a:t>
            </a:r>
          </a:p>
          <a:p>
            <a:pPr lvl="1">
              <a:spcAft>
                <a:spcPts val="800"/>
              </a:spcAft>
              <a:defRPr sz="1700">
                <a:solidFill>
                  <a:srgbClr val="707682"/>
                </a:solidFill>
              </a:defRPr>
            </a:pPr>
            <a:r>
              <a:t>Atualmente = 60% (Latinx). Quanto maior, melhor o pior caso.</a:t>
            </a:r>
          </a:p>
          <a:p>
            <a:pPr>
              <a:spcAft>
                <a:spcPts val="800"/>
              </a:spcAft>
              <a:defRPr sz="2000" b="0">
                <a:solidFill>
                  <a:srgbClr val="3D424E"/>
                </a:solidFill>
              </a:defRPr>
            </a:pPr>
          </a:p>
          <a:p>
            <a:pPr>
              <a:spcAft>
                <a:spcPts val="800"/>
              </a:spcAft>
              <a:defRPr sz="2000" b="0">
                <a:solidFill>
                  <a:srgbClr val="3D424E"/>
                </a:solidFill>
              </a:defRPr>
            </a:pPr>
            <a:r>
              <a:t>Por que 3 métricas e não uma?</a:t>
            </a:r>
          </a:p>
          <a:p>
            <a:pPr lvl="1">
              <a:spcAft>
                <a:spcPts val="800"/>
              </a:spcAft>
              <a:defRPr sz="1700">
                <a:solidFill>
                  <a:srgbClr val="707682"/>
                </a:solidFill>
              </a:defRPr>
            </a:pPr>
            <a:r>
              <a:t>Teorema da impossibilidade (Kleinberg, Mullainathan &amp; Raghavan 2017, ITCS): não existe métrica única de fairness — reportar as 3 é forma honesta de comunicar trade-offs.</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Todas as 3 métricas + teorema da impossibilidade já têm ficha catalogada no corpus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As 5 hipóteses que vamos testar (na forma de perguntas)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a:t>
                      </a:r>
                    </a:p>
                  </a:txBody>
                  <a:tcPr>
                    <a:solidFill>
                      <a:srgbClr val="1F2A4E"/>
                    </a:solidFill>
                  </a:tcPr>
                </a:tc>
                <a:tc>
                  <a:txBody>
                    <a:bodyPr/>
                    <a:lstStyle/>
                    <a:p>
                      <a:r>
                        <a:rPr b="1" sz="1600">
                          <a:solidFill>
                            <a:srgbClr val="FFFFFF"/>
                          </a:solidFill>
                        </a:rPr>
                        <a:t>Pergunta</a:t>
                      </a:r>
                    </a:p>
                  </a:txBody>
                  <a:tcPr>
                    <a:solidFill>
                      <a:srgbClr val="1F2A4E"/>
                    </a:solidFill>
                  </a:tcPr>
                </a:tc>
                <a:tc>
                  <a:txBody>
                    <a:bodyPr/>
                    <a:lstStyle/>
                    <a:p>
                      <a:r>
                        <a:rPr b="1" sz="1600">
                          <a:solidFill>
                            <a:srgbClr val="FFFFFF"/>
                          </a:solidFill>
                        </a:rPr>
                        <a:t>Como saberemos se SIM</a:t>
                      </a:r>
                    </a:p>
                  </a:txBody>
                  <a:tcPr>
                    <a:solidFill>
                      <a:srgbClr val="1F2A4E"/>
                    </a:solidFill>
                  </a:tcPr>
                </a:tc>
              </a:tr>
              <a:tr h="822960">
                <a:tc>
                  <a:txBody>
                    <a:bodyPr/>
                    <a:lstStyle/>
                    <a:p>
                      <a:r>
                        <a:rPr sz="1500">
                          <a:solidFill>
                            <a:srgbClr val="3D424E"/>
                          </a:solidFill>
                        </a:rPr>
                        <a:t>H1</a:t>
                      </a:r>
                    </a:p>
                  </a:txBody>
                  <a:tcPr>
                    <a:solidFill>
                      <a:srgbClr val="FFFFFF"/>
                    </a:solidFill>
                  </a:tcPr>
                </a:tc>
                <a:tc>
                  <a:txBody>
                    <a:bodyPr/>
                    <a:lstStyle/>
                    <a:p>
                      <a:r>
                        <a:rPr sz="1500">
                          <a:solidFill>
                            <a:srgbClr val="3D424E"/>
                          </a:solidFill>
                        </a:rPr>
                        <a:t>O pipeline com tom de pele melhora fairness em classificação?</a:t>
                      </a:r>
                    </a:p>
                  </a:txBody>
                  <a:tcPr>
                    <a:solidFill>
                      <a:srgbClr val="FFFFFF"/>
                    </a:solidFill>
                  </a:tcPr>
                </a:tc>
                <a:tc>
                  <a:txBody>
                    <a:bodyPr/>
                    <a:lstStyle/>
                    <a:p>
                      <a:r>
                        <a:rPr sz="1500">
                          <a:solidFill>
                            <a:srgbClr val="3D424E"/>
                          </a:solidFill>
                        </a:rPr>
                        <a:t>F1 sobe ≥+2pp E DR cai ≥20% vs ResNet-34</a:t>
                      </a:r>
                    </a:p>
                  </a:txBody>
                  <a:tcPr>
                    <a:solidFill>
                      <a:srgbClr val="FFFFFF"/>
                    </a:solidFill>
                  </a:tcPr>
                </a:tc>
              </a:tr>
              <a:tr h="822960">
                <a:tc>
                  <a:txBody>
                    <a:bodyPr/>
                    <a:lstStyle/>
                    <a:p>
                      <a:r>
                        <a:rPr sz="1500">
                          <a:solidFill>
                            <a:srgbClr val="3D424E"/>
                          </a:solidFill>
                        </a:rPr>
                        <a:t>H2</a:t>
                      </a:r>
                    </a:p>
                  </a:txBody>
                  <a:tcPr>
                    <a:solidFill>
                      <a:srgbClr val="E8EAED"/>
                    </a:solidFill>
                  </a:tcPr>
                </a:tc>
                <a:tc>
                  <a:txBody>
                    <a:bodyPr/>
                    <a:lstStyle/>
                    <a:p>
                      <a:r>
                        <a:rPr sz="1500">
                          <a:solidFill>
                            <a:srgbClr val="3D424E"/>
                          </a:solidFill>
                        </a:rPr>
                        <a:t>Trocar a rede (ResNet-34 → ConvNeXt-T) por si só ajuda Latinx?</a:t>
                      </a:r>
                    </a:p>
                  </a:txBody>
                  <a:tcPr>
                    <a:solidFill>
                      <a:srgbClr val="E8EAED"/>
                    </a:solidFill>
                  </a:tcPr>
                </a:tc>
                <a:tc>
                  <a:txBody>
                    <a:bodyPr/>
                    <a:lstStyle/>
                    <a:p>
                      <a:r>
                        <a:rPr sz="1500">
                          <a:solidFill>
                            <a:srgbClr val="3D424E"/>
                          </a:solidFill>
                        </a:rPr>
                        <a:t>Latinx permanece em ≈60% (não muda)</a:t>
                      </a:r>
                    </a:p>
                  </a:txBody>
                  <a:tcPr>
                    <a:solidFill>
                      <a:srgbClr val="E8EAED"/>
                    </a:solidFill>
                  </a:tcPr>
                </a:tc>
              </a:tr>
              <a:tr h="822960">
                <a:tc>
                  <a:txBody>
                    <a:bodyPr/>
                    <a:lstStyle/>
                    <a:p>
                      <a:r>
                        <a:rPr sz="1500">
                          <a:solidFill>
                            <a:srgbClr val="3D424E"/>
                          </a:solidFill>
                        </a:rPr>
                        <a:t>H3</a:t>
                      </a:r>
                    </a:p>
                  </a:txBody>
                  <a:tcPr>
                    <a:solidFill>
                      <a:srgbClr val="FFFFFF"/>
                    </a:solidFill>
                  </a:tcPr>
                </a:tc>
                <a:tc>
                  <a:txBody>
                    <a:bodyPr/>
                    <a:lstStyle/>
                    <a:p>
                      <a:r>
                        <a:rPr sz="1500">
                          <a:solidFill>
                            <a:srgbClr val="3D424E"/>
                          </a:solidFill>
                        </a:rPr>
                        <a:t>Latinx tem tom de pele espalhado em várias categorias?</a:t>
                      </a:r>
                    </a:p>
                  </a:txBody>
                  <a:tcPr>
                    <a:solidFill>
                      <a:srgbClr val="FFFFFF"/>
                    </a:solidFill>
                  </a:tcPr>
                </a:tc>
                <a:tc>
                  <a:txBody>
                    <a:bodyPr/>
                    <a:lstStyle/>
                    <a:p>
                      <a:r>
                        <a:rPr sz="1500">
                          <a:solidFill>
                            <a:srgbClr val="3D424E"/>
                          </a:solidFill>
                        </a:rPr>
                        <a:t>Spread cobre ≥5 das 10 categorias MST</a:t>
                      </a:r>
                    </a:p>
                  </a:txBody>
                  <a:tcPr>
                    <a:solidFill>
                      <a:srgbClr val="FFFFFF"/>
                    </a:solidFill>
                  </a:tcPr>
                </a:tc>
              </a:tr>
              <a:tr h="822960">
                <a:tc>
                  <a:txBody>
                    <a:bodyPr/>
                    <a:lstStyle/>
                    <a:p>
                      <a:r>
                        <a:rPr sz="1500">
                          <a:solidFill>
                            <a:srgbClr val="3D424E"/>
                          </a:solidFill>
                        </a:rPr>
                        <a:t>H4</a:t>
                      </a:r>
                    </a:p>
                  </a:txBody>
                  <a:tcPr>
                    <a:solidFill>
                      <a:srgbClr val="E8EAED"/>
                    </a:solidFill>
                  </a:tcPr>
                </a:tc>
                <a:tc>
                  <a:txBody>
                    <a:bodyPr/>
                    <a:lstStyle/>
                    <a:p>
                      <a:r>
                        <a:rPr sz="1500">
                          <a:solidFill>
                            <a:srgbClr val="3D424E"/>
                          </a:solidFill>
                        </a:rPr>
                        <a:t>A maior parte dos erros do Latinx é por sobreposição de tom?</a:t>
                      </a:r>
                    </a:p>
                  </a:txBody>
                  <a:tcPr>
                    <a:solidFill>
                      <a:srgbClr val="E8EAED"/>
                    </a:solidFill>
                  </a:tcPr>
                </a:tc>
                <a:tc>
                  <a:txBody>
                    <a:bodyPr/>
                    <a:lstStyle/>
                    <a:p>
                      <a:r>
                        <a:rPr sz="1500">
                          <a:solidFill>
                            <a:srgbClr val="3D424E"/>
                          </a:solidFill>
                        </a:rPr>
                        <a:t>≥50% dos erros estão em zonas de overlap</a:t>
                      </a:r>
                    </a:p>
                  </a:txBody>
                  <a:tcPr>
                    <a:solidFill>
                      <a:srgbClr val="E8EAED"/>
                    </a:solidFill>
                  </a:tcPr>
                </a:tc>
              </a:tr>
              <a:tr h="822960">
                <a:tc>
                  <a:txBody>
                    <a:bodyPr/>
                    <a:lstStyle/>
                    <a:p>
                      <a:r>
                        <a:rPr sz="1500">
                          <a:solidFill>
                            <a:srgbClr val="3D424E"/>
                          </a:solidFill>
                        </a:rPr>
                        <a:t>H5</a:t>
                      </a:r>
                    </a:p>
                  </a:txBody>
                  <a:tcPr>
                    <a:solidFill>
                      <a:srgbClr val="FFFFFF"/>
                    </a:solidFill>
                  </a:tcPr>
                </a:tc>
                <a:tc>
                  <a:txBody>
                    <a:bodyPr/>
                    <a:lstStyle/>
                    <a:p>
                      <a:r>
                        <a:rPr sz="1500">
                          <a:solidFill>
                            <a:srgbClr val="3D424E"/>
                          </a:solidFill>
                        </a:rPr>
                        <a:t>A melhoria transfere para reconhecimento facial?</a:t>
                      </a:r>
                    </a:p>
                  </a:txBody>
                  <a:tcPr>
                    <a:solidFill>
                      <a:srgbClr val="FFFFFF"/>
                    </a:solidFill>
                  </a:tcPr>
                </a:tc>
                <a:tc>
                  <a:txBody>
                    <a:bodyPr/>
                    <a:lstStyle/>
                    <a:p>
                      <a:r>
                        <a:rPr sz="1500">
                          <a:solidFill>
                            <a:srgbClr val="3D424E"/>
                          </a:solidFill>
                        </a:rPr>
                        <a:t>Black/African melhora ≥+3pp em RFW ou BFW</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H5 em revisão após Pangelinan 2023 (Rodada 6): pixel info pode ser confounder — discussão na pauta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4</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Próximos passos</a:t>
            </a:r>
          </a:p>
          <a:p>
            <a:pPr>
              <a:defRPr sz="2000">
                <a:solidFill>
                  <a:srgbClr val="E8EAED"/>
                </a:solidFill>
              </a:defRPr>
            </a:pPr>
            <a:r>
              <a:t>Plano experimental e calendário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Cronograma estimado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493776">
                <a:tc>
                  <a:txBody>
                    <a:bodyPr/>
                    <a:lstStyle/>
                    <a:p>
                      <a:r>
                        <a:rPr b="1" sz="1600">
                          <a:solidFill>
                            <a:srgbClr val="FFFFFF"/>
                          </a:solidFill>
                        </a:rPr>
                        <a:t>Fase</a:t>
                      </a:r>
                    </a:p>
                  </a:txBody>
                  <a:tcPr>
                    <a:solidFill>
                      <a:srgbClr val="1F2A4E"/>
                    </a:solidFill>
                  </a:tcPr>
                </a:tc>
                <a:tc>
                  <a:txBody>
                    <a:bodyPr/>
                    <a:lstStyle/>
                    <a:p>
                      <a:r>
                        <a:rPr b="1" sz="1600">
                          <a:solidFill>
                            <a:srgbClr val="FFFFFF"/>
                          </a:solidFill>
                        </a:rPr>
                        <a:t>Duração</a:t>
                      </a:r>
                    </a:p>
                  </a:txBody>
                  <a:tcPr>
                    <a:solidFill>
                      <a:srgbClr val="1F2A4E"/>
                    </a:solidFill>
                  </a:tcPr>
                </a:tc>
                <a:tc>
                  <a:txBody>
                    <a:bodyPr/>
                    <a:lstStyle/>
                    <a:p>
                      <a:r>
                        <a:rPr b="1" sz="1600">
                          <a:solidFill>
                            <a:srgbClr val="FFFFFF"/>
                          </a:solidFill>
                        </a:rPr>
                        <a:t>O que será entregue</a:t>
                      </a:r>
                    </a:p>
                  </a:txBody>
                  <a:tcPr>
                    <a:solidFill>
                      <a:srgbClr val="1F2A4E"/>
                    </a:solidFill>
                  </a:tcPr>
                </a:tc>
              </a:tr>
              <a:tr h="493776">
                <a:tc>
                  <a:txBody>
                    <a:bodyPr/>
                    <a:lstStyle/>
                    <a:p>
                      <a:r>
                        <a:rPr sz="1500">
                          <a:solidFill>
                            <a:srgbClr val="3D424E"/>
                          </a:solidFill>
                        </a:rPr>
                        <a:t>Aprovação conjunta da nova versão da tese</a:t>
                      </a:r>
                    </a:p>
                  </a:txBody>
                  <a:tcPr>
                    <a:solidFill>
                      <a:srgbClr val="FFFFFF"/>
                    </a:solidFill>
                  </a:tcPr>
                </a:tc>
                <a:tc>
                  <a:txBody>
                    <a:bodyPr/>
                    <a:lstStyle/>
                    <a:p>
                      <a:r>
                        <a:rPr sz="1500">
                          <a:solidFill>
                            <a:srgbClr val="3D424E"/>
                          </a:solidFill>
                        </a:rPr>
                        <a:t>Esta reunião</a:t>
                      </a:r>
                    </a:p>
                  </a:txBody>
                  <a:tcPr>
                    <a:solidFill>
                      <a:srgbClr val="FFFFFF"/>
                    </a:solidFill>
                  </a:tcPr>
                </a:tc>
                <a:tc>
                  <a:txBody>
                    <a:bodyPr/>
                    <a:lstStyle/>
                    <a:p>
                      <a:r>
                        <a:rPr sz="1500">
                          <a:solidFill>
                            <a:srgbClr val="3D424E"/>
                          </a:solidFill>
                        </a:rPr>
                        <a:t>Ajustes na tese se necessário</a:t>
                      </a:r>
                    </a:p>
                  </a:txBody>
                  <a:tcPr>
                    <a:solidFill>
                      <a:srgbClr val="FFFFFF"/>
                    </a:solidFill>
                  </a:tcPr>
                </a:tc>
              </a:tr>
              <a:tr h="493776">
                <a:tc>
                  <a:txBody>
                    <a:bodyPr/>
                    <a:lstStyle/>
                    <a:p>
                      <a:r>
                        <a:rPr sz="1500">
                          <a:solidFill>
                            <a:srgbClr val="3D424E"/>
                          </a:solidFill>
                        </a:rPr>
                        <a:t>Submissão para qualificação</a:t>
                      </a:r>
                    </a:p>
                  </a:txBody>
                  <a:tcPr>
                    <a:solidFill>
                      <a:srgbClr val="E8EAED"/>
                    </a:solidFill>
                  </a:tcPr>
                </a:tc>
                <a:tc>
                  <a:txBody>
                    <a:bodyPr/>
                    <a:lstStyle/>
                    <a:p>
                      <a:r>
                        <a:rPr sz="1500">
                          <a:solidFill>
                            <a:srgbClr val="3D424E"/>
                          </a:solidFill>
                        </a:rPr>
                        <a:t>+2 semanas após aprovação</a:t>
                      </a:r>
                    </a:p>
                  </a:txBody>
                  <a:tcPr>
                    <a:solidFill>
                      <a:srgbClr val="E8EAED"/>
                    </a:solidFill>
                  </a:tcPr>
                </a:tc>
                <a:tc>
                  <a:txBody>
                    <a:bodyPr/>
                    <a:lstStyle/>
                    <a:p>
                      <a:r>
                        <a:rPr sz="1500">
                          <a:solidFill>
                            <a:srgbClr val="3D424E"/>
                          </a:solidFill>
                        </a:rPr>
                        <a:t>Documento de qualificação ao programa</a:t>
                      </a:r>
                    </a:p>
                  </a:txBody>
                  <a:tcPr>
                    <a:solidFill>
                      <a:srgbClr val="E8EAED"/>
                    </a:solidFill>
                  </a:tcPr>
                </a:tc>
              </a:tr>
              <a:tr h="493776">
                <a:tc>
                  <a:txBody>
                    <a:bodyPr/>
                    <a:lstStyle/>
                    <a:p>
                      <a:r>
                        <a:rPr sz="1500">
                          <a:solidFill>
                            <a:srgbClr val="3D424E"/>
                          </a:solidFill>
                        </a:rPr>
                        <a:t>Setup metodológico</a:t>
                      </a:r>
                    </a:p>
                  </a:txBody>
                  <a:tcPr>
                    <a:solidFill>
                      <a:srgbClr val="FFFFFF"/>
                    </a:solidFill>
                  </a:tcPr>
                </a:tc>
                <a:tc>
                  <a:txBody>
                    <a:bodyPr/>
                    <a:lstStyle/>
                    <a:p>
                      <a:r>
                        <a:rPr sz="1500">
                          <a:solidFill>
                            <a:srgbClr val="3D424E"/>
                          </a:solidFill>
                        </a:rPr>
                        <a:t>2 semanas</a:t>
                      </a:r>
                    </a:p>
                  </a:txBody>
                  <a:tcPr>
                    <a:solidFill>
                      <a:srgbClr val="FFFFFF"/>
                    </a:solidFill>
                  </a:tcPr>
                </a:tc>
                <a:tc>
                  <a:txBody>
                    <a:bodyPr/>
                    <a:lstStyle/>
                    <a:p>
                      <a:r>
                        <a:rPr sz="1500">
                          <a:solidFill>
                            <a:srgbClr val="3D424E"/>
                          </a:solidFill>
                        </a:rPr>
                        <a:t>Documentos com especificações detalhadas</a:t>
                      </a:r>
                    </a:p>
                  </a:txBody>
                  <a:tcPr>
                    <a:solidFill>
                      <a:srgbClr val="FFFFFF"/>
                    </a:solidFill>
                  </a:tcPr>
                </a:tc>
              </a:tr>
              <a:tr h="493776">
                <a:tc>
                  <a:txBody>
                    <a:bodyPr/>
                    <a:lstStyle/>
                    <a:p>
                      <a:r>
                        <a:rPr sz="1500">
                          <a:solidFill>
                            <a:srgbClr val="3D424E"/>
                          </a:solidFill>
                        </a:rPr>
                        <a:t>Capítulo 1 — Classificador MST + matriz</a:t>
                      </a:r>
                    </a:p>
                  </a:txBody>
                  <a:tcPr>
                    <a:solidFill>
                      <a:srgbClr val="E8EAED"/>
                    </a:solidFill>
                  </a:tcPr>
                </a:tc>
                <a:tc>
                  <a:txBody>
                    <a:bodyPr/>
                    <a:lstStyle/>
                    <a:p>
                      <a:r>
                        <a:rPr sz="1500">
                          <a:solidFill>
                            <a:srgbClr val="3D424E"/>
                          </a:solidFill>
                        </a:rPr>
                        <a:t>4 semanas</a:t>
                      </a:r>
                    </a:p>
                  </a:txBody>
                  <a:tcPr>
                    <a:solidFill>
                      <a:srgbClr val="E8EAED"/>
                    </a:solidFill>
                  </a:tcPr>
                </a:tc>
                <a:tc>
                  <a:txBody>
                    <a:bodyPr/>
                    <a:lstStyle/>
                    <a:p>
                      <a:r>
                        <a:rPr sz="1500">
                          <a:solidFill>
                            <a:srgbClr val="3D424E"/>
                          </a:solidFill>
                        </a:rPr>
                        <a:t>Resultado de H3</a:t>
                      </a:r>
                    </a:p>
                  </a:txBody>
                  <a:tcPr>
                    <a:solidFill>
                      <a:srgbClr val="E8EAED"/>
                    </a:solidFill>
                  </a:tcPr>
                </a:tc>
              </a:tr>
              <a:tr h="493776">
                <a:tc>
                  <a:txBody>
                    <a:bodyPr/>
                    <a:lstStyle/>
                    <a:p>
                      <a:r>
                        <a:rPr sz="1500">
                          <a:solidFill>
                            <a:srgbClr val="3D424E"/>
                          </a:solidFill>
                        </a:rPr>
                        <a:t>Capítulo 2 — Race + condicionamento</a:t>
                      </a:r>
                    </a:p>
                  </a:txBody>
                  <a:tcPr>
                    <a:solidFill>
                      <a:srgbClr val="FFFFFF"/>
                    </a:solidFill>
                  </a:tcPr>
                </a:tc>
                <a:tc>
                  <a:txBody>
                    <a:bodyPr/>
                    <a:lstStyle/>
                    <a:p>
                      <a:r>
                        <a:rPr sz="1500">
                          <a:solidFill>
                            <a:srgbClr val="3D424E"/>
                          </a:solidFill>
                        </a:rPr>
                        <a:t>10–12 semanas</a:t>
                      </a:r>
                    </a:p>
                  </a:txBody>
                  <a:tcPr>
                    <a:solidFill>
                      <a:srgbClr val="FFFFFF"/>
                    </a:solidFill>
                  </a:tcPr>
                </a:tc>
                <a:tc>
                  <a:txBody>
                    <a:bodyPr/>
                    <a:lstStyle/>
                    <a:p>
                      <a:r>
                        <a:rPr sz="1500">
                          <a:solidFill>
                            <a:srgbClr val="3D424E"/>
                          </a:solidFill>
                        </a:rPr>
                        <a:t>Resultados de H1, H2, H4</a:t>
                      </a:r>
                    </a:p>
                  </a:txBody>
                  <a:tcPr>
                    <a:solidFill>
                      <a:srgbClr val="FFFFFF"/>
                    </a:solidFill>
                  </a:tcPr>
                </a:tc>
              </a:tr>
              <a:tr h="493776">
                <a:tc>
                  <a:txBody>
                    <a:bodyPr/>
                    <a:lstStyle/>
                    <a:p>
                      <a:r>
                        <a:rPr sz="1500">
                          <a:solidFill>
                            <a:srgbClr val="3D424E"/>
                          </a:solidFill>
                        </a:rPr>
                        <a:t>Capítulo 3 — Face recognition</a:t>
                      </a:r>
                    </a:p>
                  </a:txBody>
                  <a:tcPr>
                    <a:solidFill>
                      <a:srgbClr val="E8EAED"/>
                    </a:solidFill>
                  </a:tcPr>
                </a:tc>
                <a:tc>
                  <a:txBody>
                    <a:bodyPr/>
                    <a:lstStyle/>
                    <a:p>
                      <a:r>
                        <a:rPr sz="1500">
                          <a:solidFill>
                            <a:srgbClr val="3D424E"/>
                          </a:solidFill>
                        </a:rPr>
                        <a:t>6 semanas</a:t>
                      </a:r>
                    </a:p>
                  </a:txBody>
                  <a:tcPr>
                    <a:solidFill>
                      <a:srgbClr val="E8EAED"/>
                    </a:solidFill>
                  </a:tcPr>
                </a:tc>
                <a:tc>
                  <a:txBody>
                    <a:bodyPr/>
                    <a:lstStyle/>
                    <a:p>
                      <a:r>
                        <a:rPr sz="1500">
                          <a:solidFill>
                            <a:srgbClr val="3D424E"/>
                          </a:solidFill>
                        </a:rPr>
                        <a:t>Resultado de H5</a:t>
                      </a:r>
                    </a:p>
                  </a:txBody>
                  <a:tcPr>
                    <a:solidFill>
                      <a:srgbClr val="E8EAED"/>
                    </a:solidFill>
                  </a:tcPr>
                </a:tc>
              </a:tr>
              <a:tr h="493776">
                <a:tc>
                  <a:txBody>
                    <a:bodyPr/>
                    <a:lstStyle/>
                    <a:p>
                      <a:r>
                        <a:rPr sz="1500">
                          <a:solidFill>
                            <a:srgbClr val="3D424E"/>
                          </a:solidFill>
                        </a:rPr>
                        <a:t>Síntese final</a:t>
                      </a:r>
                    </a:p>
                  </a:txBody>
                  <a:tcPr>
                    <a:solidFill>
                      <a:srgbClr val="FFFFFF"/>
                    </a:solidFill>
                  </a:tcPr>
                </a:tc>
                <a:tc>
                  <a:txBody>
                    <a:bodyPr/>
                    <a:lstStyle/>
                    <a:p>
                      <a:r>
                        <a:rPr sz="1500">
                          <a:solidFill>
                            <a:srgbClr val="3D424E"/>
                          </a:solidFill>
                        </a:rPr>
                        <a:t>4 semanas</a:t>
                      </a:r>
                    </a:p>
                  </a:txBody>
                  <a:tcPr>
                    <a:solidFill>
                      <a:srgbClr val="FFFFFF"/>
                    </a:solidFill>
                  </a:tcPr>
                </a:tc>
                <a:tc>
                  <a:txBody>
                    <a:bodyPr/>
                    <a:lstStyle/>
                    <a:p>
                      <a:r>
                        <a:rPr sz="1500">
                          <a:solidFill>
                            <a:srgbClr val="3D424E"/>
                          </a:solidFill>
                        </a:rPr>
                        <a:t>Decomposição do erro Latinx</a:t>
                      </a:r>
                    </a:p>
                  </a:txBody>
                  <a:tcPr>
                    <a:solidFill>
                      <a:srgbClr val="FFFFFF"/>
                    </a:solidFill>
                  </a:tcPr>
                </a:tc>
              </a:tr>
              <a:tr h="493776">
                <a:tc>
                  <a:txBody>
                    <a:bodyPr/>
                    <a:lstStyle/>
                    <a:p>
                      <a:r>
                        <a:rPr sz="1500">
                          <a:solidFill>
                            <a:srgbClr val="3D424E"/>
                          </a:solidFill>
                        </a:rPr>
                        <a:t>Escrita dos capítulos</a:t>
                      </a:r>
                    </a:p>
                  </a:txBody>
                  <a:tcPr>
                    <a:solidFill>
                      <a:srgbClr val="E8EAED"/>
                    </a:solidFill>
                  </a:tcPr>
                </a:tc>
                <a:tc>
                  <a:txBody>
                    <a:bodyPr/>
                    <a:lstStyle/>
                    <a:p>
                      <a:r>
                        <a:rPr sz="1500">
                          <a:solidFill>
                            <a:srgbClr val="3D424E"/>
                          </a:solidFill>
                        </a:rPr>
                        <a:t>8–12 semanas (paralelo)</a:t>
                      </a:r>
                    </a:p>
                  </a:txBody>
                  <a:tcPr>
                    <a:solidFill>
                      <a:srgbClr val="E8EAED"/>
                    </a:solidFill>
                  </a:tcPr>
                </a:tc>
                <a:tc>
                  <a:txBody>
                    <a:bodyPr/>
                    <a:lstStyle/>
                    <a:p>
                      <a:r>
                        <a:rPr sz="1500">
                          <a:solidFill>
                            <a:srgbClr val="3D424E"/>
                          </a:solidFill>
                        </a:rPr>
                        <a:t>Texto final da dissertação</a:t>
                      </a:r>
                    </a:p>
                  </a:txBody>
                  <a:tcPr>
                    <a:solidFill>
                      <a:srgbClr val="E8EAED"/>
                    </a:solidFill>
                  </a:tcPr>
                </a:tc>
              </a:tr>
              <a:tr h="493776">
                <a:tc>
                  <a:txBody>
                    <a:bodyPr/>
                    <a:lstStyle/>
                    <a:p>
                      <a:r>
                        <a:rPr sz="1500">
                          <a:solidFill>
                            <a:srgbClr val="3D424E"/>
                          </a:solidFill>
                        </a:rPr>
                        <a:t>Defesa prevista</a:t>
                      </a:r>
                    </a:p>
                  </a:txBody>
                  <a:tcPr>
                    <a:solidFill>
                      <a:srgbClr val="FFFFFF"/>
                    </a:solidFill>
                  </a:tcPr>
                </a:tc>
                <a:tc>
                  <a:txBody>
                    <a:bodyPr/>
                    <a:lstStyle/>
                    <a:p>
                      <a:r>
                        <a:rPr sz="1500">
                          <a:solidFill>
                            <a:srgbClr val="3D424E"/>
                          </a:solidFill>
                        </a:rPr>
                        <a:t>~ Janeiro–Março de 2027</a:t>
                      </a:r>
                    </a:p>
                  </a:txBody>
                  <a:tcPr>
                    <a:solidFill>
                      <a:srgbClr val="FFFFFF"/>
                    </a:solidFill>
                  </a:tcPr>
                </a:tc>
                <a:tc>
                  <a:txBody>
                    <a:bodyPr/>
                    <a:lstStyle/>
                    <a:p>
                      <a:r>
                        <a:rPr sz="1500">
                          <a:solidFill>
                            <a:srgbClr val="3D424E"/>
                          </a:solidFill>
                        </a:rPr>
                        <a:t>Total: ~28–32 semanas ativas</a:t>
                      </a:r>
                    </a:p>
                  </a:txBody>
                  <a:tcP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3 capítulos experimentais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Capítulo 1 — Construir o classificador de tom</a:t>
            </a:r>
          </a:p>
          <a:p>
            <a:pPr lvl="1">
              <a:spcAft>
                <a:spcPts val="800"/>
              </a:spcAft>
              <a:defRPr sz="1700">
                <a:solidFill>
                  <a:srgbClr val="707682"/>
                </a:solidFill>
              </a:defRPr>
            </a:pPr>
            <a:r>
              <a:t>Treinar sobre MST-E + Casual Conversations</a:t>
            </a:r>
          </a:p>
          <a:p>
            <a:pPr lvl="1">
              <a:spcAft>
                <a:spcPts val="800"/>
              </a:spcAft>
              <a:defRPr sz="1700">
                <a:solidFill>
                  <a:srgbClr val="707682"/>
                </a:solidFill>
              </a:defRPr>
            </a:pPr>
            <a:r>
              <a:t>Aplicar no FairFace e construir a matriz pública tom × raça</a:t>
            </a:r>
          </a:p>
          <a:p>
            <a:pPr lvl="1">
              <a:spcAft>
                <a:spcPts val="800"/>
              </a:spcAft>
              <a:defRPr sz="1700">
                <a:solidFill>
                  <a:srgbClr val="707682"/>
                </a:solidFill>
              </a:defRPr>
            </a:pPr>
            <a:r>
              <a:t>Testa H3 (Latinx tem spread amplo)</a:t>
            </a:r>
          </a:p>
          <a:p>
            <a:pPr>
              <a:spcAft>
                <a:spcPts val="800"/>
              </a:spcAft>
              <a:defRPr sz="2000" b="0">
                <a:solidFill>
                  <a:srgbClr val="3D424E"/>
                </a:solidFill>
              </a:defRPr>
            </a:pPr>
          </a:p>
          <a:p>
            <a:pPr>
              <a:spcAft>
                <a:spcPts val="800"/>
              </a:spcAft>
              <a:defRPr sz="2000" b="0">
                <a:solidFill>
                  <a:srgbClr val="3D424E"/>
                </a:solidFill>
              </a:defRPr>
            </a:pPr>
            <a:r>
              <a:t>Capítulo 2 — Classificador de raça com tom como contexto</a:t>
            </a:r>
          </a:p>
          <a:p>
            <a:pPr lvl="1">
              <a:spcAft>
                <a:spcPts val="800"/>
              </a:spcAft>
              <a:defRPr sz="1700">
                <a:solidFill>
                  <a:srgbClr val="707682"/>
                </a:solidFill>
              </a:defRPr>
            </a:pPr>
            <a:r>
              <a:t>Pipeline ConvNeXt-T + FiLM, comparado com 4 baselines independentes</a:t>
            </a:r>
          </a:p>
          <a:p>
            <a:pPr lvl="1">
              <a:spcAft>
                <a:spcPts val="800"/>
              </a:spcAft>
              <a:defRPr sz="1700">
                <a:solidFill>
                  <a:srgbClr val="707682"/>
                </a:solidFill>
              </a:defRPr>
            </a:pPr>
            <a:r>
              <a:t>3 seeds para significância estatística</a:t>
            </a:r>
          </a:p>
          <a:p>
            <a:pPr lvl="1">
              <a:spcAft>
                <a:spcPts val="800"/>
              </a:spcAft>
              <a:defRPr sz="1700">
                <a:solidFill>
                  <a:srgbClr val="707682"/>
                </a:solidFill>
              </a:defRPr>
            </a:pPr>
            <a:r>
              <a:t>Testa H1 (pipeline funciona), H2 (Latinx é estrutural), H4 (overlap explica erros)</a:t>
            </a:r>
          </a:p>
          <a:p>
            <a:pPr>
              <a:spcAft>
                <a:spcPts val="800"/>
              </a:spcAft>
              <a:defRPr sz="2000" b="0">
                <a:solidFill>
                  <a:srgbClr val="3D424E"/>
                </a:solidFill>
              </a:defRPr>
            </a:pPr>
          </a:p>
          <a:p>
            <a:pPr>
              <a:spcAft>
                <a:spcPts val="800"/>
              </a:spcAft>
              <a:defRPr sz="2000" b="0">
                <a:solidFill>
                  <a:srgbClr val="3D424E"/>
                </a:solidFill>
              </a:defRPr>
            </a:pPr>
            <a:r>
              <a:t>Capítulo 3 — Aplicar a reconhecimento facial</a:t>
            </a:r>
          </a:p>
          <a:p>
            <a:pPr lvl="1">
              <a:spcAft>
                <a:spcPts val="800"/>
              </a:spcAft>
              <a:defRPr sz="1700">
                <a:solidFill>
                  <a:srgbClr val="707682"/>
                </a:solidFill>
              </a:defRPr>
            </a:pPr>
            <a:r>
              <a:t>Mesmo pipeline em RFW ou BFW (datasets que já estão catalogados)</a:t>
            </a:r>
          </a:p>
          <a:p>
            <a:pPr lvl="1">
              <a:spcAft>
                <a:spcPts val="800"/>
              </a:spcAft>
              <a:defRPr sz="1700">
                <a:solidFill>
                  <a:srgbClr val="707682"/>
                </a:solidFill>
              </a:defRPr>
            </a:pPr>
            <a:r>
              <a:t>Foco em accuracy de Black/African</a:t>
            </a:r>
          </a:p>
          <a:p>
            <a:pPr lvl="1">
              <a:spcAft>
                <a:spcPts val="800"/>
              </a:spcAft>
              <a:defRPr sz="1700">
                <a:solidFill>
                  <a:srgbClr val="707682"/>
                </a:solidFill>
              </a:defRPr>
            </a:pPr>
            <a:r>
              <a:t>Testa H5 (fair transferência funciona)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precisamos decidir nesta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Aprovação da nova versão da tese (prescritiva, pipeline integrado)?</a:t>
            </a:r>
          </a:p>
          <a:p>
            <a:pPr lvl="1">
              <a:spcAft>
                <a:spcPts val="800"/>
              </a:spcAft>
              <a:defRPr sz="1700">
                <a:solidFill>
                  <a:srgbClr val="707682"/>
                </a:solidFill>
              </a:defRPr>
            </a:pPr>
            <a:r>
              <a:t>Se aprovarmos, seguimos para o detalhamento metodológico.</a:t>
            </a:r>
          </a:p>
          <a:p>
            <a:pPr lvl="1">
              <a:spcAft>
                <a:spcPts val="800"/>
              </a:spcAft>
              <a:defRPr sz="1700">
                <a:solidFill>
                  <a:srgbClr val="707682"/>
                </a:solidFill>
              </a:defRPr>
            </a:pPr>
            <a:r>
              <a:t>Se houver ajustes, fazemos e revisamos juntos antes de prosseguir.</a:t>
            </a:r>
          </a:p>
          <a:p>
            <a:pPr>
              <a:spcAft>
                <a:spcPts val="800"/>
              </a:spcAft>
              <a:defRPr sz="2000" b="0">
                <a:solidFill>
                  <a:srgbClr val="3D424E"/>
                </a:solidFill>
              </a:defRPr>
            </a:pPr>
          </a:p>
          <a:p>
            <a:pPr>
              <a:spcAft>
                <a:spcPts val="800"/>
              </a:spcAft>
              <a:defRPr sz="2000" b="0">
                <a:solidFill>
                  <a:srgbClr val="3D424E"/>
                </a:solidFill>
              </a:defRPr>
            </a:pPr>
            <a:r>
              <a:t>2. Alguma das 5 hipóteses precisa ser reformulada?</a:t>
            </a:r>
          </a:p>
          <a:p>
            <a:pPr lvl="1">
              <a:spcAft>
                <a:spcPts val="800"/>
              </a:spcAft>
              <a:defRPr sz="1700">
                <a:solidFill>
                  <a:srgbClr val="707682"/>
                </a:solidFill>
              </a:defRPr>
            </a:pPr>
            <a:r>
              <a:t>São o esqueleto da dissertação — se uma estiver mal formulada, melhor descobrir agora.</a:t>
            </a:r>
          </a:p>
          <a:p>
            <a:pPr>
              <a:spcAft>
                <a:spcPts val="800"/>
              </a:spcAft>
              <a:defRPr sz="2000" b="0">
                <a:solidFill>
                  <a:srgbClr val="3D424E"/>
                </a:solidFill>
              </a:defRPr>
            </a:pPr>
          </a:p>
          <a:p>
            <a:pPr>
              <a:spcAft>
                <a:spcPts val="800"/>
              </a:spcAft>
              <a:defRPr sz="2000" b="0">
                <a:solidFill>
                  <a:srgbClr val="3D424E"/>
                </a:solidFill>
              </a:defRPr>
            </a:pPr>
            <a:r>
              <a:t>3. Escolha definitiva entre RFW e BFW para o Capítulo 3?</a:t>
            </a:r>
          </a:p>
          <a:p>
            <a:pPr lvl="1">
              <a:spcAft>
                <a:spcPts val="800"/>
              </a:spcAft>
              <a:defRPr sz="1700">
                <a:solidFill>
                  <a:srgbClr val="707682"/>
                </a:solidFill>
              </a:defRPr>
            </a:pPr>
            <a:r>
              <a:t>Temos preferência por RFW (mais escala, mais histórico) — precisamos validar essa escolha juntos.</a:t>
            </a:r>
          </a:p>
          <a:p>
            <a:pPr>
              <a:spcAft>
                <a:spcPts val="800"/>
              </a:spcAft>
              <a:defRPr sz="2000" b="0">
                <a:solidFill>
                  <a:srgbClr val="3D424E"/>
                </a:solidFill>
              </a:defRPr>
            </a:pPr>
          </a:p>
          <a:p>
            <a:pPr>
              <a:spcAft>
                <a:spcPts val="800"/>
              </a:spcAft>
              <a:defRPr sz="2000" b="0">
                <a:solidFill>
                  <a:srgbClr val="3D424E"/>
                </a:solidFill>
              </a:defRPr>
            </a:pPr>
            <a:r>
              <a:t>4. Alguma nova frente de literatura que ficou faltando?</a:t>
            </a:r>
          </a:p>
          <a:p>
            <a:pPr lvl="1">
              <a:spcAft>
                <a:spcPts val="800"/>
              </a:spcAft>
              <a:defRPr sz="1700">
                <a:solidFill>
                  <a:srgbClr val="707682"/>
                </a:solidFill>
              </a:defRPr>
            </a:pPr>
            <a:r>
              <a:t>Podemos fazer Rodada 6 se necessário, mas o corpus já está consistente.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32720" cy="2286000"/>
          </a:xfrm>
          <a:prstGeom prst="rect">
            <a:avLst/>
          </a:prstGeom>
          <a:noFill/>
        </p:spPr>
        <p:txBody>
          <a:bodyPr wrap="square">
            <a:spAutoFit/>
          </a:bodyPr>
          <a:lstStyle/>
          <a:p>
            <a:pPr algn="ctr">
              <a:defRPr sz="4800" b="1">
                <a:solidFill>
                  <a:srgbClr val="FFFFFF"/>
                </a:solidFill>
              </a:defRPr>
            </a:pPr>
            <a:r>
              <a:t>Discussão e feedback</a:t>
            </a:r>
          </a:p>
          <a:p>
            <a:pPr algn="ctr">
              <a:defRPr sz="2200">
                <a:solidFill>
                  <a:srgbClr val="E8EAED"/>
                </a:solidFill>
              </a:defRPr>
            </a:pPr>
            <a:r>
              <a:t>Aprovação da nova versão da tese — decidir os 4 itens acima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Slides de apoio</a:t>
            </a:r>
          </a:p>
          <a:p>
            <a:pPr>
              <a:defRPr sz="2000">
                <a:solidFill>
                  <a:srgbClr val="E8EAED"/>
                </a:solidFill>
              </a:defRPr>
            </a:pPr>
            <a:r>
              <a:t>Material complementar para consulta durante a discussão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800" b="1">
                <a:solidFill>
                  <a:srgbClr val="1F2A4E"/>
                </a:solidFill>
              </a:defRPr>
            </a:pPr>
            <a:r>
              <a:t>As 14 perguntas de pesquisa respondidas</a:t>
            </a:r>
          </a:p>
        </p:txBody>
      </p:sp>
      <p:sp>
        <p:nvSpPr>
          <p:cNvPr id="3" name="Rectangle 2"/>
          <p:cNvSpPr/>
          <p:nvPr/>
        </p:nvSpPr>
        <p:spPr>
          <a:xfrm>
            <a:off x="457200" y="109728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5577840" cy="5029200"/>
          </a:xfrm>
          <a:prstGeom prst="rect">
            <a:avLst/>
          </a:prstGeom>
          <a:noFill/>
        </p:spPr>
        <p:txBody>
          <a:bodyPr wrap="square">
            <a:spAutoFit/>
          </a:bodyPr>
          <a:lstStyle/>
          <a:p>
            <a:pPr>
              <a:spcAft>
                <a:spcPts val="600"/>
              </a:spcAft>
            </a:pPr>
            <a:r>
              <a:rPr b="1" sz="1300">
                <a:solidFill>
                  <a:srgbClr val="1F2A4E"/>
                </a:solidFill>
              </a:rPr>
              <a:t>Q01  </a:t>
            </a:r>
            <a:r>
              <a:rPr sz="1300">
                <a:solidFill>
                  <a:srgbClr val="3D424E"/>
                </a:solidFill>
              </a:rPr>
              <a:t>Existem melhores datasets para corrigir fairness em biometria facial de raças?</a:t>
            </a:r>
          </a:p>
          <a:p>
            <a:pPr>
              <a:spcAft>
                <a:spcPts val="600"/>
              </a:spcAft>
            </a:pPr>
            <a:r>
              <a:rPr b="1" sz="1300">
                <a:solidFill>
                  <a:srgbClr val="1F2A4E"/>
                </a:solidFill>
              </a:rPr>
              <a:t>Q02  </a:t>
            </a:r>
            <a:r>
              <a:rPr sz="1300">
                <a:solidFill>
                  <a:srgbClr val="3D424E"/>
                </a:solidFill>
              </a:rPr>
              <a:t>Qual o dataset mais utilizado nos estudos de fairness?</a:t>
            </a:r>
          </a:p>
          <a:p>
            <a:pPr>
              <a:spcAft>
                <a:spcPts val="600"/>
              </a:spcAft>
            </a:pPr>
            <a:r>
              <a:rPr b="1" sz="1300">
                <a:solidFill>
                  <a:srgbClr val="1F2A4E"/>
                </a:solidFill>
              </a:rPr>
              <a:t>Q03  </a:t>
            </a:r>
            <a:r>
              <a:rPr sz="1300">
                <a:solidFill>
                  <a:srgbClr val="3D424E"/>
                </a:solidFill>
              </a:rPr>
              <a:t>Qual o split oficial do FairFace e por que diferentes papers usam splits distintos?</a:t>
            </a:r>
          </a:p>
          <a:p>
            <a:pPr>
              <a:spcAft>
                <a:spcPts val="600"/>
              </a:spcAft>
            </a:pPr>
            <a:r>
              <a:rPr b="1" sz="1300">
                <a:solidFill>
                  <a:srgbClr val="1F2A4E"/>
                </a:solidFill>
              </a:rPr>
              <a:t>Q04  </a:t>
            </a:r>
            <a:r>
              <a:rPr sz="1300">
                <a:solidFill>
                  <a:srgbClr val="3D424E"/>
                </a:solidFill>
              </a:rPr>
              <a:t>Quais técnicas de mitigação algorítmica já foram testadas em FairFace race 7-class?</a:t>
            </a:r>
          </a:p>
          <a:p>
            <a:pPr>
              <a:spcAft>
                <a:spcPts val="600"/>
              </a:spcAft>
            </a:pPr>
            <a:r>
              <a:rPr b="1" sz="1300">
                <a:solidFill>
                  <a:srgbClr val="1F2A4E"/>
                </a:solidFill>
              </a:rPr>
              <a:t>Q05  </a:t>
            </a:r>
            <a:r>
              <a:rPr sz="1300">
                <a:solidFill>
                  <a:srgbClr val="3D424E"/>
                </a:solidFill>
              </a:rPr>
              <a:t>Existe consenso sobre métrica de fairness para classificação multi-classe?</a:t>
            </a:r>
          </a:p>
          <a:p>
            <a:pPr>
              <a:spcAft>
                <a:spcPts val="600"/>
              </a:spcAft>
            </a:pPr>
            <a:r>
              <a:rPr b="1" sz="1300">
                <a:solidFill>
                  <a:srgbClr val="1F2A4E"/>
                </a:solidFill>
              </a:rPr>
              <a:t>Q06  </a:t>
            </a:r>
            <a:r>
              <a:rPr sz="1300">
                <a:solidFill>
                  <a:srgbClr val="3D424E"/>
                </a:solidFill>
              </a:rPr>
              <a:t>O baseline ResNet-34 = 72% acurácia é teto da arquitetura ou da metodologia?</a:t>
            </a:r>
          </a:p>
          <a:p>
            <a:pPr>
              <a:spcAft>
                <a:spcPts val="600"/>
              </a:spcAft>
            </a:pPr>
            <a:r>
              <a:rPr b="1" sz="1300">
                <a:solidFill>
                  <a:srgbClr val="1F2A4E"/>
                </a:solidFill>
              </a:rPr>
              <a:t>Q07  </a:t>
            </a:r>
            <a:r>
              <a:rPr sz="1300">
                <a:solidFill>
                  <a:srgbClr val="3D424E"/>
                </a:solidFill>
              </a:rPr>
              <a:t>Existe pesquisa de fairness em biometria facial sem usar FairFace?</a:t>
            </a:r>
          </a:p>
        </p:txBody>
      </p:sp>
      <p:sp>
        <p:nvSpPr>
          <p:cNvPr id="5" name="TextBox 4"/>
          <p:cNvSpPr txBox="1"/>
          <p:nvPr/>
        </p:nvSpPr>
        <p:spPr>
          <a:xfrm>
            <a:off x="6263640" y="1280160"/>
            <a:ext cx="5577840" cy="5029200"/>
          </a:xfrm>
          <a:prstGeom prst="rect">
            <a:avLst/>
          </a:prstGeom>
          <a:noFill/>
        </p:spPr>
        <p:txBody>
          <a:bodyPr wrap="square">
            <a:spAutoFit/>
          </a:bodyPr>
          <a:lstStyle/>
          <a:p>
            <a:pPr>
              <a:spcAft>
                <a:spcPts val="600"/>
              </a:spcAft>
            </a:pPr>
            <a:r>
              <a:rPr b="1" sz="1300">
                <a:solidFill>
                  <a:srgbClr val="1F2A4E"/>
                </a:solidFill>
              </a:rPr>
              <a:t>Q08  </a:t>
            </a:r>
            <a:r>
              <a:rPr sz="1300">
                <a:solidFill>
                  <a:srgbClr val="3D424E"/>
                </a:solidFill>
              </a:rPr>
              <a:t>Por que os estudos tentam sempre fazer merge de classes raciais?</a:t>
            </a:r>
          </a:p>
          <a:p>
            <a:pPr>
              <a:spcAft>
                <a:spcPts val="600"/>
              </a:spcAft>
            </a:pPr>
            <a:r>
              <a:rPr b="1" sz="1300">
                <a:solidFill>
                  <a:srgbClr val="1F2A4E"/>
                </a:solidFill>
              </a:rPr>
              <a:t>Q09  </a:t>
            </a:r>
            <a:r>
              <a:rPr sz="1300">
                <a:solidFill>
                  <a:srgbClr val="3D424E"/>
                </a:solidFill>
              </a:rPr>
              <a:t>7 classes é realmente a taxonomia correta para fairness racial facial?</a:t>
            </a:r>
          </a:p>
          <a:p>
            <a:pPr>
              <a:spcAft>
                <a:spcPts val="600"/>
              </a:spcAft>
            </a:pPr>
            <a:r>
              <a:rPr b="1" sz="1300">
                <a:solidFill>
                  <a:srgbClr val="1F2A4E"/>
                </a:solidFill>
              </a:rPr>
              <a:t>Q10  </a:t>
            </a:r>
            <a:r>
              <a:rPr sz="1300">
                <a:solidFill>
                  <a:srgbClr val="3D424E"/>
                </a:solidFill>
              </a:rPr>
              <a:t>Existe matriz associativa Fitzpatrick/MST × FairFace 7-race?</a:t>
            </a:r>
          </a:p>
          <a:p>
            <a:pPr>
              <a:spcAft>
                <a:spcPts val="600"/>
              </a:spcAft>
            </a:pPr>
            <a:r>
              <a:rPr b="1" sz="1300">
                <a:solidFill>
                  <a:srgbClr val="1F2A4E"/>
                </a:solidFill>
              </a:rPr>
              <a:t>Q11  </a:t>
            </a:r>
            <a:r>
              <a:rPr sz="1300">
                <a:solidFill>
                  <a:srgbClr val="3D424E"/>
                </a:solidFill>
              </a:rPr>
              <a:t>As 7 categorias raciais do FairFace têm fundamento biológico ou socio-político?</a:t>
            </a:r>
          </a:p>
          <a:p>
            <a:pPr>
              <a:spcAft>
                <a:spcPts val="600"/>
              </a:spcAft>
            </a:pPr>
            <a:r>
              <a:rPr b="1" sz="1300">
                <a:solidFill>
                  <a:srgbClr val="1F2A4E"/>
                </a:solidFill>
              </a:rPr>
              <a:t>Q12  </a:t>
            </a:r>
            <a:r>
              <a:rPr sz="1300">
                <a:solidFill>
                  <a:srgbClr val="3D424E"/>
                </a:solidFill>
              </a:rPr>
              <a:t>Como antropologia forense moderna trata 'raça'?</a:t>
            </a:r>
          </a:p>
          <a:p>
            <a:pPr>
              <a:spcAft>
                <a:spcPts val="600"/>
              </a:spcAft>
            </a:pPr>
            <a:r>
              <a:rPr b="1" sz="1300">
                <a:solidFill>
                  <a:srgbClr val="1F2A4E"/>
                </a:solidFill>
              </a:rPr>
              <a:t>Q13  </a:t>
            </a:r>
            <a:r>
              <a:rPr sz="1300">
                <a:solidFill>
                  <a:srgbClr val="3D424E"/>
                </a:solidFill>
              </a:rPr>
              <a:t>Origem e propósito da escala Fitzpatrick — para que foi criada?</a:t>
            </a:r>
          </a:p>
          <a:p>
            <a:pPr>
              <a:spcAft>
                <a:spcPts val="600"/>
              </a:spcAft>
            </a:pPr>
            <a:r>
              <a:rPr b="1" sz="1300">
                <a:solidFill>
                  <a:srgbClr val="1F2A4E"/>
                </a:solidFill>
              </a:rPr>
              <a:t>Q14  </a:t>
            </a:r>
            <a:r>
              <a:rPr sz="1300">
                <a:solidFill>
                  <a:srgbClr val="3D424E"/>
                </a:solidFill>
              </a:rPr>
              <a:t>Quantos tons de pele existem cientificamente?</a:t>
            </a:r>
          </a:p>
        </p:txBody>
      </p:sp>
      <p:sp>
        <p:nvSpPr>
          <p:cNvPr id="6" name="TextBox 5"/>
          <p:cNvSpPr txBox="1"/>
          <p:nvPr/>
        </p:nvSpPr>
        <p:spPr>
          <a:xfrm>
            <a:off x="457200" y="6446520"/>
            <a:ext cx="11430000" cy="365760"/>
          </a:xfrm>
          <a:prstGeom prst="rect">
            <a:avLst/>
          </a:prstGeom>
          <a:noFill/>
        </p:spPr>
        <p:txBody>
          <a:bodyPr wrap="none">
            <a:spAutoFit/>
          </a:bodyPr>
          <a:lstStyle/>
          <a:p>
            <a:pPr>
              <a:defRPr sz="1300" i="1">
                <a:solidFill>
                  <a:srgbClr val="707682"/>
                </a:solidFill>
              </a:defRPr>
            </a:pPr>
            <a:r>
              <a:t>Detalhamento completo em docs/ativo/04_pesquisa_bibliografica/_perguntas.md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Pangelinan et al. (2023) — Causas de variação demográfica em FR</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arXiv:2304.07175 — autores Notre Dame / Florida Tech</a:t>
            </a:r>
          </a:p>
        </p:txBody>
      </p:sp>
      <p:sp>
        <p:nvSpPr>
          <p:cNvPr id="4" name="Rectangle 3"/>
          <p:cNvSpPr/>
          <p:nvPr/>
        </p:nvSpPr>
        <p:spPr>
          <a:xfrm>
            <a:off x="457200" y="1463040"/>
            <a:ext cx="11430000" cy="457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Analisa POR QUE a accuracy de face recognition varia entre grupos demográficos. Conclui que diferenças de pixel info da face nas imagens de teste explicam mais variação do que tom de pele direto.</a:t>
            </a:r>
          </a:p>
        </p:txBody>
      </p:sp>
      <p:sp>
        <p:nvSpPr>
          <p:cNvPr id="6" name="Rounded Rectangle 5"/>
          <p:cNvSpPr/>
          <p:nvPr/>
        </p:nvSpPr>
        <p:spPr>
          <a:xfrm>
            <a:off x="548640" y="4114800"/>
            <a:ext cx="11064240" cy="2194560"/>
          </a:xfrm>
          <a:prstGeom prst="roundRect">
            <a:avLst/>
          </a:prstGeom>
          <a:solidFill>
            <a:srgbClr val="FFFFFF"/>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C0392B"/>
                </a:solidFill>
              </a:defRPr>
            </a:pPr>
            <a:r>
              <a:t>Impacto na nossa tese</a:t>
            </a:r>
          </a:p>
          <a:p>
            <a:pPr>
              <a:defRPr sz="1600">
                <a:solidFill>
                  <a:srgbClr val="3D424E"/>
                </a:solidFill>
              </a:defRPr>
            </a:pPr>
            <a:r>
              <a:t>Refutação potencial de H5. Para FR (verificação 1:1), pixel info pode ser causa primária. Motivou reformulação de H5 em discussão na pauta de hoje.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Pereira et al. (2026) — SkinToneNet + dataset STW</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arXiv:2603.02475 — autores ICMC-USP / IMPA</a:t>
            </a:r>
          </a:p>
        </p:txBody>
      </p:sp>
      <p:sp>
        <p:nvSpPr>
          <p:cNvPr id="4" name="Rectangle 3"/>
          <p:cNvSpPr/>
          <p:nvPr/>
        </p:nvSpPr>
        <p:spPr>
          <a:xfrm>
            <a:off x="457200" y="1463040"/>
            <a:ext cx="11430000" cy="457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Propõe classificador MST (ViT-Small fine-tuned) treinado em dataset STW (42 mil imagens, 3,5 mil indivíduos, MST 10 classes). Audita FairFace e reporta ausência sistêmica de MST 6-10. NÃO publica matriz cruzada MST × raça.</a:t>
            </a:r>
          </a:p>
        </p:txBody>
      </p:sp>
      <p:sp>
        <p:nvSpPr>
          <p:cNvPr id="6" name="Rounded Rectangle 5"/>
          <p:cNvSpPr/>
          <p:nvPr/>
        </p:nvSpPr>
        <p:spPr>
          <a:xfrm>
            <a:off x="548640" y="4114800"/>
            <a:ext cx="11064240" cy="2194560"/>
          </a:xfrm>
          <a:prstGeom prst="roundRect">
            <a:avLst/>
          </a:prstGeom>
          <a:solidFill>
            <a:srgbClr val="FFFFFF"/>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2E7D32"/>
                </a:solidFill>
              </a:defRPr>
            </a:pPr>
            <a:r>
              <a:t>Impacto na nossa tese</a:t>
            </a:r>
          </a:p>
          <a:p>
            <a:pPr>
              <a:defRPr sz="1600">
                <a:solidFill>
                  <a:srgbClr val="3D424E"/>
                </a:solidFill>
              </a:defRPr>
            </a:pPr>
            <a:r>
              <a:t>Insumo direto do nosso pipeline: usar SkinToneNet pré-treinado em vez de treinar do zero. Nossa contribuição C2 (matriz cruzada) segue original. Economiza ~3 semanas de cronograma.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Dooley et al. (2022) — Fairer architectures make for fairer FR</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arXiv:2210.09943 — NAS search para FR fairness</a:t>
            </a:r>
          </a:p>
        </p:txBody>
      </p:sp>
      <p:sp>
        <p:nvSpPr>
          <p:cNvPr id="4" name="Rectangle 3"/>
          <p:cNvSpPr/>
          <p:nvPr/>
        </p:nvSpPr>
        <p:spPr>
          <a:xfrm>
            <a:off x="457200" y="146304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Argumenta que biases são inerentes a arquiteturas neurais. Faz busca de arquitetura (NAS) jointly com hiperparâmetros e produz modelos que Pareto-dominam baselines de mitigação tradicionais.</a:t>
            </a:r>
          </a:p>
        </p:txBody>
      </p:sp>
      <p:sp>
        <p:nvSpPr>
          <p:cNvPr id="6" name="Rounded Rectangle 5"/>
          <p:cNvSpPr/>
          <p:nvPr/>
        </p:nvSpPr>
        <p:spPr>
          <a:xfrm>
            <a:off x="548640" y="4114800"/>
            <a:ext cx="11064240" cy="21945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Impacto na nossa tese</a:t>
            </a:r>
          </a:p>
          <a:p>
            <a:pPr>
              <a:defRPr sz="1600">
                <a:solidFill>
                  <a:srgbClr val="3D424E"/>
                </a:solidFill>
              </a:defRPr>
            </a:pPr>
            <a:r>
              <a:t>Reforça nossa H2: trocar a arquitetura por si só importa. Valida escolha de ConvNeXt-T como backbone moderno. Se H1 falhar mas ConvNeXt-T puro já reduzir disparity, parte do efeito é arquitetural.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Aguirre &amp; Dredze (2023) — Transferring fairness via multi-task</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arXiv:2305.12671 — Johns Hopkins</a:t>
            </a:r>
          </a:p>
        </p:txBody>
      </p:sp>
      <p:sp>
        <p:nvSpPr>
          <p:cNvPr id="4" name="Rectangle 3"/>
          <p:cNvSpPr/>
          <p:nvPr/>
        </p:nvSpPr>
        <p:spPr>
          <a:xfrm>
            <a:off x="457200" y="146304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Adapta uma fairness loss single-task para um framework multi-task e demonstra empiricamente que objetivos de fairness demográfico SE TRANSFEREM entre tarefas que compartilham representação. Domínio dos experimentos é NLP.</a:t>
            </a:r>
          </a:p>
        </p:txBody>
      </p:sp>
      <p:sp>
        <p:nvSpPr>
          <p:cNvPr id="6" name="Rounded Rectangle 5"/>
          <p:cNvSpPr/>
          <p:nvPr/>
        </p:nvSpPr>
        <p:spPr>
          <a:xfrm>
            <a:off x="548640" y="4114800"/>
            <a:ext cx="11064240" cy="21945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Impacto na nossa tese</a:t>
            </a:r>
          </a:p>
          <a:p>
            <a:pPr>
              <a:defRPr sz="1600">
                <a:solidFill>
                  <a:srgbClr val="3D424E"/>
                </a:solidFill>
              </a:defRPr>
            </a:pPr>
            <a:r>
              <a:t>Reforço empírico do princípio teórico do LAFTR (Madras 2018). Fortalece as etapas 3 e 5 do pipeline (race classifier condicionado e extensão para FR).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Kolla &amp; Savadamuthu (2022) — Impact of racial distribution in training</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arXiv:2211.14498 — WACVW 2023 (IEEE/CVF)</a:t>
            </a:r>
          </a:p>
        </p:txBody>
      </p:sp>
      <p:sp>
        <p:nvSpPr>
          <p:cNvPr id="4" name="Rectangle 3"/>
          <p:cNvSpPr/>
          <p:nvPr/>
        </p:nvSpPr>
        <p:spPr>
          <a:xfrm>
            <a:off x="457200" y="146304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Investiga o efeito da distribuição racial nos dados de treino sobre disparities de face recognition. Conclui que distribuição uniforme de raças NO TREINO sozinha não garante FR sem viés.</a:t>
            </a:r>
          </a:p>
        </p:txBody>
      </p:sp>
      <p:sp>
        <p:nvSpPr>
          <p:cNvPr id="6" name="Rounded Rectangle 5"/>
          <p:cNvSpPr/>
          <p:nvPr/>
        </p:nvSpPr>
        <p:spPr>
          <a:xfrm>
            <a:off x="548640" y="4114800"/>
            <a:ext cx="11064240" cy="21945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Impacto na nossa tese</a:t>
            </a:r>
          </a:p>
          <a:p>
            <a:pPr>
              <a:defRPr sz="1600">
                <a:solidFill>
                  <a:srgbClr val="3D424E"/>
                </a:solidFill>
              </a:defRPr>
            </a:pPr>
            <a:r>
              <a:t>Reforça necessidade de intervenção arquitetural além de balanceamento de dados. FairFace já é balanceado e o gap Latinx persiste — coerente com a tese de que precisamos do FiLM-conditioning.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400" b="1">
                <a:solidFill>
                  <a:srgbClr val="1F2A4E"/>
                </a:solidFill>
              </a:defRPr>
            </a:pPr>
            <a:r>
              <a:t>Liu et al. (2025) — BNMR Bayesian meta-learning</a:t>
            </a:r>
          </a:p>
        </p:txBody>
      </p:sp>
      <p:sp>
        <p:nvSpPr>
          <p:cNvPr id="3" name="TextBox 2"/>
          <p:cNvSpPr txBox="1"/>
          <p:nvPr/>
        </p:nvSpPr>
        <p:spPr>
          <a:xfrm>
            <a:off x="457200" y="1051560"/>
            <a:ext cx="11430000" cy="365760"/>
          </a:xfrm>
          <a:prstGeom prst="rect">
            <a:avLst/>
          </a:prstGeom>
          <a:noFill/>
        </p:spPr>
        <p:txBody>
          <a:bodyPr wrap="none">
            <a:spAutoFit/>
          </a:bodyPr>
          <a:lstStyle/>
          <a:p>
            <a:pPr>
              <a:defRPr sz="1400" i="1">
                <a:solidFill>
                  <a:srgbClr val="707682"/>
                </a:solidFill>
              </a:defRPr>
            </a:pPr>
            <a:r>
              <a:t>arXiv:2505.01699 — ACM FAccT 2025</a:t>
            </a:r>
          </a:p>
        </p:txBody>
      </p:sp>
      <p:sp>
        <p:nvSpPr>
          <p:cNvPr id="4" name="Rectangle 3"/>
          <p:cNvSpPr/>
          <p:nvPr/>
        </p:nvSpPr>
        <p:spPr>
          <a:xfrm>
            <a:off x="457200" y="146304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828800"/>
            <a:ext cx="11064240" cy="2103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defende</a:t>
            </a:r>
          </a:p>
          <a:p>
            <a:pPr>
              <a:defRPr sz="1600">
                <a:solidFill>
                  <a:srgbClr val="3D424E"/>
                </a:solidFill>
              </a:defRPr>
            </a:pPr>
            <a:r>
              <a:t>Propõe BNMR (Bayesian Network-informed Meta Reweighting): uma rede bayesiana calibra meta-learning de reweighting de amostras durante treino, tracking de viés do modelo em tempo real.</a:t>
            </a:r>
          </a:p>
        </p:txBody>
      </p:sp>
      <p:sp>
        <p:nvSpPr>
          <p:cNvPr id="6" name="Rounded Rectangle 5"/>
          <p:cNvSpPr/>
          <p:nvPr/>
        </p:nvSpPr>
        <p:spPr>
          <a:xfrm>
            <a:off x="548640" y="4114800"/>
            <a:ext cx="11064240" cy="219456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Impacto na nossa tese</a:t>
            </a:r>
          </a:p>
          <a:p>
            <a:pPr>
              <a:defRPr sz="1600">
                <a:solidFill>
                  <a:srgbClr val="3D424E"/>
                </a:solidFill>
              </a:defRPr>
            </a:pPr>
            <a:r>
              <a:t>Baseline competitivo recente. Mecanismo é ortogonal ao nosso (sample reweighting vs FiLM-conditioning). Candidato a baseline forte do Cap 2 para comparação justa.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