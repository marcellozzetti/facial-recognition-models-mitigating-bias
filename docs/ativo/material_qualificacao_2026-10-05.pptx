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esp_completa_policromia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20040"/>
            <a:ext cx="1920240" cy="11581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" y="274320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UNIFESP</a:t>
            </a:r>
          </a:p>
          <a:p>
            <a:pPr>
              <a:defRPr sz="1100">
                <a:solidFill>
                  <a:srgbClr val="B4C4E8"/>
                </a:solidFill>
              </a:defRPr>
            </a:pPr>
            <a:r>
              <a:t>Instituto de</a:t>
            </a:r>
            <a:br/>
            <a:r>
              <a:t>Ciência e</a:t>
            </a:r>
            <a:br/>
            <a:r>
              <a:t>Tecnologia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09728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0392B"/>
                </a:solidFill>
              </a:defRPr>
            </a:pPr>
            <a:r>
              <a:t>EXAME DE QUALIFICAÇÃO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8288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F2A4E"/>
                </a:solidFill>
              </a:defRPr>
            </a:pPr>
            <a:r>
              <a:t>Mitigação de viés racial em</a:t>
            </a:r>
          </a:p>
          <a:p>
            <a:pPr>
              <a:defRPr sz="3200" b="1">
                <a:solidFill>
                  <a:srgbClr val="1F2A4E"/>
                </a:solidFill>
              </a:defRPr>
            </a:pPr>
            <a:r>
              <a:t>classificação facial com</a:t>
            </a:r>
          </a:p>
          <a:p>
            <a:pPr>
              <a:defRPr sz="3200" b="1">
                <a:solidFill>
                  <a:srgbClr val="1F2A4E"/>
                </a:solidFill>
              </a:defRPr>
            </a:pPr>
            <a:r>
              <a:t>condicionamento por tom de pele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57200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Mestrando:  </a:t>
            </a:r>
            <a:r>
              <a:rPr sz="1600">
                <a:solidFill>
                  <a:srgbClr val="3D424E"/>
                </a:solidFill>
              </a:rPr>
              <a:t>Marcello Vinicius Alves Ozzetti Cruz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Orientador:  </a:t>
            </a:r>
            <a:r>
              <a:rPr sz="1600">
                <a:solidFill>
                  <a:srgbClr val="3D424E"/>
                </a:solidFill>
              </a:rPr>
              <a:t>Prof. Dr. Marcos Gonçalves Quiles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Programa:  </a:t>
            </a:r>
            <a:r>
              <a:rPr sz="1600">
                <a:solidFill>
                  <a:srgbClr val="3D424E"/>
                </a:solidFill>
              </a:rPr>
              <a:t>Pós-Graduação em Ciência da Computação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Data:  </a:t>
            </a:r>
            <a:r>
              <a:rPr sz="1600">
                <a:solidFill>
                  <a:srgbClr val="3D424E"/>
                </a:solidFill>
              </a:rPr>
              <a:t>05 de setembro de 2026</a:t>
            </a: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1F2A4E"/>
                </a:solidFill>
              </a:rPr>
              <a:t>Local:  </a:t>
            </a:r>
            <a:r>
              <a:rPr sz="1600">
                <a:solidFill>
                  <a:srgbClr val="3D424E"/>
                </a:solidFill>
              </a:rPr>
              <a:t>UNIFESP / ICT — São José dos Campos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Motivação acadêmica: origem do problema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137160" cy="283464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8813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i="1">
                <a:solidFill>
                  <a:srgbClr val="1F2A4E"/>
                </a:solidFill>
              </a:defRPr>
            </a:pPr>
            <a:r>
              <a:t>Em 2016, durante projeto acadêmico no MIT Media Lab, a então mestranda Joy Buolamwini constatou que sistemas comerciais de análise facial falhavam em detectar seu próprio rosto, enquanto detectavam, sem falha, interlocutores fenotipicamente mais claros. A conclusão do projeto exigiu o uso de uma máscara branca para que a face fosse reconhecida — episódio que converteu uma observação pessoal em programa de pesquisa.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8862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707682"/>
                </a:solidFill>
              </a:defRPr>
            </a:pPr>
            <a:r>
              <a:t>Reescritura acadêmica da narrativa relatada em Unmasking AI: My Mission to Protect What Is Human in a World of Machines (Buolamwini, 2023, W. W. Norton).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Consolidação científica:  </a:t>
            </a:r>
            <a:r>
              <a:rPr sz="1500">
                <a:solidFill>
                  <a:srgbClr val="3D424E"/>
                </a:solidFill>
              </a:rPr>
              <a:t>a observação foi formalizada em Gender Shades (Buolamwini &amp; Gebru, 2018, PMLR), estudo seminal que quantificou disparidade de até 34,4 pontos percentuais em acurácia entre homens de pele clara e mulheres de pele escura em três APIs comerciais de análise facial.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Herança científica desta pesquisa:  </a:t>
            </a:r>
            <a:r>
              <a:rPr sz="1500">
                <a:solidFill>
                  <a:srgbClr val="3D424E"/>
                </a:solidFill>
              </a:rPr>
              <a:t>inscreve-se formalmente na mesma agenda — dissociar o desempenho de classificadores faciais do tom de pele —, deslocando a pergunta de "existe viés?" para "como mitigá-lo de forma defensável e auditável?".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Reconhecimento facial: adoção sociotécnica em larga escala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6695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5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DISPOSITIVOS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Desbloqueio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de celular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0273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BANCOS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9417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Autenticação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financeira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0877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FRONTEIRAS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021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Controle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migratório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14816" y="1463040"/>
            <a:ext cx="2377440" cy="164592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169164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C0392B"/>
                </a:solidFill>
              </a:defRPr>
            </a:pPr>
            <a:r>
              <a:t>SEGURANÇA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06256" y="21488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Identificação</a:t>
            </a:r>
          </a:p>
          <a:p>
            <a:pPr algn="ctr">
              <a:defRPr sz="1600" b="1">
                <a:solidFill>
                  <a:srgbClr val="1F2A4E"/>
                </a:solidFill>
              </a:defRPr>
            </a:pPr>
            <a:r>
              <a:t>policial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4114800" cy="237744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794760"/>
            <a:ext cx="41148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600" b="1">
                <a:solidFill>
                  <a:srgbClr val="FFFFFF"/>
                </a:solidFill>
              </a:defRPr>
            </a:pPr>
            <a:r>
              <a:t>10 – 100 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3776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B4C4E8"/>
                </a:solidFill>
              </a:defRPr>
            </a:pPr>
            <a:r>
              <a:t>disparidade na taxa de</a:t>
            </a:r>
            <a:br/>
            <a:r>
              <a:t>falso positivo entre</a:t>
            </a:r>
            <a:br/>
            <a:r>
              <a:t>grupos demográficos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566160"/>
            <a:ext cx="67665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1F2A4E"/>
                </a:solidFill>
              </a:rPr>
              <a:t>NIST 2019 (Grother et al.): </a:t>
            </a:r>
            <a:r>
              <a:rPr sz="1600">
                <a:solidFill>
                  <a:srgbClr val="3D424E"/>
                </a:solidFill>
              </a:rPr>
              <a:t>maior auditoria pública já feita em biometria facial — 189 algoritmos comerciais avaliados sobre 18 milhões de imagens.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2A4E"/>
                </a:solidFill>
              </a:rPr>
              <a:t>Gender Shades (Buolamwini &amp; Gebru, 2018): </a:t>
            </a:r>
            <a:r>
              <a:rPr sz="1600">
                <a:solidFill>
                  <a:srgbClr val="3D424E"/>
                </a:solidFill>
              </a:rPr>
              <a:t>estudo fundacional que colocou o viés racial-de-gênero na agenda pública.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1F2A4E"/>
                </a:solidFill>
              </a:rPr>
              <a:t>Conclusão: </a:t>
            </a:r>
            <a:r>
              <a:rPr sz="1600">
                <a:solidFill>
                  <a:srgbClr val="3D424E"/>
                </a:solidFill>
              </a:rPr>
              <a:t>desempenho agregado favorável coexiste com disparidade sistemática entre subgrupos demográficos.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Regulação formal em vigor: European AI Act (2024)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65276" y="2167128"/>
            <a:ext cx="10058400" cy="54864"/>
          </a:xfrm>
          <a:prstGeom prst="rect">
            <a:avLst/>
          </a:prstGeom>
          <a:solidFill>
            <a:srgbClr val="70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52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476" y="11887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A4E"/>
                </a:solidFill>
              </a:defRPr>
            </a:pPr>
            <a:r>
              <a:t>2018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69164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Gender Shades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06323" y="32461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424E"/>
                </a:solidFill>
              </a:defRPr>
            </a:pPr>
            <a:r>
              <a:t>Buolamwini &amp; Gebru colocam o viés na agenda.</a:t>
            </a:r>
          </a:p>
        </p:txBody>
      </p:sp>
      <p:sp>
        <p:nvSpPr>
          <p:cNvPr id="9" name="Oval 8"/>
          <p:cNvSpPr/>
          <p:nvPr/>
        </p:nvSpPr>
        <p:spPr>
          <a:xfrm>
            <a:off x="40980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32276" y="11887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A4E"/>
                </a:solidFill>
              </a:defRPr>
            </a:pPr>
            <a: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36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NIST FRVT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6476" y="32461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424E"/>
                </a:solidFill>
              </a:defRPr>
            </a:pPr>
            <a:r>
              <a:t>Grother et al. documentam disparidade 10–100× em escala industrial.</a:t>
            </a:r>
          </a:p>
        </p:txBody>
      </p:sp>
      <p:sp>
        <p:nvSpPr>
          <p:cNvPr id="13" name="Oval 12"/>
          <p:cNvSpPr/>
          <p:nvPr/>
        </p:nvSpPr>
        <p:spPr>
          <a:xfrm>
            <a:off x="7450836" y="1874519"/>
            <a:ext cx="640080" cy="640080"/>
          </a:xfrm>
          <a:prstGeom prst="ellipse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5076" y="11887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C0392B"/>
                </a:solidFill>
              </a:defRPr>
            </a:pPr>
            <a:r>
              <a:t>2024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64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EU AI 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9276" y="32461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424E"/>
                </a:solidFill>
              </a:defRPr>
            </a:pPr>
            <a:r>
              <a:t>Auditoria de equidade torna-se requisito formal para sistemas biométricos.</a:t>
            </a:r>
          </a:p>
        </p:txBody>
      </p:sp>
      <p:sp>
        <p:nvSpPr>
          <p:cNvPr id="17" name="Oval 16"/>
          <p:cNvSpPr/>
          <p:nvPr/>
        </p:nvSpPr>
        <p:spPr>
          <a:xfrm>
            <a:off x="10803636" y="1874519"/>
            <a:ext cx="640080" cy="640080"/>
          </a:xfrm>
          <a:prstGeom prst="ellipse">
            <a:avLst/>
          </a:prstGeom>
          <a:solidFill>
            <a:srgbClr val="1F2A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37876" y="1188719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2A4E"/>
                </a:solidFill>
              </a:defRPr>
            </a:pPr>
            <a:r>
              <a:t>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89236" y="265176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F2A4E"/>
                </a:solidFill>
              </a:defRPr>
            </a:pPr>
            <a:r>
              <a:t>FAccT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2076" y="324612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D424E"/>
                </a:solidFill>
              </a:defRPr>
            </a:pPr>
            <a:r>
              <a:t>Lafargue et al. propõem pipeline de auditoria com propagação de incerteza.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120640"/>
            <a:ext cx="10881360" cy="100584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2303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i="1">
                <a:solidFill>
                  <a:srgbClr val="FFFFFF"/>
                </a:solidFill>
              </a:defRPr>
            </a:pPr>
            <a:r>
              <a:t>A questão científica desloca-se da constatação do viés — empiricamente estabelecida — para o desenvolvimento de mecanismos de mitigação defensáveis e auditáveis.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Disparidade sistemática de aproximadamente 30 pontos percentuais entre grupos raciais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disparidade_ra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190" y="1371600"/>
            <a:ext cx="1001057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FaceScanPaliGemma (AlDahoul et al., 2024) avaliado sobre o dataset FairFace (Kärkkäinen &amp; Joo, 2021). Diferencial entre Black e Latinx: 30 pontos percentuais em F1.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Heterogeneidade fenotípica intra-categorial: o caso Latinx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fitzpatrick_vs_m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5669280" cy="22400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85216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07682"/>
                </a:solidFill>
              </a:defRPr>
            </a:pPr>
            <a:r>
              <a:t>Fitzpatrick (esq., 6 tons) × Monk (dir., 10 tons).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Rótulo monolítico:  </a:t>
            </a:r>
            <a:r>
              <a:rPr sz="1600">
                <a:solidFill>
                  <a:srgbClr val="3D424E"/>
                </a:solidFill>
              </a:rPr>
              <a:t>a rotulagem monolítica agrega fenótipos heterogêneos sob única categoria discreta.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Escala Monk (Ellis Monk, 2019):  </a:t>
            </a:r>
            <a:r>
              <a:rPr sz="1600">
                <a:solidFill>
                  <a:srgbClr val="3D424E"/>
                </a:solidFill>
              </a:rPr>
              <a:t>escala de 10 tons — sucessora moderna da escala Fitzpatrick, que sub-representa tons escuros.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Schumann et al. (2023):  </a:t>
            </a:r>
            <a:r>
              <a:rPr sz="1600">
                <a:solidFill>
                  <a:srgbClr val="3D424E"/>
                </a:solidFill>
              </a:rPr>
              <a:t>consolida a MST como padrão moderno de auditoria de equidade em análise facial.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1F2A4E"/>
                </a:solidFill>
              </a:rPr>
              <a:t>Consequência:  </a:t>
            </a:r>
            <a:r>
              <a:rPr sz="1600">
                <a:solidFill>
                  <a:srgbClr val="3D424E"/>
                </a:solidFill>
              </a:rPr>
              <a:t>a rotulagem monolítica compromete a acurácia condicional em grupos com maior variabilidade fenotípica, como Latinx.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Refutação concorrente: tom de pele como principal fator (Pangelinan, 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5196" y="1417320"/>
            <a:ext cx="54864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5196" y="14721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A CRÍTICA DA LITERATURA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" y="2011680"/>
            <a:ext cx="5486400" cy="4343400"/>
          </a:xfrm>
          <a:prstGeom prst="roundRect">
            <a:avLst/>
          </a:prstGeom>
          <a:solidFill>
            <a:srgbClr val="E8EAED"/>
          </a:solidFill>
          <a:ln>
            <a:solidFill>
              <a:srgbClr val="E8E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</a:rPr>
              <a:t>Pangelinan et al. (2023, FAccT):  </a:t>
            </a:r>
            <a:r>
              <a:rPr sz="1600">
                <a:solidFill>
                  <a:srgbClr val="3D424E"/>
                </a:solidFill>
              </a:rPr>
              <a:t>a disparidade racial em face recognition é primariamente explicada pela fração de área facial útil na imagem (pixel information), não pelo rótulo racial.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</a:rPr>
              <a:t>Matias et al. (2026):  </a:t>
            </a:r>
            <a:r>
              <a:rPr sz="1600">
                <a:solidFill>
                  <a:srgbClr val="3D424E"/>
                </a:solidFill>
              </a:rPr>
              <a:t>publica o SkinToneNet e reforça o tom de pele como dimensão auditável, tensionando o uso de rótulos nominais.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C0392B"/>
                </a:solidFill>
              </a:rPr>
              <a:t>Implicação forte:  </a:t>
            </a:r>
            <a:r>
              <a:rPr sz="1600">
                <a:solidFill>
                  <a:srgbClr val="3D424E"/>
                </a:solidFill>
              </a:rPr>
              <a:t>se a refutação se sustenta, o condicionamento por rótulo racial nominal perde sustentação teórica em favor do sinal fenotípico direto.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7356" y="1417320"/>
            <a:ext cx="5486400" cy="5029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7356" y="147218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NOSSA POSIÇÃO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2011680"/>
            <a:ext cx="5486400" cy="4343400"/>
          </a:xfrm>
          <a:prstGeom prst="roundRect">
            <a:avLst/>
          </a:prstGeom>
          <a:solidFill>
            <a:srgbClr val="B4C4E8"/>
          </a:solidFill>
          <a:ln>
            <a:solidFill>
              <a:srgbClr val="B4C4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5956" y="219456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O tom de pele complementa o rótulo racial:  </a:t>
            </a:r>
            <a:r>
              <a:rPr sz="1600">
                <a:solidFill>
                  <a:srgbClr val="3D424E"/>
                </a:solidFill>
              </a:rPr>
              <a:t>o vetor MST atua como sinal condicionante; o rótulo racial permanece como alvo de predição.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Incorporamos a crítica formalmente:  </a:t>
            </a:r>
            <a:r>
              <a:rPr sz="1600">
                <a:solidFill>
                  <a:srgbClr val="3D424E"/>
                </a:solidFill>
              </a:rPr>
              <a:t>a hipótese H6 testa diretamente a tese de Pangelinan (R² ≥ 70 % explicado por pixel information).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Refutação convertida em contribuição:  </a:t>
            </a:r>
            <a:r>
              <a:rPr sz="1600">
                <a:solidFill>
                  <a:srgbClr val="3D424E"/>
                </a:solidFill>
              </a:rPr>
              <a:t>eventual confirmação da refutação produz decomposição quantitativa do erro, resultado científico válido em 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Objetivo geral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418320" cy="25603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03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Desenvolver e avaliar um pipeline de classificação racial que usa o tom de pele (escala Monk, 10 tons) como sinal de contexto para reduzir a disparidade entre grupos, sem sacrificar a acurácia geral.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i="1">
                <a:solidFill>
                  <a:srgbClr val="3D424E"/>
                </a:solidFill>
              </a:defRPr>
            </a:pPr>
            <a:r>
              <a:t>Arquitetura escolhida: ConvNeXt-T (Liu et al., 2022) como rede base + FiLM (Perez et al., 2018) como mecanismo que “consulta” o tom de pele antes de decidir.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Objetivos específicos e hipóteses testáveis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0916" y="1417320"/>
            <a:ext cx="5486400" cy="50292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0916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 OBJETIVOS ESPECÍFICOS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076" y="20574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1.  </a:t>
            </a:r>
            <a:r>
              <a:rPr sz="1500">
                <a:solidFill>
                  <a:srgbClr val="3D424E"/>
                </a:solidFill>
              </a:rPr>
              <a:t>Quantificar distribuição MST × classe racial no FairFace.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2.  </a:t>
            </a:r>
            <a:r>
              <a:rPr sz="1500">
                <a:solidFill>
                  <a:srgbClr val="3D424E"/>
                </a:solidFill>
              </a:rPr>
              <a:t>Treinar e avaliar classificador MST próprio + sensitivity.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3.  </a:t>
            </a:r>
            <a:r>
              <a:rPr sz="1500">
                <a:solidFill>
                  <a:srgbClr val="3D424E"/>
                </a:solidFill>
              </a:rPr>
              <a:t>Implementar FiLM sobre ConvNeXt-T e comparar vs 6 baselines.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4.  </a:t>
            </a:r>
            <a:r>
              <a:rPr sz="1500">
                <a:solidFill>
                  <a:srgbClr val="3D424E"/>
                </a:solidFill>
              </a:rPr>
              <a:t>Demonstrar transferência do ganho para reconhecimento (RFW/BFW).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5.  </a:t>
            </a:r>
            <a:r>
              <a:rPr sz="1500">
                <a:solidFill>
                  <a:srgbClr val="3D424E"/>
                </a:solidFill>
              </a:rPr>
              <a:t>Formalizar triangulação de métricas (DR, F1 pior classe, EO).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1F2A4E"/>
                </a:solidFill>
              </a:rPr>
              <a:t>6.  </a:t>
            </a:r>
            <a:r>
              <a:rPr sz="1500">
                <a:solidFill>
                  <a:srgbClr val="3D424E"/>
                </a:solidFill>
              </a:rPr>
              <a:t>Decompor erro Latinx: fenótipo (irredutível) vs modelo (mitigável).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1636" y="1417320"/>
            <a:ext cx="5486400" cy="50292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31636" y="1463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 HIPÓTESES TESTÁVEIS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8796" y="205740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H1.  </a:t>
            </a:r>
            <a:r>
              <a:rPr sz="1500">
                <a:solidFill>
                  <a:srgbClr val="3D424E"/>
                </a:solidFill>
              </a:rPr>
              <a:t>Classificador MST atinge concordância humana  </a:t>
            </a:r>
            <a:r>
              <a:rPr sz="1300" i="1">
                <a:solidFill>
                  <a:srgbClr val="707682"/>
                </a:solidFill>
              </a:rPr>
              <a:t>[κ ≥ 0,7]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H2.  </a:t>
            </a:r>
            <a:r>
              <a:rPr sz="1500">
                <a:solidFill>
                  <a:srgbClr val="3D424E"/>
                </a:solidFill>
              </a:rPr>
              <a:t>Latinx cobre ≥ 5 dos 10 tons Monk  </a:t>
            </a:r>
            <a:r>
              <a:rPr sz="1300" i="1">
                <a:solidFill>
                  <a:srgbClr val="707682"/>
                </a:solidFill>
              </a:rPr>
              <a:t>[cobertura ≥ 5]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H3.  </a:t>
            </a:r>
            <a:r>
              <a:rPr sz="1500">
                <a:solidFill>
                  <a:srgbClr val="3D424E"/>
                </a:solidFill>
              </a:rPr>
              <a:t>Condicionamento reduz disparidade sem perder acurácia  </a:t>
            </a:r>
            <a:r>
              <a:rPr sz="1300" i="1">
                <a:solidFill>
                  <a:srgbClr val="707682"/>
                </a:solidFill>
              </a:rPr>
              <a:t>[DR ↓  ·  F1 ≥ baseline]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H4.  </a:t>
            </a:r>
            <a:r>
              <a:rPr sz="1500">
                <a:solidFill>
                  <a:srgbClr val="3D424E"/>
                </a:solidFill>
              </a:rPr>
              <a:t>≥ 50 % dos erros Latinx em zonas de sobreposição  </a:t>
            </a:r>
            <a:r>
              <a:rPr sz="1300" i="1">
                <a:solidFill>
                  <a:srgbClr val="707682"/>
                </a:solidFill>
              </a:rPr>
              <a:t>[concentração ≥ 50 %]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H5.  </a:t>
            </a:r>
            <a:r>
              <a:rPr sz="1500">
                <a:solidFill>
                  <a:srgbClr val="3D424E"/>
                </a:solidFill>
              </a:rPr>
              <a:t>Módulo FiLM/MST pré-treinado transfere via feature-freeze para RFW/BFW  </a:t>
            </a:r>
            <a:r>
              <a:rPr sz="1300" i="1">
                <a:solidFill>
                  <a:srgbClr val="707682"/>
                </a:solidFill>
              </a:rPr>
              <a:t>[ΔTAR@FAR=1e-4 ≥ +3 pp (African)]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C0392B"/>
                </a:solidFill>
              </a:rPr>
              <a:t>H6.  </a:t>
            </a:r>
            <a:r>
              <a:rPr sz="1500">
                <a:solidFill>
                  <a:srgbClr val="3D424E"/>
                </a:solidFill>
              </a:rPr>
              <a:t>Pixel information explica variância do erro (Pangelinan)  </a:t>
            </a:r>
            <a:r>
              <a:rPr sz="1300" i="1">
                <a:solidFill>
                  <a:srgbClr val="707682"/>
                </a:solidFill>
              </a:rPr>
              <a:t>[R² ≥ 70 %]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Linha do tempo das principais respostas ao problema (2018–2026)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timeline_mitigac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880" y="1371600"/>
            <a:ext cx="8781190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Frentes cronológicas: dados balanceados → funções de perda → arquiteturas Pareto-eficientes → modelos vision-language → escalas MST → heterogeneidade fenotípica.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Baselines de mitigação para comparação sistemática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5943600"/>
              </a:tblGrid>
              <a:tr h="67926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Método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Referência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Adversarial debiasing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Zhang et al.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Segundo modelo tenta “ler” o atributo sensível — o primeiro se defende.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Group DRO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Sagawa et al. (2020)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Otimiza o erro do pior grupo, não o erro médio.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FSCL+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Park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Aprendizado contrastivo com controle explícito de viés.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FineFACE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Manzoor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Atenção mútua entre camadas — operação Pareto-eficiente.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ResNet-34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Kärkkäinen &amp; Joo (2021)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Baseline canônico da própria comunidade FairFace.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ConvNeXt-T puro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Liu et al. (2022)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Controle arquitetural moderno — efeito da rede base sem condicionamento.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Lacunas científicas identificadas na literatura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7315200"/>
                <a:gridCol w="3657600"/>
              </a:tblGrid>
              <a:tr h="79248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Lacuna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Endereçamento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Ausência de tabulação pública MST × raça sobre FairFace. Schumann et al. (2023, NeurIPS) estabelecem o protocolo MST sem aplicá-lo ao FairFace; Pereira et al. (2026) liberam o STW sobre dataset próprio.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Etapa 2 — Contribuição 2.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nunca instanciado em classificação racial multi-classe. Nem o mecanismo original (Perez et al., 2018) nem sua formulação equivalente Conditional Batch Normalization (de Vries et al., 2017) foram adotados com condicionamento por tom de pele contínuo.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Etapa 3 — Contribuição 3.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 decomposição formal do erro Latinx. Pangelinan et al. (2023) decompõem o gender gap em verificação (FST 6-tons), mas não estendem a classificação racial multi-classe; o patamar F1 ≈ 60 % em Latinx (Lin et al., 2022; AlDahoul et al., 2024) permanece sem explicação quantitativa.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Etapa 6 — Contribuição 5.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Transferência classificação → verificação com condicionamento preservado é lacuna. Madras et al. (2018, LAFTR) provam a transferência fair apenas em dados tabulares; FairCal (2021), MixFairFace (2022) e score normalization (2024) treinam a mitigação diretamente em RFW/BFW.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Etapa 5 — Contribuição 6.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Reporte empírico de mitigação sem triangulação. Apesar do Teorema da Impossibilidade (Kleinberg et al., 2017) e dos surveys que o catalogam (Mehrabi et al., 2021), papers de mitigação continuam reportando um único indicador agregado.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Etapa 4 — Contribuição 4.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Pipeline experimental em seis etapas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56615" y="1325880"/>
            <a:ext cx="3758184" cy="384048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3D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3D424E"/>
                </a:solidFill>
              </a:rPr>
              <a:t>A. DIAGNÓSTICO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5383" y="1325880"/>
            <a:ext cx="1828800" cy="384048"/>
          </a:xfrm>
          <a:prstGeom prst="roundRect">
            <a:avLst/>
          </a:prstGeom>
          <a:solidFill>
            <a:srgbClr val="B4C4E8"/>
          </a:solidFill>
          <a:ln w="9525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1F2A4E"/>
                </a:solidFill>
              </a:rPr>
              <a:t>B. MÉTODO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44768" y="1325880"/>
            <a:ext cx="5687567" cy="384048"/>
          </a:xfrm>
          <a:prstGeom prst="roundRect">
            <a:avLst/>
          </a:prstGeom>
          <a:solidFill>
            <a:srgbClr val="E8EAED"/>
          </a:solidFill>
          <a:ln w="9525">
            <a:solidFill>
              <a:srgbClr val="3D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18288" bIns="18288"/>
          <a:lstStyle/>
          <a:p>
            <a:pPr algn="ctr"/>
            <a:r>
              <a:rPr sz="1300" b="1">
                <a:solidFill>
                  <a:srgbClr val="3D424E"/>
                </a:solidFill>
              </a:rPr>
              <a:t>C. VALIDAÇÃO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5" y="1920240"/>
            <a:ext cx="1828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3D68BB"/>
                </a:solidFill>
              </a:rPr>
              <a:t>ETAPA 1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1F2A4E"/>
                </a:solidFill>
              </a:rPr>
              <a:t>Classificador MST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3D424E"/>
                </a:solidFill>
              </a:rPr>
              <a:t>Treina rede 10-tons sobre MSTE + CCv2.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5999" y="1920240"/>
            <a:ext cx="1828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3D68BB"/>
                </a:solidFill>
              </a:rPr>
              <a:t>ETAPA 2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1F2A4E"/>
                </a:solidFill>
              </a:rPr>
              <a:t>Matriz MST × raça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3D424E"/>
                </a:solidFill>
              </a:rPr>
              <a:t>Tabula tons preditos pelas 7 classes FairFace.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5383" y="1920240"/>
            <a:ext cx="1828800" cy="3931920"/>
          </a:xfrm>
          <a:prstGeom prst="roundRect">
            <a:avLst/>
          </a:prstGeom>
          <a:solidFill>
            <a:srgbClr val="1F2A4E"/>
          </a:solidFill>
          <a:ln w="254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B4C4E8"/>
                </a:solidFill>
              </a:rPr>
              <a:t>ETAPA 3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FFFFFF"/>
                </a:solidFill>
              </a:rPr>
              <a:t>FiLM + ConvNeXt-T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B4C4E8"/>
                </a:solidFill>
              </a:rPr>
              <a:t>Rede condiciona features ao vetor MST (método proposto).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920240"/>
            <a:ext cx="1828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3D68BB"/>
                </a:solidFill>
              </a:rPr>
              <a:t>ETAPA 4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1F2A4E"/>
                </a:solidFill>
              </a:rPr>
              <a:t>Baselines e cenários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3D424E"/>
                </a:solidFill>
              </a:rPr>
              <a:t>Confronta a proposta com seis famílias já publicadas.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4151" y="1920240"/>
            <a:ext cx="1828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3D68BB"/>
                </a:solidFill>
              </a:rPr>
              <a:t>ETAPA 5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1F2A4E"/>
                </a:solidFill>
              </a:rPr>
              <a:t>Transferência RFW/BFW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3D424E"/>
                </a:solidFill>
              </a:rPr>
              <a:t>Verifica herança do condicionamento em reconhecimento.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03535" y="1920240"/>
            <a:ext cx="1828800" cy="3931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 bIns="109728"/>
          <a:lstStyle/>
          <a:p>
            <a:pPr algn="ctr"/>
            <a:r>
              <a:rPr sz="1100" b="1">
                <a:solidFill>
                  <a:srgbClr val="3D68BB"/>
                </a:solidFill>
              </a:rPr>
              <a:t>ETAPA 6</a:t>
            </a:r>
          </a:p>
          <a:p>
            <a:pPr algn="ctr">
              <a:spcBef>
                <a:spcPts val="600"/>
              </a:spcBef>
            </a:pPr>
            <a:r>
              <a:rPr sz="1600" b="1">
                <a:solidFill>
                  <a:srgbClr val="1F2A4E"/>
                </a:solidFill>
              </a:rPr>
              <a:t>Decomposição do erro</a:t>
            </a:r>
          </a:p>
          <a:p>
            <a:pPr algn="ctr">
              <a:spcBef>
                <a:spcPts val="1400"/>
              </a:spcBef>
            </a:pPr>
            <a:r>
              <a:rPr sz="1200">
                <a:solidFill>
                  <a:srgbClr val="3D424E"/>
                </a:solidFill>
              </a:rPr>
              <a:t>Separa componente fenotípico de componente algorítmico.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185415" y="3886200"/>
            <a:ext cx="100584" cy="0"/>
          </a:xfrm>
          <a:prstGeom prst="bentConnector3">
            <a:avLst/>
          </a:prstGeom>
          <a:ln w="31750">
            <a:solidFill>
              <a:srgbClr val="1F2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114800" y="3886200"/>
            <a:ext cx="100583" cy="0"/>
          </a:xfrm>
          <a:prstGeom prst="bentConnector3">
            <a:avLst/>
          </a:prstGeom>
          <a:ln w="31750">
            <a:solidFill>
              <a:srgbClr val="1F2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44183" y="3886200"/>
            <a:ext cx="100585" cy="0"/>
          </a:xfrm>
          <a:prstGeom prst="bentConnector3">
            <a:avLst/>
          </a:prstGeom>
          <a:ln w="31750">
            <a:solidFill>
              <a:srgbClr val="1F2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73567" y="3886200"/>
            <a:ext cx="100584" cy="0"/>
          </a:xfrm>
          <a:prstGeom prst="bentConnector3">
            <a:avLst/>
          </a:prstGeom>
          <a:ln w="31750">
            <a:solidFill>
              <a:srgbClr val="1F2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902951" y="3886200"/>
            <a:ext cx="100584" cy="0"/>
          </a:xfrm>
          <a:prstGeom prst="bentConnector3">
            <a:avLst/>
          </a:prstGeom>
          <a:ln w="31750">
            <a:solidFill>
              <a:srgbClr val="1F2A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07682"/>
                </a:solidFill>
              </a:defRPr>
            </a:pPr>
            <a:r>
              <a:t>Fluxo em três fases: diagnóstico (etapas 1 e 2), método proposto (etapa 3, destacada) e validação e síntese (etapas 4 a 6).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Evolução do pipeline experimental — estado em 04/10/2026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pipeline_evolu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339" y="1371600"/>
            <a:ext cx="1222363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Etapas 1 a 3 em execução (código implementado, validação preliminar em curso); etapas 4 a 6 planejadas conforme cronograma. Marco de qualificação assegurado.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Etapa 1: classificador MST treinado internamente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O que faz:  </a:t>
            </a:r>
            <a:r>
              <a:rPr sz="1800">
                <a:solidFill>
                  <a:srgbClr val="3D424E"/>
                </a:solidFill>
              </a:rPr>
              <a:t>produz, para cada imagem facial, o vetor softmax sobre os dez tons da escala Monk.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Decisão pós-reunião Ago/2026:  </a:t>
            </a:r>
            <a:r>
              <a:rPr sz="1800">
                <a:solidFill>
                  <a:srgbClr val="3D424E"/>
                </a:solidFill>
              </a:rPr>
              <a:t>adotar treinamento interno do classificador, reduzindo dependência do release do SkinToneNet (Matias, 2026), cujos pesos e dataset STW ainda não foram divulgados publicamente.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Datasets de treino:  </a:t>
            </a:r>
            <a:r>
              <a:rPr sz="1800">
                <a:solidFill>
                  <a:srgbClr val="3D424E"/>
                </a:solidFill>
              </a:rPr>
              <a:t>Monk Skin Tone Examples (Monk, 2019) e Casual Conversations v2 (Porgali et al., 2023).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Camada auto-suficiente:  </a:t>
            </a:r>
            <a:r>
              <a:rPr sz="1800">
                <a:solidFill>
                  <a:srgbClr val="3D424E"/>
                </a:solidFill>
              </a:rPr>
              <a:t>detecção facial (MTCNN, Zhang et al., 2016), alinhamento, recorte e classificação — viabiliza inferência em datasets sem anotação MST.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Validação:  </a:t>
            </a:r>
            <a:r>
              <a:rPr sz="1800">
                <a:solidFill>
                  <a:srgbClr val="3D424E"/>
                </a:solidFill>
              </a:rPr>
              <a:t>protocolo humano interno (aproximadamente 250 imagens do FairFace) e sensitivity analysis com dois a três classificadores alternativos.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Classificador MST em validação: detalhe técnico do backend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st_detalhe_tecni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818" y="1371600"/>
            <a:ext cx="11443315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Pipeline técnico em cinco etapas: detecção MTCNN → alinhamento por landmarks → segmentação de pele → cor dominante via k-means em CIELab → distância euclidiana à paleta Monk. Backend operacional durante a fase de validação (sensitivity analysis — Cap. 4 §4.2).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Classificador MST em validação: amostras FairFace val (qualitativo)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st_demo_fa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795" y="1371600"/>
            <a:ext cx="9681361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Para cada raça FairFace: face com tom MST mais claro (acima) e mais escuro (abaixo) preditos sobre amostra estratificada de 350 imagens. Evidência visual direta de H1 — heterogeneidade fenotípica intra-categorial.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Classificador MST em validação: distribuição MST × raça (quantitativo)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mst_demo_distribui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499" y="1371600"/>
            <a:ext cx="10821954" cy="4389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Distribuição percentual (dentro de cada raça) sobre amostra estratificada (n = 350, 50 por raça). Nenhuma raça colapsa em um único tom Monk — evidência preliminar que sustenta a formalização de H1.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Racional da escolha do backbone: ConvNeXt-T (Liu et al., 2022)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Paridade com ViTs a custo convolucional:  </a:t>
            </a:r>
            <a:r>
              <a:rPr sz="1800">
                <a:solidFill>
                  <a:srgbClr val="3D424E"/>
                </a:solidFill>
              </a:rPr>
              <a:t>82 % top-1 ImageNet, comparável a Swin-T, ~1/3 dos params.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Estável em fine-tuning:  </a:t>
            </a:r>
            <a:r>
              <a:rPr sz="1800">
                <a:solidFill>
                  <a:srgbClr val="3D424E"/>
                </a:solidFill>
              </a:rPr>
              <a:t>LayerNorm (não BatchNorm) — robusto a batch pequeno, essencial para 3 sementes.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Inserção natural de FiLM:  </a:t>
            </a:r>
            <a:r>
              <a:rPr sz="1800">
                <a:solidFill>
                  <a:srgbClr val="3D424E"/>
                </a:solidFill>
              </a:rPr>
              <a:t>4 estágios hierárquicos oferecem 4 pontos de inserção sem modificar blocos internos.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Comparável ao baseline canônico:  </a:t>
            </a:r>
            <a:r>
              <a:rPr sz="1800">
                <a:solidFill>
                  <a:srgbClr val="3D424E"/>
                </a:solidFill>
              </a:rPr>
              <a:t>ResNet-34 do FairFace serve como âncora — ConvNeXt-T isola o efeito do condicionamento.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Viável computacionalmente:  </a:t>
            </a:r>
            <a:r>
              <a:rPr sz="1800">
                <a:solidFill>
                  <a:srgbClr val="3D424E"/>
                </a:solidFill>
              </a:rPr>
              <a:t>28 M params permitem 3 sementes × 3 configs em GPU comum (~300 h total).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Racional do mecanismo de condicionamento: FiLM (Perez et al., 2018)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Adequação dimensional ao sinal MST:  </a:t>
            </a:r>
            <a:r>
              <a:rPr sz="1800">
                <a:solidFill>
                  <a:srgbClr val="3D424E"/>
                </a:solidFill>
              </a:rPr>
              <a:t>sinal 10-dim casa naturalmente com γ, β — sem explosão paramétrica.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Eficiência:  </a:t>
            </a:r>
            <a:r>
              <a:rPr sz="1800">
                <a:solidFill>
                  <a:srgbClr val="3D424E"/>
                </a:solidFill>
              </a:rPr>
              <a:t>~380 k parâmetros (~1,3 % do backbone) — muito abaixo de cross-attention (~3×).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Interpretabilidade direta:  </a:t>
            </a:r>
            <a:r>
              <a:rPr sz="1800">
                <a:solidFill>
                  <a:srgbClr val="3D424E"/>
                </a:solidFill>
              </a:rPr>
              <a:t>γ e β por canal permitem inspecionar como cada tom modula as features.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Compatibilidade nativa:  </a:t>
            </a:r>
            <a:r>
              <a:rPr sz="1800">
                <a:solidFill>
                  <a:srgbClr val="3D424E"/>
                </a:solidFill>
              </a:rPr>
              <a:t>opera bem com LayerNorm do ConvNeXt-T; init identidade preserva backbone.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Lacuna documentada:  </a:t>
            </a:r>
            <a:r>
              <a:rPr sz="1800">
                <a:solidFill>
                  <a:srgbClr val="3D424E"/>
                </a:solidFill>
              </a:rPr>
              <a:t>sem aplicação prévia em fairness facial multi-classe — Contribuição 3 desta pesquisa.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Descartadas com justificativa formal (Cap 2):  </a:t>
            </a:r>
            <a:r>
              <a:rPr sz="1800">
                <a:solidFill>
                  <a:srgbClr val="3D424E"/>
                </a:solidFill>
              </a:rPr>
              <a:t>Concatenação, CBN, Cross-attention, AdaIN, SPADE, HyperNetworks, LoRA/Adaptadores.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Mecanismo FiLM: modulação de features condicionada ao tom de pele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l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864" y="1371600"/>
            <a:ext cx="7605222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707682"/>
                </a:solidFill>
              </a:defRPr>
            </a:pPr>
            <a:r>
              <a:t>FiLM (Perez et al., 2018) modula as features intermediárias do ConvNeXt-T canal a canal, condicionadas ao vetor MST. Overhead paramétrico: aproximadamente 1,3 % do backbone.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Configurações do estudo de ablation arquitetural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33756" y="1325880"/>
            <a:ext cx="3657600" cy="4617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9656" y="1554480"/>
            <a:ext cx="685800" cy="685800"/>
          </a:xfrm>
          <a:prstGeom prst="ellipse">
            <a:avLst/>
          </a:prstGeom>
          <a:solidFill>
            <a:srgbClr val="1F2A4E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" y="23317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4E"/>
                </a:solidFill>
              </a:rPr>
              <a:t>ConvNeXt-T puro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" y="3291839"/>
            <a:ext cx="1152144" cy="502920"/>
          </a:xfrm>
          <a:prstGeom prst="roundRect">
            <a:avLst/>
          </a:prstGeom>
          <a:solidFill>
            <a:srgbClr val="E8EAED"/>
          </a:solidFill>
          <a:ln w="13970">
            <a:solidFill>
              <a:srgbClr val="3D42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3D424E"/>
                </a:solidFill>
              </a:rPr>
              <a:t>Imagem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27148" y="3291839"/>
            <a:ext cx="1481328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1F2A4E"/>
                </a:solidFill>
              </a:rPr>
              <a:t>ConvNeXt-T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68780" y="3543299"/>
            <a:ext cx="658368" cy="0"/>
          </a:xfrm>
          <a:prstGeom prst="bentConnector3">
            <a:avLst/>
          </a:prstGeom>
          <a:ln w="25400">
            <a:solidFill>
              <a:srgbClr val="3D4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6636" y="40690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D424E"/>
                </a:solidFill>
              </a:rPr>
              <a:t>Controle arquitetural
sem condicionamento.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" y="5166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707682"/>
                </a:solidFill>
              </a:rPr>
              <a:t>Baseline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65676" y="1325880"/>
            <a:ext cx="3657600" cy="4617720"/>
          </a:xfrm>
          <a:prstGeom prst="roundRect">
            <a:avLst/>
          </a:prstGeom>
          <a:solidFill>
            <a:srgbClr val="1F2A4E"/>
          </a:solidFill>
          <a:ln w="3048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751576" y="15544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1F2A4E"/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2836" y="23317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ConvNeXt-T + FiLM
(MST direto, 10-dim)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48556" y="3291839"/>
            <a:ext cx="1382572" cy="502920"/>
          </a:xfrm>
          <a:prstGeom prst="roundRect">
            <a:avLst/>
          </a:prstGeom>
          <a:solidFill>
            <a:srgbClr val="3D68BB"/>
          </a:solidFill>
          <a:ln w="1397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MST (10-dim)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9496" y="3291839"/>
            <a:ext cx="1250899" cy="502920"/>
          </a:xfrm>
          <a:prstGeom prst="roundRect">
            <a:avLst/>
          </a:prstGeom>
          <a:solidFill>
            <a:srgbClr val="B4C4E8"/>
          </a:solidFill>
          <a:ln w="1397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1F2A4E"/>
                </a:solidFill>
              </a:rPr>
              <a:t>FiLM · ConvNeXt-T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1128" y="3543299"/>
            <a:ext cx="658368" cy="0"/>
          </a:xfrm>
          <a:prstGeom prst="bentConnector3">
            <a:avLst/>
          </a:prstGeom>
          <a:ln w="25400">
            <a:solidFill>
              <a:srgbClr val="FFFF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48556" y="40690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B4C4E8"/>
                </a:solidFill>
              </a:rPr>
              <a:t>Proposta principal — tom
de pele contínuo como
contexto arquitetural.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8556" y="5166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B4C4E8"/>
                </a:solidFill>
              </a:rPr>
              <a:t>Perez et al. (2018) + Monk
(Schumann et al., 2023)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97596" y="1325880"/>
            <a:ext cx="3657600" cy="4617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83496" y="1554480"/>
            <a:ext cx="685800" cy="685800"/>
          </a:xfrm>
          <a:prstGeom prst="ellipse">
            <a:avLst/>
          </a:prstGeom>
          <a:solidFill>
            <a:srgbClr val="1F2A4E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8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4756" y="233172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2A4E"/>
                </a:solidFill>
              </a:rPr>
              <a:t>ConvNeXt-T + FiLM
(CLIP-text, 512-dim)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0475" y="3291839"/>
            <a:ext cx="1382572" cy="502920"/>
          </a:xfrm>
          <a:prstGeom prst="roundRect">
            <a:avLst/>
          </a:prstGeom>
          <a:solidFill>
            <a:srgbClr val="E8EAED"/>
          </a:solidFill>
          <a:ln w="1397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1F2A4E"/>
                </a:solidFill>
              </a:rPr>
              <a:t>CLIP-text (512-dim)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1416" y="3291839"/>
            <a:ext cx="1250899" cy="5029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/>
          <a:lstStyle/>
          <a:p>
            <a:pPr algn="ctr"/>
            <a:r>
              <a:rPr sz="1000" b="1">
                <a:solidFill>
                  <a:srgbClr val="1F2A4E"/>
                </a:solidFill>
              </a:rPr>
              <a:t>FiLM · ConvNeXt-T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763048" y="3543299"/>
            <a:ext cx="658368" cy="0"/>
          </a:xfrm>
          <a:prstGeom prst="bentConnector3">
            <a:avLst/>
          </a:prstGeom>
          <a:ln w="25400">
            <a:solidFill>
              <a:srgbClr val="3D68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80475" y="4069080"/>
            <a:ext cx="32918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>
                <a:solidFill>
                  <a:srgbClr val="3D424E"/>
                </a:solidFill>
              </a:rPr>
              <a:t>Alternativa moderna —
embedding textual rico
como sinal condicionante.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0475" y="51663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i="1">
                <a:solidFill>
                  <a:srgbClr val="707682"/>
                </a:solidFill>
              </a:rPr>
              <a:t>Radford et al. (2021) +
Dehdashtian et al. (2024)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>
                <a:solidFill>
                  <a:srgbClr val="707682"/>
                </a:solidFill>
              </a:defRPr>
            </a:pPr>
            <a:r>
              <a:t>Ceteris paribus: mesmo backbone (ConvNeXt-T), mesmo dataset (FairFace), mesmas três sementes, mesma receita de treino — varia-se apenas o sinal condicionante.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Protocolo de validação: cenários e norma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Cenário A — apenas raça:  </a:t>
            </a:r>
            <a:r>
              <a:rPr sz="1800">
                <a:solidFill>
                  <a:srgbClr val="3D424E"/>
                </a:solidFill>
              </a:rPr>
              <a:t>reporte estratificado por classe racial (sete classes do FairFace).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Cenário B — raça × gênero:  </a:t>
            </a:r>
            <a:r>
              <a:rPr sz="1800">
                <a:solidFill>
                  <a:srgbClr val="3D424E"/>
                </a:solidFill>
              </a:rPr>
              <a:t>análise interseccional (oito subgrupos), conforme protocolo estabelecido por Gender Shades (Buolamwini &amp; Gebru, 2018).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Norma seguida:  </a:t>
            </a:r>
            <a:r>
              <a:rPr sz="1800">
                <a:solidFill>
                  <a:srgbClr val="3D424E"/>
                </a:solidFill>
              </a:rPr>
              <a:t>ISO/IEC 19795-10:2024, padrão internacional para reporte de desempenho biométrico estratificado entre grupos demográficos.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Rigor experimental:  </a:t>
            </a:r>
            <a:r>
              <a:rPr sz="1800">
                <a:solidFill>
                  <a:srgbClr val="3D424E"/>
                </a:solidFill>
              </a:rPr>
              <a:t>três sementes independentes por experimento (42, 1, 2), comparação pareada e intervalo de confiança de 95 % via bootstrap não paramétrico.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Datasets de transferência (Etapa 5):  </a:t>
            </a:r>
            <a:r>
              <a:rPr sz="1800">
                <a:solidFill>
                  <a:srgbClr val="3D424E"/>
                </a:solidFill>
              </a:rPr>
              <a:t>RFW (Wang et al., 2019) e BFW (Robinson et al., 2020), com pares oficiais de verificação 1:1.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Triangulação de métricas de equidade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Por que triangular — Kleinberg et al. (2017):  </a:t>
            </a:r>
            <a:r>
              <a:rPr sz="1800">
                <a:solidFill>
                  <a:srgbClr val="3D424E"/>
                </a:solidFill>
              </a:rPr>
              <a:t>Teorema da Impossibilidade — demonstra a impossibilidade formal de satisfação simultânea de múltiplas definições de equidade quando as prevalências diferem entre grupos.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Disparity Ratio:  </a:t>
            </a:r>
            <a:r>
              <a:rPr sz="1800">
                <a:solidFill>
                  <a:srgbClr val="3D424E"/>
                </a:solidFill>
              </a:rPr>
              <a:t>razão entre F1 mínimo e máximo entre grupos; mensura a desigualdade de desempenho.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F1 da pior classe:  </a:t>
            </a:r>
            <a:r>
              <a:rPr sz="1800">
                <a:solidFill>
                  <a:srgbClr val="3D424E"/>
                </a:solidFill>
              </a:rPr>
              <a:t>protege o grupo sub-representado; evita ganhos concentrados apenas na média agregada.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Equal Opportunity — Hardt et al. (2016, NeurIPS):  </a:t>
            </a:r>
            <a:r>
              <a:rPr sz="1800">
                <a:solidFill>
                  <a:srgbClr val="3D424E"/>
                </a:solidFill>
              </a:rPr>
              <a:t>requer igualdade de taxa de verdadeiro positivo (TPR) condicionada ao rótulo verdadeiro.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Equalized Odds — Hardt et al. (2016):  </a:t>
            </a:r>
            <a:r>
              <a:rPr sz="1800">
                <a:solidFill>
                  <a:srgbClr val="3D424E"/>
                </a:solidFill>
              </a:rPr>
              <a:t>requisito estrito: igualdade simultânea de TPR e FPR entre grupos.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1F2A4E"/>
                </a:solidFill>
              </a:rPr>
              <a:t>Visualização Pareto:  </a:t>
            </a:r>
            <a:r>
              <a:rPr sz="1800">
                <a:solidFill>
                  <a:srgbClr val="3D424E"/>
                </a:solidFill>
              </a:rPr>
              <a:t>identificação da fronteira Pareto no trade-off acurácia agregada × disparidade demográfica.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Contribuições esperadas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6400800"/>
              </a:tblGrid>
              <a:tr h="11887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Eixo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Contribuições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Foco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Fenotípico-empírico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1, 2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Documentar como o fenótipo (MST) se distribui dentro de cada rótulo racial.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Metodológico-arquitetural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3, 4, 7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Injetar tom de pele como contexto arquitetural + triangulação de métricas.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Diagnóstico-estrutural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5, 6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Decompor o erro em fenotípico (irredutível) e algorítmico (mitigável).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Cronograma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200400"/>
                <a:gridCol w="5943600"/>
              </a:tblGrid>
              <a:tr h="52832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Período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Entrega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Ago–Set/2026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Preparação adiantada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Código das 6 etapas pronto (120 testes passando).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05/10/2026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Marco atual.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Out/2026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Aplicar sugestões da banca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Ajustes de texto e escopo.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Nov–Dez/2026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Etapas 1 e 2 formais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Treino MST + matriz pública MST × raça.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Jan–Mar/2027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Etapa 3 (ablation)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3 configurações A/B/C do FiLM.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Abr–Mai/2027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Etapas 4 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6 baselines + transferência RFW/BFW.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Jun/2027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Etapa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Síntese decompositiva.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2º sem 2027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Redação final + DEFESA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D424E"/>
                          </a:solidFill>
                        </a:rPr>
                        <a:t>Encerramento.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Riscos identificados e estratégias de mitigação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4114800"/>
                <a:gridCol w="6766560"/>
              </a:tblGrid>
              <a:tr h="95097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Risco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Mitigação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Alguma das 6 hipóteses pode ser refutada.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Cada hipótese tem plano B; refutação é resultado científico válido.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Qualidade do nosso classificador de tom de pele.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Validação humana + sensitivity com outros classificadores + benchmark externo (STW) quando disponível.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Refutação parcial pela tese Pangelinan (pixel info &gt; tom).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Já incluída como H6 — refutação vira contribuição quantitativa.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R4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Custo computacional (3 sementes × 3 configs × 6 baselines).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3D424E"/>
                          </a:solidFill>
                        </a:rPr>
                        <a:t>ConvNeXt-T é leve (~28M params); estimativa 200–400 h GPU total.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Estado atual do trabalho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79476" y="1463040"/>
            <a:ext cx="3657600" cy="201168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9476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meses adiantados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B4C4E8"/>
                </a:solidFill>
              </a:defRPr>
            </a:pPr>
            <a:r>
              <a:t>sobre o cronograma proposto na qualificação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65676" y="1463040"/>
            <a:ext cx="3657600" cy="20116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65676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A4E"/>
                </a:solidFill>
              </a:defRPr>
            </a:pPr>
            <a:r>
              <a:t>6 de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65676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etapas com código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7116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707682"/>
                </a:solidFill>
              </a:defRPr>
            </a:pPr>
            <a:r>
              <a:t>estruturado, testado e pronto para execução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1875" y="1463040"/>
            <a:ext cx="3657600" cy="20116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1875" y="1600200"/>
            <a:ext cx="3657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F2A4E"/>
                </a:solidFill>
              </a:defRPr>
            </a:pPr>
            <a:r>
              <a:t>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5" y="2514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F2A4E"/>
                </a:solidFill>
              </a:defRPr>
            </a:pPr>
            <a:r>
              <a:t>testes automatizados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3315" y="297180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707682"/>
                </a:solidFill>
              </a:defRPr>
            </a:pPr>
            <a:r>
              <a:t>todos passando (unit + smoke + integração)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4048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F2A4E"/>
                </a:solidFill>
              </a:defRPr>
            </a:pPr>
            <a:r>
              <a:t>Estado das entregas em 28/09/2026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9768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•  Etapas 1 e 2 (código completo):  </a:t>
            </a:r>
            <a:r>
              <a:rPr sz="1600">
                <a:solidFill>
                  <a:srgbClr val="3D424E"/>
                </a:solidFill>
              </a:rPr>
              <a:t>classificador MST treinado internamente, camada de preprocessamento auto-suficiente, matriz MST × raça, teste formal de H2.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•  Etapa 3 (FiLM):  </a:t>
            </a:r>
            <a:r>
              <a:rPr sz="1600">
                <a:solidFill>
                  <a:srgbClr val="3D424E"/>
                </a:solidFill>
              </a:rPr>
              <a:t>camada FiLM, wrapper ConvNeXt-T, ensembler CLIP-text e pipeline de treinamento das três configurações.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•  Etapas 4, 5 e 6:  </a:t>
            </a:r>
            <a:r>
              <a:rPr sz="1600">
                <a:solidFill>
                  <a:srgbClr val="3D424E"/>
                </a:solidFill>
              </a:rPr>
              <a:t>métricas de equidade, quatro baselines, análise Pareto, verificação em RFW/BFW e decomposição ANOVA/R².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F2A4E"/>
                </a:solidFill>
              </a:rPr>
              <a:t>•  Texto da dissertação:  </a:t>
            </a:r>
            <a:r>
              <a:rPr sz="1600">
                <a:solidFill>
                  <a:srgbClr val="3D424E"/>
                </a:solidFill>
              </a:rPr>
              <a:t>cinco capítulos consolidados, três passadas de revisão de estilo e 104 fichas bibliográficas.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Exame de Qualificação · Marcello Ozzetti · Orientação: Prof. Dr. Marcos G. Quiles · PPG-CC UNIFESP/ICT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0" y="644652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07682"/>
                </a:solidFill>
              </a:defRPr>
            </a:pPr>
            <a: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Obrigado.</a:t>
            </a:r>
          </a:p>
          <a:p>
            <a:pPr algn="ctr">
              <a:defRPr sz="2800">
                <a:solidFill>
                  <a:srgbClr val="B4C4E8"/>
                </a:solidFill>
              </a:defRPr>
            </a:pPr>
            <a:r>
              <a:t>Perguntas?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B4C4E8"/>
                </a:solidFill>
              </a:defRPr>
            </a:pPr>
            <a:r>
              <a:t>Marcello Ozzetti · marcello.ozzetti@gmail.com · UNIFESP/ICT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