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246888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600" b="1">
                <a:solidFill>
                  <a:srgbClr val="FFFFFF"/>
                </a:solidFill>
              </a:defRPr>
            </a:pPr>
            <a:r>
              <a:t>T-44</a:t>
            </a:r>
          </a:p>
          <a:p>
            <a:pPr>
              <a:defRPr sz="1200">
                <a:solidFill>
                  <a:srgbClr val="B4C4E8"/>
                </a:solidFill>
              </a:defRPr>
            </a:pPr>
            <a:r>
              <a:t>dias ate</a:t>
            </a:r>
            <a:br/>
            <a:r>
              <a:t>qualificacao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188720"/>
            <a:ext cx="96012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A4E"/>
                </a:solidFill>
              </a:defRPr>
            </a:pPr>
            <a:r>
              <a:t>Andamento — Ago/2026</a:t>
            </a:r>
          </a:p>
          <a:p>
            <a:pPr>
              <a:defRPr sz="2200">
                <a:solidFill>
                  <a:srgbClr val="3D424E"/>
                </a:solidFill>
              </a:defRPr>
            </a:pPr>
            <a:r>
              <a:t>Etapa 1 iniciada + pipeline organizado + achado bloqueante</a:t>
            </a:r>
          </a:p>
          <a:p>
            <a:pPr>
              <a:defRPr sz="1600" i="1">
                <a:solidFill>
                  <a:srgbClr val="707682"/>
                </a:solidFill>
              </a:defRPr>
            </a:pPr>
            <a:r>
              <a:t>3 meses de adiantamento sobre o cronograma proposto na qualificacao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11480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Programa:  Mestrado em Ciencia da Computacao — Unifesp / ICT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Reuniao:  17/08/2026 (semana 17-Ago)</a:t>
            </a:r>
          </a:p>
          <a:p>
            <a:pPr>
              <a:defRPr sz="1500">
                <a:solidFill>
                  <a:srgbClr val="3D424E"/>
                </a:solidFill>
              </a:defRPr>
            </a:pPr>
            <a:r>
              <a:t>Qualificacao:  30/09/2026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Cronograma — realizado vs planejado (proposta da qualificacao)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371600"/>
                <a:gridCol w="3931920"/>
                <a:gridCol w="2377440"/>
                <a:gridCol w="201168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Periodo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Planejado na qualificacao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 atual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Delta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Jul/2026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Escrita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Fechamento da monografia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</a:rPr>
                        <a:t>Entregue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 prazo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Ago/2026 (hoje)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1 — prep.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(nao iniciado)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E7D32"/>
                          </a:solidFill>
                        </a:rPr>
                        <a:t>Adiantado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+3 meses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Set/2026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Qualificacao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Exame de qualificacao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68A00"/>
                          </a:solidFill>
                        </a:rPr>
                        <a:t>Em curso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T-44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Out/2026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Correcoes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Aplicar apontamentos da banca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Planejado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Nov/2026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1 — formal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SkinToneNet + FairFace + validacao humana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</a:rPr>
                        <a:t>Bloqueado (weights)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risco 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Dez/2026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Auditoria fenotipica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Skeleton pronto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 prazo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Jan-Mar/2027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ConvNeXt-T + FiLM (A/B/C/D)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Skeleton pronto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 prazo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Abr/2027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6 baselines + triangulacao Pareto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Skeleton pronto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 prazo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Mai/2027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Transferencia fair RFW/BFW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Skeleton pronto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 prazo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Jun/2027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Etapa 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Decomposicao Latinx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Skeleton pronto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 prazo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Nov/2026 - Jul/2027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Redacao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Elaboracao paralela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Planejado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2o sem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Defesa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Defesa da dissertacao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707682"/>
                          </a:solidFill>
                        </a:rPr>
                        <a:t>Planejado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—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Status alinhado ao Cap 5 (cronograma+riscos). Bloqueio da Etapa 1 formal tem 3 mitigacoes ativas (Slide 5).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Pipelines das 6 etapas — estado do codigo em Ago/2026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8872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560320"/>
                <a:gridCol w="3291840"/>
                <a:gridCol w="4023360"/>
                <a:gridCol w="1554480"/>
              </a:tblGrid>
              <a:tr h="6792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Etapa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Modulo (src/face_bias/)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Codigo entregue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Testes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Classificador MST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mst/ (skintonenet + validation + sensitivity)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Wrapper + cache SQLite + CLI + plano B (reproducao)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16 unit tests OK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Auditoria FairFace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audit/ (fairface_mst + cross_matrix)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Skeleton com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skip (TODO Dez)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Classificador condicionado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conditioning/ (film + clip_prompts + injector)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Skeleton com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skip (TODO Jan)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Baselines + Pareto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baselines/ + fairness/ (9 modulos)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Skeleton com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skip (TODO Abr)</a:t>
                      </a:r>
                    </a:p>
                  </a:txBody>
                  <a:tcPr/>
                </a:tc>
              </a:tr>
              <a:tr h="67926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Transferencia fair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transfer/ (rfw + bfw + bisenet + qualidade)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Skeleton com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skip (TODO Mai)</a:t>
                      </a:r>
                    </a:p>
                  </a:txBody>
                  <a:tcPr/>
                </a:tc>
              </a:tr>
              <a:tr h="679272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Sintese decompositiva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decomposition/ (error_decomp)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Skeleton com interfaces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424E"/>
                          </a:solidFill>
                        </a:rPr>
                        <a:t>skip (TODO Jun)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Herdado do MBA: backbones (ConvNeXt-T ja registrado), losses (ArcFace/AdaFace/MagFace/SupCon), MTCNN, DVC, MLflow.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Contribuicoes esperadas — 3 eixos, 7 contribuicoes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3840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1F2A4E"/>
                </a:solidFill>
              </a:defRPr>
            </a:pPr>
            <a:r>
              <a:t>EIXO FENOTIPICO-EMPIRICO</a:t>
            </a:r>
          </a:p>
          <a:p>
            <a:pPr>
              <a:defRPr sz="1100" i="1">
                <a:solidFill>
                  <a:srgbClr val="C0392B"/>
                </a:solidFill>
              </a:defRPr>
            </a:pPr>
            <a:r>
              <a:t>Contribuicoes 1 e 2</a:t>
            </a:r>
          </a:p>
          <a:p>
            <a:pPr>
              <a:spcAft>
                <a:spcPts val="400"/>
              </a:spcAft>
              <a:defRPr sz="1100">
                <a:solidFill>
                  <a:srgbClr val="3D424E"/>
                </a:solidFill>
              </a:defRPr>
            </a:pPr>
            <a:r>
              <a:t>Documenta a distribuicao real do fenotipo (MST) dentro das classes raciais</a:t>
            </a:r>
          </a:p>
          <a:p>
            <a:pPr>
              <a:spcBef>
                <a:spcPts val="1200"/>
              </a:spcBef>
              <a:defRPr sz="1300" b="1">
                <a:solidFill>
                  <a:srgbClr val="1F2A4E"/>
                </a:solidFill>
              </a:defRPr>
            </a:pPr>
            <a:r>
              <a:t>EIXO METODOLOGICO-ARQUITETURAL</a:t>
            </a:r>
          </a:p>
          <a:p>
            <a:pPr>
              <a:defRPr sz="1100" i="1">
                <a:solidFill>
                  <a:srgbClr val="C0392B"/>
                </a:solidFill>
              </a:defRPr>
            </a:pPr>
            <a:r>
              <a:t>Contribuicoes 3, 4 e 7</a:t>
            </a:r>
          </a:p>
          <a:p>
            <a:pPr>
              <a:spcAft>
                <a:spcPts val="400"/>
              </a:spcAft>
              <a:defRPr sz="1100">
                <a:solidFill>
                  <a:srgbClr val="3D424E"/>
                </a:solidFill>
              </a:defRPr>
            </a:pPr>
            <a:r>
              <a:t>Introduz o tom de pele como sinal condicionante via mecanismo arquitetural</a:t>
            </a:r>
          </a:p>
          <a:p>
            <a:pPr>
              <a:spcBef>
                <a:spcPts val="1200"/>
              </a:spcBef>
              <a:defRPr sz="1300" b="1">
                <a:solidFill>
                  <a:srgbClr val="1F2A4E"/>
                </a:solidFill>
              </a:defRPr>
            </a:pPr>
            <a:r>
              <a:t>EIXO DIAGNOSTICO-ESTRUTURAL</a:t>
            </a:r>
          </a:p>
          <a:p>
            <a:pPr>
              <a:defRPr sz="1100" i="1">
                <a:solidFill>
                  <a:srgbClr val="C0392B"/>
                </a:solidFill>
              </a:defRPr>
            </a:pPr>
            <a:r>
              <a:t>Contribuicoes 5 e 6</a:t>
            </a:r>
          </a:p>
          <a:p>
            <a:pPr>
              <a:spcAft>
                <a:spcPts val="400"/>
              </a:spcAft>
              <a:defRPr sz="1100">
                <a:solidFill>
                  <a:srgbClr val="3D424E"/>
                </a:solidFill>
              </a:defRPr>
            </a:pPr>
            <a:r>
              <a:t>Decompoe o erro em componentes fenotipico e algoritmico, com transferencia 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371600"/>
            <a:ext cx="7315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1.  </a:t>
            </a:r>
            <a:r>
              <a:rPr sz="1100">
                <a:solidFill>
                  <a:srgbClr val="3D424E"/>
                </a:solidFill>
              </a:rPr>
              <a:t>Avaliacao comparativa de modelos MST pre-treinados com sensitivity analysis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2.  </a:t>
            </a:r>
            <a:r>
              <a:rPr sz="1100">
                <a:solidFill>
                  <a:srgbClr val="3D424E"/>
                </a:solidFill>
              </a:rPr>
              <a:t>Primeira matriz publica MST x classes raciais sobre o FairFace val set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3.  </a:t>
            </a:r>
            <a:r>
              <a:rPr sz="1100">
                <a:solidFill>
                  <a:srgbClr val="3D424E"/>
                </a:solidFill>
              </a:rPr>
              <a:t>Primeira aplicacao documentada de FiLM-conditioning a race classification multi-classe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4.  </a:t>
            </a:r>
            <a:r>
              <a:rPr sz="1100">
                <a:solidFill>
                  <a:srgbClr val="3D424E"/>
                </a:solidFill>
              </a:rPr>
              <a:t>Triangulacao de metricas multi-classe (DR + worst-class F1 + EO/EqOdds), aderente a ISO 19795-10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5.  </a:t>
            </a:r>
            <a:r>
              <a:rPr sz="1100">
                <a:solidFill>
                  <a:srgbClr val="3D424E"/>
                </a:solidFill>
              </a:rPr>
              <a:t>Demonstracao empirica de transferencia fair de classification para face recognition, com controle de pixel information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6.  </a:t>
            </a:r>
            <a:r>
              <a:rPr sz="1100">
                <a:solidFill>
                  <a:srgbClr val="3D424E"/>
                </a:solidFill>
              </a:rPr>
              <a:t>Decomposicao quantitativa do erro Latinx: fenotipico irredutivel vs algoritmico mitigavel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1F2A4E"/>
                </a:solidFill>
              </a:rPr>
              <a:t>Contribuicao 7.  </a:t>
            </a:r>
            <a:r>
              <a:rPr sz="1100">
                <a:solidFill>
                  <a:srgbClr val="3D424E"/>
                </a:solidFill>
              </a:rPr>
              <a:t>Estudo comparativo entre 4 configuracoes de conditioning (baseline, FiLM linear, FiLM com porta, FiLM CLIP)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Sem mudancas de escopo desde Jul/2026. Cada contribuicao continua vinculada a um objetivo e uma hipotese testavel (Cap 3).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Pontos de decisao — pauta da reuniao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1F2A4E"/>
                </a:solidFill>
              </a:defRPr>
            </a:pPr>
            <a:r>
              <a:t>1. Achado bloqueante — SkinToneNet (Matias 2026, arXiv 2603.02475)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  Contexto:  Weights e dataset STW ainda nao publicados ('code and data available soon'). Autores no ICMC/USP + IMPA.</a:t>
            </a:r>
          </a:p>
          <a:p>
            <a:r>
              <a:rPr sz="1100" b="1">
                <a:solidFill>
                  <a:srgbClr val="C0392B"/>
                </a:solidFill>
              </a:rPr>
              <a:t>  Decisao:  </a:t>
            </a:r>
            <a:r>
              <a:rPr sz="1100">
                <a:solidFill>
                  <a:srgbClr val="3D424E"/>
                </a:solidFill>
              </a:rPr>
              <a:t>Recomendacao: enviar email institucional ao Prof. Joao Batista Neto (ICMC/USP) pedindo acesso antecipado. Rascunho pronto em docs/ativo/email_skintonenet_authors.md — precisa da sua aprovacao/ajustes.</a:t>
            </a:r>
          </a:p>
          <a:p>
            <a:pPr>
              <a:defRPr sz="1000" i="1">
                <a:solidFill>
                  <a:srgbClr val="707682"/>
                </a:solidFill>
              </a:defRPr>
            </a:pPr>
            <a:r>
              <a:t>  Plano B ativo: pipeline de reproducao pronto (pipelines/03b_train_mst_reproduction.py); backend classico 'stone_monk' como oraculo temporario para nao bloquear Etapas 2 e 3.</a:t>
            </a:r>
          </a:p>
          <a:p>
            <a:pPr>
              <a:spcBef>
                <a:spcPts val="1000"/>
              </a:spcBef>
              <a:defRPr sz="1300" b="1">
                <a:solidFill>
                  <a:srgbClr val="1F2A4E"/>
                </a:solidFill>
              </a:defRPr>
            </a:pPr>
            <a:r>
              <a:t>2. Foco Ago-Set/2026 — qualificacao vs adiantamento tecnico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  Contexto:  Foco proposto: apresentacao (prioridade maxima) + Etapa 2 skeleton avancando em paralelo.</a:t>
            </a:r>
          </a:p>
          <a:p>
            <a:r>
              <a:rPr sz="1100" b="1">
                <a:solidFill>
                  <a:srgbClr val="C0392B"/>
                </a:solidFill>
              </a:rPr>
              <a:t>  Decisao:  </a:t>
            </a:r>
            <a:r>
              <a:rPr sz="1100">
                <a:solidFill>
                  <a:srgbClr val="3D424E"/>
                </a:solidFill>
              </a:rPr>
              <a:t>Decisao aberta: quer que eu comece a implementar a Etapa 2 (auditoria FairFace x MST) ja nesta semana, ou aguardar o pos-qualificacao?</a:t>
            </a:r>
          </a:p>
          <a:p>
            <a:pPr>
              <a:spcBef>
                <a:spcPts val="1000"/>
              </a:spcBef>
              <a:defRPr sz="1300" b="1">
                <a:solidFill>
                  <a:srgbClr val="1F2A4E"/>
                </a:solidFill>
              </a:defRPr>
            </a:pPr>
            <a:r>
              <a:t>3. Ordem de execucao dos baselines (Etapa 4, Abr/2027)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  Contexto:  Sao 6 baselines: ResNet-34, ConvNeXt-T puro, FSCL+, Group DRO, FineFACE, Adversarial Debias.</a:t>
            </a:r>
          </a:p>
          <a:p>
            <a:r>
              <a:rPr sz="1100" b="1">
                <a:solidFill>
                  <a:srgbClr val="C0392B"/>
                </a:solidFill>
              </a:rPr>
              <a:t>  Decisao:  </a:t>
            </a:r>
            <a:r>
              <a:rPr sz="1100">
                <a:solidFill>
                  <a:srgbClr val="3D424E"/>
                </a:solidFill>
              </a:rPr>
              <a:t>Decisao aberta: rodar todos os 6 desde o comeco ou selecionar 3 criticos (ResNet-34, FSCL+, FineFACE) para reduzir tempo de GPU?</a:t>
            </a:r>
          </a:p>
          <a:p>
            <a:pPr>
              <a:spcBef>
                <a:spcPts val="1000"/>
              </a:spcBef>
              <a:defRPr sz="1300" b="1">
                <a:solidFill>
                  <a:srgbClr val="1F2A4E"/>
                </a:solidFill>
              </a:defRPr>
            </a:pPr>
            <a:r>
              <a:t>4. Sensitivity backend — licenca GPL do 'stone_monk'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  Contexto:  Biblioteca ChenglongMa/SkinToneClassifier tem paleta Monk 10-classes disponivel hoje, mas licenca GPL-3.0.</a:t>
            </a:r>
          </a:p>
          <a:p>
            <a:r>
              <a:rPr sz="1100" b="1">
                <a:solidFill>
                  <a:srgbClr val="C0392B"/>
                </a:solidFill>
              </a:rPr>
              <a:t>  Decisao:  </a:t>
            </a:r>
            <a:r>
              <a:rPr sz="1100">
                <a:solidFill>
                  <a:srgbClr val="3D424E"/>
                </a:solidFill>
              </a:rPr>
              <a:t>Uso previsto: dep opcional, invocacao out-of-process (import lazy ja implementado). Sem linkagem ao codigo proprio.</a:t>
            </a:r>
          </a:p>
          <a:p>
            <a:pPr>
              <a:defRPr sz="1000" i="1">
                <a:solidFill>
                  <a:srgbClr val="707682"/>
                </a:solidFill>
              </a:defRPr>
            </a:pPr>
            <a:r>
              <a:t>  Decisao aberta: aprovado esse uso ou trocar por outro backend (ex: modelo HuggingFace)?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07682"/>
                </a:solidFill>
              </a:defRPr>
            </a:pPr>
            <a:r>
              <a:t>Todo o codigo mencionado ja esta implementado e testado; nada depende dessa reuniao para continuar tecnicamente — depende para decisoes de escopo.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