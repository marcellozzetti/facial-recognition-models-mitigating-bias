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A4E"/>
                </a:solidFill>
              </a:defRPr>
            </a:pPr>
            <a:r>
              <a:t>Qualificação no Overleaf — Cap 2 em ajuste final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Migração LaTeX concluída, decisões éticas e ajuste de cronograma</a:t>
            </a:r>
          </a:p>
          <a:p>
            <a:pPr>
              <a:defRPr sz="1300" i="1">
                <a:solidFill>
                  <a:srgbClr val="707682"/>
                </a:solidFill>
              </a:defRPr>
            </a:pPr>
            <a:r>
              <a:t>Mitigação de Viés Racial em Classificação Facial via Condicionamento por Tom de Pele em Arquiteturas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13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Objetivo desta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Plano até a defesa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Estado real da escrita — qualificação no Overleaf, Cap 2 em revisão ativa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Decisão de pesquisa ética — Declaração de Responsabilidade em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Solicitação pessoal e debate técnico fecham a reunião como pontos complementares.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 tese em uma tela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empírico:  </a:t>
            </a:r>
            <a:r>
              <a:rPr sz="1600">
                <a:solidFill>
                  <a:srgbClr val="3D424E"/>
                </a:solidFill>
              </a:rPr>
              <a:t>F1 macro alto mascara disparidade Black ≈ 90 % vs Latinx ≈ 60 % em SOTA sobre FairFace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 de pesquisa:  </a:t>
            </a:r>
            <a:r>
              <a:rPr sz="1600">
                <a:solidFill>
                  <a:srgbClr val="3D424E"/>
                </a:solidFill>
              </a:rPr>
              <a:t>condicionar arquiteturalmente um classificador racial pelo tom de pele (MST) reduz essa disparidade sem sacrificar acurácia agregada?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desenvolver e avaliar pipeline de classificação racial que incorpora tom de pele (escala Monk 10 classes) como sinal auxiliar condicionante via mecanismo arquitetural (FiLM)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Contribuição principal:  </a:t>
            </a:r>
            <a:r>
              <a:rPr sz="1600">
                <a:solidFill>
                  <a:srgbClr val="3D424E"/>
                </a:solidFill>
              </a:rPr>
              <a:t>primeira instância empírica de tom de pele como contexto arquitetural para race classification multi-classe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central:  </a:t>
            </a:r>
            <a:r>
              <a:rPr sz="1600">
                <a:solidFill>
                  <a:srgbClr val="3D424E"/>
                </a:solidFill>
              </a:rPr>
              <a:t>erro Latinx = componente fenotípico irredutível (overlap MST) + componente algorítmico — a decomposição é o diferencial da 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MST vs Fitzpatrick: 10 vs 6 classes, projetado para CV vs dermatologia. FiLM vs concatenação: modula vs re-aprende.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Corpus consolidado — 104 fichas em 11 linhas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40080"/>
                <a:gridCol w="109728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Linha de pesquisa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corpus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Papers-âncora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 — Race classification multi-classe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Kärkkäinen 2021 (FairFace), AlDahoul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Wang RFW 2019, Robinson BFW 2020, Deng ArcFace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 — Skin tone alternativo (Fitzpatrick, MST, ITA)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Schumann 2023 (MST), Pereira 2026 (SkinToneNet)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Madras LAFTR 2018, Sagawa Group DRO 2020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 — Auditoria e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Buolamwini 2018, Mehrabi 2021 survey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 — Fundamentação científica e 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Fuentes AAPA 2019, Lewontin 1972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 — Mecanismos ML paradigmáticos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8,7 %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Perez FiLM 2018, Ba LayerNorm, He ResNet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 — VLM / CLIP em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Radford CLIP 2021, Luo FairCLIP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 — Conditioning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Liu ConvNeXt 2022, Dhariwal ADM 2021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 — Fundadores de FR (DeepFace, ArcFace, CosFace)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Taigman DeepFace 2014, Wang CosFace 2018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 — 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Karkkainen datasets, Hendrycks robustness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R8 — Diversidade Latinx (antropo + genética + socio)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 2014, Bryc 2015, Pew 2017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Fronteira temporal: 55 fichas (53 %) são 2024+, incluindo 5 papers de 2026 — corpus na fronteira absoluta.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consolidado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828800"/>
                <a:gridCol w="4572000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Comentário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 da qualificação ao orientador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15/jul/2026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Overleaf compartilhado hoje; Cap 1, 3, 4, 5 em versão inicial; Cap 2 em revisão ativa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Pedido formal de qualificação ao PPG-CC / 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30/jul/2026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Prazo regimental do Programa — mantido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Defesa da 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outubro/2026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Ajuste de agosto → outubro (extensão de 2 meses solicitada)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Marco 1 antecipado em dois dias. Marcos 2 e 3 conforme planejado.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Estado da escrita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O que já está escrito e como vai virar Overleaf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Estado real da escrita — qualificação no Overleaf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1 — Introdução:  </a:t>
            </a:r>
            <a:r>
              <a:rPr sz="1600">
                <a:solidFill>
                  <a:srgbClr val="3D424E"/>
                </a:solidFill>
              </a:rPr>
              <a:t>no Overleaf, versão inicial completa; ancora a disparidade Black 90 % × Latinx 60 %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2 — Revisão:  </a:t>
            </a:r>
            <a:r>
              <a:rPr sz="1600">
                <a:solidFill>
                  <a:srgbClr val="3D424E"/>
                </a:solidFill>
              </a:rPr>
              <a:t>em escrita e revisão ativa; corpo bibliográfico está sendo densificado com 104 referências mapeadas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3 — Objetivos:  </a:t>
            </a:r>
            <a:r>
              <a:rPr sz="1600">
                <a:solidFill>
                  <a:srgbClr val="3D424E"/>
                </a:solidFill>
              </a:rPr>
              <a:t>no Overleaf; OG + 6 OE + 6 hipóteses + 7 contribuições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4 — Metodologia:  </a:t>
            </a:r>
            <a:r>
              <a:rPr sz="1600">
                <a:solidFill>
                  <a:srgbClr val="3D424E"/>
                </a:solidFill>
              </a:rPr>
              <a:t>no Overleaf; pipeline 6 etapas + 4 configurações + adequação ética CEP formalizada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5 — Cronograma:  </a:t>
            </a:r>
            <a:r>
              <a:rPr sz="1600">
                <a:solidFill>
                  <a:srgbClr val="3D424E"/>
                </a:solidFill>
              </a:rPr>
              <a:t>no Overleaf; marcos ajustados conforme plano consolidado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Transposição:  </a:t>
            </a:r>
            <a:r>
              <a:rPr sz="1600">
                <a:solidFill>
                  <a:srgbClr val="3D424E"/>
                </a:solidFill>
              </a:rPr>
              <a:t>esqueleto no Overleaf; bibliografia .bib com 104 entradas importada; referências cruzadas testadas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Compartilhamento:  </a:t>
            </a:r>
            <a:r>
              <a:rPr sz="1600">
                <a:solidFill>
                  <a:srgbClr val="3D424E"/>
                </a:solidFill>
              </a:rPr>
              <a:t>convite do Overleaf enviado ao senhor a partir desta reunião — foco maior de revisão pedido no Cap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Cap 2 é o capítulo mais denso e onde ainda concentro esforço técnico esta semana.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 proposto — seis etapas encadeadas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384048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 / contribuição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pré-treinado + validação interna em subset FairFace estratificado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Insumo do pipeline (não é contribuição)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Auditoria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SkinToneNet sobre todo FairFace 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Matriz pública MST × race classes — Contribuição C2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Race classifier com conditioning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fine-tuned em FairFace, camadas FiLM por estágio recebendo vetor MST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Configurações A/B/C/D — Contribuição C3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Comparação contra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 baselines: ResNet-34, ConvNeXt-T puro, FSCL+, Group DRO, FineFACE, 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Triangulação DR + worst-class F1 + EO_h — Contribuição C4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Fair transferência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backbone fair em face recognition downstream (RFW ou BFW)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Demonstração de fair transfer — Contribuição C5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6. Síntese decompositiva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Combinar C2 + C5 para separar componente fenotípico do algorítmico do erro Latinx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Decomposição pixel info × skin tone — Contribuição C6/OE-6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Etapa 3 é onde o mecanismo FiLM entra. Etapa 6 é o diagnóstico central da tese.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Quatro configurações do estudo comparativo (Etapa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21615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3200400"/>
                <a:gridCol w="45720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Backbone +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Papel no estudo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de controle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 linear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— hipótese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(não-linear)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Ablação: linear vs não-linear importa?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Recomendação da reunião 15/jun — CLIP como alternativa moderna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B é a proposta central. C isola a não-linearidade. D compara com sinal semântico rico via CLIP.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achado que ancora a tese (Rodada 8, junho)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conhecido:  </a:t>
            </a:r>
            <a:r>
              <a:rPr sz="1600">
                <a:solidFill>
                  <a:srgbClr val="3D424E"/>
                </a:solidFill>
              </a:rPr>
              <a:t>modelos SOTA reportam F1 Latinx próximo de 60 % há três anos — persiste mesmo em modelos multimodais recentes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novo:  </a:t>
            </a:r>
            <a:r>
              <a:rPr sz="1600">
                <a:solidFill>
                  <a:srgbClr val="3D424E"/>
                </a:solidFill>
              </a:rPr>
              <a:t>não é só bias algorítmico. É heterogeneidade fenotípica intra-categoria que a rotulagem monolítica de FairFace apaga.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  <a:defRPr sz="1600">
                <a:solidFill>
                  <a:srgbClr val="3D424E"/>
                </a:solidFill>
              </a:defRPr>
            </a:pPr>
            <a:r>
              <a:t>— Fundamentação empírica agora tripla: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Antropologia:  </a:t>
            </a:r>
            <a:r>
              <a:rPr sz="1600">
                <a:solidFill>
                  <a:srgbClr val="3D424E"/>
                </a:solidFill>
              </a:rPr>
              <a:t>Telles 2014 (PERLA, 4 países latino-americanos) documenta pigmentocracia — tom de pele varia mais dentro da categoria do que entre elas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Genética:  </a:t>
            </a:r>
            <a:r>
              <a:rPr sz="1600">
                <a:solidFill>
                  <a:srgbClr val="3D424E"/>
                </a:solidFill>
              </a:rPr>
              <a:t>Bryc 2015 (AJHG, 162 mil indivíduos) — ancestralidade Native + European + African altamente variável em Latinos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Sociologia:  </a:t>
            </a:r>
            <a:r>
              <a:rPr sz="1600">
                <a:solidFill>
                  <a:srgbClr val="3D424E"/>
                </a:solidFill>
              </a:rPr>
              <a:t>Pew 2017 — identidade Hispanic cai de 97 % para 50 % em quatro gerações nos EUA. Categoria é sociopolítica, não fenotípica.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Esse é o argumento pelo qual C6 (decomposição fenotípico × algorítmico) vira contribuição central.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Validação externa via NotebookLM — 7 perguntas de defesa antecipadas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65836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Pergunta submetida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Ponto-chave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Tese é nova?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facial é inédito; matriz MST × FairFace preenche gap de Pereira 2026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Valor científico?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Elevado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Diagnóstico estrutural fenotípico × algorítmico + European AI Act 2024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Divergências / SOTA?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FaceScanPaliGemma 75,7 % acc; Pangelinan 2023 refuta via 'pixel info' (endereçado por H6)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Faltam artigos?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Latinx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intra-Latinx monolítica — respondido pela Rodada 8 (Telles/Bryc/Pew)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Furos e gaps?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 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Dependência SkinToneNet (mitigado por sensitivity analysis); escalabilidade além FairFace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atualizado?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Fronteira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Papers 2026 já cobertos (Pereira, AlDahoul, Lian)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defensável?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Sequenciamento + controle de confounders + ablação + rigor estatístico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Veredito NotebookLM: "trabalho bem estruturado, contribuições claras, fundamentado em literatura de ponta. Ponto crítico da defesa: decomposição do erro Latinx".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Cinco caminhos possíveis para mitigar viés — por que escolhi FiLM + MST + Decomposição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5720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Posição relativa à minha proposta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Condicionamento arquitetural (FiLM)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Modular features do backbone com tom de pele como sinal auxiliar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que adotei — inédito em fairness facial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Decomposição fenotípico × algorítmico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Separar erro irredutível de erro mitigável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Adotei — OE-6 na v3.6 formaliza isso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Destilação de conhecimento (MST-KD)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Múltiplos professores enviesados por etnia → estudante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avaliada — abandonada por custo computacional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Intervenção geométrica em embeddings (SPD/SFID)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Projeção ortogonal ao subespaço do viés em VLMs — training-free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Complementar — cobrimos parcialmente via configuração D (FiLM-CLIP)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Rótulos demográficos contínuos (Ethnicity 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Etnia como espectro contínuo, não categoria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Interseciona com MST — MST é já uma discretização de espectro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Adotei os caminhos 1 + 2 combinados. Deixo 3-5 declarados em Cap 4 como alternativas ponderadas e não adotadas.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Postura sobre uso de LLM — como quero deixar explícito na defesa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73152" cy="32004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i="1">
                <a:solidFill>
                  <a:srgbClr val="3D424E"/>
                </a:solidFill>
              </a:defRPr>
            </a:pPr>
            <a:r>
              <a:t>A LLM me poupou tempo em bibliotecas de referência, formatação de fichas e revisão de coerência entre capítulos. Mas cada afirmação central da tese — a pergunta de pesquisa, a escolha do backbone, o mecanismo FiLM, o ajuste ético do OE-1, o argumento de heterogeneidade intra-Latinx — nasceu de leitura minha e de conversas nesta sala. A transposição para o Overleaf foi manual, linha a linha, exatamente para forçar essa apropriação — e o senhor poderá conferir isso lendo o texto entregue hoje.</a:t>
            </a:r>
          </a:p>
          <a:p>
            <a:pPr>
              <a:defRPr sz="1400">
                <a:solidFill>
                  <a:srgbClr val="707682"/>
                </a:solidFill>
              </a:defRPr>
            </a:pPr>
            <a:r>
              <a:t>— posição que vou defender se questionado na banca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Preferi trazer isso já, para o senhor calibrar comigo o quanto explicitar em texto vs quanto só demonstrar em resposta.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Decisão ética que tomei sozinho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Preciso validar o enquadramento no Art. 8º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Contexto e trade-off que enfrentei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gatilho:  </a:t>
            </a:r>
            <a:r>
              <a:rPr sz="1600">
                <a:solidFill>
                  <a:srgbClr val="3D424E"/>
                </a:solidFill>
              </a:rPr>
              <a:t>no OE-1 original eu previa validar MST em ~700 imgs × 3 anotadores via Prolific — crowdsourcing pago, margem cinzenta perante Res. 200/2021 do CONSU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A — manter Prolific:  </a:t>
            </a:r>
            <a:r>
              <a:rPr sz="1600">
                <a:solidFill>
                  <a:srgbClr val="3D424E"/>
                </a:solidFill>
              </a:rPr>
              <a:t>amostra maior (2.100 anotações), mas exige CEP com prazo estimado de 2-3 meses — bloqueia defesa em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B — abandonar validação humana:  </a:t>
            </a:r>
            <a:r>
              <a:rPr sz="1600">
                <a:solidFill>
                  <a:srgbClr val="3D424E"/>
                </a:solidFill>
              </a:rPr>
              <a:t>SkinToneNet como oráculo — vira ponto único de falha (crítica do NotebookLM)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C — validação interna reduzida:  </a:t>
            </a:r>
            <a:r>
              <a:rPr sz="1600">
                <a:solidFill>
                  <a:srgbClr val="3D424E"/>
                </a:solidFill>
              </a:rPr>
              <a:t>eu + o senhor anotamos ~200-300 imgs estratificadas por raça e MST. Menor escala, mas suficiente para IAA + concordância com SkinToneNet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Decisão que tomei (Opção C):  </a:t>
            </a:r>
            <a:r>
              <a:rPr sz="1600">
                <a:solidFill>
                  <a:srgbClr val="3D424E"/>
                </a:solidFill>
              </a:rPr>
              <a:t>enquadra o projeto no Art. 8º da Res. 200/2021 → dispensa CEP, exige apenas Declaração de Responsabilidade (3 assinaturas: eu + orientador + chefe de departamento)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preciso hoje:  </a:t>
            </a:r>
            <a:r>
              <a:rPr sz="1600">
                <a:solidFill>
                  <a:srgbClr val="3D424E"/>
                </a:solidFill>
              </a:rPr>
              <a:t>1) validar a decisão; 2) confirmar quem é o chefe do departamento que assina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Se preferir voltar para Prolific, eu topo — mas o prazo CEP compromete outubro.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muda tecnicamente entre v3.5 e v3.6 do OE-1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Aspecto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v3.5 (com Prolific)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v3.6 (interno)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Escala da validação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~700 imagens × 3 anotadores externos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~200-300 imagens × 2-3 anotadores internos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dos anotadores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Crowdworkers com perfil variado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Mestrando + orientador (potencial viés declarado)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Métrica de concordância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Fleiss' kappa (múltiplos anotadores)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Cohen's kappa (par a par)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Poder estatístico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 95 % com margem menor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 95 % com margem maior — declarado como limitação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Risco regulatório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Requer CEP (2-3 meses)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Art. 8º — apenas Declaração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Cronograma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Bloqueia defesa em outubro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Compatível com outubro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 perda de escala é real. Vou declarar explicitamente como limitação metodológica no Cap 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Complemento — solicitação pessoal de extensão de 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aconteceu:  </a:t>
            </a:r>
            <a:r>
              <a:rPr sz="1600">
                <a:solidFill>
                  <a:srgbClr val="3D424E"/>
                </a:solidFill>
              </a:rPr>
              <a:t>minha filha nasceu em 28/março. Fiquei afastado nas semanas seguintes para o cuidado que ela e a mãe precisaram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preservei:  </a:t>
            </a:r>
            <a:r>
              <a:rPr sz="1600">
                <a:solidFill>
                  <a:srgbClr val="3D424E"/>
                </a:solidFill>
              </a:rPr>
              <a:t>marcos de 15/jul (1ª revisão) e 30/jul (pedido formal) continuam de pé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estou pedindo:  </a:t>
            </a:r>
            <a:r>
              <a:rPr sz="1600">
                <a:solidFill>
                  <a:srgbClr val="3D424E"/>
                </a:solidFill>
              </a:rPr>
              <a:t>extensão de 2 meses no prazo da defesa — de agosto para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Documento:  </a:t>
            </a:r>
            <a:r>
              <a:rPr sz="1600">
                <a:solidFill>
                  <a:srgbClr val="3D424E"/>
                </a:solidFill>
              </a:rPr>
              <a:t>carta em 2 parágrafos redigida, pronta para envio via SEI ou trâmite indicado pelo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Fora do escopo dos 3 bullets da agenda, mas precisa de encaminhamento hoje.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Perguntas em aberto — técnicas + administrativas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Estrutura entregue no Overleaf:  </a:t>
            </a:r>
            <a:r>
              <a:rPr sz="1600">
                <a:solidFill>
                  <a:srgbClr val="3D424E"/>
                </a:solidFill>
              </a:rPr>
              <a:t>há capítulo que o senhor gostaria de ver com tratamento diferente antes da minha próxima rodada de revisão?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Configurações comparativas:  </a:t>
            </a:r>
            <a:r>
              <a:rPr sz="1600">
                <a:solidFill>
                  <a:srgbClr val="3D424E"/>
                </a:solidFill>
              </a:rPr>
              <a:t>as 4 configs (A/B/C/D) bastam ou incluo uma 5ª variante (skin tone contínuo ITA/L* em vez de MST discreto)?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Cap 2 — ablation arquitetural:  </a:t>
            </a:r>
            <a:r>
              <a:rPr sz="1600">
                <a:solidFill>
                  <a:srgbClr val="3D424E"/>
                </a:solidFill>
              </a:rPr>
              <a:t>faz sentido meia-página comparando FiLM × CBN × cross-attention × AdaIN, ou deixo para a defesa oral?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OE-4 (fair transfer):  </a:t>
            </a:r>
            <a:r>
              <a:rPr sz="1600">
                <a:solidFill>
                  <a:srgbClr val="3D424E"/>
                </a:solidFill>
              </a:rPr>
              <a:t>métrica principal TPR@FAR=1e-4 estratificada por raça, ou DR agregado?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Declaração CEP:  </a:t>
            </a:r>
            <a:r>
              <a:rPr sz="1600">
                <a:solidFill>
                  <a:srgbClr val="3D424E"/>
                </a:solidFill>
              </a:rPr>
              <a:t>quem é o chefe do departamento que assina? Posso encaminhar o projeto formatado hoje mesmo.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Extensão de 2 meses:  </a:t>
            </a:r>
            <a:r>
              <a:rPr sz="1600">
                <a:solidFill>
                  <a:srgbClr val="3D424E"/>
                </a:solidFill>
              </a:rPr>
              <a:t>trâmite correto — carta direta, requerimento SEI ao PPG, ou processo formal?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Bônus:  </a:t>
            </a:r>
            <a:r>
              <a:rPr sz="1600">
                <a:solidFill>
                  <a:srgbClr val="3D424E"/>
                </a:solidFill>
              </a:rPr>
              <a:t>sugestões para banca preliminar (fairness externo + CV aplicada)?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Nesta semana entro em modo revisão conforme feedback vindo do Overleaf.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Aberto para o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