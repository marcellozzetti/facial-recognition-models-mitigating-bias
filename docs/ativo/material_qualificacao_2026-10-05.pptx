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Roteiro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3796" y="155448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3796" y="155448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22476" y="155448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59636" y="155448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Motivação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" y="265176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265176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22476" y="265176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59636" y="265176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Problema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" y="3749039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" y="3749039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22476" y="3749039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59636" y="3749039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Objetivos e hipóteses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" y="484632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" y="484632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2476" y="484632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59636" y="484632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Revisão da literatura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1636" y="155448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31636" y="155448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00316" y="155448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7476" y="155448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Metodologia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65176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1636" y="265176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00316" y="265176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7476" y="265176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3749039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1636" y="3749039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00316" y="3749039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7476" y="3749039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Cronograma e riscos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1636" y="4846320"/>
            <a:ext cx="822960" cy="9601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1636" y="4846320"/>
            <a:ext cx="82296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00316" y="4846320"/>
            <a:ext cx="4434840" cy="9601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37476" y="4846320"/>
            <a:ext cx="4297679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F2A4E"/>
                </a:solidFill>
              </a:defRPr>
            </a:pPr>
            <a:r>
              <a:t>Estado atual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 já é infraestrutura social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diferença na taxa de</a:t>
            </a:r>
            <a:br/>
            <a:r>
              <a:t>falso positivo entre</a:t>
            </a:r>
            <a:br/>
            <a:r>
              <a:t>grupos raciais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a tecnologia funciona bem para a maioria, mas não funciona igualmente bem para todos.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 tema virou obrigação regulatória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vira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pergunta científica mudou. Já não é “existe viés?” — está provado. É “como mitigar de forma defensável e auditável?”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estável de ~30 pontos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sobre o dataset FairFace (Kärkkäinen &amp; Joo, 2021). Diferença entre Black e Latinx = 30 pontos percentuais.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 disparidade persiste através de múltiplas arquiteturas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1_sota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476" y="1371600"/>
            <a:ext cx="9361999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Comparativo de F1 macro entre modelos publicados sobre o FairFace. A hierarquia de dificuldade entre raças é estável — problema estrutural, não artefato de um único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Por que “Latinx” é a classe mais difícil?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921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categoria agrupa fenótipos muito diferentes em uma única etiqueta.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em fairness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de raça esconde essa diversidade e prejudica o modelo em grupos heterogêneos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Contra-argumento: e se o problema não for “raça”?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o gap racial em face recognition é primariamente explicado pela FRAÇÃO DE FACE ÚTIL na imagem, não pelo rótulo de raça.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 — pressiona a comunidade a abandonar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vale, condicionar por raça é injustificável — o sinal correto seria puramente fenotípico.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Tom de pele COMPLEMENTA a raça:  </a:t>
            </a:r>
            <a:r>
              <a:rPr sz="1600">
                <a:solidFill>
                  <a:srgbClr val="3D424E"/>
                </a:solidFill>
              </a:rPr>
              <a:t>usamos MST como contexto — o rótulo racial continua sendo 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vira contribuição:  </a:t>
            </a:r>
            <a:r>
              <a:rPr sz="1600">
                <a:solidFill>
                  <a:srgbClr val="3D424E"/>
                </a:solidFill>
              </a:rPr>
              <a:t>se a crítica vencer, entregamos decomposição quantitativa do erro — resultado científico válido.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Seis 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09728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Objetivo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Quantificar como o tom de pele Monk se distribui dentro de cada grupo racial do FairFace.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Treinar e avaliar classificador MST próprio, com sensitivity analysis contra alternativas.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Implementar o pipeline com FiLM sobre ConvNeXt-T e compará-lo contra seis baselines.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Demonstrar que o ganho em classificação transfere para reconhecimento (RFW/BFW).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Formalizar a triangulação de métricas — Disparity Ratio, F1 da pior classe, Equal Opportunity.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quanto do erro Latinx vem do fenótipo (irredutível) e quanto do modelo (mitigável).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Seis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858000"/>
                <a:gridCol w="393192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Hipótese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Confirma se...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 classificador MST próprio atinge concordância humana suficiente.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κ ≥ 0,7 com anotações internas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 classe Latinx cobre ≥ 5 dos 10 tons Monk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cobertura observada ≥ 5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Condicionar por tom reduz disparidade sem perder acurácia agregada.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DR menor + F1 macro ≥ baseline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≥ 50 % dos erros Latinx concentram-se em zonas de sobreposição de tom.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concentração observada ≥ 50 %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 ganho em classificação transfere para reconhecimento.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redução de gap também em RFW/BFW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H6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Parte substancial do gap é explicada por pixel information (Pangelinan 2023).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R² explicado ≥ 70 %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Timeline das principais respostas ao problema (2018–2026)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mitigaco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82" y="1371600"/>
            <a:ext cx="10547188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Frentes cronológicas: dados balanceados → funções de perda → arquiteturas Pareto-eficientes → modelos vision-language → escalas MST → heterogeneidade fenotípica.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Seis baselines de mitigação (comparação sistemática planejada)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 rótulo racial esconde variação — evidência externa à computação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Antropologia biológica — Telles (2014):  </a:t>
            </a:r>
            <a:r>
              <a:rPr sz="1800">
                <a:solidFill>
                  <a:srgbClr val="3D424E"/>
                </a:solidFill>
              </a:rPr>
              <a:t>projeto PERLA em 4 países latino-americanos documenta “pigmentocracia”.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Genética populacional — Bryc et al. (2015, AJHG):  </a:t>
            </a:r>
            <a:r>
              <a:rPr sz="1800">
                <a:solidFill>
                  <a:srgbClr val="3D424E"/>
                </a:solidFill>
              </a:rPr>
              <a:t>estudo com 162 mil indivíduos mostra composição ancestral altamente variável em Latinos.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Sociologia identitária — Pew Research (López et al., 2017):  </a:t>
            </a:r>
            <a:r>
              <a:rPr sz="1800">
                <a:solidFill>
                  <a:srgbClr val="3D424E"/>
                </a:solidFill>
              </a:rPr>
              <a:t>identidade Hispanic decai de 97 % para 50 % ao longo de quatro gerações nos EUA.</a:t>
            </a:r>
          </a:p>
          <a:p>
            <a:pPr>
              <a:spcAft>
                <a:spcPts val="1000"/>
              </a:spcAft>
              <a:defRPr sz="1800">
                <a:solidFill>
                  <a:srgbClr val="3D424E"/>
                </a:solidFill>
              </a:defRPr>
            </a:pPr>
            <a:r>
              <a:t>•  Três disciplinas independentes convergem: o rótulo racial do FairFace não captura variação fenotípica real.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Consequência metodológica:  </a:t>
            </a:r>
            <a:r>
              <a:rPr sz="1800">
                <a:solidFill>
                  <a:srgbClr val="3D424E"/>
                </a:solidFill>
              </a:rPr>
              <a:t>condicionar por tom de pele não substitui o rótulo — dá ao modelo uma pista objetiva que a rotulagem sozinha não oferece.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Cinco 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5943600"/>
                <a:gridCol w="493776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Como endereçamos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existe matriz pública MST × classes raciais no FairFace.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FiLM (Perez 2018) nunca foi aplicado em classificação racial multi-classe.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Métricas de fairness multi-classe estão fragmentadas na literatura.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4 — Contribuição 4 (triangulação).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Transferência de fairness (Madras et al., 2018) para reconhecimento é pouco estudada.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5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Não há decomposição quantitativa do gap Latinx (fenótipo × algoritmo).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Etapa 6 — Contribuição 6.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em 6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6et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0534" y="1371600"/>
            <a:ext cx="410788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Fluxo top-down organizado em 3 fases: diagnóstico (etapas 1-2), método proposto (etapa 3) e validação/síntese (etapas 4-6).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 — Classificador de tom de pele (próprio)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recebe uma foto de rosto e devolve as 10 probabilidades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treinar nosso próprio classificador — não depender do SkinToneNet (Matias 2026), cujos pesos e dataset STW ainda não foram liberados.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MSTE — Monk Skin Tone Examples (Monk, 2019, Google) e Casual Conversations v2 (Porgali et al., 2023, Meta).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detecta o rosto (MTCNN, Zhang et al. 2016), alinha, corta e classifica — funciona em qualquer dataset, até os que não têm anotação.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(~250 imagens do FairFace) + sensitivity analysis com 2 a 3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Por que ConvNeXt-T (Liu et al., 2022)?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params.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Inserção natural de FiLM:  </a:t>
            </a:r>
            <a:r>
              <a:rPr sz="1800">
                <a:solidFill>
                  <a:srgbClr val="3D424E"/>
                </a:solidFill>
              </a:rPr>
              <a:t>4 estágios hierárquicos oferecem 4 pontos de inserção sem modificar blocos internos.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Por que FiLM (Perez et al., 2018)?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Eficiência:  </a:t>
            </a:r>
            <a:r>
              <a:rPr sz="1800">
                <a:solidFill>
                  <a:srgbClr val="3D424E"/>
                </a:solidFill>
              </a:rPr>
              <a:t>~380 k parâmetros (~1,3 % do backbone) — muito abaixo de cross-attention (~3×).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cada tom modula as features.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bem com LayerNorm do ConvNeXt-T; init identidade preserva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Descartadas com justificativa formal (Cap 2):  </a:t>
            </a:r>
            <a:r>
              <a:rPr sz="1800">
                <a:solidFill>
                  <a:srgbClr val="3D424E"/>
                </a:solidFill>
              </a:rPr>
              <a:t>Concatenação, CBN, Cross-attention, AdaIN, SPADE, HyperNetworks, LoRA/Adaptadores.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 — como o tom entra como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864" y="1371600"/>
            <a:ext cx="760522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modula as features intermediárias do ConvNeXt-T canal a canal, condicionadas ao vetor MST. Overhead: ~1,3 %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Três configurações comparadas no estudo de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59436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Configuração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 que testa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puro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Sem condicionamento — controle arquitetural.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MST direto, 10-dim)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Proposta principal — tom de pele entra como contexto.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+ FiLM (sinal via CLIP-text, 512-dim)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Alternativa moderna — Radford et al. (2021) + Dehdashtian et al. (2024).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Como validamos — cenários e norma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A — apenas raça:  </a:t>
            </a:r>
            <a:r>
              <a:rPr sz="1800">
                <a:solidFill>
                  <a:srgbClr val="3D424E"/>
                </a:solidFill>
              </a:rPr>
              <a:t>métricas por classe racial (7 classes do FairFace).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Cenário B — raça × gênero:  </a:t>
            </a:r>
            <a:r>
              <a:rPr sz="1800">
                <a:solidFill>
                  <a:srgbClr val="3D424E"/>
                </a:solidFill>
              </a:rPr>
              <a:t>análise interseccional (8 subgrupos, seguindo Gender Shades — Buolamwini &amp; Gebru, 2018).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Norma seguida:  </a:t>
            </a:r>
            <a:r>
              <a:rPr sz="1800">
                <a:solidFill>
                  <a:srgbClr val="3D424E"/>
                </a:solidFill>
              </a:rPr>
              <a:t>ISO/IEC 19795-10:2024 — padrão internacional para reporte de desempenho biométrico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Rigor experimental:  </a:t>
            </a:r>
            <a:r>
              <a:rPr sz="1800">
                <a:solidFill>
                  <a:srgbClr val="3D424E"/>
                </a:solidFill>
              </a:rPr>
              <a:t>3 sementes independentes por experimento (42, 1, 2), comparação pareada, intervalo de confiança 95 % via bootstrap.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transferência (Etapa 5):  </a:t>
            </a:r>
            <a:r>
              <a:rPr sz="1800">
                <a:solidFill>
                  <a:srgbClr val="3D424E"/>
                </a:solidFill>
              </a:rPr>
              <a:t>RFW (Wang et al., 2019) e BFW (Robinson et al., 2020) — pares oficiais 1:1.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Triangulação de métricas — nenhuma métrica isolada basta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Por que triangular — Kleinberg et al. (2017):  </a:t>
            </a:r>
            <a:r>
              <a:rPr sz="1800">
                <a:solidFill>
                  <a:srgbClr val="3D424E"/>
                </a:solidFill>
              </a:rPr>
              <a:t>Teorema da Impossibilidade — não existe métrica única de equidade que satisfaça todos os critérios simultaneamente.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Disparity Ratio:  </a:t>
            </a:r>
            <a:r>
              <a:rPr sz="1800">
                <a:solidFill>
                  <a:srgbClr val="3D424E"/>
                </a:solidFill>
              </a:rPr>
              <a:t>razão entre pior e melhor F1. Mede o quão desigual é o desempenho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F1 da pior classe:  </a:t>
            </a:r>
            <a:r>
              <a:rPr sz="1800">
                <a:solidFill>
                  <a:srgbClr val="3D424E"/>
                </a:solidFill>
              </a:rPr>
              <a:t>protege o grupo mais fraco — garante que a melhoria não vem só no meio.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 Opportunity — Hardt et al. (2016, NeurIPS):  </a:t>
            </a:r>
            <a:r>
              <a:rPr sz="1800">
                <a:solidFill>
                  <a:srgbClr val="3D424E"/>
                </a:solidFill>
              </a:rPr>
              <a:t>iguala a taxa de acerto entre grupos, condicionada ao rótulo verdadeiro.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Equalized Odds — Hardt et al. (2016):  </a:t>
            </a:r>
            <a:r>
              <a:rPr sz="1800">
                <a:solidFill>
                  <a:srgbClr val="3D424E"/>
                </a:solidFill>
              </a:rPr>
              <a:t>vai além — iguala acerto e erro entre grupos.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Visualização Pareto:  </a:t>
            </a:r>
            <a:r>
              <a:rPr sz="1800">
                <a:solidFill>
                  <a:srgbClr val="3D424E"/>
                </a:solidFill>
              </a:rPr>
              <a:t>para cada modelo, plotamos acurácia × disparidade — vemos quem está na fronteira.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 — 3 eixos, 7 contribuições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mitigações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— adiantados no 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Entregas concretas até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próprio, camada auto-suficiente, matriz MST × raça, teste da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 + wrapper ConvNeXt-T + ensembler CLIP-text + pipeline de treino das 3 configs.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fairness + 4 baselines + Pareto + verificação RFW/BFW +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5 capítulos consolidados, 3 passadas de revisão de estilo,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Por que este trabalho é oportuno agora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3D424E"/>
                </a:solidFill>
              </a:defRPr>
            </a:pPr>
            <a:r>
              <a:t>•  Regulação europeia recém-aprovada (AI Act, 2024) exige auditoria de equidade em sistemas biométricos.</a:t>
            </a:r>
          </a:p>
          <a:p>
            <a:pPr>
              <a:spcAft>
                <a:spcPts val="1000"/>
              </a:spcAft>
              <a:defRPr sz="1800">
                <a:solidFill>
                  <a:srgbClr val="3D424E"/>
                </a:solidFill>
              </a:defRPr>
            </a:pPr>
            <a:r>
              <a:t>•  Literatura de 2023–2026 converge para tom de pele como pista central (Pangelinan 2023, Matias 2026, Schumann 2023).</a:t>
            </a:r>
          </a:p>
          <a:p>
            <a:pPr>
              <a:spcAft>
                <a:spcPts val="1000"/>
              </a:spcAft>
              <a:defRPr sz="1800">
                <a:solidFill>
                  <a:srgbClr val="3D424E"/>
                </a:solidFill>
              </a:defRPr>
            </a:pPr>
            <a:r>
              <a:t>•  Ferramentas necessárias amadureceram: MSTE, Casual Conversations v2, FairFace, RFW, BFW.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 proposta agrega 3 vetores:  </a:t>
            </a:r>
            <a:r>
              <a:rPr sz="1800">
                <a:solidFill>
                  <a:srgbClr val="3D424E"/>
                </a:solidFill>
              </a:rPr>
              <a:t>fenotípico (empírico), metodológico (arquitetural) e diagnóstico (decompositivo).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Diferencial científico:  </a:t>
            </a:r>
            <a:r>
              <a:rPr sz="1800">
                <a:solidFill>
                  <a:srgbClr val="3D424E"/>
                </a:solidFill>
              </a:rPr>
              <a:t>não busca apenas “reduzir F1 médio” — busca entender quanto do erro é mitigável e quanto é limite estrutural do problema.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Qualificação · Marcello Ozzetti · Prof. Marcos Quiles ·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