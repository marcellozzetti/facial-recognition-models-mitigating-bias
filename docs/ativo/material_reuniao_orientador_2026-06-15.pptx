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A4E"/>
                </a:solidFill>
              </a:defRPr>
            </a:pPr>
            <a:r>
              <a:t>Evolucao da Semana</a:t>
            </a:r>
          </a:p>
          <a:p>
            <a:pPr>
              <a:defRPr sz="2200">
                <a:solidFill>
                  <a:srgbClr val="3D424E"/>
                </a:solidFill>
              </a:defRPr>
            </a:pPr>
            <a:r>
              <a:t>Corpus consolidado (101 fichas) + analise CLIP vs FiLM</a:t>
            </a:r>
          </a:p>
          <a:p>
            <a:pPr>
              <a:defRPr sz="1600" i="1">
                <a:solidFill>
                  <a:srgbClr val="707682"/>
                </a:solidFill>
              </a:defRPr>
            </a:pPr>
            <a:r>
              <a:t>Pos pente fino critico do corpus e resposta a sugestao do orientador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Ciencia da Computacao -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Reuniao:  15 de junho de 2026 (7 dias apos reuniao anterior)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Status:  30 dias restantes ate qualificacao (15/jul/2026)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Agenda da reuniao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Status das 8 decisoes da reuniao anterior (08/jun)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Corpus consolidado: 101 fichas em 11 tracks tematicos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Pente fino critico do corpus (classificacao por impacto)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Resposta a sugestao do orientador: CLIP (Contrastive Language-Image Pre-training)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FiLM em fairness: gap na literatura como contribuicao original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 </a:t>
            </a:r>
            <a:r>
              <a:rPr sz="1600">
                <a:solidFill>
                  <a:srgbClr val="3D424E"/>
                </a:solidFill>
              </a:rPr>
              <a:t>Proposta: Contribuicao C7 - ablation arquitetural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7.  </a:t>
            </a:r>
            <a:r>
              <a:rPr sz="1600">
                <a:solidFill>
                  <a:srgbClr val="3D424E"/>
                </a:solidFill>
              </a:rPr>
              <a:t>Roadmap LaTeX 30 dias ate qualificacao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8.  </a:t>
            </a:r>
            <a:r>
              <a:rPr sz="1600">
                <a:solidFill>
                  <a:srgbClr val="3D424E"/>
                </a:solidFill>
              </a:rPr>
              <a:t>Discussao e proximos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Tempo estimado: 12-15 min de apresentacao +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Status das 8 decisoes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Reuniao anterior - 08/jun/2026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8 decisoes da reuniao anterior -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389120"/>
                <a:gridCol w="1645920"/>
                <a:gridCol w="4937760"/>
              </a:tblGrid>
              <a:tr h="528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Decisao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Evidencia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6 etapas aprovado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_validacao_cientifica_pipeline.md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SkinToneNet pre-treinado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pereira_2026.md (VERIFIED)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&gt;=100 artigos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OK 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+46 fichas na R7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&gt;=20 artigos 2025-2026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OK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_corpus_distribuicao_ano.md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Adicionar CLIP/BLIP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OK Track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 fichas + analise tecnica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Submissao qualificacao 15/jul/2026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 curso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30 dias restantes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Usar LaTeX em Overleaf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Skeleton OK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docs/tese/ pronto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Storytelling Contexto -&gt; Metodo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_pre_qualificacao_narrativa.md ~5500 palavras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6 itens fechados + 2 em execucao conforme planejado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Corpus consolidado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101 fichas / 11 tracks tematicos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Marco atingido: 101 fichas em 11 tracks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Total:  </a:t>
            </a:r>
            <a:r>
              <a:rPr sz="1600">
                <a:solidFill>
                  <a:srgbClr val="3D424E"/>
                </a:solidFill>
              </a:rPr>
              <a:t>101 fichas distribuidas em 11 tracks tematicos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Meta 2025-2026:  </a:t>
            </a:r>
            <a:r>
              <a:rPr sz="1600">
                <a:solidFill>
                  <a:srgbClr val="3D424E"/>
                </a:solidFill>
              </a:rPr>
              <a:t>25 fichas (meta era &gt;=20) - ATINGIDA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Crescimento:  </a:t>
            </a:r>
            <a:r>
              <a:rPr sz="1600">
                <a:solidFill>
                  <a:srgbClr val="3D424E"/>
                </a:solidFill>
              </a:rPr>
              <a:t>+46 fichas em 3 levas da Rodada 7 (55 -&gt; 101)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Novos tracks:  </a:t>
            </a:r>
            <a:r>
              <a:rPr sz="1600">
                <a:solidFill>
                  <a:srgbClr val="3D424E"/>
                </a:solidFill>
              </a:rPr>
              <a:t>I, J, K criados em resposta a recomendacoes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Track I:  </a:t>
            </a:r>
            <a:r>
              <a:rPr sz="1600">
                <a:solidFill>
                  <a:srgbClr val="3D424E"/>
                </a:solidFill>
              </a:rPr>
              <a:t>VLM/CLIP/BLIP fairness (14 fichas) - resposta direta ao orientador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Track J:  </a:t>
            </a:r>
            <a:r>
              <a:rPr sz="1600">
                <a:solidFill>
                  <a:srgbClr val="3D424E"/>
                </a:solidFill>
              </a:rPr>
              <a:t>Conditioning moderno LoRA/ViT (5 fichas)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Track K:  </a:t>
            </a:r>
            <a:r>
              <a:rPr sz="1600">
                <a:solidFill>
                  <a:srgbClr val="3D424E"/>
                </a:solidFill>
              </a:rPr>
              <a:t>FR fundadores ArcFace/FaceNet/AdaFace (6 fichas) - gap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Detalhes em _corpus_analise_consolidada.md e _corpus_distribuicao_ano.md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Justificativa de cada track (por que existe)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731520"/>
                <a:gridCol w="6126480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Track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Tema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Fichas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Papel na tese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Race classification 7-class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Tarefa central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FR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Paradigma dominante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 tone (MST)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Sinal auxiliar do pipeline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Mitigacao algoritmica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Baselines a superar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Auditoria &amp;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Infraestrutura intelectual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Fundamentacao etica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Posicionamento da tese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Mecanismos ML paradigmaticos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Esqueleto teorico (FiLM, LAFTR)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 (R7)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VLM/CLIP/BLIP fairness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Resposta ao orientador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J (R7)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Conditioning moderno (LoRA, ViT)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Alternativas ao FiLM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 (R7)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FR fundadores (ArcFace, FaceNet)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Preenche gap obvio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Auxiliar / complementar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Direcoes adjacentes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Tracks I, J, K criados na Rodada 7 - destacados para discussao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Pente fino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Classificacao por impacto na tese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Classificacao critica das 101 fichas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914400"/>
                <a:gridCol w="667512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Fichas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Implicacao para a tese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Forte favoravel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Fundamentam etapas/contribuicoes diretamente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Favoravel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Suporte / alinhadas ao argumento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Neutra / contextual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Background, nao influenciam decisoes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Caminho alternativo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Cobertos via Contribuicao C7 (ablation)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Conflito moderado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Endereçaveis - resposta defensiva mapeada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Conflito forte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Pangelinan (via H6), Neto (limitacao reconhecida)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Apenas 2 conflitos fortes - ambos com resposta defensiva pronta. Nenhuma refutacao categorica sem resposta.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Conclusao do pente fino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Resumo:  </a:t>
            </a:r>
            <a:r>
              <a:rPr sz="1600">
                <a:solidFill>
                  <a:srgbClr val="3D424E"/>
                </a:solidFill>
              </a:rPr>
              <a:t>68 fichas (67.3%) alinhadas ou neutras / 26 caminho alternativo / 7 conflitos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Conflito forte 1:  </a:t>
            </a:r>
            <a:r>
              <a:rPr sz="1600">
                <a:solidFill>
                  <a:srgbClr val="3D424E"/>
                </a:solidFill>
              </a:rPr>
              <a:t>Pangelinan 2023 - 'pixel info' explica disparidades -&gt; endereçado via Hipotese H6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Conflito forte 2:  </a:t>
            </a:r>
            <a:r>
              <a:rPr sz="1600">
                <a:solidFill>
                  <a:srgbClr val="3D424E"/>
                </a:solidFill>
              </a:rPr>
              <a:t>Neto 2025 - balanceamento nao basta -&gt; reconhecido como limitacao + parte do framing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Caminho alternativo:  </a:t>
            </a:r>
            <a:r>
              <a:rPr sz="1600">
                <a:solidFill>
                  <a:srgbClr val="3D424E"/>
                </a:solidFill>
              </a:rPr>
              <a:t>26 fichas (VLM, CLIP) cobertos via C7 - ablation arquitetural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Pontos fortes:  </a:t>
            </a:r>
            <a:r>
              <a:rPr sz="1600">
                <a:solidFill>
                  <a:srgbClr val="3D424E"/>
                </a:solidFill>
              </a:rPr>
              <a:t>12 fichas forte favoravel fundamentam etapas 1-5 do pipeline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Decisao:  </a:t>
            </a:r>
            <a:r>
              <a:rPr sz="1600">
                <a:solidFill>
                  <a:srgbClr val="3D424E"/>
                </a:solidFill>
              </a:rPr>
              <a:t>Corpus esta solido para sustentar a qualificacao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Detalhamento completo em _revisao_critica_corpus_v2.md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Resposta ao orientador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CLIP = Contrastive Language-Image Pre-training (Radford et al., ICML 2021)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que e o CLIP - confirmando referencia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Paper original:  </a:t>
            </a:r>
            <a:r>
              <a:rPr sz="1600">
                <a:solidFill>
                  <a:srgbClr val="3D424E"/>
                </a:solidFill>
              </a:rPr>
              <a:t>Radford et al. - 'Learning Transferable Visual Models From Natural Language Supervision' ICML 2021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Mecanismo:  </a:t>
            </a:r>
            <a:r>
              <a:rPr sz="1600">
                <a:solidFill>
                  <a:srgbClr val="3D424E"/>
                </a:solidFill>
              </a:rPr>
              <a:t>Dois encoders (vision + text) treinados via contrastive loss em 400M pares (imagem, texto)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Resultado:  </a:t>
            </a:r>
            <a:r>
              <a:rPr sz="1600">
                <a:solidFill>
                  <a:srgbClr val="3D424E"/>
                </a:solidFill>
              </a:rPr>
              <a:t>Espaco de embedding compartilhado - imagens e textos relacionados ficam proximos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Capacidade central:  </a:t>
            </a:r>
            <a:r>
              <a:rPr sz="1600">
                <a:solidFill>
                  <a:srgbClr val="3D424E"/>
                </a:solidFill>
              </a:rPr>
              <a:t>Zero-shot classification - basta descricao textual, sem fine-tuning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Adocao em fairness:  </a:t>
            </a:r>
            <a:r>
              <a:rPr sz="1600">
                <a:solidFill>
                  <a:srgbClr val="3D424E"/>
                </a:solidFill>
              </a:rPr>
              <a:t>CLIP virou espinha dorsal da pesquisa em vision-language fairness desde 2022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No contexto da tese:  </a:t>
            </a:r>
            <a:r>
              <a:rPr sz="1600">
                <a:solidFill>
                  <a:srgbClr val="3D424E"/>
                </a:solidFill>
              </a:rPr>
              <a:t>CLIP produz EMBEDDINGS; FiLM e MECANISMO de injecao - sao complementares, nao substitutos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Radford et al. 2021 - arxiv.org/abs/2103.00020 - &gt;10k citacoes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Pedido 1: estudos de CLIP em fairness no corpus (Track 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45920"/>
                <a:gridCol w="2926080"/>
                <a:gridCol w="384048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Venue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Abordagem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Aplicacao na tese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FairCLIP (Luo 2024)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CVPR 2024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Optimal transport / Sinkhorn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principal C7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FairerCLIP (Dehdashtian 2024)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ICLR 2024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Debias zero-shot via RKHS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leve C7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BendVLM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Test-time debiasing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 sem retraining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LoRA-FAIR (Bian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ICCV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LoRA + fairness 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Track J - C7 ablation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FaceScanPaliGemma (AlDahoul 2024)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Nature SR 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VLM fine-tuned FairFace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SOTA 7-class 75.7%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FairViT (Tian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ECCV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Adaptive attention masking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Backbone alternativo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Closed-form debias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Analitico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 eficiente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Bias subspace VLM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Projecao subspace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Mecanismo alternativo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Survey multimodal fairness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Contexto Cap 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14 fichas no total na Track I + paper original CLIP (Radford 2021). Detalhes na Tabela completa em _revisao_critica_corpus_v2.md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FiLM em fairness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Achado critico: gap na literatura = contribuicao original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Pedido 1 (parte 2): estudos de FiLM em fairness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Paper FiLM original:  </a:t>
            </a:r>
            <a:r>
              <a:rPr sz="1600">
                <a:solidFill>
                  <a:srgbClr val="3D424E"/>
                </a:solidFill>
              </a:rPr>
              <a:t>Perez et al. 2018 (AAAI) - VERIFIED no corpus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Aplicacao em fairness pelos autores:  </a:t>
            </a:r>
            <a:r>
              <a:rPr sz="1600">
                <a:solidFill>
                  <a:srgbClr val="3D424E"/>
                </a:solidFill>
              </a:rPr>
              <a:t>ZERO - paper nao aborda fairness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Adocao em fairness na literatura:  </a:t>
            </a:r>
            <a:r>
              <a:rPr sz="1600">
                <a:solidFill>
                  <a:srgbClr val="3D424E"/>
                </a:solidFill>
              </a:rPr>
              <a:t>RARA - busca extensiva confirma escassez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Mecanismos analogos no corpus: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- LAFTR (Madras 2018)  </a:t>
            </a:r>
            <a:r>
              <a:rPr sz="1600">
                <a:solidFill>
                  <a:srgbClr val="3D424E"/>
                </a:solidFill>
              </a:rPr>
              <a:t>adversarial conditioning (nao FiLM)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- FairViT (Tian 2024)  </a:t>
            </a:r>
            <a:r>
              <a:rPr sz="1600">
                <a:solidFill>
                  <a:srgbClr val="3D424E"/>
                </a:solidFill>
              </a:rPr>
              <a:t>adaptive masking em attention (ViT)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- LoRA-FAIR (Bian 2025)  </a:t>
            </a:r>
            <a:r>
              <a:rPr sz="1600">
                <a:solidFill>
                  <a:srgbClr val="3D424E"/>
                </a:solidFill>
              </a:rPr>
              <a:t>low-rank weight modulation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Implicacao:  </a:t>
            </a:r>
            <a:r>
              <a:rPr sz="1600">
                <a:solidFill>
                  <a:srgbClr val="3D424E"/>
                </a:solidFill>
              </a:rPr>
              <a:t>FiLM aplicado a fairness em race classification e DIRECAO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Documentado em perez_2018.md Secao 11 - 'Aplicar a fairness: NAO mencionado pelos autores - direcao original'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FiLM vs CLIP - esclarecimento conceitual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Confusao categorial:  </a:t>
            </a:r>
            <a:r>
              <a:rPr sz="1600">
                <a:solidFill>
                  <a:srgbClr val="3D424E"/>
                </a:solidFill>
              </a:rPr>
              <a:t>FiLM e CLIP NAO sao objetos comparaveis no mesmo nivel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FiLM (Perez 2018):  </a:t>
            </a:r>
            <a:r>
              <a:rPr sz="1600">
                <a:solidFill>
                  <a:srgbClr val="3D424E"/>
                </a:solidFill>
              </a:rPr>
              <a:t>MECANISMO / camada que modula features via gamma*x + beta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CLIP (Radford 2021):  </a:t>
            </a:r>
            <a:r>
              <a:rPr sz="1600">
                <a:solidFill>
                  <a:srgbClr val="3D424E"/>
                </a:solidFill>
              </a:rPr>
              <a:t>MODELO que produz embeddings 512-dim de texto e imagem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Relacao real:  </a:t>
            </a:r>
            <a:r>
              <a:rPr sz="1600">
                <a:solidFill>
                  <a:srgbClr val="3D424E"/>
                </a:solidFill>
              </a:rPr>
              <a:t>CLIP fornece o SINAL; FiLM (ou cross-attn) e UMA forma de injetar esse sinal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Cronologia:  </a:t>
            </a:r>
            <a:r>
              <a:rPr sz="1600">
                <a:solidFill>
                  <a:srgbClr val="3D424E"/>
                </a:solidFill>
              </a:rPr>
              <a:t>FaceNet 2015, ArcFace 2019, FiLM 2018, CLIP 2021, LoRA 2021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Status 2024-2026:  </a:t>
            </a:r>
            <a:r>
              <a:rPr sz="1600">
                <a:solidFill>
                  <a:srgbClr val="3D424E"/>
                </a:solidFill>
              </a:rPr>
              <a:t>TODOS continuam padrao na literatura - idade nao implica obsolescencia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Combinacao valida:  </a:t>
            </a:r>
            <a:r>
              <a:rPr sz="1600">
                <a:solidFill>
                  <a:srgbClr val="3D424E"/>
                </a:solidFill>
              </a:rPr>
              <a:t>Stable Diffusion = CLIP embeddings + cross-attention. Analogo: CLIP + FiLM e possivel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Detalhes em _revisao_critica_corpus_v2.md Secao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Proposta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Contribuicao C7 - ablation arquitetural no Cap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C7 - 5 configuracoes comparadas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4114800"/>
                <a:gridCol w="411480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Arquitetura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Mecanismo de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Origem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Controle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 (proposta)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-&gt; gamma, beta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Nossa contribuicao central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CLIP-text embedding -&gt; gamma, 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Hibrido CLIP+FiLM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cross-attn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CLIP-text embedding via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FairCLIP-style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LoRA-FAIR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Low-rank weight modulation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LoRA-FAIR (Bian 2025)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Se CLIP superar FiLM -&gt; reportamos como informacao util (nao invalidacao). Honra recomendacao do orientador.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Justificativa para manter FiLM como mecanismo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Adequacao a baixa-dim:  </a:t>
            </a:r>
            <a:r>
              <a:rPr sz="1600">
                <a:solidFill>
                  <a:srgbClr val="3D424E"/>
                </a:solidFill>
              </a:rPr>
              <a:t>MST e vetor 10-dim - FiLM e o sweet spot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Custo parametrico:  </a:t>
            </a:r>
            <a:r>
              <a:rPr sz="1600">
                <a:solidFill>
                  <a:srgbClr val="3D424E"/>
                </a:solidFill>
              </a:rPr>
              <a:t>~1% sobre backbone (vs ~3% cross-attention equivalente)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Interpretabilidade:  </a:t>
            </a:r>
            <a:r>
              <a:rPr sz="1600">
                <a:solidFill>
                  <a:srgbClr val="3D424E"/>
                </a:solidFill>
              </a:rPr>
              <a:t>gamma e beta sao por canal e visualizaveis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Compatibilidade:  </a:t>
            </a:r>
            <a:r>
              <a:rPr sz="1600">
                <a:solidFill>
                  <a:srgbClr val="3D424E"/>
                </a:solidFill>
              </a:rPr>
              <a:t>Substitui parametros do BatchNorm - 'conditional BatchNorm'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Compatibilidade C7:  </a:t>
            </a:r>
            <a:r>
              <a:rPr sz="1600">
                <a:solidFill>
                  <a:srgbClr val="3D424E"/>
                </a:solidFill>
              </a:rPr>
              <a:t>Ablation limpa - liga/desliga FiLM mantendo backbone fixo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Argumento de originalidade:  </a:t>
            </a:r>
            <a:r>
              <a:rPr sz="1600">
                <a:solidFill>
                  <a:srgbClr val="3D424E"/>
                </a:solidFill>
              </a:rPr>
              <a:t>FiLM em fairness e direcao nao explorada - vira contribuicao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Perez et al. 2018 (AAAI) + Schumann 2023 (MST) + Pereira 2026 (SkinToneNet) ancoragem direta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Roadmap LaTeX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30 dias ate 15/jul/2026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Cronograma de execucao - 4 semanas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94560"/>
                <a:gridCol w="4572000"/>
                <a:gridCol w="420624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Semana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Periodo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Entregavel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15-21/jun (esta)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Setup Overleaf + Cap 1 (Introducao)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_pre_qualificacao_narrativa.md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22-28/jun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Cap 2 (Revisao - 11 tracks)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_revisao_critica_corpus_v2.md + 101 fichas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29/jun-05/jul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Cap 3 (Objetivos) + Cap 4 (Metodologia)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6 etapas validado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06-12/jul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Cap 5 (Cronograma) + revisao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Integracao + ABNT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13-15/jul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Ajustes finais + submissao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Roadmap detalhado em _reuniao_2026-06-15_evolucao.md secao 4.3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Discussao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Pontos para alinhamento hoje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Perguntas ao orientador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Concorda com manter FiLM central + CLIP-conditioning como C7 (ablation)?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11 tracks bem cobertos? Algum precisa de mais fichas?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Esclarecimento conceitual CLIP (modelo) vs FiLM (mecanismo) faz sentido?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Tem template Overleaf Unifesp/ICT ou usamos padrao?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Co-orientador - ja podemos formalizar?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 </a:t>
            </a:r>
            <a:r>
              <a:rPr sz="1600">
                <a:solidFill>
                  <a:srgbClr val="3D424E"/>
                </a:solidFill>
              </a:rPr>
              <a:t>Sugestoes para banca preliminar?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Cola de bolso completa em _reuniao_2026-06-15_cola.md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Proximos passos imediatos (proxima semana)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Setup Overleaf com template institucional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Gerar .bib consolidado a partir das 101 fichas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Escrever Cap 1 - Introducao usando narrativa pre-qualificacao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Importar imagens ja produzidas (FiLM pipeline, ConvNeXt-T, metricas Hardt)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Promover fichas OVERVIEW_ONLY para VERIFIED nas 12 forte favoravel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Entrega proxima reuniao:  </a:t>
            </a:r>
            <a:r>
              <a:rPr sz="1600">
                <a:solidFill>
                  <a:srgbClr val="3D424E"/>
                </a:solidFill>
              </a:rPr>
              <a:t>Cap 1 escrito em LaTeX + bibliografia consolidada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30 dias contados ate 15/jul/2026 - margem confortavel sem folga para retrabalho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Discussao livre - duvidas e ajustes antes do LaTeX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