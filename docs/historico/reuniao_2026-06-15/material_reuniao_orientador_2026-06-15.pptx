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A4E"/>
                </a:solidFill>
              </a:defRPr>
            </a:pPr>
            <a:r>
              <a:t>Evolução da semana</a:t>
            </a:r>
          </a:p>
          <a:p>
            <a:pPr>
              <a:defRPr sz="2200">
                <a:solidFill>
                  <a:srgbClr val="3D424E"/>
                </a:solidFill>
              </a:defRPr>
            </a:pPr>
            <a:r>
              <a:t>Corpus consolidado (101 fichas) e análise CLIP vs FiLM</a:t>
            </a:r>
          </a:p>
          <a:p>
            <a:pPr>
              <a:defRPr sz="1600" i="1">
                <a:solidFill>
                  <a:srgbClr val="707682"/>
                </a:solidFill>
              </a:defRPr>
            </a:pPr>
            <a:r>
              <a:t>Pente fino crítico do corpus e resposta à sugestão do orientador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15 de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Agenda da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Status das decisões da reunião anterior (08/jun)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Corpus consolidado: 101 fichas em 11 tracks temáticos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Pente fino crítico do corpus (classificação por impacto)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Resposta à sugestão do orientador: CLIP (Contrastive Language-Image Pre-training)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FiLM em fairness: lacuna na literatura como contribuição original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Proposta: estudo comparativo de mecanismos de conditioning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7.  </a:t>
            </a:r>
            <a:r>
              <a:rPr sz="1600">
                <a:solidFill>
                  <a:srgbClr val="3D424E"/>
                </a:solidFill>
              </a:rPr>
              <a:t>Plano de escrita e decisões a alinhar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Status das decisões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Reunião anterior — 08/jun/2026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Decisões da reunião anterior —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206240"/>
                <a:gridCol w="1828800"/>
                <a:gridCol w="493776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Observações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6 etapas validado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Detalhado etapa por etapa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pré-treinado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Leitura integral concluída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≥100 artigos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101 fichas (+46 na última rodada)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≥20 artigos 2025-2026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25 fichas em 2025-2026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Adicionar CLIP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Track I criada — 14 fichas + análise técnica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 ao orientador em 15/jul/2026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 andamento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Estrutura sendo organizada — LaTeX ainda não iniciado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5 itens concluídos e 1 em andamento conforme planejado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Corpus consolidado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101 fichas em 11 tracks temáticos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Como o corpus foi ampliado: 55 → 101 fichas em 11 tracks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Critérios da busca:  </a:t>
            </a:r>
            <a:r>
              <a:rPr sz="1600">
                <a:solidFill>
                  <a:srgbClr val="3D424E"/>
                </a:solidFill>
              </a:rPr>
              <a:t>Top venues (CVPR, ICCV, ICLR, ECCV, Nature SR) com filtros menos restritivos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Recorte temporal:  </a:t>
            </a:r>
            <a:r>
              <a:rPr sz="1600">
                <a:solidFill>
                  <a:srgbClr val="3D424E"/>
                </a:solidFill>
              </a:rPr>
              <a:t>Foco em 2025-2026 para refletir o estado da arte mais recente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Fontes consultadas:  </a:t>
            </a:r>
            <a:r>
              <a:rPr sz="1600">
                <a:solidFill>
                  <a:srgbClr val="3D424E"/>
                </a:solidFill>
              </a:rPr>
              <a:t>arXiv, OpenAccess (CVPR/ICCV), Semantic Scholar e busca direta por DOI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Estratégia em 3 levas:  </a:t>
            </a:r>
            <a:r>
              <a:rPr sz="1600">
                <a:solidFill>
                  <a:srgbClr val="3D424E"/>
                </a:solidFill>
              </a:rPr>
              <a:t>Top venues recentes → fundadores de FR → temas complementares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Reorganização temática:  </a:t>
            </a:r>
            <a:r>
              <a:rPr sz="1600">
                <a:solidFill>
                  <a:srgbClr val="3D424E"/>
                </a:solidFill>
              </a:rPr>
              <a:t>3 novos tracks criados a partir dos achados (I, J, K)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Resultado:  </a:t>
            </a:r>
            <a:r>
              <a:rPr sz="1600">
                <a:solidFill>
                  <a:srgbClr val="3D424E"/>
                </a:solidFill>
              </a:rPr>
              <a:t>+46 fichas / 25 fichas em 2025-2026 / 3 tracks novos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Densidade das fichas por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920240"/>
                <a:gridCol w="3108960"/>
                <a:gridCol w="5120640"/>
                <a:gridCol w="640080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Tema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é o track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Principais artigos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Fichas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Race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Classificação racial em 7 categorias sobre o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Kärkkäinen &amp; Joo 2021, AlDahoul 2024, Lin (FairGRAPE)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Datasets, métricas e auditorias de viés em reconhecimento 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Buolamwini 2018, Grother (NIST) 2019, Wang (RFW)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 tone (MST)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Escalas e classificadores de tom de pele como sinal auxiliar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Fitzpatrick 1988, Schumann 2023, Pereira (SkinToneNet)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Mitigação algorítmica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Algoritmos para reduzir viés (contrastive, DRO, arquitetural)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Park (FSCL+) 2022, Sagawa (Group DRO) 2020, Manzoor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Auditoria e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Auditorias sistêmicas e revisões da literatura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Mehrabi 2021, Dominguez (DSAP) 2024, Buolamwini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Fundamentação 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Validade conceitual de 'raça' como variável científica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Lewontin 1972, Fuentes 2019, Neto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Mecanismos ML paradigmáticos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Mecanismos teóricos clássicos (métricas, conditioning)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Hardt 2016, Perez (FiLM) 2018, Kleinberg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VLM / CLIP em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Fairness em modelos vision-language (CLIP, BLIP)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Luo (FairCLIP) 2024, Dehdashtian (FairerCLIP) 2024, BendVLM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Conditioning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Adaptadores alternativos ao FiLM (LoRA, ViT-mask)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Bian (LoRA-FAIR) 2025, Tian (FairViT) 2024, Zhao (AIM-Fair)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Fundadores de 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Losses fundadoras de reconhecimento 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Schroff (FaceNet) 2015, Deng (ArcFace) 2019, Kim (AdaFace)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Direções adjacentes (federated, synthetic, post-hoc)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Salvador (FairCal) 2021, FairImagen 2025, VoIDFace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Tracks I, J e K são os novos tracks da ampliação recente do corpus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Pente fino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Classificação por impacto na tese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Classificação crítica das 101 fichas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914400"/>
                <a:gridCol w="667512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Fichas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Implicação para a 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Forte favorável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Fundamentam etapas e contribuições diretamente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Favorável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Suporte / alinhadas ao argumento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Neutra / contextual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Background, não influenciam decisões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alternativo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Cobertos pelo estudo comparativo de mecanismos de conditioning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Conflito moderado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Endereçáveis — resposta defensiva mapeada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Conflito forte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Pangelinan (via H6); Neto (limitação reconhecida)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Apenas 2 conflitos fortes — ambos com resposta defensiva pronta. Nenhuma refutação categórica sem resposta.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Conclusão do pente fino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Resumo:  </a:t>
            </a:r>
            <a:r>
              <a:rPr sz="1600">
                <a:solidFill>
                  <a:srgbClr val="3D424E"/>
                </a:solidFill>
              </a:rPr>
              <a:t>68 fichas (67,3%) alinhadas ou neutras / 26 caminho alternativo / 7 conflitos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Conflito forte 1:  </a:t>
            </a:r>
            <a:r>
              <a:rPr sz="1600">
                <a:solidFill>
                  <a:srgbClr val="3D424E"/>
                </a:solidFill>
              </a:rPr>
              <a:t>Pangelinan 2023 — leitura integral confirmou: skin tone isolado não causa o gap; pixel info explica parcialmente o FNMR → endossa nossa Hipótese H6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Conflito forte 2:  </a:t>
            </a:r>
            <a:r>
              <a:rPr sz="1600">
                <a:solidFill>
                  <a:srgbClr val="3D424E"/>
                </a:solidFill>
              </a:rPr>
              <a:t>Neto 2025 — balanceamento não basta, reconhecido como limitação e parte do framing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Caminho alternativo:  </a:t>
            </a:r>
            <a:r>
              <a:rPr sz="1600">
                <a:solidFill>
                  <a:srgbClr val="3D424E"/>
                </a:solidFill>
              </a:rPr>
              <a:t>26 fichas (VLM, CLIP) cobertas pelo estudo comparativo de mecanismos de conditioning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Pontos fortes:  </a:t>
            </a:r>
            <a:r>
              <a:rPr sz="1600">
                <a:solidFill>
                  <a:srgbClr val="3D424E"/>
                </a:solidFill>
              </a:rPr>
              <a:t>12 fichas forte favorável fundamentam as etapas 1-5 do pipeline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Decisão:  </a:t>
            </a:r>
            <a:r>
              <a:rPr sz="1600">
                <a:solidFill>
                  <a:srgbClr val="3D424E"/>
                </a:solidFill>
              </a:rPr>
              <a:t>Corpus está sólido para sustentar a primeira versão da escrita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Status das leituras críticas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Cobertura de PDFs:  </a:t>
            </a:r>
            <a:r>
              <a:rPr sz="1600">
                <a:solidFill>
                  <a:srgbClr val="3D424E"/>
                </a:solidFill>
              </a:rPr>
              <a:t>92 de 101 fichas (91 %) com PDF no repositório — 9 restantes em paywall institucional ou fontes históricas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Camada 1 (críticas):  </a:t>
            </a:r>
            <a:r>
              <a:rPr sz="1600">
                <a:solidFill>
                  <a:srgbClr val="3D424E"/>
                </a:solidFill>
              </a:rPr>
              <a:t>14 fichas — todas com leitura integral concluída e fichas em estado VERIFIED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Inclui:  </a:t>
            </a:r>
            <a:r>
              <a:rPr sz="1600">
                <a:solidFill>
                  <a:srgbClr val="3D424E"/>
                </a:solidFill>
              </a:rPr>
              <a:t>Pereira (SkinToneNet), Luo (FairCLIP), Pangelinan (refutação central), Hardt, Perez (FiLM), Madras (LAFTR), Schumann (MST), Karkkainen (FairFace), AlDahoul (SOTA)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Próximas leituras:  </a:t>
            </a:r>
            <a:r>
              <a:rPr sz="1600">
                <a:solidFill>
                  <a:srgbClr val="3D424E"/>
                </a:solidFill>
              </a:rPr>
              <a:t>Camada 2 — 38 fichas favoráveis para aprofundamento durante a escrita do Capítulo 2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Achado novo (Pangelinan):  </a:t>
            </a:r>
            <a:r>
              <a:rPr sz="1600">
                <a:solidFill>
                  <a:srgbClr val="3D424E"/>
                </a:solidFill>
              </a:rPr>
              <a:t>imagens de pessoas do mesmo gênero são intrinsecamente mais similares — possível análogo intra-racial a investigar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Resposta ao orientador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CLIP = Contrastive Language-Image Pre-training (Radford et al., ICML 2021)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é o CLIP — confirmando a referência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Paper original:  </a:t>
            </a:r>
            <a:r>
              <a:rPr sz="1600">
                <a:solidFill>
                  <a:srgbClr val="3D424E"/>
                </a:solidFill>
              </a:rPr>
              <a:t>Radford et al. — 'Learning Transferable Visual Models From Natural Language Supervision', ICML 2021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Mecanismo:  </a:t>
            </a:r>
            <a:r>
              <a:rPr sz="1600">
                <a:solidFill>
                  <a:srgbClr val="3D424E"/>
                </a:solidFill>
              </a:rPr>
              <a:t>Dois encoders (visão e texto) treinados via contrastive loss em 400M pares (imagem, texto)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Resultado:  </a:t>
            </a:r>
            <a:r>
              <a:rPr sz="1600">
                <a:solidFill>
                  <a:srgbClr val="3D424E"/>
                </a:solidFill>
              </a:rPr>
              <a:t>Espaço de embedding compartilhado — imagens e textos relacionados ficam próximos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Capacidade central:  </a:t>
            </a:r>
            <a:r>
              <a:rPr sz="1600">
                <a:solidFill>
                  <a:srgbClr val="3D424E"/>
                </a:solidFill>
              </a:rPr>
              <a:t>Classificação zero-shot — basta uma descrição textual, sem fine-tuning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Adoção em fairness:  </a:t>
            </a:r>
            <a:r>
              <a:rPr sz="1600">
                <a:solidFill>
                  <a:srgbClr val="3D424E"/>
                </a:solidFill>
              </a:rPr>
              <a:t>CLIP virou espinha dorsal da pesquisa em vision-language fairness desde 2022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No contexto da tese:  </a:t>
            </a:r>
            <a:r>
              <a:rPr sz="1600">
                <a:solidFill>
                  <a:srgbClr val="3D424E"/>
                </a:solidFill>
              </a:rPr>
              <a:t>CLIP produz EMBEDDINGS; FiLM é MECANISMO de injeção — são complementares, não substitutos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Radford et al., ICML 2021 — arxiv.org/abs/2103.00020 — mais de 10 mil citações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Estudos de CLIP em fairness no corpus (Track 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2926080"/>
                <a:gridCol w="384048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Abordagem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Aplicação na 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FairCLIP (Luo, 2024)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CVPR 2024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Optimal transport / Sinkhorn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principal do estudo comparativo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FairerCLIP (Dehdashtian, 2024)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ICLR 2024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Debias zero-shot via RKHS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leve do estudo comparativo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BendVLM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Debiasing em test-time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sem retraining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LoRA-FAIR (Bian,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ICCV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LoRA + agregação 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Entra no estudo comparativo (Track J)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FaceScanPaliGemma (AlDahoul, 2024)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Nature SR 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VLM fine-tuned no FairFace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SOTA 7-class (75,7%)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FairViT (Tian,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ECCV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Adaptive attention masking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Backbone alternativo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Closed-form debias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Solução analítica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eficiente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Bias subspace VLM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Projeção em subespaço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Mecanismo alternativo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Survey multimodal fairness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Contexto para o Capítulo 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14 fichas no total na Track I, além do paper original de CLIP (Radford 2021).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FiLM em fairness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Achado crítico: lacuna na literatura = contribuição original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Estudos de FiLM em fairness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Paper FiLM original:  </a:t>
            </a:r>
            <a:r>
              <a:rPr sz="1600">
                <a:solidFill>
                  <a:srgbClr val="3D424E"/>
                </a:solidFill>
              </a:rPr>
              <a:t>Perez et al., AAAI 2018 — verificado no corpus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Aplicação em fairness pelos autores:  </a:t>
            </a:r>
            <a:r>
              <a:rPr sz="1600">
                <a:solidFill>
                  <a:srgbClr val="3D424E"/>
                </a:solidFill>
              </a:rPr>
              <a:t>Nenhuma — paper não aborda fairness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Adoção em fairness na literatura:  </a:t>
            </a:r>
            <a:r>
              <a:rPr sz="1600">
                <a:solidFill>
                  <a:srgbClr val="3D424E"/>
                </a:solidFill>
              </a:rPr>
              <a:t>Rara — busca extensiva confirma a escassez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Mecanismos análogos no corpus: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— LAFTR (Madras, 2018)  </a:t>
            </a:r>
            <a:r>
              <a:rPr sz="1600">
                <a:solidFill>
                  <a:srgbClr val="3D424E"/>
                </a:solidFill>
              </a:rPr>
              <a:t>adversarial conditioning (não é 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— FairViT (Tian, 2024)  </a:t>
            </a:r>
            <a:r>
              <a:rPr sz="1600">
                <a:solidFill>
                  <a:srgbClr val="3D424E"/>
                </a:solidFill>
              </a:rPr>
              <a:t>adaptive masking em attention (ViT)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— LoRA-FAIR (Bian, 2025)  </a:t>
            </a:r>
            <a:r>
              <a:rPr sz="1600">
                <a:solidFill>
                  <a:srgbClr val="3D424E"/>
                </a:solidFill>
              </a:rPr>
              <a:t>low-rank weight modulation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Implicação:  </a:t>
            </a:r>
            <a:r>
              <a:rPr sz="1600">
                <a:solidFill>
                  <a:srgbClr val="3D424E"/>
                </a:solidFill>
              </a:rPr>
              <a:t>FiLM aplicado a fairness em classificação racial é uma direção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Perez et al., AAAI 2018 — paper original não discute fairness nem na seção de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FiLM vs CLIP — esclarecimento conceitual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Confusão categorial:  </a:t>
            </a:r>
            <a:r>
              <a:rPr sz="1600">
                <a:solidFill>
                  <a:srgbClr val="3D424E"/>
                </a:solidFill>
              </a:rPr>
              <a:t>FiLM e CLIP não são objetos comparáveis no mesmo nível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FiLM (Perez, 2018):  </a:t>
            </a:r>
            <a:r>
              <a:rPr sz="1600">
                <a:solidFill>
                  <a:srgbClr val="3D424E"/>
                </a:solidFill>
              </a:rPr>
              <a:t>MECANISMO / camada que modula features via γ·x + β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CLIP (Radford, 2021):  </a:t>
            </a:r>
            <a:r>
              <a:rPr sz="1600">
                <a:solidFill>
                  <a:srgbClr val="3D424E"/>
                </a:solidFill>
              </a:rPr>
              <a:t>MODELO que produz embeddings 512-dim de texto e imagem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Relação real:  </a:t>
            </a:r>
            <a:r>
              <a:rPr sz="1600">
                <a:solidFill>
                  <a:srgbClr val="3D424E"/>
                </a:solidFill>
              </a:rPr>
              <a:t>CLIP fornece o SINAL; FiLM (ou cross-attention) é uma forma de injetar esse sinal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Cronologia:  </a:t>
            </a:r>
            <a:r>
              <a:rPr sz="1600">
                <a:solidFill>
                  <a:srgbClr val="3D424E"/>
                </a:solidFill>
              </a:rPr>
              <a:t>FaceNet 2015, ArcFace 2019, FiLM 2018, CLIP 2021, LoRA 2021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Status em 2024-2026:  </a:t>
            </a:r>
            <a:r>
              <a:rPr sz="1600">
                <a:solidFill>
                  <a:srgbClr val="3D424E"/>
                </a:solidFill>
              </a:rPr>
              <a:t>Todos continuam padrão na literatura — idade não implica obsolescência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Combinação válida:  </a:t>
            </a:r>
            <a:r>
              <a:rPr sz="1600">
                <a:solidFill>
                  <a:srgbClr val="3D424E"/>
                </a:solidFill>
              </a:rPr>
              <a:t>Stable Diffusion = CLIP embeddings + cross-attention. Análogo: CLIP + FiLM é possível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Estudo comparativo de mecanismos de conditioning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FiLM, CLIP-conditioning e LoRA aplicados a race classification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5 configurações de conditioning comparadas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4114800"/>
                <a:gridCol w="41148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Arquitetura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Mecanismo de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Origem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Controle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(proposta)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→ γ, β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Nossa contribuição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→ γ,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Híbrido CLIP + FiLM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cross-attention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via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Estilo FairCLIP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LoRA-FAIR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Low-rank weight modulation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LoRA-FAIR (Bian, 2025)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Se CLIP superar FiLM, reportamos como informação útil — não como invalidação. Honra a recomendação do orientador.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Justificativa para manter FiLM como mecanismo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Adequação a baixa dimensão:  </a:t>
            </a:r>
            <a:r>
              <a:rPr sz="1600">
                <a:solidFill>
                  <a:srgbClr val="3D424E"/>
                </a:solidFill>
              </a:rPr>
              <a:t>MST é vetor 10-dim — FiLM é o ponto ótimo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Custo paramétrico:  </a:t>
            </a:r>
            <a:r>
              <a:rPr sz="1600">
                <a:solidFill>
                  <a:srgbClr val="3D424E"/>
                </a:solidFill>
              </a:rPr>
              <a:t>~1% sobre o backbone (vs. ~3% de cross-attention equivalente)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Interpretabilidade:  </a:t>
            </a:r>
            <a:r>
              <a:rPr sz="1600">
                <a:solidFill>
                  <a:srgbClr val="3D424E"/>
                </a:solidFill>
              </a:rPr>
              <a:t>γ e β são por canal e podem ser visualizados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Compatibilidade:  </a:t>
            </a:r>
            <a:r>
              <a:rPr sz="1600">
                <a:solidFill>
                  <a:srgbClr val="3D424E"/>
                </a:solidFill>
              </a:rPr>
              <a:t>Substitui parâmetros do BatchNorm — 'conditional BatchNorm'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Compatibilidade com o estudo comparativo:  </a:t>
            </a:r>
            <a:r>
              <a:rPr sz="1600">
                <a:solidFill>
                  <a:srgbClr val="3D424E"/>
                </a:solidFill>
              </a:rPr>
              <a:t>Ablation limpa — liga ou desliga o FiLM mantendo o backbone fixo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Argumento de originalidade:  </a:t>
            </a:r>
            <a:r>
              <a:rPr sz="1600">
                <a:solidFill>
                  <a:srgbClr val="3D424E"/>
                </a:solidFill>
              </a:rPr>
              <a:t>FiLM em fairness é direção pouco explorada — vira contribuição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Perez et al. (AAAI 2018) + Schumann (2023, MST) + Pereira (2026, SkinToneNet) — ancoragem direta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Plano de escrita e decisões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Cronograma das 4 semanas e pontos a alinhar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Plano de escrita — 4 semanas até a primeira revisão (15/jul/2026)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94560"/>
                <a:gridCol w="4572000"/>
                <a:gridCol w="420624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Semana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Período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Entregável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Observações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15-21/jun (esta)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Estrutura no repositório + Capítulo 1 (Introdução)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Narrativa de abertura consolidada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22-28/jun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Capítulo 2 (Revisão — 11 tracks)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Pente fino do corpus e 101 fichas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29/jun-05/jul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Capítulo 3 (Objetivos) e Capítulo 4 (Ampliação e busca de novas técnicas)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de 6 etapas validado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06-12/jul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Capítulo 5 (Cronograma) e revisão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Integração e ABNT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13-15/jul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Ajustes finais e entrega ao orientador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LaTeX ainda não iniciado: estrutura sendo organizada no projeto base do GitHub. Migração para o Overleaf após consolidação.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Decisões a alinhar hoje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Concorda em manter FiLM como mecanismo central e incluir CLIP-conditioning no estudo comparativo?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Os 11 tracks estão bem cobertos? Algum precisa de mais fichas?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O esclarecimento conceitual CLIP (modelo) vs FiLM (mecanismo) faz sentido?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Pixel information (achado de Pangelinan) pode ser formalizado como objetivo específico (OE-6) com hipótese H6 quantitativa?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Co-orientador — já podemos formalizar?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Sugestões para a banca preliminar?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Próximos passos imediatos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Consolidar a estrutura no repositório do GitHub (ainda não iniciei o LaTeX)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Migrar para o Overleaf assim que a estrutura estiver estável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Consolidar a bibliografia a partir das 101 fichas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Escrever Capítulo 1 (Introdução) usando a narrativa de abertura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Incorporar as imagens já produzidas (pipeline FiLM, ConvNeXt-T, métricas de Hardt)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Aprofundar a leitura das 12 fichas forte favorável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Entrega para a próxima reunião:  </a:t>
            </a:r>
            <a:r>
              <a:rPr sz="1600">
                <a:solidFill>
                  <a:srgbClr val="3D424E"/>
                </a:solidFill>
              </a:rPr>
              <a:t>Capítulo 1 escrito e bibliografia consolidada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Discussão livre — dúvidas e ajustes antes da escrita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