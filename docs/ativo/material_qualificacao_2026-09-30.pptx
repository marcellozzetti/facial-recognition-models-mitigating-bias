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0" cy="6858000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82880" y="457200"/>
            <a:ext cx="20116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UNIFESP</a:t>
            </a:r>
          </a:p>
          <a:p>
            <a:pPr>
              <a:defRPr sz="1100">
                <a:solidFill>
                  <a:srgbClr val="B4C4E8"/>
                </a:solidFill>
              </a:defRPr>
            </a:pPr>
            <a:r>
              <a:t>Instituto de</a:t>
            </a:r>
            <a:br/>
            <a:r>
              <a:t>Ciencia e</a:t>
            </a:r>
            <a:br/>
            <a:r>
              <a:t>Tecnologia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0" y="1097280"/>
            <a:ext cx="9144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C0392B"/>
                </a:solidFill>
              </a:defRPr>
            </a:pPr>
            <a:r>
              <a:t>EXAME DE QUALIFICACAO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0" y="1828800"/>
            <a:ext cx="91440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F2A4E"/>
                </a:solidFill>
              </a:defRPr>
            </a:pPr>
            <a:r>
              <a:t>Mitigacao de vies racial em</a:t>
            </a:r>
          </a:p>
          <a:p>
            <a:pPr>
              <a:defRPr sz="3200" b="1">
                <a:solidFill>
                  <a:srgbClr val="1F2A4E"/>
                </a:solidFill>
              </a:defRPr>
            </a:pPr>
            <a:r>
              <a:t>classificacao facial com</a:t>
            </a:r>
          </a:p>
          <a:p>
            <a:pPr>
              <a:defRPr sz="3200" b="1">
                <a:solidFill>
                  <a:srgbClr val="1F2A4E"/>
                </a:solidFill>
              </a:defRPr>
            </a:pPr>
            <a:r>
              <a:t>condicionamento por tom de pele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0" y="4572000"/>
            <a:ext cx="91440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1">
                <a:solidFill>
                  <a:srgbClr val="1F2A4E"/>
                </a:solidFill>
              </a:rPr>
              <a:t>Mestrando:  </a:t>
            </a:r>
            <a:r>
              <a:rPr sz="1400">
                <a:solidFill>
                  <a:srgbClr val="3D424E"/>
                </a:solidFill>
              </a:rPr>
              <a:t>Marcello Vinicius Alves Ozzetti Cruz</a:t>
            </a:r>
          </a:p>
          <a:p>
            <a:pPr>
              <a:spcAft>
                <a:spcPts val="400"/>
              </a:spcAft>
            </a:pPr>
            <a:r>
              <a:rPr sz="1400" b="1">
                <a:solidFill>
                  <a:srgbClr val="1F2A4E"/>
                </a:solidFill>
              </a:rPr>
              <a:t>Orientador:  </a:t>
            </a:r>
            <a:r>
              <a:rPr sz="1400">
                <a:solidFill>
                  <a:srgbClr val="3D424E"/>
                </a:solidFill>
              </a:rPr>
              <a:t>Prof. Dr. Marcos Goncalves Quiles</a:t>
            </a:r>
          </a:p>
          <a:p>
            <a:pPr>
              <a:spcAft>
                <a:spcPts val="400"/>
              </a:spcAft>
            </a:pPr>
            <a:r>
              <a:rPr sz="1400" b="1">
                <a:solidFill>
                  <a:srgbClr val="1F2A4E"/>
                </a:solidFill>
              </a:rPr>
              <a:t>Programa:  </a:t>
            </a:r>
            <a:r>
              <a:rPr sz="1400">
                <a:solidFill>
                  <a:srgbClr val="3D424E"/>
                </a:solidFill>
              </a:rPr>
              <a:t>Pos-Graduacao em Ciencia da Computacao</a:t>
            </a:r>
          </a:p>
          <a:p>
            <a:pPr>
              <a:spcAft>
                <a:spcPts val="400"/>
              </a:spcAft>
            </a:pPr>
            <a:r>
              <a:rPr sz="1400" b="1">
                <a:solidFill>
                  <a:srgbClr val="1F2A4E"/>
                </a:solidFill>
              </a:rPr>
              <a:t>Data:  </a:t>
            </a:r>
            <a:r>
              <a:rPr sz="1400">
                <a:solidFill>
                  <a:srgbClr val="3D424E"/>
                </a:solidFill>
              </a:rPr>
              <a:t>30 de setembro de 2026</a:t>
            </a:r>
          </a:p>
          <a:p>
            <a:pPr>
              <a:spcAft>
                <a:spcPts val="400"/>
              </a:spcAft>
            </a:pPr>
            <a:r>
              <a:rPr sz="1400" b="1">
                <a:solidFill>
                  <a:srgbClr val="1F2A4E"/>
                </a:solidFill>
              </a:rPr>
              <a:t>Local:  </a:t>
            </a:r>
            <a:r>
              <a:rPr sz="1400">
                <a:solidFill>
                  <a:srgbClr val="3D424E"/>
                </a:solidFill>
              </a:rPr>
              <a:t>UNIFESP / ICT - Sao Jose dos Campos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F2A4E"/>
                </a:solidFill>
              </a:defRPr>
            </a:pPr>
            <a:r>
              <a:t>Roteiro da apresentacao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114300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1.  Motivacao  </a:t>
            </a:r>
            <a:r>
              <a:rPr sz="1600">
                <a:solidFill>
                  <a:srgbClr val="3D424E"/>
                </a:solidFill>
              </a:rPr>
              <a:t>por que esse problema importa hoje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2.  Problema  </a:t>
            </a:r>
            <a:r>
              <a:rPr sz="1600">
                <a:solidFill>
                  <a:srgbClr val="3D424E"/>
                </a:solidFill>
              </a:rPr>
              <a:t>o que exatamente esta errado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3.  Objetivos e hipoteses  </a:t>
            </a:r>
            <a:r>
              <a:rPr sz="1600">
                <a:solidFill>
                  <a:srgbClr val="3D424E"/>
                </a:solidFill>
              </a:rPr>
              <a:t>o que vamos investigar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4.  Revisao da literatura  </a:t>
            </a:r>
            <a:r>
              <a:rPr sz="1600">
                <a:solidFill>
                  <a:srgbClr val="3D424E"/>
                </a:solidFill>
              </a:rPr>
              <a:t>o que a comunidade ja tentou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5.  Metodologia  </a:t>
            </a:r>
            <a:r>
              <a:rPr sz="1600">
                <a:solidFill>
                  <a:srgbClr val="3D424E"/>
                </a:solidFill>
              </a:rPr>
              <a:t>como pretendemos resolver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6.  Contribuicoes esperadas  </a:t>
            </a:r>
            <a:r>
              <a:rPr sz="1600">
                <a:solidFill>
                  <a:srgbClr val="3D424E"/>
                </a:solidFill>
              </a:rPr>
              <a:t>o que ficara para a area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7.  Cronograma e riscos  </a:t>
            </a:r>
            <a:r>
              <a:rPr sz="1600">
                <a:solidFill>
                  <a:srgbClr val="3D424E"/>
                </a:solidFill>
              </a:rPr>
              <a:t>quando e o que pode dar errado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8.  Estado atual  </a:t>
            </a:r>
            <a:r>
              <a:rPr sz="1600">
                <a:solidFill>
                  <a:srgbClr val="3D424E"/>
                </a:solidFill>
              </a:rPr>
              <a:t>o que ja esta feito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Qualificacao - Marcello Ozzetti - Prof. Marcos Quiles - UNIFESP/ICT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21440" y="644652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2 / 25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F2A4E"/>
                </a:solidFill>
              </a:defRPr>
            </a:pPr>
            <a:r>
              <a:t>Reconhecimento facial esta em toda parte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114300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3D424E"/>
                </a:solidFill>
              </a:defRPr>
            </a:pPr>
            <a:r>
              <a:t>-  Desbloqueio de celular, autenticacao bancaria, controle de fronteiras, identificacao policial.</a:t>
            </a:r>
          </a:p>
          <a:p>
            <a:pPr>
              <a:spcAft>
                <a:spcPts val="800"/>
              </a:spcAft>
              <a:defRPr sz="1600">
                <a:solidFill>
                  <a:srgbClr val="3D424E"/>
                </a:solidFill>
              </a:defRPr>
            </a:pPr>
            <a:r>
              <a:t>-  Deixou de ser tecnologia de laboratorio: e infraestrutura social.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NIST 2019:  </a:t>
            </a:r>
            <a:r>
              <a:rPr sz="1600">
                <a:solidFill>
                  <a:srgbClr val="3D424E"/>
                </a:solidFill>
              </a:rPr>
              <a:t>maior auditoria publica ja feita em biometria facial - 189 algoritmos comerciais, 18 milhoes de imagens.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Resultado:  </a:t>
            </a:r>
            <a:r>
              <a:rPr sz="1600">
                <a:solidFill>
                  <a:srgbClr val="3D424E"/>
                </a:solidFill>
              </a:rPr>
              <a:t>diferenca de 10 a 100 vezes na taxa de falso positivo entre grupos raciais.</a:t>
            </a:r>
          </a:p>
          <a:p>
            <a:pPr>
              <a:spcAft>
                <a:spcPts val="800"/>
              </a:spcAft>
              <a:defRPr sz="1600">
                <a:solidFill>
                  <a:srgbClr val="3D424E"/>
                </a:solidFill>
              </a:defRPr>
            </a:pPr>
            <a:r>
              <a:t>-  Em resumo: a tecnologia funciona bem para a maioria, mas nao funciona igualmente bem para todos.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Qualificacao - Marcello Ozzetti - Prof. Marcos Quiles - UNIFESP/ICT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21440" y="644652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3 / 25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F2A4E"/>
                </a:solidFill>
              </a:defRPr>
            </a:pPr>
            <a:r>
              <a:t>O tema virou obrigacao regulatoria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114300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European AI Act (2024):  </a:t>
            </a:r>
            <a:r>
              <a:rPr sz="1600">
                <a:solidFill>
                  <a:srgbClr val="3D424E"/>
                </a:solidFill>
              </a:rPr>
              <a:t>primeira lei que regula sistemas de IA de alto risco na Uniao Europeia.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Auditoria de equidade:  </a:t>
            </a:r>
            <a:r>
              <a:rPr sz="1600">
                <a:solidFill>
                  <a:srgbClr val="3D424E"/>
                </a:solidFill>
              </a:rPr>
              <a:t>requisito formal para sistemas biometricos - nao mais opcional.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Consequencias praticas:  </a:t>
            </a:r>
            <a:r>
              <a:rPr sz="1600">
                <a:solidFill>
                  <a:srgbClr val="3D424E"/>
                </a:solidFill>
              </a:rPr>
              <a:t>casos documentados de prisao errada por falso match ja resultaram em processos e moratorias.</a:t>
            </a:r>
          </a:p>
          <a:p>
            <a:pPr>
              <a:spcAft>
                <a:spcPts val="800"/>
              </a:spcAft>
              <a:defRPr sz="1600">
                <a:solidFill>
                  <a:srgbClr val="3D424E"/>
                </a:solidFill>
              </a:defRPr>
            </a:pPr>
            <a:r>
              <a:t>-  A pergunta cientifica mudou. Nao e mais 'existe vies?' - isso ja esta provado. E 'como mitigar de forma defensavel?'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Qualificacao - Marcello Ozzetti - Prof. Marcos Quiles - UNIFESP/ICT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21440" y="644652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4 / 25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F2A4E"/>
                </a:solidFill>
              </a:defRPr>
            </a:pPr>
            <a:r>
              <a:t>Existe uma disparidade estavel de ~30 pontos entre grupos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ig_disparidade_raci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9190" y="1371600"/>
            <a:ext cx="10010570" cy="43891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5989320"/>
            <a:ext cx="11430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i="1">
                <a:solidFill>
                  <a:srgbClr val="707682"/>
                </a:solidFill>
              </a:defRPr>
            </a:pPr>
            <a:r>
              <a:t>Melhor modelo publico (FaceScanPaliGemma, 2024) sobre o dataset FairFace. Diferenca entre Black e Latinx = 30 pontos.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Qualificacao - Marcello Ozzetti - Prof. Marcos Quiles - UNIFESP/ICT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521440" y="644652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5 / 25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F2A4E"/>
                </a:solidFill>
              </a:defRPr>
            </a:pPr>
            <a:r>
              <a:t>Por que a classe Latinx e a mais dificil?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114300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3D424E"/>
                </a:solidFill>
              </a:defRPr>
            </a:pPr>
            <a:r>
              <a:t>-  A categoria 'Latinx/Hispanic' agrupa fenotipos muito diferentes em uma so etiqueta.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Antropologia:  </a:t>
            </a:r>
            <a:r>
              <a:rPr sz="1600">
                <a:solidFill>
                  <a:srgbClr val="3D424E"/>
                </a:solidFill>
              </a:rPr>
              <a:t>estudos em quatro paises latino-americanos documentam ampla variacao de tom de pele dentro da populacao (Telles, 2014).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Genetica:  </a:t>
            </a:r>
            <a:r>
              <a:rPr sz="1600">
                <a:solidFill>
                  <a:srgbClr val="3D424E"/>
                </a:solidFill>
              </a:rPr>
              <a:t>estudo com 162 mil individuos mostra composicao ancestral altamente variavel (Bryc, 2015).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Sociologia:  </a:t>
            </a:r>
            <a:r>
              <a:rPr sz="1600">
                <a:solidFill>
                  <a:srgbClr val="3D424E"/>
                </a:solidFill>
              </a:rPr>
              <a:t>identidade Hispanic diminui de 97% para 50% ao longo de quatro geracoes nos EUA (Pew, 2017).</a:t>
            </a:r>
          </a:p>
          <a:p>
            <a:pPr>
              <a:spcAft>
                <a:spcPts val="800"/>
              </a:spcAft>
              <a:defRPr sz="1600">
                <a:solidFill>
                  <a:srgbClr val="3D424E"/>
                </a:solidFill>
              </a:defRPr>
            </a:pPr>
            <a:r>
              <a:t>-  A rotulagem monolitica de 'raca' esconde essa diversidade e prejudica o modelo.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Qualificacao - Marcello Ozzetti - Prof. Marcos Quiles - UNIFESP/ICT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21440" y="644652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6 / 25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F2A4E"/>
                </a:solidFill>
              </a:defRPr>
            </a:pPr>
            <a:r>
              <a:t>E se o problema nao for 'raca' e sim 'tom de pele'?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114300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Pangelinan et al. (2023):  </a:t>
            </a:r>
            <a:r>
              <a:rPr sz="1600">
                <a:solidFill>
                  <a:srgbClr val="3D424E"/>
                </a:solidFill>
              </a:rPr>
              <a:t>argumenta que a fracao de face util na imagem (pixel information) explica melhor o gap do que o rotulo de raca.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Matias et al. (2026):  </a:t>
            </a:r>
            <a:r>
              <a:rPr sz="1600">
                <a:solidFill>
                  <a:srgbClr val="3D424E"/>
                </a:solidFill>
              </a:rPr>
              <a:t>publica o SkinToneNet - primeiro classificador de tom de pele Monk em larga escala.</a:t>
            </a:r>
          </a:p>
          <a:p>
            <a:pPr>
              <a:spcAft>
                <a:spcPts val="800"/>
              </a:spcAft>
              <a:defRPr sz="1600">
                <a:solidFill>
                  <a:srgbClr val="3D424E"/>
                </a:solidFill>
              </a:defRPr>
            </a:pPr>
            <a:r>
              <a:t>-  Se essa refutacao estiver certa, a pesquisa em equidade facial deveria olhar mais para tom de pele.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Nossa aposta:  </a:t>
            </a:r>
            <a:r>
              <a:rPr sz="1600">
                <a:solidFill>
                  <a:srgbClr val="3D424E"/>
                </a:solidFill>
              </a:rPr>
              <a:t>o tom de pele nao substitui a raca - ele funciona como sinal de contexto que ajuda a rede a decidir melhor.</a:t>
            </a:r>
          </a:p>
          <a:p>
            <a:pPr>
              <a:spcAft>
                <a:spcPts val="800"/>
              </a:spcAft>
              <a:defRPr sz="1600">
                <a:solidFill>
                  <a:srgbClr val="3D424E"/>
                </a:solidFill>
              </a:defRPr>
            </a:pPr>
            <a:r>
              <a:t>-  Vamos testar isso como hipotese formal, incluindo os cenarios em que a refutacao ganha.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Qualificacao - Marcello Ozzetti - Prof. Marcos Quiles - UNIFESP/ICT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21440" y="644652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7 / 25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F2A4E"/>
                </a:solidFill>
              </a:defRPr>
            </a:pPr>
            <a:r>
              <a:t>Objetivo geral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1371600" y="2011680"/>
            <a:ext cx="9418320" cy="2377440"/>
          </a:xfrm>
          <a:prstGeom prst="round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28800" y="2377440"/>
            <a:ext cx="85039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>
                <a:solidFill>
                  <a:srgbClr val="FFFFFF"/>
                </a:solidFill>
              </a:defRPr>
            </a:pPr>
            <a:r>
              <a:t>Desenvolver e avaliar um pipeline de classificacao racial que usa o tom de pele (escala Monk, 10 tons) como sinal de contexto para reduzir a disparidade entre grupos, sem sacrificar a acuracia geral.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4754880"/>
            <a:ext cx="94183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i="1">
                <a:solidFill>
                  <a:srgbClr val="3D424E"/>
                </a:solidFill>
              </a:defRPr>
            </a:pPr>
            <a:r>
              <a:t>Arquitetura escolhida: ConvNeXt-T (rede base moderna) + FiLM (mecanismo que 'consulta' o tom de pele antes de decidir).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Qualificacao - Marcello Ozzetti - Prof. Marcos Quiles - UNIFESP/ICT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21440" y="644652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8 / 25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F2A4E"/>
                </a:solidFill>
              </a:defRPr>
            </a:pPr>
            <a:r>
              <a:t>Seis objetivos especificos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371600"/>
          <a:ext cx="11430000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"/>
                <a:gridCol w="10972800"/>
              </a:tblGrid>
              <a:tr h="679268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#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Objetivo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</a:tr>
              <a:tr h="679268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3D424E"/>
                          </a:solidFill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3D424E"/>
                          </a:solidFill>
                        </a:rPr>
                        <a:t>Quantificar como o tom de pele Monk se distribui dentro de cada grupo racial do FairFace.</a:t>
                      </a:r>
                    </a:p>
                  </a:txBody>
                  <a:tcPr/>
                </a:tc>
              </a:tr>
              <a:tr h="679268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3D424E"/>
                          </a:solidFill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3D424E"/>
                          </a:solidFill>
                        </a:rPr>
                        <a:t>Treinar e avaliar um classificador de tom de pele proprio, com sensitivity analysis contra alternativas.</a:t>
                      </a:r>
                    </a:p>
                  </a:txBody>
                  <a:tcPr/>
                </a:tc>
              </a:tr>
              <a:tr h="679268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3D424E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3D424E"/>
                          </a:solidFill>
                        </a:rPr>
                        <a:t>Implementar o pipeline com FiLM sobre ConvNeXt-T e compara-lo contra seis baselines de mitigacao.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</a:tr>
              <a:tr h="679268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3D424E"/>
                          </a:solidFill>
                        </a:rP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3D424E"/>
                          </a:solidFill>
                        </a:rPr>
                        <a:t>Demonstrar que o ganho em classificacao transfere para reconhecimento (RFW/BFW).</a:t>
                      </a:r>
                    </a:p>
                  </a:txBody>
                  <a:tcPr/>
                </a:tc>
              </a:tr>
              <a:tr h="679268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3D424E"/>
                          </a:solidFill>
                        </a:rP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3D424E"/>
                          </a:solidFill>
                        </a:rPr>
                        <a:t>Formalizar a triangulacao de metricas - Disparity Ratio, F1 da pior classe, Equal Opportunity.</a:t>
                      </a:r>
                    </a:p>
                  </a:txBody>
                  <a:tcPr/>
                </a:tc>
              </a:tr>
              <a:tr h="679272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3D424E"/>
                          </a:solidFill>
                        </a:rPr>
                        <a:t>6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3D424E"/>
                          </a:solidFill>
                        </a:rPr>
                        <a:t>Decompor quanto do erro Latinx vem do fenotipo (irredutivel) e quanto do modelo (mitigavel).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644652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Qualificacao - Marcello Ozzetti - Prof. Marcos Quiles - UNIFESP/ICT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21440" y="644652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9 / 25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F2A4E"/>
                </a:solidFill>
              </a:defRPr>
            </a:pPr>
            <a:r>
              <a:t>Seis hipoteses testaveis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371600"/>
          <a:ext cx="11430000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40080"/>
                <a:gridCol w="6858000"/>
                <a:gridCol w="3931920"/>
              </a:tblGrid>
              <a:tr h="679268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#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Hipotese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Confirma se...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</a:tr>
              <a:tr h="679268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H1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O classificador MST proprio atinge concordancia humana suficiente.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kappa &gt;= 0.7 com anotacoes internas</a:t>
                      </a:r>
                    </a:p>
                  </a:txBody>
                  <a:tcPr/>
                </a:tc>
              </a:tr>
              <a:tr h="679268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H2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A classe Latinx cobre &gt;= 5 dos 10 tons Monk no FairFace.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cobertura observada &gt;= 5</a:t>
                      </a:r>
                    </a:p>
                  </a:txBody>
                  <a:tcPr/>
                </a:tc>
              </a:tr>
              <a:tr h="679268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H3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Condicionar por tom reduz disparidade sem perder acuracia agregada.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DR menor + F1 macro &gt;= baseline</a:t>
                      </a:r>
                    </a:p>
                  </a:txBody>
                  <a:tcPr/>
                </a:tc>
              </a:tr>
              <a:tr h="679268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H4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&gt;= 50% dos erros Latinx concentram-se em zonas de sobreposicao de tom.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concentracao observada &gt;= 50%</a:t>
                      </a:r>
                    </a:p>
                  </a:txBody>
                  <a:tcPr/>
                </a:tc>
              </a:tr>
              <a:tr h="679268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H5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O ganho em classificacao transfere para reconhecimento.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reducao de gap tambem em RFW/BFW</a:t>
                      </a:r>
                    </a:p>
                  </a:txBody>
                  <a:tcPr/>
                </a:tc>
              </a:tr>
              <a:tr h="679272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H6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Parte substancial do gap e explicada por pixel information (Pangelinan).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R^2 explicado &gt;= 70%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644652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Qualificacao - Marcello Ozzetti - Prof. Marcos Quiles - UNIFESP/ICT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21440" y="644652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10 / 25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F2A4E"/>
                </a:solidFill>
              </a:defRPr>
            </a:pPr>
            <a:r>
              <a:t>Como a comunidade tem atacado o problema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114300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6 frentes de literatura mapeadas:  </a:t>
            </a:r>
            <a:r>
              <a:rPr sz="1600">
                <a:solidFill>
                  <a:srgbClr val="3D424E"/>
                </a:solidFill>
              </a:rPr>
              <a:t>datasets balanceados; funcoes de perda; arquiteturas; modelos vision-language; MST; heterogeneidade fenotipica.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104 fichas bibliograficas revisadas  </a:t>
            </a:r>
            <a:r>
              <a:rPr sz="1600">
                <a:solidFill>
                  <a:srgbClr val="3D424E"/>
                </a:solidFill>
              </a:rPr>
              <a:t>no periodo 2014-2026, com 56% dos trabalhos posteriores a 2022.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Fundacoes classicas:  </a:t>
            </a:r>
            <a:r>
              <a:rPr sz="1600">
                <a:solidFill>
                  <a:srgbClr val="3D424E"/>
                </a:solidFill>
              </a:rPr>
              <a:t>Gender Shades (Buolamwini 2018), Hardt (2016) - definicoes formais de equidade.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Marcos consolidados:  </a:t>
            </a:r>
            <a:r>
              <a:rPr sz="1600">
                <a:solidFill>
                  <a:srgbClr val="3D424E"/>
                </a:solidFill>
              </a:rPr>
              <a:t>FairFace (Karkkainen 2021), RFW (Wang 2019), Impossibilidade (Kleinberg 2017).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Fronteira atual:  </a:t>
            </a:r>
            <a:r>
              <a:rPr sz="1600">
                <a:solidFill>
                  <a:srgbClr val="3D424E"/>
                </a:solidFill>
              </a:rPr>
              <a:t>FSCL+ (Park 2022), FineFACE (Manzoor 2024), SkinToneNet (Matias 2026).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Qualificacao - Marcello Ozzetti - Prof. Marcos Quiles - UNIFESP/ICT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21440" y="644652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11 / 25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F2A4E"/>
                </a:solidFill>
              </a:defRPr>
            </a:pPr>
            <a:r>
              <a:t>O que ja se tentou para mitigar o vies (usaremos como baselines)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371600"/>
          <a:ext cx="11430000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914400"/>
                <a:gridCol w="7315200"/>
              </a:tblGrid>
              <a:tr h="679268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Metodo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Ano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Ideia central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</a:tr>
              <a:tr h="679268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D424E"/>
                          </a:solidFill>
                        </a:rPr>
                        <a:t>Adversarial debiasing (Zhang)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D424E"/>
                          </a:solidFill>
                        </a:rPr>
                        <a:t>2018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D424E"/>
                          </a:solidFill>
                        </a:rPr>
                        <a:t>Segundo modelo tenta 'ler' o atributo sensivel - o primeiro se defende.</a:t>
                      </a:r>
                    </a:p>
                  </a:txBody>
                  <a:tcPr/>
                </a:tc>
              </a:tr>
              <a:tr h="679268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D424E"/>
                          </a:solidFill>
                        </a:rPr>
                        <a:t>Group DRO (Sagawa)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D424E"/>
                          </a:solidFill>
                        </a:rPr>
                        <a:t>2020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D424E"/>
                          </a:solidFill>
                        </a:rPr>
                        <a:t>Otimiza o erro do pior grupo, nao o erro medio.</a:t>
                      </a:r>
                    </a:p>
                  </a:txBody>
                  <a:tcPr/>
                </a:tc>
              </a:tr>
              <a:tr h="679268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D424E"/>
                          </a:solidFill>
                        </a:rPr>
                        <a:t>FSCL+ (Park)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D424E"/>
                          </a:solidFill>
                        </a:rPr>
                        <a:t>2022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D424E"/>
                          </a:solidFill>
                        </a:rPr>
                        <a:t>Aprendizado contrastivo com controle de vies.</a:t>
                      </a:r>
                    </a:p>
                  </a:txBody>
                  <a:tcPr/>
                </a:tc>
              </a:tr>
              <a:tr h="679268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D424E"/>
                          </a:solidFill>
                        </a:rPr>
                        <a:t>FineFACE (Manzoor)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D424E"/>
                          </a:solidFill>
                        </a:rPr>
                        <a:t>2024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D424E"/>
                          </a:solidFill>
                        </a:rPr>
                        <a:t>Atencao entre camadas para operar em fronteira Pareto.</a:t>
                      </a:r>
                    </a:p>
                  </a:txBody>
                  <a:tcPr/>
                </a:tc>
              </a:tr>
              <a:tr h="679268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D424E"/>
                          </a:solidFill>
                        </a:rPr>
                        <a:t>ResNet-34 (Karkkainen)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D424E"/>
                          </a:solidFill>
                        </a:rPr>
                        <a:t>2021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D424E"/>
                          </a:solidFill>
                        </a:rPr>
                        <a:t>Baseline canonico da propria comunidade FairFace.</a:t>
                      </a:r>
                    </a:p>
                  </a:txBody>
                  <a:tcPr/>
                </a:tc>
              </a:tr>
              <a:tr h="679272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D424E"/>
                          </a:solidFill>
                        </a:rPr>
                        <a:t>ConvNeXt-T puro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D424E"/>
                          </a:solidFill>
                        </a:rPr>
                        <a:t>2022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D424E"/>
                          </a:solidFill>
                        </a:rPr>
                        <a:t>Controle: efeito da rede moderna sem condicionamento.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644652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Qualificacao - Marcello Ozzetti - Prof. Marcos Quiles - UNIFESP/ICT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21440" y="644652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12 / 25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F2A4E"/>
                </a:solidFill>
              </a:defRPr>
            </a:pPr>
            <a:r>
              <a:t>Evidencia externa a computacao: o rotulo racial esconde variacao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114300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Antropologia biologica (Telles, 2014):  </a:t>
            </a:r>
            <a:r>
              <a:rPr sz="1600">
                <a:solidFill>
                  <a:srgbClr val="3D424E"/>
                </a:solidFill>
              </a:rPr>
              <a:t>projeto PERLA em 4 paises latino-americanos - documenta 'pigmentocracia'.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Genetica populacional (Bryc, 2015):  </a:t>
            </a:r>
            <a:r>
              <a:rPr sz="1600">
                <a:solidFill>
                  <a:srgbClr val="3D424E"/>
                </a:solidFill>
              </a:rPr>
              <a:t>162 mil individuos - composicao ancestral variavel em Latinos.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Sociologia identitaria (Pew, 2017):  </a:t>
            </a:r>
            <a:r>
              <a:rPr sz="1600">
                <a:solidFill>
                  <a:srgbClr val="3D424E"/>
                </a:solidFill>
              </a:rPr>
              <a:t>identidade Hispanic e fluida ao longo de geracoes.</a:t>
            </a:r>
          </a:p>
          <a:p>
            <a:pPr>
              <a:spcAft>
                <a:spcPts val="800"/>
              </a:spcAft>
              <a:defRPr sz="1600">
                <a:solidFill>
                  <a:srgbClr val="3D424E"/>
                </a:solidFill>
              </a:defRPr>
            </a:pPr>
            <a:r>
              <a:t>-  Tres disciplinas independentes convergem: o rotulo racial no FairFace nao captura variacao fenotipica real.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Consequencia:  </a:t>
            </a:r>
            <a:r>
              <a:rPr sz="1600">
                <a:solidFill>
                  <a:srgbClr val="3D424E"/>
                </a:solidFill>
              </a:rPr>
              <a:t>condicionar por tom de pele nao substitui o rotulo, mas oferece ao modelo uma pista objetiva que a rotulagem sozinha nao da.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Qualificacao - Marcello Ozzetti - Prof. Marcos Quiles - UNIFESP/ICT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21440" y="644652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13 / 25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F2A4E"/>
                </a:solidFill>
              </a:defRPr>
            </a:pPr>
            <a:r>
              <a:t>5 lacunas cientificas identificadas na literatura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371600"/>
          <a:ext cx="11430000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"/>
                <a:gridCol w="5943600"/>
                <a:gridCol w="4937760"/>
              </a:tblGrid>
              <a:tr h="79248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#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Lacuna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Como enderecamos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</a:tr>
              <a:tr h="79248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D424E"/>
                          </a:solidFill>
                        </a:rPr>
                        <a:t>L1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D424E"/>
                          </a:solidFill>
                        </a:rPr>
                        <a:t>Nao existe matriz publica MST x classes raciais no FairFace.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D424E"/>
                          </a:solidFill>
                        </a:rPr>
                        <a:t>Etapa 2 do pipeline - Contribuicao 2.</a:t>
                      </a:r>
                    </a:p>
                  </a:txBody>
                  <a:tcPr/>
                </a:tc>
              </a:tr>
              <a:tr h="79248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D424E"/>
                          </a:solidFill>
                        </a:rPr>
                        <a:t>L2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D424E"/>
                          </a:solidFill>
                        </a:rPr>
                        <a:t>FiLM nunca foi aplicado em classificacao racial multi-classe.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D424E"/>
                          </a:solidFill>
                        </a:rPr>
                        <a:t>Etapa 3 - Contribuicao 3.</a:t>
                      </a:r>
                    </a:p>
                  </a:txBody>
                  <a:tcPr/>
                </a:tc>
              </a:tr>
              <a:tr h="79248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D424E"/>
                          </a:solidFill>
                        </a:rPr>
                        <a:t>L3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D424E"/>
                          </a:solidFill>
                        </a:rPr>
                        <a:t>Metricas de fairness multi-classe estao fragmentadas na literatura.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D424E"/>
                          </a:solidFill>
                        </a:rPr>
                        <a:t>Etapa 4 - Contribuicao 4 (triangulacao).</a:t>
                      </a:r>
                    </a:p>
                  </a:txBody>
                  <a:tcPr/>
                </a:tc>
              </a:tr>
              <a:tr h="79248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D424E"/>
                          </a:solidFill>
                        </a:rPr>
                        <a:t>L4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D424E"/>
                          </a:solidFill>
                        </a:rPr>
                        <a:t>Transferencia de fairness para reconhecimento e pouco estudada.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D424E"/>
                          </a:solidFill>
                        </a:rPr>
                        <a:t>Etapa 5 - Contribuicao 5.</a:t>
                      </a:r>
                    </a:p>
                  </a:txBody>
                  <a:tcPr/>
                </a:tc>
              </a:tr>
              <a:tr h="79248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D424E"/>
                          </a:solidFill>
                        </a:rPr>
                        <a:t>L5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D424E"/>
                          </a:solidFill>
                        </a:rPr>
                        <a:t>Nao ha decomposicao quantitativa do gap Latinx.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D424E"/>
                          </a:solidFill>
                        </a:rPr>
                        <a:t>Etapa 6 - Contribuicao 6.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644652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Qualificacao - Marcello Ozzetti - Prof. Marcos Quiles - UNIFESP/ICT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21440" y="644652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14 / 25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F2A4E"/>
                </a:solidFill>
              </a:defRPr>
            </a:pPr>
            <a:r>
              <a:t>Pipeline em 6 etapas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ig_pipeline_6etap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40534" y="1371600"/>
            <a:ext cx="4107884" cy="49377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5989320"/>
            <a:ext cx="11430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i="1">
                <a:solidFill>
                  <a:srgbClr val="707682"/>
                </a:solidFill>
              </a:defRPr>
            </a:pPr>
            <a:r>
              <a:t>Fluxo top-down: 3 fases (diagnostico, metodo, validacao). Etapa 3 e o metodo proposto.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Qualificacao - Marcello Ozzetti - Prof. Marcos Quiles - UNIFESP/ICT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521440" y="644652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15 / 25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F2A4E"/>
                </a:solidFill>
              </a:defRPr>
            </a:pPr>
            <a:r>
              <a:t>Etapa 1 - Classificador de tom de pele (proprio)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114300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O que faz:  </a:t>
            </a:r>
            <a:r>
              <a:rPr sz="1600">
                <a:solidFill>
                  <a:srgbClr val="3D424E"/>
                </a:solidFill>
              </a:rPr>
              <a:t>recebe uma foto de rosto e devolve as 10 probabilidades da escala Monk.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Decisao pos-reuniao Ago/2026:  </a:t>
            </a:r>
            <a:r>
              <a:rPr sz="1600">
                <a:solidFill>
                  <a:srgbClr val="3D424E"/>
                </a:solidFill>
              </a:rPr>
              <a:t>treinar nosso proprio classificador ao inves de depender do SkinToneNet (que ainda nao foi liberado).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Datasets de treino:  </a:t>
            </a:r>
            <a:r>
              <a:rPr sz="1600">
                <a:solidFill>
                  <a:srgbClr val="3D424E"/>
                </a:solidFill>
              </a:rPr>
              <a:t>MSTE (Google) e Casual Conversations v2 (Meta) - publicos hoje.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Camada auto-suficiente:  </a:t>
            </a:r>
            <a:r>
              <a:rPr sz="1600">
                <a:solidFill>
                  <a:srgbClr val="3D424E"/>
                </a:solidFill>
              </a:rPr>
              <a:t>detecta o rosto, alinha, corta e classifica - funciona em qualquer dataset, ate os que nao tem anotacao.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Validacao:  </a:t>
            </a:r>
            <a:r>
              <a:rPr sz="1600">
                <a:solidFill>
                  <a:srgbClr val="3D424E"/>
                </a:solidFill>
              </a:rPr>
              <a:t>protocolo humano interno (~250 imagens do FairFace) + comparacao com 2-3 classificadores alternativos.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Qualificacao - Marcello Ozzetti - Prof. Marcos Quiles - UNIFESP/ICT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21440" y="644652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16 / 25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F2A4E"/>
                </a:solidFill>
              </a:defRPr>
            </a:pPr>
            <a:r>
              <a:t>Etapa 3 - Classificador racial com FiLM (3 configuracoes)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371600"/>
          <a:ext cx="11430000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"/>
                <a:gridCol w="4480560"/>
                <a:gridCol w="6400800"/>
              </a:tblGrid>
              <a:tr h="118872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ID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Configuracao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O que testa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</a:tr>
              <a:tr h="118872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3D424E"/>
                          </a:solidFill>
                        </a:rPr>
                        <a:t>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3D424E"/>
                          </a:solidFill>
                        </a:rPr>
                        <a:t>ConvNeXt-T puro (baseline)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3D424E"/>
                          </a:solidFill>
                        </a:rPr>
                        <a:t>Sem condicionamento - controle.</a:t>
                      </a:r>
                    </a:p>
                  </a:txBody>
                  <a:tcPr/>
                </a:tc>
              </a:tr>
              <a:tr h="118872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3D424E"/>
                          </a:solidFill>
                        </a:rPr>
                        <a:t>B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3D424E"/>
                          </a:solidFill>
                        </a:rPr>
                        <a:t>ConvNeXt-T + FiLM (sinal MST direto)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3D424E"/>
                          </a:solidFill>
                        </a:rPr>
                        <a:t>Proposta principal - o tom de pele entra como contexto.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</a:tr>
              <a:tr h="118872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3D424E"/>
                          </a:solidFill>
                        </a:rPr>
                        <a:t>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3D424E"/>
                          </a:solidFill>
                        </a:rPr>
                        <a:t>ConvNeXt-T + FiLM (sinal via CLIP-text)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3D424E"/>
                          </a:solidFill>
                        </a:rPr>
                        <a:t>Alternativa: sinal em espaco semantico ao inves de numerico.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644652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Qualificacao - Marcello Ozzetti - Prof. Marcos Quiles - UNIFESP/ICT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21440" y="644652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17 / 25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F2A4E"/>
                </a:solidFill>
              </a:defRPr>
            </a:pPr>
            <a:r>
              <a:t>Como validamos - baselines e cenarios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114300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Comparamos contra 6 baselines:  </a:t>
            </a:r>
            <a:r>
              <a:rPr sz="1600">
                <a:solidFill>
                  <a:srgbClr val="3D424E"/>
                </a:solidFill>
              </a:rPr>
              <a:t>ResNet-34, ConvNeXt-T puro, FSCL+, Group DRO, FineFACE, Adversarial debiasing.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Cenario A - apenas raca:  </a:t>
            </a:r>
            <a:r>
              <a:rPr sz="1600">
                <a:solidFill>
                  <a:srgbClr val="3D424E"/>
                </a:solidFill>
              </a:rPr>
              <a:t>metricas por classe racial (7 classes do FairFace).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Cenario B - raca X genero:  </a:t>
            </a:r>
            <a:r>
              <a:rPr sz="1600">
                <a:solidFill>
                  <a:srgbClr val="3D424E"/>
                </a:solidFill>
              </a:rPr>
              <a:t>analise interseccional (8 subgrupos, seguindo Gender Shades).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Norma seguida:  </a:t>
            </a:r>
            <a:r>
              <a:rPr sz="1600">
                <a:solidFill>
                  <a:srgbClr val="3D424E"/>
                </a:solidFill>
              </a:rPr>
              <a:t>ISO/IEC 19795-10:2024 - padrao internacional para reporte de desempenho biometrico entre grupos.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Rigor experimental:  </a:t>
            </a:r>
            <a:r>
              <a:rPr sz="1600">
                <a:solidFill>
                  <a:srgbClr val="3D424E"/>
                </a:solidFill>
              </a:rPr>
              <a:t>3 sementes independentes por experimento (42, 1, 2), comparacao pareada, intervalo de confianca 95% por bootstrap.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Qualificacao - Marcello Ozzetti - Prof. Marcos Quiles - UNIFESP/ICT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21440" y="644652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18 / 25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F2A4E"/>
                </a:solidFill>
              </a:defRPr>
            </a:pPr>
            <a:r>
              <a:t>Triangulacao de metricas (nenhuma metrica isolada basta)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114300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Por que triangular:  </a:t>
            </a:r>
            <a:r>
              <a:rPr sz="1600">
                <a:solidFill>
                  <a:srgbClr val="3D424E"/>
                </a:solidFill>
              </a:rPr>
              <a:t>Teorema da Impossibilidade (Kleinberg 2017) - nao existe metrica unica de equidade que satisfaca tudo.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Disparity Ratio:  </a:t>
            </a:r>
            <a:r>
              <a:rPr sz="1600">
                <a:solidFill>
                  <a:srgbClr val="3D424E"/>
                </a:solidFill>
              </a:rPr>
              <a:t>razao entre pior e melhor F1. Mede quao desigual e o desempenho entre grupos.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F1 da pior classe:  </a:t>
            </a:r>
            <a:r>
              <a:rPr sz="1600">
                <a:solidFill>
                  <a:srgbClr val="3D424E"/>
                </a:solidFill>
              </a:rPr>
              <a:t>garante que a melhoria nao vem so no meio - protege o grupo mais fraco.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Equal Opportunity:  </a:t>
            </a:r>
            <a:r>
              <a:rPr sz="1600">
                <a:solidFill>
                  <a:srgbClr val="3D424E"/>
                </a:solidFill>
              </a:rPr>
              <a:t>iguala a taxa de acerto entre grupos, condicionada ao rotulo verdadeiro.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Equalized Odds:  </a:t>
            </a:r>
            <a:r>
              <a:rPr sz="1600">
                <a:solidFill>
                  <a:srgbClr val="3D424E"/>
                </a:solidFill>
              </a:rPr>
              <a:t>vai alem: iguala acerto e erro entre grupos.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Visualizacao Pareto:  </a:t>
            </a:r>
            <a:r>
              <a:rPr sz="1600">
                <a:solidFill>
                  <a:srgbClr val="3D424E"/>
                </a:solidFill>
              </a:rPr>
              <a:t>para cada modelo, plotamos (acuracia agregada) x (disparidade) - vemos quem esta na fronteira.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Qualificacao - Marcello Ozzetti - Prof. Marcos Quiles - UNIFESP/ICT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21440" y="644652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19 / 25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F2A4E"/>
                </a:solidFill>
              </a:defRPr>
            </a:pPr>
            <a:r>
              <a:t>Contribuicoes esperadas (3 eixos, 7 contribuicoes)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371600"/>
          <a:ext cx="11430000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1828800"/>
                <a:gridCol w="6400800"/>
              </a:tblGrid>
              <a:tr h="118872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Eixo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Contribuicoes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Foco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</a:tr>
              <a:tr h="118872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3D424E"/>
                          </a:solidFill>
                        </a:rPr>
                        <a:t>Fenotipico-empirico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3D424E"/>
                          </a:solidFill>
                        </a:rPr>
                        <a:t>1, 2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3D424E"/>
                          </a:solidFill>
                        </a:rPr>
                        <a:t>Documentar como o fenotipo (MST) se distribui dentro de cada rotulo racial.</a:t>
                      </a:r>
                    </a:p>
                  </a:txBody>
                  <a:tcPr/>
                </a:tc>
              </a:tr>
              <a:tr h="118872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3D424E"/>
                          </a:solidFill>
                        </a:rPr>
                        <a:t>Metodologico-arquitetural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3D424E"/>
                          </a:solidFill>
                        </a:rPr>
                        <a:t>3, 4, 7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3D424E"/>
                          </a:solidFill>
                        </a:rPr>
                        <a:t>Injetar tom de pele como contexto arquitetural + triangulacao de metricas.</a:t>
                      </a:r>
                    </a:p>
                  </a:txBody>
                  <a:tcPr/>
                </a:tc>
              </a:tr>
              <a:tr h="118872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3D424E"/>
                          </a:solidFill>
                        </a:rPr>
                        <a:t>Diagnostico-estrutural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3D424E"/>
                          </a:solidFill>
                        </a:rPr>
                        <a:t>5, 6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3D424E"/>
                          </a:solidFill>
                        </a:rPr>
                        <a:t>Decompor o erro em fenotipico (irredutivel) e algoritmico (mitigavel).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644652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Qualificacao - Marcello Ozzetti - Prof. Marcos Quiles - UNIFESP/ICT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21440" y="644652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20 / 25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F2A4E"/>
                </a:solidFill>
              </a:defRPr>
            </a:pPr>
            <a:r>
              <a:t>Cronograma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371600"/>
          <a:ext cx="11430000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2743200"/>
                <a:gridCol w="6400800"/>
              </a:tblGrid>
              <a:tr h="432261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Periodo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Etapa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Entrega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</a:tr>
              <a:tr h="432261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Ago/2026 (hoje)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Preparacao adiantada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Codigo das Etapas 1 e 2 pronto e testado.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</a:tr>
              <a:tr h="432261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Set/2026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QUALIFICACAO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Marco atual.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</a:tr>
              <a:tr h="432261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Out/2026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Aplicar sugestoes da banca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Ajustes de texto e escopo.</a:t>
                      </a:r>
                    </a:p>
                  </a:txBody>
                  <a:tcPr/>
                </a:tc>
              </a:tr>
              <a:tr h="432261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Nov/2026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Etapa 1 formal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Treinar classificador MST + validacao humana.</a:t>
                      </a:r>
                    </a:p>
                  </a:txBody>
                  <a:tcPr/>
                </a:tc>
              </a:tr>
              <a:tr h="432261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Dez/2026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Etapa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Matriz publica MST x raca.</a:t>
                      </a:r>
                    </a:p>
                  </a:txBody>
                  <a:tcPr/>
                </a:tc>
              </a:tr>
              <a:tr h="432261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Jan-Mar/2027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Etapa 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Ablation 3 configs FiLM.</a:t>
                      </a:r>
                    </a:p>
                  </a:txBody>
                  <a:tcPr/>
                </a:tc>
              </a:tr>
              <a:tr h="432261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Abr/2027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Etapa 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Comparacao vs 6 baselines.</a:t>
                      </a:r>
                    </a:p>
                  </a:txBody>
                  <a:tcPr/>
                </a:tc>
              </a:tr>
              <a:tr h="432261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Mai/2027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Etapa 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Transferencia RFW/BFW.</a:t>
                      </a:r>
                    </a:p>
                  </a:txBody>
                  <a:tcPr/>
                </a:tc>
              </a:tr>
              <a:tr h="432261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Jun/2027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Etapa 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Sintese decompositiva.</a:t>
                      </a:r>
                    </a:p>
                  </a:txBody>
                  <a:tcPr/>
                </a:tc>
              </a:tr>
              <a:tr h="43227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2o sem 2027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Redacao final + DEFESA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Encerramento.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644652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Qualificacao - Marcello Ozzetti - Prof. Marcos Quiles - UNIFESP/ICT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21440" y="644652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21 / 25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F2A4E"/>
                </a:solidFill>
              </a:defRPr>
            </a:pPr>
            <a:r>
              <a:t>Riscos identificados e mitigacoes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371600"/>
          <a:ext cx="11430000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"/>
                <a:gridCol w="4114800"/>
                <a:gridCol w="6766560"/>
              </a:tblGrid>
              <a:tr h="950976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#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Risco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Mitigacao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</a:tr>
              <a:tr h="950976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D424E"/>
                          </a:solidFill>
                        </a:rPr>
                        <a:t>R1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D424E"/>
                          </a:solidFill>
                        </a:rPr>
                        <a:t>Alguma das 6 hipoteses pode ser refutada.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D424E"/>
                          </a:solidFill>
                        </a:rPr>
                        <a:t>Cada hipotese tem plano B; refutacao e resultado cientifico valido.</a:t>
                      </a:r>
                    </a:p>
                  </a:txBody>
                  <a:tcPr/>
                </a:tc>
              </a:tr>
              <a:tr h="950976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D424E"/>
                          </a:solidFill>
                        </a:rPr>
                        <a:t>R2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D424E"/>
                          </a:solidFill>
                        </a:rPr>
                        <a:t>Qualidade do nosso classificador de tom de pele.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D424E"/>
                          </a:solidFill>
                        </a:rPr>
                        <a:t>Validacao humana + sensitivity com outros classificadores + benchmark externo (STW) quando disponivel.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</a:tr>
              <a:tr h="950976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D424E"/>
                          </a:solidFill>
                        </a:rPr>
                        <a:t>R3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D424E"/>
                          </a:solidFill>
                        </a:rPr>
                        <a:t>Refutacao parcial pela linha do Pangelinan (pixel info &gt; tom).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D424E"/>
                          </a:solidFill>
                        </a:rPr>
                        <a:t>Ja incluida como hipotese H6 - refutacao vira contribuicao quantitativa.</a:t>
                      </a:r>
                    </a:p>
                  </a:txBody>
                  <a:tcPr/>
                </a:tc>
              </a:tr>
              <a:tr h="950976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D424E"/>
                          </a:solidFill>
                        </a:rPr>
                        <a:t>R4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D424E"/>
                          </a:solidFill>
                        </a:rPr>
                        <a:t>Custo computacional do treinamento com 3 sementes.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D424E"/>
                          </a:solidFill>
                        </a:rPr>
                        <a:t>ConvNeXt-T e leve (~28M params); estimativa 200-400h GPU total.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644652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Qualificacao - Marcello Ozzetti - Prof. Marcos Quiles - UNIFESP/ICT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21440" y="644652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22 / 25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F2A4E"/>
                </a:solidFill>
              </a:defRPr>
            </a:pPr>
            <a:r>
              <a:t>Estado atual - adiantados no cronograma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79476" y="1463040"/>
            <a:ext cx="3657600" cy="2011680"/>
          </a:xfrm>
          <a:prstGeom prst="round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79476" y="1600200"/>
            <a:ext cx="3657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800" b="1">
                <a:solidFill>
                  <a:srgbClr val="FFFFFF"/>
                </a:solidFill>
              </a:defRPr>
            </a:pPr>
            <a:r>
              <a:t>+3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79476" y="2514600"/>
            <a:ext cx="3657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meses adiantados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0916" y="2971800"/>
            <a:ext cx="3474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i="1">
                <a:solidFill>
                  <a:srgbClr val="B4C4E8"/>
                </a:solidFill>
              </a:defRPr>
            </a:pPr>
            <a:r>
              <a:t>sobre o cronograma proposto na qualificacao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65676" y="1463040"/>
            <a:ext cx="3657600" cy="2011680"/>
          </a:xfrm>
          <a:prstGeom prst="roundRect">
            <a:avLst/>
          </a:prstGeom>
          <a:solidFill>
            <a:srgbClr val="E8E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265676" y="1600200"/>
            <a:ext cx="3657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800" b="1">
                <a:solidFill>
                  <a:srgbClr val="1F2A4E"/>
                </a:solidFill>
              </a:defRPr>
            </a:pPr>
            <a:r>
              <a:t>2 de 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65676" y="2514600"/>
            <a:ext cx="3657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1F2A4E"/>
                </a:solidFill>
              </a:defRPr>
            </a:pPr>
            <a:r>
              <a:t>etapas com codigo pronto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57116" y="2971800"/>
            <a:ext cx="3474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i="1">
                <a:solidFill>
                  <a:srgbClr val="707682"/>
                </a:solidFill>
              </a:defRPr>
            </a:pPr>
            <a:r>
              <a:t>Etapas 1 e 2 funcionando ponta a ponta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51875" y="1463040"/>
            <a:ext cx="3657600" cy="2011680"/>
          </a:xfrm>
          <a:prstGeom prst="roundRect">
            <a:avLst/>
          </a:prstGeom>
          <a:solidFill>
            <a:srgbClr val="E8E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51875" y="1600200"/>
            <a:ext cx="3657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800" b="1">
                <a:solidFill>
                  <a:srgbClr val="1F2A4E"/>
                </a:solidFill>
              </a:defRPr>
            </a:pPr>
            <a:r>
              <a:t>50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51875" y="2514600"/>
            <a:ext cx="3657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1F2A4E"/>
                </a:solidFill>
              </a:defRPr>
            </a:pPr>
            <a:r>
              <a:t>testes automatizados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43315" y="2971800"/>
            <a:ext cx="3474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i="1">
                <a:solidFill>
                  <a:srgbClr val="707682"/>
                </a:solidFill>
              </a:defRPr>
            </a:pPr>
            <a:r>
              <a:t>todos passando (unit + smoke)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3840480"/>
            <a:ext cx="11430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1F2A4E"/>
                </a:solidFill>
              </a:defRPr>
            </a:pPr>
            <a:r>
              <a:t>Entregas concretas ate 18/08/2026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4297680"/>
            <a:ext cx="114300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1">
                <a:solidFill>
                  <a:srgbClr val="1F2A4E"/>
                </a:solidFill>
              </a:rPr>
              <a:t>-  Etapa 1 (codigo pronto):  </a:t>
            </a:r>
            <a:r>
              <a:rPr sz="1300">
                <a:solidFill>
                  <a:srgbClr val="3D424E"/>
                </a:solidFill>
              </a:rPr>
              <a:t>classificador de tom de pele proprio + camada auto-suficiente + trainer + cache.</a:t>
            </a:r>
          </a:p>
          <a:p>
            <a:pPr>
              <a:spcAft>
                <a:spcPts val="600"/>
              </a:spcAft>
            </a:pPr>
            <a:r>
              <a:rPr sz="1300" b="1">
                <a:solidFill>
                  <a:srgbClr val="1F2A4E"/>
                </a:solidFill>
              </a:rPr>
              <a:t>-  Etapa 2 (codigo pronto):  </a:t>
            </a:r>
            <a:r>
              <a:rPr sz="1300">
                <a:solidFill>
                  <a:srgbClr val="3D424E"/>
                </a:solidFill>
              </a:rPr>
              <a:t>matriz publica MST x raca + spread + entropia + teste da hipotese H2.</a:t>
            </a:r>
          </a:p>
          <a:p>
            <a:pPr>
              <a:spcAft>
                <a:spcPts val="600"/>
              </a:spcAft>
            </a:pPr>
            <a:r>
              <a:rPr sz="1300" b="1">
                <a:solidFill>
                  <a:srgbClr val="1F2A4E"/>
                </a:solidFill>
              </a:rPr>
              <a:t>-  Etapas 3 a 6:  </a:t>
            </a:r>
            <a:r>
              <a:rPr sz="1300">
                <a:solidFill>
                  <a:srgbClr val="3D424E"/>
                </a:solidFill>
              </a:rPr>
              <a:t>estrutura de codigo criada, aguardando execucao formal (Nov/2026 em diante).</a:t>
            </a:r>
          </a:p>
          <a:p>
            <a:pPr>
              <a:spcAft>
                <a:spcPts val="600"/>
              </a:spcAft>
            </a:pPr>
            <a:r>
              <a:rPr sz="1300" b="1">
                <a:solidFill>
                  <a:srgbClr val="1F2A4E"/>
                </a:solidFill>
              </a:rPr>
              <a:t>-  Texto da dissertacao:  </a:t>
            </a:r>
            <a:r>
              <a:rPr sz="1300">
                <a:solidFill>
                  <a:srgbClr val="3D424E"/>
                </a:solidFill>
              </a:rPr>
              <a:t>5 capitulos consolidados, 3 passadas de revisao de estilo, 104 fichas bibliograficas.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644652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Qualificacao - Marcello Ozzetti - Prof. Marcos Quiles - UNIFESP/ICT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521440" y="644652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23 / 25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F2A4E"/>
                </a:solidFill>
              </a:defRPr>
            </a:pPr>
            <a:r>
              <a:t>Por que este trabalho e oportuno agora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114300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3D424E"/>
                </a:solidFill>
              </a:defRPr>
            </a:pPr>
            <a:r>
              <a:t>-  Regulacao europeia recem-aprovada exige auditoria de equidade em sistemas biometricos.</a:t>
            </a:r>
          </a:p>
          <a:p>
            <a:pPr>
              <a:spcAft>
                <a:spcPts val="800"/>
              </a:spcAft>
              <a:defRPr sz="1600">
                <a:solidFill>
                  <a:srgbClr val="3D424E"/>
                </a:solidFill>
              </a:defRPr>
            </a:pPr>
            <a:r>
              <a:t>-  Literatura de 2023-2026 converge para tom de pele como pista central, mas nao ha aplicacao arquitetural comprovada.</a:t>
            </a:r>
          </a:p>
          <a:p>
            <a:pPr>
              <a:spcAft>
                <a:spcPts val="800"/>
              </a:spcAft>
              <a:defRPr sz="1600">
                <a:solidFill>
                  <a:srgbClr val="3D424E"/>
                </a:solidFill>
              </a:defRPr>
            </a:pPr>
            <a:r>
              <a:t>-  Ferramentas necessarias amadureceram: SkinToneNet, MSTE, Casual Conversations v2, FairFace, RFW, BFW.</a:t>
            </a:r>
          </a:p>
          <a:p>
            <a:pPr>
              <a:spcAft>
                <a:spcPts val="800"/>
              </a:spcAft>
              <a:defRPr sz="1600">
                <a:solidFill>
                  <a:srgbClr val="3D424E"/>
                </a:solidFill>
              </a:defRPr>
            </a:pPr>
            <a:r>
              <a:t>-  A proposta agrega 3 vetores: fenotipico (empirico), metodologico (arquitetural) e diagnostico (decompositivo).</a:t>
            </a:r>
          </a:p>
          <a:p>
            <a:pPr>
              <a:spcAft>
                <a:spcPts val="800"/>
              </a:spcAft>
              <a:defRPr sz="1600">
                <a:solidFill>
                  <a:srgbClr val="3D424E"/>
                </a:solidFill>
              </a:defRPr>
            </a:pPr>
            <a:r>
              <a:t>-  Diferencial cientifico: nao busca apenas 'reduzir F1 medio' - busca entender quanto do erro e mitigavel e quanto e limite do problema.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Qualificacao - Marcello Ozzetti - Prof. Marcos Quiles - UNIFESP/ICT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21440" y="644652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24 / 25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0"/>
            <a:ext cx="112471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FFFFFF"/>
                </a:solidFill>
              </a:defRPr>
            </a:pPr>
            <a:r>
              <a:t>Obrigado.</a:t>
            </a:r>
          </a:p>
          <a:p>
            <a:pPr algn="ctr">
              <a:defRPr sz="2800">
                <a:solidFill>
                  <a:srgbClr val="B4C4E8"/>
                </a:solidFill>
              </a:defRPr>
            </a:pPr>
            <a:r>
              <a:t>Perguntas?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217920"/>
            <a:ext cx="112471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i="1">
                <a:solidFill>
                  <a:srgbClr val="B4C4E8"/>
                </a:solidFill>
              </a:defRPr>
            </a:pPr>
            <a:r>
              <a:t>Marcello Ozzetti - marcello.ozzetti@gmail.com - UNIFESP/ICT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