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0" r:id="rId11"/>
    <p:sldId id="281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8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1.  </a:t>
            </a:r>
            <a:r>
              <a:rPr sz="1600" dirty="0">
                <a:solidFill>
                  <a:srgbClr val="3D424E"/>
                </a:solidFill>
              </a:rPr>
              <a:t>Status das </a:t>
            </a:r>
            <a:r>
              <a:rPr sz="1600" dirty="0" err="1">
                <a:solidFill>
                  <a:srgbClr val="3D424E"/>
                </a:solidFill>
              </a:rPr>
              <a:t>decisões</a:t>
            </a:r>
            <a:r>
              <a:rPr sz="1600" dirty="0">
                <a:solidFill>
                  <a:srgbClr val="3D424E"/>
                </a:solidFill>
              </a:rPr>
              <a:t> da </a:t>
            </a:r>
            <a:r>
              <a:rPr sz="1600" dirty="0" err="1">
                <a:solidFill>
                  <a:srgbClr val="3D424E"/>
                </a:solidFill>
              </a:rPr>
              <a:t>reunião</a:t>
            </a:r>
            <a:r>
              <a:rPr sz="1600" dirty="0">
                <a:solidFill>
                  <a:srgbClr val="3D424E"/>
                </a:solidFill>
              </a:rPr>
              <a:t> anterior (08/</a:t>
            </a:r>
            <a:r>
              <a:rPr sz="1600" dirty="0" err="1">
                <a:solidFill>
                  <a:srgbClr val="3D424E"/>
                </a:solidFill>
              </a:rPr>
              <a:t>jun</a:t>
            </a:r>
            <a:r>
              <a:rPr sz="1600" dirty="0">
                <a:solidFill>
                  <a:srgbClr val="3D424E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2.  </a:t>
            </a:r>
            <a:r>
              <a:rPr sz="1600" dirty="0">
                <a:solidFill>
                  <a:srgbClr val="3D424E"/>
                </a:solidFill>
              </a:rPr>
              <a:t>Corpus </a:t>
            </a:r>
            <a:r>
              <a:rPr sz="1600" dirty="0" err="1">
                <a:solidFill>
                  <a:srgbClr val="3D424E"/>
                </a:solidFill>
              </a:rPr>
              <a:t>consolidado</a:t>
            </a:r>
            <a:r>
              <a:rPr sz="1600" dirty="0">
                <a:solidFill>
                  <a:srgbClr val="3D424E"/>
                </a:solidFill>
              </a:rPr>
              <a:t>: 101 </a:t>
            </a:r>
            <a:r>
              <a:rPr sz="1600" dirty="0" err="1">
                <a:solidFill>
                  <a:srgbClr val="3D424E"/>
                </a:solidFill>
              </a:rPr>
              <a:t>fichas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em</a:t>
            </a:r>
            <a:r>
              <a:rPr sz="1600" dirty="0">
                <a:solidFill>
                  <a:srgbClr val="3D424E"/>
                </a:solidFill>
              </a:rPr>
              <a:t> 11 tracks </a:t>
            </a:r>
            <a:r>
              <a:rPr sz="1600" dirty="0" err="1">
                <a:solidFill>
                  <a:srgbClr val="3D424E"/>
                </a:solidFill>
              </a:rPr>
              <a:t>temáticos</a:t>
            </a:r>
            <a:endParaRPr sz="1600" dirty="0">
              <a:solidFill>
                <a:srgbClr val="3D424E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3.  </a:t>
            </a:r>
            <a:r>
              <a:rPr sz="1600" dirty="0">
                <a:solidFill>
                  <a:srgbClr val="3D424E"/>
                </a:solidFill>
              </a:rPr>
              <a:t>Pente </a:t>
            </a:r>
            <a:r>
              <a:rPr sz="1600" dirty="0" err="1">
                <a:solidFill>
                  <a:srgbClr val="3D424E"/>
                </a:solidFill>
              </a:rPr>
              <a:t>fino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crítico</a:t>
            </a:r>
            <a:r>
              <a:rPr sz="1600" dirty="0">
                <a:solidFill>
                  <a:srgbClr val="3D424E"/>
                </a:solidFill>
              </a:rPr>
              <a:t> do corpus (</a:t>
            </a:r>
            <a:r>
              <a:rPr sz="1600" dirty="0" err="1">
                <a:solidFill>
                  <a:srgbClr val="3D424E"/>
                </a:solidFill>
              </a:rPr>
              <a:t>classificação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por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impacto</a:t>
            </a:r>
            <a:r>
              <a:rPr sz="1600" dirty="0">
                <a:solidFill>
                  <a:srgbClr val="3D424E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4.  </a:t>
            </a:r>
            <a:r>
              <a:rPr sz="1600" dirty="0" err="1">
                <a:solidFill>
                  <a:srgbClr val="3D424E"/>
                </a:solidFill>
              </a:rPr>
              <a:t>Resposta</a:t>
            </a:r>
            <a:r>
              <a:rPr sz="1600" dirty="0">
                <a:solidFill>
                  <a:srgbClr val="3D424E"/>
                </a:solidFill>
              </a:rPr>
              <a:t> à </a:t>
            </a:r>
            <a:r>
              <a:rPr sz="1600" dirty="0" err="1">
                <a:solidFill>
                  <a:srgbClr val="3D424E"/>
                </a:solidFill>
              </a:rPr>
              <a:t>sugestão</a:t>
            </a:r>
            <a:r>
              <a:rPr sz="1600" dirty="0">
                <a:solidFill>
                  <a:srgbClr val="3D424E"/>
                </a:solidFill>
              </a:rPr>
              <a:t> do </a:t>
            </a:r>
            <a:r>
              <a:rPr sz="1600" dirty="0" err="1">
                <a:solidFill>
                  <a:srgbClr val="3D424E"/>
                </a:solidFill>
              </a:rPr>
              <a:t>orientador</a:t>
            </a:r>
            <a:r>
              <a:rPr sz="1600" dirty="0">
                <a:solidFill>
                  <a:srgbClr val="3D424E"/>
                </a:solidFill>
              </a:rPr>
              <a:t>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5.  </a:t>
            </a:r>
            <a:r>
              <a:rPr sz="1600" dirty="0" err="1">
                <a:solidFill>
                  <a:srgbClr val="3D424E"/>
                </a:solidFill>
              </a:rPr>
              <a:t>FiLM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em</a:t>
            </a:r>
            <a:r>
              <a:rPr sz="1600" dirty="0">
                <a:solidFill>
                  <a:srgbClr val="3D424E"/>
                </a:solidFill>
              </a:rPr>
              <a:t> fairness: lacuna </a:t>
            </a:r>
            <a:r>
              <a:rPr sz="1600" dirty="0" err="1">
                <a:solidFill>
                  <a:srgbClr val="3D424E"/>
                </a:solidFill>
              </a:rPr>
              <a:t>na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literatura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como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contribuição</a:t>
            </a:r>
            <a:r>
              <a:rPr sz="1600" dirty="0">
                <a:solidFill>
                  <a:srgbClr val="3D424E"/>
                </a:solidFill>
              </a:rPr>
              <a:t> original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6.  </a:t>
            </a:r>
            <a:r>
              <a:rPr sz="1600" dirty="0" err="1">
                <a:solidFill>
                  <a:srgbClr val="3D424E"/>
                </a:solidFill>
              </a:rPr>
              <a:t>Proposta</a:t>
            </a:r>
            <a:r>
              <a:rPr sz="1600" dirty="0">
                <a:solidFill>
                  <a:srgbClr val="3D424E"/>
                </a:solidFill>
              </a:rPr>
              <a:t>: </a:t>
            </a:r>
            <a:r>
              <a:rPr sz="1600" dirty="0" err="1">
                <a:solidFill>
                  <a:srgbClr val="3D424E"/>
                </a:solidFill>
              </a:rPr>
              <a:t>estudo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comparativo</a:t>
            </a:r>
            <a:r>
              <a:rPr sz="1600" dirty="0">
                <a:solidFill>
                  <a:srgbClr val="3D424E"/>
                </a:solidFill>
              </a:rPr>
              <a:t> de </a:t>
            </a:r>
            <a:r>
              <a:rPr sz="1600" dirty="0" err="1">
                <a:solidFill>
                  <a:srgbClr val="3D424E"/>
                </a:solidFill>
              </a:rPr>
              <a:t>mecanismos</a:t>
            </a:r>
            <a:r>
              <a:rPr sz="1600" dirty="0">
                <a:solidFill>
                  <a:srgbClr val="3D424E"/>
                </a:solidFill>
              </a:rPr>
              <a:t> de conditioning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7.  </a:t>
            </a:r>
            <a:r>
              <a:rPr sz="1600" dirty="0">
                <a:solidFill>
                  <a:srgbClr val="3D424E"/>
                </a:solidFill>
              </a:rPr>
              <a:t>Plano de </a:t>
            </a:r>
            <a:r>
              <a:rPr sz="1600" dirty="0" err="1">
                <a:solidFill>
                  <a:srgbClr val="3D424E"/>
                </a:solidFill>
              </a:rPr>
              <a:t>escrita</a:t>
            </a:r>
            <a:r>
              <a:rPr sz="1600" dirty="0">
                <a:solidFill>
                  <a:srgbClr val="3D424E"/>
                </a:solidFill>
              </a:rPr>
              <a:t> e </a:t>
            </a:r>
            <a:r>
              <a:rPr sz="1600" dirty="0" err="1">
                <a:solidFill>
                  <a:srgbClr val="3D424E"/>
                </a:solidFill>
              </a:rPr>
              <a:t>decisões</a:t>
            </a:r>
            <a:r>
              <a:rPr sz="1600" dirty="0">
                <a:solidFill>
                  <a:srgbClr val="3D424E"/>
                </a:solidFill>
              </a:rPr>
              <a:t> a </a:t>
            </a:r>
            <a:r>
              <a:rPr sz="1600" dirty="0" err="1">
                <a:solidFill>
                  <a:srgbClr val="3D424E"/>
                </a:solidFill>
              </a:rPr>
              <a:t>alinhar</a:t>
            </a:r>
            <a:endParaRPr sz="1600" dirty="0">
              <a:solidFill>
                <a:srgbClr val="3D424E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SkinToneNet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pré-treinado</a:t>
                      </a:r>
                      <a:endParaRPr sz="1100" dirty="0">
                        <a:solidFill>
                          <a:srgbClr val="3D424E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101 fichas (+46 na última rodada)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 fichas em 2025-2026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I criada — 14 fichas + análise técnica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Estrutura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sendo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organizada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— LaTeX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ainda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não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iniciado</a:t>
                      </a:r>
                      <a:endParaRPr sz="1100" dirty="0">
                        <a:solidFill>
                          <a:srgbClr val="3D424E"/>
                        </a:solidFill>
                      </a:endParaRP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rPr dirty="0"/>
              <a:t>5 </a:t>
            </a:r>
            <a:r>
              <a:rPr dirty="0" err="1"/>
              <a:t>itens</a:t>
            </a:r>
            <a:r>
              <a:rPr dirty="0"/>
              <a:t> </a:t>
            </a:r>
            <a:r>
              <a:rPr dirty="0" err="1"/>
              <a:t>concluídos</a:t>
            </a:r>
            <a:r>
              <a:rPr dirty="0"/>
              <a:t> e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andamento</a:t>
            </a:r>
            <a:r>
              <a:rPr dirty="0"/>
              <a:t> </a:t>
            </a:r>
            <a:r>
              <a:rPr dirty="0" err="1"/>
              <a:t>conforme</a:t>
            </a:r>
            <a:r>
              <a:rPr dirty="0"/>
              <a:t> </a:t>
            </a:r>
            <a:r>
              <a:rPr dirty="0" err="1"/>
              <a:t>planejado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o corpus foi ampliado: 55 →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Critérios da busca:  </a:t>
            </a:r>
            <a:r>
              <a:rPr sz="1600">
                <a:solidFill>
                  <a:srgbClr val="3D424E"/>
                </a:solidFill>
              </a:rPr>
              <a:t>Top venues (CVPR, ICCV, ICLR, ECCV, Nature SR) com filtros menos restritivos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Recorte temporal:  </a:t>
            </a:r>
            <a:r>
              <a:rPr sz="1600">
                <a:solidFill>
                  <a:srgbClr val="3D424E"/>
                </a:solidFill>
              </a:rPr>
              <a:t>Foco em 2025-2026 para refletir o estado da arte mais recente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Fontes consultadas:  </a:t>
            </a:r>
            <a:r>
              <a:rPr sz="1600">
                <a:solidFill>
                  <a:srgbClr val="3D424E"/>
                </a:solidFill>
              </a:rPr>
              <a:t>arXiv, OpenAccess (CVPR/ICCV), Semantic Scholar e busca direta por DOI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Estratégia em 3 levas:  </a:t>
            </a:r>
            <a:r>
              <a:rPr sz="1600">
                <a:solidFill>
                  <a:srgbClr val="3D424E"/>
                </a:solidFill>
              </a:rPr>
              <a:t>Top venues recentes → fundadores de FR → temas complementares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Reorganização temática:  </a:t>
            </a:r>
            <a:r>
              <a:rPr sz="1600">
                <a:solidFill>
                  <a:srgbClr val="3D424E"/>
                </a:solidFill>
              </a:rPr>
              <a:t>3 novos tracks criados a partir dos achados (I, J, K)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+46 fichas / 25 fichas em 2025-2026 / 3 tracks novos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Densidade das fichas por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735809"/>
              </p:ext>
            </p:extLst>
          </p:nvPr>
        </p:nvGraphicFramePr>
        <p:xfrm>
          <a:off x="457200" y="1371600"/>
          <a:ext cx="11430000" cy="496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 o 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Principais artigos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Race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Classificação racial em 7 categorias sobre o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Kärkkäinen &amp; Joo 2021,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AlDahoul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 2024, Lin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FairGRAPE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Datasets, métricas e auditorias de viés em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Buolamwini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 2018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, Grother (NIST) 2019, Wang (RFW)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Escalas e classificadores de tom de pele como sinal auxiliar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Fitzpatrick 1988, Schumann 2023, Pereira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SkinToneNet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Algoritmos para reduzir viés (contrastive, DRO, arquitetural)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Park (FSCL+) 2022, Sagawa (Group DRO) 2020, Manzoor </a:t>
                      </a:r>
                      <a:r>
                        <a:rPr lang="pt-BR"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(</a:t>
                      </a:r>
                      <a:r>
                        <a:rPr lang="pt-BR"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FineFace</a:t>
                      </a:r>
                      <a:r>
                        <a:rPr lang="pt-BR"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Auditorias sistêmicas e revisões da literatura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Mehrabi 2021, 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Dominguez (DSAP) 2024,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Buolamwini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Validade conceitual de 'raça' como variável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Lewontin 1972, Fuentes 2019, Neto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teóricos clássicos (métricas, conditioning)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Hardt 2016, Perez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FiLM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2018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, Kleinberg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Fairness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em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modelos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vision-language (CLIP)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Luo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FairCLIP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2024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Dehdashtian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FairerCLIP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) 2024,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BendVLM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Adaptadores alternativos ao FiLM (LoRA, ViT-mask)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Bian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LoRA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FF00"/>
                          </a:highlight>
                        </a:rPr>
                        <a:t>-FAIR) 2025, 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Tian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FairViT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2024, Zhao (AIM-Fair)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Losses fundadoras de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Schroff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FaceNet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2015, Deng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ArcFace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2019, Kim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AdaFace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00FF00"/>
                          </a:highlight>
                        </a:rPr>
                        <a:t>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Direções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adjacentes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(federated, synthetic, post-hoc)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Salvador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FairCal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) 2021,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FairImagen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 2025,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VoIDFace</a:t>
                      </a:r>
                      <a:r>
                        <a:rPr sz="1100" dirty="0">
                          <a:solidFill>
                            <a:srgbClr val="3D424E"/>
                          </a:solidFill>
                          <a:highlight>
                            <a:srgbClr val="FF0000"/>
                          </a:highlight>
                        </a:rPr>
                        <a:t>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 e K são os novos tracks da ampliação recente do corpus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pelo estudo comparativo de mecanismos de conditioning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9461"/>
            <a:ext cx="12188825" cy="679907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9461"/>
            <a:ext cx="12188825" cy="67990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pelo estudo comparativo de mecanismos de conditioning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lang="pt-BR" dirty="0"/>
              <a:t>Resposta à sugestão do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rPr lang="pt-BR" dirty="0"/>
              <a:t>CLIP = </a:t>
            </a:r>
            <a:r>
              <a:rPr lang="pt-BR" dirty="0" err="1"/>
              <a:t>Contrastive</a:t>
            </a:r>
            <a:r>
              <a:rPr lang="pt-BR" dirty="0"/>
              <a:t> </a:t>
            </a:r>
            <a:r>
              <a:rPr lang="pt-BR" dirty="0" err="1"/>
              <a:t>Language-Image</a:t>
            </a:r>
            <a:r>
              <a:rPr lang="pt-BR" dirty="0"/>
              <a:t> </a:t>
            </a:r>
            <a:r>
              <a:rPr lang="pt-BR" dirty="0" err="1"/>
              <a:t>Pre</a:t>
            </a:r>
            <a:r>
              <a:rPr lang="pt-BR" dirty="0"/>
              <a:t>-training (</a:t>
            </a:r>
            <a:r>
              <a:rPr lang="pt-BR" dirty="0" err="1"/>
              <a:t>Radford</a:t>
            </a:r>
            <a:r>
              <a:rPr lang="pt-BR" dirty="0"/>
              <a:t> et al., ICML 2021)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do estudo comparativo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do estudo comparativo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Entra no estudo comparativo (Track J)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Estudo comparativo de mecanismos de conditioning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FiLM, CLIP-conditioning e LoRA aplicados a race classification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 configurações de conditioning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o estudo comparativo: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no repositório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Capítulo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2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Revisão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Capítulo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3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Objetivos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) e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Capítulo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4 (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Ampliação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e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busca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de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novas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técnicas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Primeira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revisão</a:t>
                      </a:r>
                      <a:endParaRPr sz="1100" dirty="0">
                        <a:solidFill>
                          <a:srgbClr val="3D424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LaTeX ainda não iniciado: estrutura sendo organizada no projeto base do GitHub. Migração para o Overleaf após consolidação.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incluir CLIP-conditioning no estudo comparativo?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Consolidar a estrutura no repositório do GitHub (ainda não iniciei o LaTeX)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Migrar para o Overleaf assim que a estrutura estiver estável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Consolidar a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2015</Words>
  <Application>Microsoft Office PowerPoint</Application>
  <PresentationFormat>Personalizar</PresentationFormat>
  <Paragraphs>323</Paragraphs>
  <Slides>26</Slides>
  <Notes>0</Notes>
  <HiddenSlides>1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Marcello Vinicius Alves Ozzetti</cp:lastModifiedBy>
  <cp:revision>12</cp:revision>
  <dcterms:created xsi:type="dcterms:W3CDTF">2013-01-27T09:14:16Z</dcterms:created>
  <dcterms:modified xsi:type="dcterms:W3CDTF">2026-06-15T15:45:45Z</dcterms:modified>
  <cp:category/>
</cp:coreProperties>
</file>