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Mestrando:  </a:t>
            </a:r>
            <a:r>
              <a:rPr sz="14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Orientador:  </a:t>
            </a:r>
            <a:r>
              <a:rPr sz="14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Programa:  </a:t>
            </a:r>
            <a:r>
              <a:rPr sz="14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Data:  </a:t>
            </a:r>
            <a:r>
              <a:rPr sz="1400">
                <a:solidFill>
                  <a:srgbClr val="3D424E"/>
                </a:solidFill>
              </a:rPr>
              <a:t>30 de setembro de 2026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Local:  </a:t>
            </a:r>
            <a:r>
              <a:rPr sz="14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Roteiro da apresentação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1.  Motivação  </a:t>
            </a:r>
            <a:r>
              <a:rPr sz="1500">
                <a:solidFill>
                  <a:srgbClr val="3D424E"/>
                </a:solidFill>
              </a:rPr>
              <a:t>por que esse problema importa hoje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2.  Problema  </a:t>
            </a:r>
            <a:r>
              <a:rPr sz="1500">
                <a:solidFill>
                  <a:srgbClr val="3D424E"/>
                </a:solidFill>
              </a:rPr>
              <a:t>o que exatamente está errado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3.  Objetivos e hipóteses  </a:t>
            </a:r>
            <a:r>
              <a:rPr sz="1500">
                <a:solidFill>
                  <a:srgbClr val="3D424E"/>
                </a:solidFill>
              </a:rPr>
              <a:t>o que vamos investigar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4.  Revisão da literatura  </a:t>
            </a:r>
            <a:r>
              <a:rPr sz="1500">
                <a:solidFill>
                  <a:srgbClr val="3D424E"/>
                </a:solidFill>
              </a:rPr>
              <a:t>o que a comunidade já tentou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5.  Metodologia  </a:t>
            </a:r>
            <a:r>
              <a:rPr sz="1500">
                <a:solidFill>
                  <a:srgbClr val="3D424E"/>
                </a:solidFill>
              </a:rPr>
              <a:t>como pretendemos resolver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6.  Contribuições esperadas  </a:t>
            </a:r>
            <a:r>
              <a:rPr sz="1500">
                <a:solidFill>
                  <a:srgbClr val="3D424E"/>
                </a:solidFill>
              </a:rPr>
              <a:t>o que ficará para a área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7.  Cronograma e riscos  </a:t>
            </a:r>
            <a:r>
              <a:rPr sz="1500">
                <a:solidFill>
                  <a:srgbClr val="3D424E"/>
                </a:solidFill>
              </a:rPr>
              <a:t>quando e o que pode dar errado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8.  Estado atual  </a:t>
            </a:r>
            <a:r>
              <a:rPr sz="1500">
                <a:solidFill>
                  <a:srgbClr val="3D424E"/>
                </a:solidFill>
              </a:rPr>
              <a:t>o que já está feito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Reconhecimento facial está em toda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Desbloqueio de celular, autenticação bancária, controle de fronteiras, identificação policial.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Deixou de ser tecnologia de laboratório: virou infraestrutura social.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NIST 2019 (Grother et al.):  </a:t>
            </a:r>
            <a:r>
              <a:rPr sz="1500">
                <a:solidFill>
                  <a:srgbClr val="3D424E"/>
                </a:solidFill>
              </a:rPr>
              <a:t>maior auditoria pública já feita em biometria facial — 189 algoritmos comerciais, 18 milhões de imagens.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Achado central:  </a:t>
            </a:r>
            <a:r>
              <a:rPr sz="1500">
                <a:solidFill>
                  <a:srgbClr val="3D424E"/>
                </a:solidFill>
              </a:rPr>
              <a:t>diferença de 10 a 100 vezes na taxa de falso positivo entre grupos raciais.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Buolamwini &amp; Gebru (2018) — Gender Shades:  </a:t>
            </a:r>
            <a:r>
              <a:rPr sz="15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Conclusão: a tecnologia funciona bem para a maioria, mas não funciona igualmente bem para todos.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tema virou obrigação regulatória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European AI Act (2024):  </a:t>
            </a:r>
            <a:r>
              <a:rPr sz="1500">
                <a:solidFill>
                  <a:srgbClr val="3D424E"/>
                </a:solidFill>
              </a:rPr>
              <a:t>primeira lei que regula sistemas de IA de alto risco na União Europeia.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Auditoria de equidade:  </a:t>
            </a:r>
            <a:r>
              <a:rPr sz="1500">
                <a:solidFill>
                  <a:srgbClr val="3D424E"/>
                </a:solidFill>
              </a:rPr>
              <a:t>requisito formal para sistemas biométricos — não mais opcional.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Lafargue et al. (2025):  </a:t>
            </a:r>
            <a:r>
              <a:rPr sz="1500">
                <a:solidFill>
                  <a:srgbClr val="3D424E"/>
                </a:solidFill>
              </a:rPr>
              <a:t>propõem pipeline de auditoria com testes estatísticos que propagam incerteza amostral (FAccT).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Consequências práticas:  </a:t>
            </a:r>
            <a:r>
              <a:rPr sz="1500">
                <a:solidFill>
                  <a:srgbClr val="3D424E"/>
                </a:solidFill>
              </a:rPr>
              <a:t>casos documentados de prisão errada por falso match já resultaram em processos e moratórias em múltiplas jurisdições.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A pergunta científica mudou. Não é mais “existe viés?” — está provado. É “como mitigar de forma defensável?”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Disparidade estável de ~30 pontos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FaceScanPaliGemma (AlDahoul et al., 2024) sobre o dataset FairFace (Kärkkäinen &amp; Joo, 2021). Diferença entre Black e Latinx = 30 pontos percentuais.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 disparidade persiste através de múltiplas arquiteturas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1_sota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476" y="1371600"/>
            <a:ext cx="936199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Comparativo de F1 macro entre modelos publicados sobre o FairFace. A hierarquia de dificuldade entre raças é estável — problema estrutural, não artefato de um único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“Latinx” é a classe mais difícil?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029200" cy="2033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463040"/>
            <a:ext cx="606247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Rótulo monolítico:  </a:t>
            </a:r>
            <a:r>
              <a:rPr sz="1300">
                <a:solidFill>
                  <a:srgbClr val="3D424E"/>
                </a:solidFill>
              </a:rPr>
              <a:t>a categoria agrupa fenótipos muito diferentes em uma única etiqueta.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Escala Monk (Ellis Monk, 2019):  </a:t>
            </a:r>
            <a:r>
              <a:rPr sz="1300">
                <a:solidFill>
                  <a:srgbClr val="3D424E"/>
                </a:solidFill>
              </a:rPr>
              <a:t>10 tons — sucessora moderna da escala Fitzpatrick (que tende a sub-representar tons escuros).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Schumann et al. (2023):  </a:t>
            </a:r>
            <a:r>
              <a:rPr sz="1300">
                <a:solidFill>
                  <a:srgbClr val="3D424E"/>
                </a:solidFill>
              </a:rPr>
              <a:t>consolida MST como padrão de auditoria em fairness.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Consequência:  </a:t>
            </a:r>
            <a:r>
              <a:rPr sz="1300">
                <a:solidFill>
                  <a:srgbClr val="3D424E"/>
                </a:solidFill>
              </a:rPr>
              <a:t>a rotulagem monolítica de raça esconde essa diversidade e prejudica o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 se o problema não for “raça” e sim “tom de pele”?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Pangelinan et al. (2023, FAccT):  </a:t>
            </a:r>
            <a:r>
              <a:rPr sz="1500">
                <a:solidFill>
                  <a:srgbClr val="3D424E"/>
                </a:solidFill>
              </a:rPr>
              <a:t>argumenta que a fração de face útil na imagem (pixel information) explica melhor o gap do que o rótulo de raça.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Matias et al. (2026, arXiv 2603.02475):  </a:t>
            </a:r>
            <a:r>
              <a:rPr sz="1500">
                <a:solidFill>
                  <a:srgbClr val="3D424E"/>
                </a:solidFill>
              </a:rPr>
              <a:t>publica o SkinToneNet — primeiro classificador de tom de pele Monk em larga escala (STW, 42.313 imagens).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Se a refutação estiver certa, a pesquisa em equidade facial deveria olhar mais para tom de pele do que para raça nominal.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Nossa aposta:  </a:t>
            </a:r>
            <a:r>
              <a:rPr sz="1500">
                <a:solidFill>
                  <a:srgbClr val="3D424E"/>
                </a:solidFill>
              </a:rPr>
              <a:t>o tom de pele não substitui a raça — funciona como sinal de contexto que ajuda a rede a decidir melhor.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Vamos testar isso como hipótese formal, incluindo os cenários em que a refutação ganha.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9728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Objetivo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Quantificar como o tom de pele Monk se distribui dentro de cada grupo racial do FairFace.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Treinar e avaliar classificador MST próprio, com sensitivity analysis contra alternativas.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Implementar o pipeline com FiLM sobre ConvNeXt-T e compará-lo contra seis baselines.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Demonstrar que o ganho em classificação transfere para reconhecimento (RFW/BFW).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Formalizar a triangulação de métricas — Disparity Ratio, F1 da pior classe, Equal Opportunity.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quanto do erro Latinx vem do fenótipo (irredutível) e quanto do modelo (mitigável).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858000"/>
                <a:gridCol w="39319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Confirma se...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classificador MST próprio atinge concordância humana suficiente.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κ ≥ 0,7 com anotações internas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classe Latinx cobre ≥ 5 dos 10 tons Monk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cobertura observada ≥ 5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Condicionar por tom reduz disparidade sem perder acurácia agregada.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DR menor + F1 macro ≥ baseline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 50 % dos erros Latinx concentram-se em zonas de sobreposição de tom.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concentração observada ≥ 50 %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ganho em classificação transfere para reconhecimento.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redução de gap também em RFW/BFW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Parte substancial do gap é explicada por pixel information (Pangelinan 2023).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R² explicado ≥ 70 %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Timeline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baselines de mitigação (comparação sistemática planejada)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rótulo racial esconde variação — evidência externa à computação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Antropologia biológica — Telles (2014):  </a:t>
            </a:r>
            <a:r>
              <a:rPr sz="1500">
                <a:solidFill>
                  <a:srgbClr val="3D424E"/>
                </a:solidFill>
              </a:rPr>
              <a:t>projeto PERLA em 4 países latino-americanos documenta “pigmentocracia”.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Genética populacional — Bryc et al. (2015, AJHG):  </a:t>
            </a:r>
            <a:r>
              <a:rPr sz="1500">
                <a:solidFill>
                  <a:srgbClr val="3D424E"/>
                </a:solidFill>
              </a:rPr>
              <a:t>estudo com 162 mil indivíduos mostra composição ancestral altamente variável em Latinos.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Sociologia identitária — Pew Research (López et al., 2017):  </a:t>
            </a:r>
            <a:r>
              <a:rPr sz="1500">
                <a:solidFill>
                  <a:srgbClr val="3D424E"/>
                </a:solidFill>
              </a:rPr>
              <a:t>identidade Hispanic decai de 97 % para 50 % ao longo de quatro gerações nos EUA.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Três disciplinas independentes convergem: o rótulo racial do FairFace não captura variação fenotípica real.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Consequência metodológica:  </a:t>
            </a:r>
            <a:r>
              <a:rPr sz="1500">
                <a:solidFill>
                  <a:srgbClr val="3D424E"/>
                </a:solidFill>
              </a:rPr>
              <a:t>condicionar por tom de pele não substitui o rótulo — dá ao modelo uma pista objetiva que a rotulagem sozinha não oferece.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Cinco 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top-down organizado em 3 fases: diagnóstico (etapas 1-2), método proposto (etapa 3) e validação/síntese (etapas 4-6).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Etapa 1 — Classificador de tom de pele (próprio)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O que faz:  </a:t>
            </a:r>
            <a:r>
              <a:rPr sz="1500">
                <a:solidFill>
                  <a:srgbClr val="3D424E"/>
                </a:solidFill>
              </a:rPr>
              <a:t>recebe uma foto de rosto e devolve as 10 probabilidades da escala Monk.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Decisão pós-reunião Ago/2026:  </a:t>
            </a:r>
            <a:r>
              <a:rPr sz="1500">
                <a:solidFill>
                  <a:srgbClr val="3D424E"/>
                </a:solidFill>
              </a:rPr>
              <a:t>treinar nosso próprio classificador — não depender do SkinToneNet (Matias 2026), cujos pesos e dataset STW ainda não foram liberados.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Datasets de treino:  </a:t>
            </a:r>
            <a:r>
              <a:rPr sz="1500">
                <a:solidFill>
                  <a:srgbClr val="3D424E"/>
                </a:solidFill>
              </a:rPr>
              <a:t>MSTE — Monk Skin Tone Examples (Monk, 2019, Google) e Casual Conversations v2 (Porgali et al., 2023, Meta).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Camada auto-suficiente:  </a:t>
            </a:r>
            <a:r>
              <a:rPr sz="1500">
                <a:solidFill>
                  <a:srgbClr val="3D424E"/>
                </a:solidFill>
              </a:rPr>
              <a:t>detecta o rosto (MTCNN, Zhang et al. 2016), alinha, corta e classifica — funciona em qualquer dataset, até os que não têm anotação.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Validação:  </a:t>
            </a:r>
            <a:r>
              <a:rPr sz="1500">
                <a:solidFill>
                  <a:srgbClr val="3D424E"/>
                </a:solidFill>
              </a:rPr>
              <a:t>protocolo humano interno (~250 imagens do FairFace) + sensitivity analysis com 2 a 3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Mecanismo FiLM — como o tom entra como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359" y="1371600"/>
            <a:ext cx="694423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Overhead: ~1,3 %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Três configurações comparadas no estudo de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validamos —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Cenário A — apenas raça:  </a:t>
            </a:r>
            <a:r>
              <a:rPr sz="1500">
                <a:solidFill>
                  <a:srgbClr val="3D424E"/>
                </a:solidFill>
              </a:rPr>
              <a:t>métricas por classe racial (7 classes do FairFace).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Cenário B — raça × gênero:  </a:t>
            </a:r>
            <a:r>
              <a:rPr sz="1500">
                <a:solidFill>
                  <a:srgbClr val="3D424E"/>
                </a:solidFill>
              </a:rPr>
              <a:t>análise interseccional (8 subgrupos, seguindo Gender Shades — Buolamwini &amp; Gebru, 2018).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Norma seguida:  </a:t>
            </a:r>
            <a:r>
              <a:rPr sz="1500">
                <a:solidFill>
                  <a:srgbClr val="3D424E"/>
                </a:solidFill>
              </a:rPr>
              <a:t>ISO/IEC 19795-10:2024 — padrão internacional para reporte de desempenho biométrico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Rigor experimental:  </a:t>
            </a:r>
            <a:r>
              <a:rPr sz="1500">
                <a:solidFill>
                  <a:srgbClr val="3D424E"/>
                </a:solidFill>
              </a:rPr>
              <a:t>3 sementes independentes por experimento (42, 1, 2), comparação pareada, intervalo de confiança 95 % via bootstrap.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Datasets de transferência (Etapa 5):  </a:t>
            </a:r>
            <a:r>
              <a:rPr sz="1500">
                <a:solidFill>
                  <a:srgbClr val="3D424E"/>
                </a:solidFill>
              </a:rPr>
              <a:t>RFW (Wang et al., 2019) e BFW (Robinson et al., 2020) — pares oficiais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Triangulação de métricas — nenhuma métrica isolada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Por que triangular — Kleinberg et al. (2017):  </a:t>
            </a:r>
            <a:r>
              <a:rPr sz="1500">
                <a:solidFill>
                  <a:srgbClr val="3D424E"/>
                </a:solidFill>
              </a:rPr>
              <a:t>Teorema da Impossibilidade — não existe métrica única de equidade que satisfaça todos os critérios simultaneamente.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Disparity Ratio:  </a:t>
            </a:r>
            <a:r>
              <a:rPr sz="1500">
                <a:solidFill>
                  <a:srgbClr val="3D424E"/>
                </a:solidFill>
              </a:rPr>
              <a:t>razão entre pior e melhor F1. Mede o quão desigual é o desempenho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F1 da pior classe:  </a:t>
            </a:r>
            <a:r>
              <a:rPr sz="1500">
                <a:solidFill>
                  <a:srgbClr val="3D424E"/>
                </a:solidFill>
              </a:rPr>
              <a:t>protege o grupo mais fraco — garante que a melhoria não vem só no meio.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500">
                <a:solidFill>
                  <a:srgbClr val="3D424E"/>
                </a:solidFill>
              </a:rPr>
              <a:t>iguala a taxa de acerto entre grupos, condicionada ao rótulo verdadeiro.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Equalized Odds — Hardt et al. (2016):  </a:t>
            </a:r>
            <a:r>
              <a:rPr sz="1500">
                <a:solidFill>
                  <a:srgbClr val="3D424E"/>
                </a:solidFill>
              </a:rPr>
              <a:t>vai além — iguala acerto e erro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Visualização Pareto:  </a:t>
            </a:r>
            <a:r>
              <a:rPr sz="1500">
                <a:solidFill>
                  <a:srgbClr val="3D424E"/>
                </a:solidFill>
              </a:rPr>
              <a:t>para cada modelo, plotamos acurácia × disparidade — vemos quem está na fronteira.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Contribuições esperadas — 3 eixos, 7 contribuições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6400800"/>
              </a:tblGrid>
              <a:tr h="43226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Ago/2026 (hoje)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Código das Etapas 1 e 2 pronto e testado.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Nov/2026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1 formal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Treinar classificador MST + validação humana.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raça.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Ablation 3 configurações FiLM.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Comparação vs 6 baselines.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RFW/BFW.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4322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Riscos identificados e mitigações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atual — adiantados no 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A4E"/>
                </a:solidFill>
              </a:defRPr>
            </a:pPr>
            <a:r>
              <a:t>Entregas concretas até 30/08/2026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Etapas 1 e 2 (código completo):  </a:t>
            </a:r>
            <a:r>
              <a:rPr sz="1300">
                <a:solidFill>
                  <a:srgbClr val="3D424E"/>
                </a:solidFill>
              </a:rPr>
              <a:t>classificador MST próprio, camada auto-suficiente, matriz MST × raça, teste da H2.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 3 (FiLM):  </a:t>
            </a:r>
            <a:r>
              <a:rPr sz="1300">
                <a:solidFill>
                  <a:srgbClr val="3D424E"/>
                </a:solidFill>
              </a:rPr>
              <a:t>camada FiLM + wrapper ConvNeXt-T + ensembler CLIP-text + pipeline de treino das 3 configs.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Etapas 4, 5 e 6:  </a:t>
            </a:r>
            <a:r>
              <a:rPr sz="1300">
                <a:solidFill>
                  <a:srgbClr val="3D424E"/>
                </a:solidFill>
              </a:rPr>
              <a:t>métricas de fairness + 4 baselines + Pareto + verificação RFW/BFW + decomposição ANOVA/R².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Texto da dissertação:  </a:t>
            </a:r>
            <a:r>
              <a:rPr sz="1300">
                <a:solidFill>
                  <a:srgbClr val="3D424E"/>
                </a:solidFill>
              </a:rPr>
              <a:t>5 capítulos consolidados, 3 passadas de revisão de estilo,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este trabalho é oportuno agora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Regulação europeia recém-aprovada (AI Act, 2024) exige auditoria de equidade em sistemas biométricos.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Literatura de 2023–2026 converge para tom de pele como pista central (Pangelinan 2023, Matias 2026, Schumann 2023).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Ferramentas necessárias amadureceram: MSTE, Casual Conversations v2, FairFace, RFW, BFW.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 proposta agrega 3 vetores:  </a:t>
            </a:r>
            <a:r>
              <a:rPr sz="1500">
                <a:solidFill>
                  <a:srgbClr val="3D424E"/>
                </a:solidFill>
              </a:rPr>
              <a:t>fenotípico (empírico), metodológico (arquitetural) e diagnóstico (decompositivo).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Diferencial científico:  </a:t>
            </a:r>
            <a:r>
              <a:rPr sz="1500">
                <a:solidFill>
                  <a:srgbClr val="3D424E"/>
                </a:solidFill>
              </a:rPr>
              <a:t>não busca apenas “reduzir F1 médio” — busca entender quanto do erro é mitigável e quanto é limite estrutural do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