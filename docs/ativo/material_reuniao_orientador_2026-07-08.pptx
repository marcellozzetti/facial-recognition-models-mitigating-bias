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0" y="118872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F2A4E"/>
                </a:solidFill>
              </a:defRPr>
            </a:pPr>
            <a:r>
              <a:t>Reta final até 15 de julho</a:t>
            </a:r>
          </a:p>
          <a:p>
            <a:pPr>
              <a:defRPr sz="2000">
                <a:solidFill>
                  <a:srgbClr val="3D424E"/>
                </a:solidFill>
              </a:defRPr>
            </a:pPr>
            <a:r>
              <a:t>Estado da escrita, decisões éticas e ajuste de cronograma</a:t>
            </a:r>
          </a:p>
          <a:p>
            <a:pPr>
              <a:defRPr sz="1400" i="1">
                <a:solidFill>
                  <a:srgbClr val="707682"/>
                </a:solidFill>
              </a:defRPr>
            </a:pPr>
            <a:r>
              <a:t>Equidade racial em classificação facial via conditioning por tom de pele (MST) sobre FairFace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114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24E"/>
                </a:solidFill>
              </a:defRPr>
            </a:pPr>
            <a:r>
              <a:t>Mestrando:  Marcello Ozzetti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Orientador:  Prof. Marcos Quiles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Programa:  Mestrado em Ciência da Computação — Unifesp / ICT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Reunião:  8 de julho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Objetivo desta reunião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 </a:t>
            </a:r>
            <a:r>
              <a:rPr sz="1600">
                <a:solidFill>
                  <a:srgbClr val="3D424E"/>
                </a:solidFill>
              </a:rPr>
              <a:t>Plano até a defesa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 </a:t>
            </a:r>
            <a:r>
              <a:rPr sz="1600">
                <a:solidFill>
                  <a:srgbClr val="3D424E"/>
                </a:solidFill>
              </a:rPr>
              <a:t>Estado real da escrita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 </a:t>
            </a:r>
            <a:r>
              <a:rPr sz="1600">
                <a:solidFill>
                  <a:srgbClr val="3D424E"/>
                </a:solidFill>
              </a:rPr>
              <a:t>Decisão de pesquisa ética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Solicitação pessoal e debate técnico fecham a reunião como pontos complementares.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A tese em uma tela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Problema empírico:  </a:t>
            </a:r>
            <a:r>
              <a:rPr sz="1600">
                <a:solidFill>
                  <a:srgbClr val="3D424E"/>
                </a:solidFill>
              </a:rPr>
              <a:t>F1 macro alto mascara disparidade Black ≈ 90 % vs Latinx ≈ 60 % em SOTA sobre FairFace (AlDahoul 2024)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Pergunta de pesquisa:  </a:t>
            </a:r>
            <a:r>
              <a:rPr sz="1600">
                <a:solidFill>
                  <a:srgbClr val="3D424E"/>
                </a:solidFill>
              </a:rPr>
              <a:t>condicionar arquiteturalmente um classificador racial pelo tom de pele (MST) reduz essa disparidade sem sacrificar acurácia agregada?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Objetivo geral:  </a:t>
            </a:r>
            <a:r>
              <a:rPr sz="1600">
                <a:solidFill>
                  <a:srgbClr val="3D424E"/>
                </a:solidFill>
              </a:rPr>
              <a:t>desenvolver e avaliar pipeline de classificação racial que incorpora tom de pele (escala Monk 10 classes) como sinal auxiliar condicionante via mecanismo arquitetural (FiLM)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Contribuição principal:  </a:t>
            </a:r>
            <a:r>
              <a:rPr sz="1600">
                <a:solidFill>
                  <a:srgbClr val="3D424E"/>
                </a:solidFill>
              </a:rPr>
              <a:t>primeira instância empírica de tom de pele como contexto arquitetural para race classification multi-classe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Diagnóstico central:  </a:t>
            </a:r>
            <a:r>
              <a:rPr sz="1600">
                <a:solidFill>
                  <a:srgbClr val="3D424E"/>
                </a:solidFill>
              </a:rPr>
              <a:t>erro Latinx = componente fenotípico irredutível (overlap MST) + componente algorítmico — a decomposição é o diferencial da tese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MST vs Fitzpatrick: 10 vs 6 classes, projetado para CV vs dermatologia. FiLM vs concatenação: modula vs re-aprende.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Corpus consolidado — 104 fichas em 11 linhas de pesquisa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640080"/>
                <a:gridCol w="1097280"/>
                <a:gridCol w="53035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Linha de pesquisa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% corpus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Papers-âncora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 — Race classification multi-classe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Kärkkäinen 2021 (FairFace), AlDahoul 2024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 — Face recognition fairness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15,4 %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Wang RFW 2019, Robinson BFW 2020, Deng ArcFace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 — Skin tone alternativo (Fitzpatrick, MST, ITA)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Schumann 2023 (MST), Pereira 2026 (SkinToneNet)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 — Mitigação algorítmica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9,6 %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Madras LAFTR 2018, Sagawa Group DRO 2020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 — Auditoria e Surveys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Buolamwini 2018, Mehrabi 2021 survey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 — Fundamentação científica e ética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Fuentes AAPA 2019, Lewontin 1972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G — Mecanismos ML paradigmáticos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8,7 %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Perez FiLM 2018, Ba LayerNorm, He ResNet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 — VLM / CLIP em fairness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Radford CLIP 2021, Luo FairCLIP 2024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J — Conditioning moderno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Liu ConvNeXt 2022, Dhariwal ADM 2021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 — Fundadores de FR (DeepFace, ArcFace, CosFace)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5,8 %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Taigman DeepFace 2014, Wang CosFace 2018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 — Auxiliar / complementar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12,5 %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Karkkainen datasets, Hendrycks robustness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R8 — Diversidade Latinx (antropo + genética + socio)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2,9 %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Telles 2014, Bryc 2015, Pew 2017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Fronteira temporal: 55 fichas (53 %) são 2024+, incluindo 5 papers de 2026 — corpus na fronteira absoluta.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Plano até a defesa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Três marcos formais, novo horizonte de outubro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Plano até a defesa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Três marcos formais, novo horizonte de outubro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Cronograma consolidado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887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5029200"/>
                <a:gridCol w="1828800"/>
                <a:gridCol w="4572000"/>
              </a:tblGrid>
              <a:tr h="11887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Marco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Comentário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Primeira revisão da qualificação ao orientador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15/jul/2026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Sete dias a partir de hoje — em curso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Pedido formal de qualificação ao PPG-CC / ICT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30/jul/2026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Prazo regimental do Programa — mantido</a:t>
                      </a:r>
                    </a:p>
                  </a:txBody>
                  <a:tcPr/>
                </a:tc>
              </a:tr>
              <a:tr h="11887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Defesa da qualificação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outubro/2026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Ajuste de agosto → outubro (extensão de 2 meses solicitada)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Os dois primeiros marcos ficam intactos. A extensão só empurra o marco final.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Estado da escrita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O que já está escrito e como vai virar Overleaf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Estado real da escrita — 5 capítulos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1 — Introdução:  </a:t>
            </a:r>
            <a:r>
              <a:rPr sz="1600">
                <a:solidFill>
                  <a:srgbClr val="3D424E"/>
                </a:solidFill>
              </a:rPr>
              <a:t>corpo pronto; ancora a disparidade Black 90 % × Latinx 60 % e a pergunta de pesquisa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2 — Revisão:  </a:t>
            </a:r>
            <a:r>
              <a:rPr sz="1600">
                <a:solidFill>
                  <a:srgbClr val="3D424E"/>
                </a:solidFill>
              </a:rPr>
              <a:t>corpo pronto; fairness (Buolamwini, Hardt, Kleinberg) + MST (Schumann, Pereira) + FiLM (Perez)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3 — Objetivos:  </a:t>
            </a:r>
            <a:r>
              <a:rPr sz="1600">
                <a:solidFill>
                  <a:srgbClr val="3D424E"/>
                </a:solidFill>
              </a:rPr>
              <a:t>corpo pronto; OG + 6 OE + 6 hipóteses + 7 contribuições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4 — Metodologia:  </a:t>
            </a:r>
            <a:r>
              <a:rPr sz="1600">
                <a:solidFill>
                  <a:srgbClr val="3D424E"/>
                </a:solidFill>
              </a:rPr>
              <a:t>corpo pronto; pipeline 6 etapas + 4 configurações + adequação ética CEP resolvida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Cap 5 — Cronograma:  </a:t>
            </a:r>
            <a:r>
              <a:rPr sz="1600">
                <a:solidFill>
                  <a:srgbClr val="3D424E"/>
                </a:solidFill>
              </a:rPr>
              <a:t>único que fecha depois desta reunião (marcos ajustados hoje)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Formato:  </a:t>
            </a:r>
            <a:r>
              <a:rPr sz="1600">
                <a:solidFill>
                  <a:srgbClr val="3D424E"/>
                </a:solidFill>
              </a:rPr>
              <a:t>Markdown estruturado no repositório; transposição manual para LaTeX/Overleaf nos próximos 7 dias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Repositório aberto se quiser conferir capítulo a capítulo agora.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Pipeline proposto — seis etapas encadeadas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5029200"/>
                <a:gridCol w="3840480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Etapa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faz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Entrega / contribuição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1. Classificador MST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SkinToneNet pré-treinado + validação interna em subset FairFace estratificado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Insumo do pipeline (não é contribuição)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2. Auditoria FairFace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Aplicar SkinToneNet sobre todo FairFace validation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Matriz pública MST × race classes — Contribuição C2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3. Race classifier com conditioning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fine-tuned em FairFace, camadas FiLM por estágio recebendo vetor MST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Configurações A/B/C/D — Contribuição C3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4. Comparação contra baselines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 baselines: ResNet-34, ConvNeXt-T puro, FSCL+, Group DRO, FineFACE, Adversarial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Triangulação DR + worst-class F1 + EO_h — Contribuição C4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5. Fair transferência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Aplicar backbone fair em face recognition downstream (RFW ou BFW)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Demonstração de fair transfer — Contribuição C5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6. Síntese decompositiva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Combinar C2 + C5 para separar componente fenotípico do algorítmico do erro Latinx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Decomposição pixel info × skin tone — Contribuição C6/OE-6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Etapa 3 é onde o mecanismo FiLM entra. Etapa 6 é o diagnóstico central da tese.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Quatro configurações do estudo comparativo (Etapa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21615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474720"/>
                <a:gridCol w="3200400"/>
                <a:gridCol w="4572000"/>
              </a:tblGrid>
              <a:tr h="9509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Backbone + conditioning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Sinal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Papel no estudo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sem conditioning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Baseline de controle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FiLM linear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MST 10-dim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Proposta principal — hipótese central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Gated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MST 10-dim (não-linear)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Ablação: linear vs não-linear importa?</a:t>
                      </a:r>
                    </a:p>
                  </a:txBody>
                  <a:tcPr/>
                </a:tc>
              </a:tr>
              <a:tr h="950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ConvNeXt-T + FiLM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Embedding CLIP-text 512-dim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Recomendação da reunião 15/jun — CLIP como alternativa moderna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B é a proposta central. C isola a não-linearidade. D compara com sinal semântico rico via CLIP.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 achado que ancora a tese (Rodada 8, junho)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Problema conhecido:  </a:t>
            </a:r>
            <a:r>
              <a:rPr sz="1600">
                <a:solidFill>
                  <a:srgbClr val="3D424E"/>
                </a:solidFill>
              </a:rPr>
              <a:t>modelos SOTA reportam F1 Latinx próximo de 60 % há três anos — persiste mesmo em modelos multimodais recentes (AlDahoul 2024)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Diagnóstico novo:  </a:t>
            </a:r>
            <a:r>
              <a:rPr sz="1600">
                <a:solidFill>
                  <a:srgbClr val="3D424E"/>
                </a:solidFill>
              </a:rPr>
              <a:t>não é só bias algorítmico. É heterogeneidade fenotípica intra-categoria que a rotulagem monolítica de FairFace apaga.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  <a:defRPr sz="1600">
                <a:solidFill>
                  <a:srgbClr val="3D424E"/>
                </a:solidFill>
              </a:defRPr>
            </a:pPr>
            <a:r>
              <a:t>— Fundamentação empírica agora tripla: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Antropologia:  </a:t>
            </a:r>
            <a:r>
              <a:rPr sz="1600">
                <a:solidFill>
                  <a:srgbClr val="3D424E"/>
                </a:solidFill>
              </a:rPr>
              <a:t>Telles 2014 (PERLA, 4 países latino-americanos) documenta pigmentocracia — tom de pele varia mais dentro da categoria do que entre elas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Genética:  </a:t>
            </a:r>
            <a:r>
              <a:rPr sz="1600">
                <a:solidFill>
                  <a:srgbClr val="3D424E"/>
                </a:solidFill>
              </a:rPr>
              <a:t>Bryc 2015 (AJHG, 162 mil indivíduos) — ancestralidade Native + European + African altamente variável em Latinos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Sociologia:  </a:t>
            </a:r>
            <a:r>
              <a:rPr sz="1600">
                <a:solidFill>
                  <a:srgbClr val="3D424E"/>
                </a:solidFill>
              </a:rPr>
              <a:t>Pew 2017 — identidade Hispanic cai de 97 % para 50 % em quatro gerações nos EUA. Categoria é sociopolítica, não fenotípica.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Esse é o argumento pelo qual C6 (decomposição fenotípico × algorítmico) vira contribuição central.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Validação externa via NotebookLM — 7 perguntas de defesa antecipadas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6583680"/>
              </a:tblGrid>
              <a:tr h="5943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Pergunta submetida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Veredito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Ponto-chave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Tese é nova?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FiLM em fairness facial é inédito; matriz MST × FairFace preenche gap de Pereira 2026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Valor científico?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Elevado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Diagnóstico estrutural fenotípico × algorítmico + European AI Act 2024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Divergências / SOTA?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FaceScanPaliGemma 75,7 % acc; Pangelinan 2023 refuta via 'pixel info' (endereçado por H6)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Faltam artigos?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Latinx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Diversidade intra-Latinx monolítica — respondido pela Rodada 8 (Telles/Bryc/Pew)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Furos e gaps?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 pontos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Dependência SkinToneNet (mitigado por sensitivity analysis); escalabilidade além FairFace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Corpus atualizado?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Fronteira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Papers 2026 já cobertos (Pereira, AlDahoul, Lian)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Pipeline defensável?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Sequenciamento + controle de confounders + ablação + rigor estatístico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Veredito NotebookLM: "trabalho bem estruturado, contribuições claras, fundamentado em literatura de ponta. Ponto crítico da defesa: decomposição do erro Latinx".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Cinco caminhos possíveis para mitigar viés — por que escolhi FiLM + MST + Decomposição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887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114800"/>
                <a:gridCol w="4572000"/>
              </a:tblGrid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Caminho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Ideia central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Posição relativa à minha proposta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1. Condicionamento arquitetural (FiLM)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Modular features do backbone com tom de pele como sinal auxiliar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Caminho que adotei — inédito em fairness facial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2. Decomposição fenotípico × algorítmico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Separar erro irredutível de erro mitigável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Adotei — OE-6 na v3.6 formaliza isso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3. Destilação de conhecimento (MST-KD)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Múltiplos professores enviesados por etnia → estudante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Alternativa avaliada — abandonada por custo computacional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4. Intervenção geométrica em embeddings (SPD/SFID)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Projeção ortogonal ao subespaço do viés em VLMs — training-free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Complementar — cobrimos parcialmente via configuração D (FiLM-CLIP)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5. Rótulos demográficos contínuos (Ethnicity Shift)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Etnia como espectro contínuo, não categoria discreta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Interseciona com MST — MST é já uma discretização de espectro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Adotei os caminhos 1 + 2 combinados. Deixo 3-5 declarados em Cap 4 como alternativas ponderadas e não adotadas.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Postura sobre uso de LLM — como quero deixar explícito na defesa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73152" cy="32004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011680"/>
            <a:ext cx="9601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000" i="1">
                <a:solidFill>
                  <a:srgbClr val="3D424E"/>
                </a:solidFill>
              </a:defRPr>
            </a:pPr>
            <a:r>
              <a:t>A LLM me poupou tempo em bibliotecas de referência, formatação de fichas e revisão de coerência entre capítulos. Mas cada afirmação central da tese — a pergunta de pesquisa, a escolha do backbone, o mecanismo FiLM, o ajuste ético do OE-1, o argumento de heterogeneidade intra-Latinx — nasceu de leitura minha e de conversas nesta sala. A transposição para o Overleaf é manual, linha a linha, exatamente para forçar essa apropriação.</a:t>
            </a:r>
          </a:p>
          <a:p>
            <a:pPr>
              <a:defRPr sz="1400">
                <a:solidFill>
                  <a:srgbClr val="707682"/>
                </a:solidFill>
              </a:defRPr>
            </a:pPr>
            <a:r>
              <a:t>— posição que vou defender se questionado na banca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Preferi trazer isso já, para o senhor calibrar comigo o quanto explicitar em texto vs quanto só demonstrar em resposta.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Decisão ética que tomei sozinho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Preciso validar o enquadramento no Art. 8º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Contexto e trade-off que enfrentei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gatilho:  </a:t>
            </a:r>
            <a:r>
              <a:rPr sz="1600">
                <a:solidFill>
                  <a:srgbClr val="3D424E"/>
                </a:solidFill>
              </a:rPr>
              <a:t>no OE-1 original eu previa validar MST em ~700 imgs × 3 anotadores via Prolific — crowdsourcing pago, margem cinzenta perante Res. 200/2021 do CONSU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Opção A — manter Prolific:  </a:t>
            </a:r>
            <a:r>
              <a:rPr sz="1600">
                <a:solidFill>
                  <a:srgbClr val="3D424E"/>
                </a:solidFill>
              </a:rPr>
              <a:t>amostra maior (2.100 anotações), mas exige CEP com prazo estimado de 2-3 meses — bloqueia defesa em outubro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Opção B — abandonar validação humana:  </a:t>
            </a:r>
            <a:r>
              <a:rPr sz="1600">
                <a:solidFill>
                  <a:srgbClr val="3D424E"/>
                </a:solidFill>
              </a:rPr>
              <a:t>SkinToneNet como oráculo — vira ponto único de falha (crítica do NotebookLM)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Opção C — validação interna reduzida:  </a:t>
            </a:r>
            <a:r>
              <a:rPr sz="1600">
                <a:solidFill>
                  <a:srgbClr val="3D424E"/>
                </a:solidFill>
              </a:rPr>
              <a:t>eu + o senhor anotamos ~200-300 imgs estratificadas por raça e MST. Menor escala, mas suficiente para IAA + concordância com SkinToneNet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Decisão que tomei (Opção C):  </a:t>
            </a:r>
            <a:r>
              <a:rPr sz="1600">
                <a:solidFill>
                  <a:srgbClr val="3D424E"/>
                </a:solidFill>
              </a:rPr>
              <a:t>enquadra o projeto no Art. 8º da Res. 200/2021 → dispensa CEP, exige apenas Declaração de Responsabilidade (3 assinaturas: eu + orientador + chefe de departamento)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que preciso hoje:  </a:t>
            </a:r>
            <a:r>
              <a:rPr sz="1600">
                <a:solidFill>
                  <a:srgbClr val="3D424E"/>
                </a:solidFill>
              </a:rPr>
              <a:t>1) validar a decisão; 2) confirmar quem é o chefe do departamento que assina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Se preferir voltar para Prolific, eu topo — mas o prazo CEP compromete outubro.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 que muda tecnicamente entre v3.5 e v3.6 do OE-1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572000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Aspecto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v3.5 (com Prolific)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v3.6 (interno)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Escala da validação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~700 imagens × 3 anotadores externos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~200-300 imagens × 2-3 anotadores internos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Diversidade dos anotadores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Crowdworkers com perfil variado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Mestrando + orientador (potencial viés declarado)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Métrica de concordância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Fleiss' kappa (múltiplos anotadores)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Cohen's kappa (par a par)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Poder estatístico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IC 95 % com margem menor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IC 95 % com margem maior — declarado como limitação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Risco regulatório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Requer CEP (2-3 meses)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Art. 8º — apenas Declaração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Cronograma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Bloqueia defesa em outubro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424E"/>
                          </a:solidFill>
                        </a:rPr>
                        <a:t>Compatível com outubro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A perda de escala é real. Vou declarar explicitamente como limitação metodológica no Cap 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Complemento — solicitação pessoal de extensão de 2 meses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que aconteceu:  </a:t>
            </a:r>
            <a:r>
              <a:rPr sz="1600">
                <a:solidFill>
                  <a:srgbClr val="3D424E"/>
                </a:solidFill>
              </a:rPr>
              <a:t>minha filha nasceu em 28/março. Fiquei afastado nas semanas seguintes para o cuidado que ela e a mãe precisaram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que preservei:  </a:t>
            </a:r>
            <a:r>
              <a:rPr sz="1600">
                <a:solidFill>
                  <a:srgbClr val="3D424E"/>
                </a:solidFill>
              </a:rPr>
              <a:t>marcos de 15/jul (1ª revisão) e 30/jul (pedido formal) continuam de pé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O que estou pedindo:  </a:t>
            </a:r>
            <a:r>
              <a:rPr sz="1600">
                <a:solidFill>
                  <a:srgbClr val="3D424E"/>
                </a:solidFill>
              </a:rPr>
              <a:t>extensão de 2 meses no prazo da defesa — de agosto para outubro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  </a:t>
            </a:r>
            <a:r>
              <a:rPr sz="1600">
                <a:solidFill>
                  <a:srgbClr val="3D424E"/>
                </a:solidFill>
              </a:rPr>
              <a:t/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Documento:  </a:t>
            </a:r>
            <a:r>
              <a:rPr sz="1600">
                <a:solidFill>
                  <a:srgbClr val="3D424E"/>
                </a:solidFill>
              </a:rPr>
              <a:t>carta em 2 parágrafos redigida, pronta para envio via SEI ou trâmite indicado pelo Programa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Fora do escopo dos 3 bullets da agenda, mas precisa de encaminhamento hoje.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Perguntas em aberto — técnicas + administrativas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1. Configurações comparativas:  </a:t>
            </a:r>
            <a:r>
              <a:rPr sz="1600">
                <a:solidFill>
                  <a:srgbClr val="3D424E"/>
                </a:solidFill>
              </a:rPr>
              <a:t>as 4 configs (A/B/C/D) bastam ou incluo uma 5ª variante (skin tone contínuo ITA/L* em vez de MST discreto)?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2. Cap 2 — ablation arquitetural:  </a:t>
            </a:r>
            <a:r>
              <a:rPr sz="1600">
                <a:solidFill>
                  <a:srgbClr val="3D424E"/>
                </a:solidFill>
              </a:rPr>
              <a:t>faz sentido meia-página comparando FiLM × CBN × cross-attention × AdaIN, ou deixo para a defesa oral?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3. OE-4 (fair transfer):  </a:t>
            </a:r>
            <a:r>
              <a:rPr sz="1600">
                <a:solidFill>
                  <a:srgbClr val="3D424E"/>
                </a:solidFill>
              </a:rPr>
              <a:t>métrica principal TPR@FAR=1e-4 estratificada por raça, ou DR agregado?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4. Declaração CEP:  </a:t>
            </a:r>
            <a:r>
              <a:rPr sz="1600">
                <a:solidFill>
                  <a:srgbClr val="3D424E"/>
                </a:solidFill>
              </a:rPr>
              <a:t>quem é o chefe do departamento que assina?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5. Extensão de 2 meses:  </a:t>
            </a:r>
            <a:r>
              <a:rPr sz="1600">
                <a:solidFill>
                  <a:srgbClr val="3D424E"/>
                </a:solidFill>
              </a:rPr>
              <a:t>trâmite correto — carta direta, requerimento SEI ao PPG, ou processo formal?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6. Template Overleaf:  </a:t>
            </a:r>
            <a:r>
              <a:rPr sz="1600">
                <a:solidFill>
                  <a:srgbClr val="3D424E"/>
                </a:solidFill>
              </a:rPr>
              <a:t>padrão institucional Unifesp/ICT ou abnTeX2 genérico?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2A4E"/>
                </a:solidFill>
              </a:rPr>
              <a:t>Bônus:  </a:t>
            </a:r>
            <a:r>
              <a:rPr sz="1600">
                <a:solidFill>
                  <a:srgbClr val="3D424E"/>
                </a:solidFill>
              </a:rPr>
              <a:t>sugestões para banca preliminar (fairness externo + CV aplicada)?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Plano dos próximos 7 dias documentado na cola — transposição Cap 1 hoje, entrega 15/jul.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0" b="1">
                <a:solidFill>
                  <a:srgbClr val="FFFFF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Obrigado</a:t>
            </a:r>
          </a:p>
          <a:p>
            <a:pPr>
              <a:defRPr sz="1800">
                <a:solidFill>
                  <a:srgbClr val="E8EAED"/>
                </a:solidFill>
              </a:defRPr>
            </a:pPr>
            <a:r>
              <a:t>Aberto para o debate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