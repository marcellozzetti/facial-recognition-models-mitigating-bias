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nifesp_completa_policromi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0040"/>
            <a:ext cx="1920240" cy="11581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" y="274320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UNIFESP</a:t>
            </a:r>
          </a:p>
          <a:p>
            <a:pPr>
              <a:defRPr sz="1100">
                <a:solidFill>
                  <a:srgbClr val="B4C4E8"/>
                </a:solidFill>
              </a:defRPr>
            </a:pPr>
            <a:r>
              <a:t>Instituto de</a:t>
            </a:r>
            <a:br/>
            <a:r>
              <a:t>Ciência e</a:t>
            </a:r>
            <a:br/>
            <a:r>
              <a:t>Tecnologia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097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C0392B"/>
                </a:solidFill>
              </a:defRPr>
            </a:pPr>
            <a:r>
              <a:t>EXAME DE QUALIFICAÇÃO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8288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A4E"/>
                </a:solidFill>
              </a:defRPr>
            </a:pPr>
            <a:r>
              <a:t>Mitigação de viés racial em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classificação facial com</a:t>
            </a:r>
          </a:p>
          <a:p>
            <a:pPr>
              <a:defRPr sz="3200" b="1">
                <a:solidFill>
                  <a:srgbClr val="1F2A4E"/>
                </a:solidFill>
              </a:defRPr>
            </a:pPr>
            <a:r>
              <a:t>condicionamento por tom de pele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572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Mestrando:  </a:t>
            </a:r>
            <a:r>
              <a:rPr sz="1600">
                <a:solidFill>
                  <a:srgbClr val="3D424E"/>
                </a:solidFill>
              </a:rPr>
              <a:t>Marcello Vinicius Alves Ozzetti Cruz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Orientador:  </a:t>
            </a:r>
            <a:r>
              <a:rPr sz="1600">
                <a:solidFill>
                  <a:srgbClr val="3D424E"/>
                </a:solidFill>
              </a:rPr>
              <a:t>Prof. Dr. Marcos Gonçalves Quiles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Programa:  </a:t>
            </a:r>
            <a:r>
              <a:rPr sz="1600">
                <a:solidFill>
                  <a:srgbClr val="3D424E"/>
                </a:solidFill>
              </a:rPr>
              <a:t>Pós-Graduação em Ciência da Computação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Data:  </a:t>
            </a:r>
            <a:r>
              <a:rPr sz="1600">
                <a:solidFill>
                  <a:srgbClr val="3D424E"/>
                </a:solidFill>
              </a:rPr>
              <a:t>05 de setembro de 2026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F2A4E"/>
                </a:solidFill>
              </a:rPr>
              <a:t>Local:  </a:t>
            </a:r>
            <a:r>
              <a:rPr sz="1600">
                <a:solidFill>
                  <a:srgbClr val="3D424E"/>
                </a:solidFill>
              </a:rPr>
              <a:t>UNIFESP / ICT — São José dos Campos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Motivação acadêmica: origem do problema de pesquisa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37160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i="1">
                <a:solidFill>
                  <a:srgbClr val="1F2A4E"/>
                </a:solidFill>
              </a:defRPr>
            </a:pPr>
            <a:r>
              <a:t>Em 2016, durante projeto acadêmico no MIT Media Lab, a então mestranda Joy Buolamwini constatou que sistemas comerciais de análise facial falhavam em detectar seu próprio rosto, enquanto detectavam, sem falha, interlocutores fenotipicamente mais claros. A conclusão do projeto exigiu o uso de uma máscara branca para que a face fosse reconhecida — episódio que converteu uma observação pessoal em programa de pesquisa.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Reescritura acadêmica da narrativa relatada em Unmasking AI: My Mission to Protect What Is Human in a World of Machines (Buolamwini, 2023, W. W. Norton).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Consolidação científica:  </a:t>
            </a:r>
            <a:r>
              <a:rPr sz="1500">
                <a:solidFill>
                  <a:srgbClr val="3D424E"/>
                </a:solidFill>
              </a:rPr>
              <a:t>a observação foi formalizada em Gender Shades (Buolamwini &amp; Gebru, 2018, PMLR), estudo seminal que quantificou disparidade de até 34,4 pontos percentuais em acurácia entre homens de pele clara e mulheres de pele escura em três APIs comerciais de análise facial.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Herança científica desta pesquisa:  </a:t>
            </a:r>
            <a:r>
              <a:rPr sz="1500">
                <a:solidFill>
                  <a:srgbClr val="3D424E"/>
                </a:solidFill>
              </a:rPr>
              <a:t>inscreve-se formalmente na mesma agenda — dissociar o desempenho de classificadores faciais do tom de pele —, deslocando a pergunta de "existe viés?" para "como mitigá-lo de forma defensável e auditável?".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Reconhecimento facial: adoção sociotécnica em larga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5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DISPOSITIVOS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Desbloqueio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de celular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0273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273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BANCOS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9417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Autenticação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financeira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FRONTEIRAS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Controle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migratório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14816" y="1463040"/>
            <a:ext cx="2377440" cy="164592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14816" y="1691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C0392B"/>
                </a:solidFill>
              </a:defRPr>
            </a:pPr>
            <a:r>
              <a:t>SEGURANÇA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06256" y="214884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Identificação</a:t>
            </a:r>
          </a:p>
          <a:p>
            <a:pPr algn="ctr">
              <a:defRPr sz="1600" b="1">
                <a:solidFill>
                  <a:srgbClr val="1F2A4E"/>
                </a:solidFill>
              </a:defRPr>
            </a:pPr>
            <a:r>
              <a:t>policial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4114800" cy="23774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60"/>
            <a:ext cx="4114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10 – 100 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93776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B4C4E8"/>
                </a:solidFill>
              </a:defRPr>
            </a:pPr>
            <a:r>
              <a:t>disparidade na taxa de</a:t>
            </a:r>
            <a:br/>
            <a:r>
              <a:t>falso positivo entre</a:t>
            </a:r>
            <a:br/>
            <a:r>
              <a:t>grupos demográficos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566160"/>
            <a:ext cx="67665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NIST 2019 (Grother et al.): </a:t>
            </a:r>
            <a:r>
              <a:rPr sz="1600">
                <a:solidFill>
                  <a:srgbClr val="3D424E"/>
                </a:solidFill>
              </a:rPr>
              <a:t>maior auditoria pública já feita em biometria facial — 189 algoritmos comerciais avaliados sobre 18 milhões de imagens.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Gender Shades (Buolamwini &amp; Gebru, 2018): </a:t>
            </a:r>
            <a:r>
              <a:rPr sz="1600">
                <a:solidFill>
                  <a:srgbClr val="3D424E"/>
                </a:solidFill>
              </a:rPr>
              <a:t>estudo fundacional que colocou o viés racial-de-gênero na agenda pública.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F2A4E"/>
                </a:solidFill>
              </a:rPr>
              <a:t>Conclusão: </a:t>
            </a:r>
            <a:r>
              <a:rPr sz="1600">
                <a:solidFill>
                  <a:srgbClr val="3D424E"/>
                </a:solidFill>
              </a:rPr>
              <a:t>desempenho agregado favorável coexiste com disparidade sistemática entre subgrupos demográficos.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Regulação formal em vigor: European AI Act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65276" y="2167128"/>
            <a:ext cx="10058400" cy="54864"/>
          </a:xfrm>
          <a:prstGeom prst="rect">
            <a:avLst/>
          </a:prstGeom>
          <a:solidFill>
            <a:srgbClr val="7076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52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94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169164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Gender Shades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306323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Buolamwini &amp; Gebru colocam o viés na agenda.</a:t>
            </a:r>
          </a:p>
        </p:txBody>
      </p:sp>
      <p:sp>
        <p:nvSpPr>
          <p:cNvPr id="9" name="Oval 8"/>
          <p:cNvSpPr/>
          <p:nvPr/>
        </p:nvSpPr>
        <p:spPr>
          <a:xfrm>
            <a:off x="40980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22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36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NIST FRVT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64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Grother et al. documentam disparidade 10–100× em escala industrial.</a:t>
            </a:r>
          </a:p>
        </p:txBody>
      </p:sp>
      <p:sp>
        <p:nvSpPr>
          <p:cNvPr id="13" name="Oval 12"/>
          <p:cNvSpPr/>
          <p:nvPr/>
        </p:nvSpPr>
        <p:spPr>
          <a:xfrm>
            <a:off x="7450836" y="1874519"/>
            <a:ext cx="640080" cy="640080"/>
          </a:xfrm>
          <a:prstGeom prst="ellipse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50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C0392B"/>
                </a:solidFill>
              </a:defRPr>
            </a:pPr>
            <a: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64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EU AI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92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Auditoria de equidade torna-se requisito formal para sistemas biométricos.</a:t>
            </a:r>
          </a:p>
        </p:txBody>
      </p:sp>
      <p:sp>
        <p:nvSpPr>
          <p:cNvPr id="17" name="Oval 16"/>
          <p:cNvSpPr/>
          <p:nvPr/>
        </p:nvSpPr>
        <p:spPr>
          <a:xfrm>
            <a:off x="10803636" y="1874519"/>
            <a:ext cx="640080" cy="640080"/>
          </a:xfrm>
          <a:prstGeom prst="ellipse">
            <a:avLst/>
          </a:prstGeom>
          <a:solidFill>
            <a:srgbClr val="1F2A4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37876" y="1188719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F2A4E"/>
                </a:solidFill>
              </a:defRPr>
            </a:pPr>
            <a:r>
              <a:t>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89236" y="265176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F2A4E"/>
                </a:solidFill>
              </a:defRPr>
            </a:pPr>
            <a:r>
              <a:t>FAccT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2076" y="3246120"/>
            <a:ext cx="2743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3D424E"/>
                </a:solidFill>
              </a:defRPr>
            </a:pPr>
            <a:r>
              <a:t>Lafargue et al. propõem pipeline de auditoria com propagação de incerteza.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100584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230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i="1">
                <a:solidFill>
                  <a:srgbClr val="FFFFFF"/>
                </a:solidFill>
              </a:defRPr>
            </a:pPr>
            <a:r>
              <a:t>A questão científica desloca-se da constatação do viés — empiricamente estabelecida — para o desenvolvimento de mecanismos de mitigação defensáveis e auditáveis.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4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Disparidade sistemática de aproximadamente 30 pontos percentuais entre grupos raciais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disparidade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90" y="1371600"/>
            <a:ext cx="1001057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FaceScanPaliGemma (AlDahoul et al., 2024) avaliado sobre o dataset FairFace (Kärkkäinen &amp; Joo, 2021). Diferencial entre Black e Latinx: 30 pontos percentuais em F1.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5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Heterogeneidade fenotípica intra-categorial: o caso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fitzpatrick_vs_m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5669280" cy="2240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852160"/>
            <a:ext cx="5669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Fitzpatrick (esq., 6 tons) × Monk (dir., 10 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303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Rótulo monolítico:  </a:t>
            </a:r>
            <a:r>
              <a:rPr sz="1600">
                <a:solidFill>
                  <a:srgbClr val="3D424E"/>
                </a:solidFill>
              </a:rPr>
              <a:t>a rotulagem monolítica agrega fenótipos heterogêneos sob única categoria discreta.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Escala Monk (Ellis Monk, 2019):  </a:t>
            </a:r>
            <a:r>
              <a:rPr sz="1600">
                <a:solidFill>
                  <a:srgbClr val="3D424E"/>
                </a:solidFill>
              </a:rPr>
              <a:t>escala de 10 tons — sucessora moderna da escala Fitzpatrick, que sub-representa tons escuros.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Schumann et al. (2023):  </a:t>
            </a:r>
            <a:r>
              <a:rPr sz="1600">
                <a:solidFill>
                  <a:srgbClr val="3D424E"/>
                </a:solidFill>
              </a:rPr>
              <a:t>consolida a MST como padrão moderno de auditoria de equidade em análise facial.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F2A4E"/>
                </a:solidFill>
              </a:rPr>
              <a:t>Consequência:  </a:t>
            </a:r>
            <a:r>
              <a:rPr sz="1600">
                <a:solidFill>
                  <a:srgbClr val="3D424E"/>
                </a:solidFill>
              </a:rPr>
              <a:t>a rotulagem monolítica compromete a acurácia condicional em grupos com maior variabilidade fenotípica, como Latinx.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6 /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Refutação concorrente: tom de pele como principal fator (Pangelinan, 2023)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519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519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 CRÍTICA DA LITERATURA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" y="2011680"/>
            <a:ext cx="5486400" cy="4343400"/>
          </a:xfrm>
          <a:prstGeom prst="roundRect">
            <a:avLst/>
          </a:prstGeom>
          <a:solidFill>
            <a:srgbClr val="E8EAED"/>
          </a:solidFill>
          <a:ln>
            <a:solidFill>
              <a:srgbClr val="E8E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Pangelinan et al. (2023, FAccT):  </a:t>
            </a:r>
            <a:r>
              <a:rPr sz="1600">
                <a:solidFill>
                  <a:srgbClr val="3D424E"/>
                </a:solidFill>
              </a:rPr>
              <a:t>a disparidade racial em face recognition é primariamente explicada pela fração de área facial útil na imagem (pixel information), não pelo rótulo racial.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Matias et al. (2026):  </a:t>
            </a:r>
            <a:r>
              <a:rPr sz="1600">
                <a:solidFill>
                  <a:srgbClr val="3D424E"/>
                </a:solidFill>
              </a:rPr>
              <a:t>publica o SkinToneNet e reforça o tom de pele como dimensão auditável, tensionando o uso de rótulos nominais.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0392B"/>
                </a:solidFill>
              </a:rPr>
              <a:t>Implicação forte:  </a:t>
            </a:r>
            <a:r>
              <a:rPr sz="1600">
                <a:solidFill>
                  <a:srgbClr val="3D424E"/>
                </a:solidFill>
              </a:rPr>
              <a:t>se a refutação se sustenta, o condicionamento por rótulo racial nominal perde sustentação teórica em favor do sinal fenotípico direto.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735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7356" y="1472184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NOSSA POSIÇÃO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7356" y="2011680"/>
            <a:ext cx="5486400" cy="4343400"/>
          </a:xfrm>
          <a:prstGeom prst="roundRect">
            <a:avLst/>
          </a:prstGeom>
          <a:solidFill>
            <a:srgbClr val="B4C4E8"/>
          </a:solidFill>
          <a:ln>
            <a:solidFill>
              <a:srgbClr val="B4C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6" y="2194560"/>
            <a:ext cx="5029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O tom de pele complementa o rótulo racial:  </a:t>
            </a:r>
            <a:r>
              <a:rPr sz="1600">
                <a:solidFill>
                  <a:srgbClr val="3D424E"/>
                </a:solidFill>
              </a:rPr>
              <a:t>o vetor MST atua como sinal condicionante; o rótulo racial permanece como alvo de predição.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Incorporamos a crítica formalmente:  </a:t>
            </a:r>
            <a:r>
              <a:rPr sz="1600">
                <a:solidFill>
                  <a:srgbClr val="3D424E"/>
                </a:solidFill>
              </a:rPr>
              <a:t>a hipótese H6 testa diretamente a tese de Pangelinan (R² ≥ 70 % explicado por pixel information).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Refutação convertida em contribuição:  </a:t>
            </a:r>
            <a:r>
              <a:rPr sz="1600">
                <a:solidFill>
                  <a:srgbClr val="3D424E"/>
                </a:solidFill>
              </a:rPr>
              <a:t>eventual confirmação da refutação produz decomposição quantitativa do erro, resultado científico válido em 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25603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Desenvolver e avaliar um pipeline de classificação racial que usa o tom de pele (escala Monk, 10 tons) como sinal de contexto para reduzir a disparidade entre grupos, sem sacrificar a acurácia geral.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3D424E"/>
                </a:solidFill>
              </a:defRPr>
            </a:pPr>
            <a:r>
              <a:t>Arquitetura escolhida: ConvNeXt-T (Liu et al., 2022) como rede base + FiLM (Perez et al., 2018) como mecanismo que “consulta” o tom de pele antes de decidir.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Objetivos específicos e hipóteses testáveis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70916" y="1417320"/>
            <a:ext cx="5486400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091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OBJETIVOS ESPECÍFICOS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1.  </a:t>
            </a:r>
            <a:r>
              <a:rPr sz="1500">
                <a:solidFill>
                  <a:srgbClr val="3D424E"/>
                </a:solidFill>
              </a:rPr>
              <a:t>Quantificar distribuição MST × classe racial no FairFace.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2.  </a:t>
            </a:r>
            <a:r>
              <a:rPr sz="1500">
                <a:solidFill>
                  <a:srgbClr val="3D424E"/>
                </a:solidFill>
              </a:rPr>
              <a:t>Treinar e avaliar classificador MST próprio + sensitivity.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3.  </a:t>
            </a:r>
            <a:r>
              <a:rPr sz="1500">
                <a:solidFill>
                  <a:srgbClr val="3D424E"/>
                </a:solidFill>
              </a:rPr>
              <a:t>Implementar FiLM sobre ConvNeXt-T e comparar vs 6 baselines.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4.  </a:t>
            </a:r>
            <a:r>
              <a:rPr sz="1500">
                <a:solidFill>
                  <a:srgbClr val="3D424E"/>
                </a:solidFill>
              </a:rPr>
              <a:t>Demonstrar transferência do ganho para reconhecimento (RFW/BFW).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5.  </a:t>
            </a:r>
            <a:r>
              <a:rPr sz="1500">
                <a:solidFill>
                  <a:srgbClr val="3D424E"/>
                </a:solidFill>
              </a:rPr>
              <a:t>Formalizar triangulação de métricas (DR, F1 pior classe, EO).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2A4E"/>
                </a:solidFill>
              </a:rPr>
              <a:t>6.  </a:t>
            </a:r>
            <a:r>
              <a:rPr sz="1500">
                <a:solidFill>
                  <a:srgbClr val="3D424E"/>
                </a:solidFill>
              </a:rPr>
              <a:t>Decompor erro Latinx: fenótipo (irredutível) vs modelo (mitigável).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417320"/>
            <a:ext cx="5486400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1636" y="1463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6 HIPÓTESES TESTÁVEIS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8796" y="20574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H1.  </a:t>
            </a:r>
            <a:r>
              <a:rPr sz="1500">
                <a:solidFill>
                  <a:srgbClr val="3D424E"/>
                </a:solidFill>
              </a:rPr>
              <a:t>Classificador MST atinge concordância humana  </a:t>
            </a:r>
            <a:r>
              <a:rPr sz="1300" i="1">
                <a:solidFill>
                  <a:srgbClr val="707682"/>
                </a:solidFill>
              </a:rPr>
              <a:t>[κ ≥ 0,7]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H2.  </a:t>
            </a:r>
            <a:r>
              <a:rPr sz="1500">
                <a:solidFill>
                  <a:srgbClr val="3D424E"/>
                </a:solidFill>
              </a:rPr>
              <a:t>Latinx cobre ≥ 5 dos 10 tons Monk  </a:t>
            </a:r>
            <a:r>
              <a:rPr sz="1300" i="1">
                <a:solidFill>
                  <a:srgbClr val="707682"/>
                </a:solidFill>
              </a:rPr>
              <a:t>[cobertura ≥ 5]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H3.  </a:t>
            </a:r>
            <a:r>
              <a:rPr sz="1500">
                <a:solidFill>
                  <a:srgbClr val="3D424E"/>
                </a:solidFill>
              </a:rPr>
              <a:t>Condicionamento reduz disparidade sem perder acurácia  </a:t>
            </a:r>
            <a:r>
              <a:rPr sz="1300" i="1">
                <a:solidFill>
                  <a:srgbClr val="707682"/>
                </a:solidFill>
              </a:rPr>
              <a:t>[DR ↓  ·  F1 ≥ baseline]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H4.  </a:t>
            </a:r>
            <a:r>
              <a:rPr sz="1500">
                <a:solidFill>
                  <a:srgbClr val="3D424E"/>
                </a:solidFill>
              </a:rPr>
              <a:t>≥ 50 % dos erros Latinx em zonas de sobreposição  </a:t>
            </a:r>
            <a:r>
              <a:rPr sz="1300" i="1">
                <a:solidFill>
                  <a:srgbClr val="707682"/>
                </a:solidFill>
              </a:rPr>
              <a:t>[concentração ≥ 50 %]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H5.  </a:t>
            </a:r>
            <a:r>
              <a:rPr sz="1500">
                <a:solidFill>
                  <a:srgbClr val="3D424E"/>
                </a:solidFill>
              </a:rPr>
              <a:t>Módulo FiLM/MST pré-treinado transfere via feature-freeze para RFW/BFW  </a:t>
            </a:r>
            <a:r>
              <a:rPr sz="1300" i="1">
                <a:solidFill>
                  <a:srgbClr val="707682"/>
                </a:solidFill>
              </a:rPr>
              <a:t>[ΔTAR@FAR=1e-4 ≥ +3 pp (African)]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</a:rPr>
              <a:t>H6.  </a:t>
            </a:r>
            <a:r>
              <a:rPr sz="1500">
                <a:solidFill>
                  <a:srgbClr val="3D424E"/>
                </a:solidFill>
              </a:rPr>
              <a:t>Pixel information explica variância do erro (Pangelinan)  </a:t>
            </a:r>
            <a:r>
              <a:rPr sz="1300" i="1">
                <a:solidFill>
                  <a:srgbClr val="707682"/>
                </a:solidFill>
              </a:rPr>
              <a:t>[R² ≥ 70 %]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9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Linha do tempo das principais respostas ao problema (2018 – 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timeline_f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384720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Rebalanceamento amostral e novos
repositórios biométricos.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RFW (Wang et al., 2019)</a:t>
            </a:r>
          </a:p>
          <a:p>
            <a:r>
              <a:rPr sz="1050">
                <a:solidFill>
                  <a:srgbClr val="1F2A4E"/>
                </a:solidFill>
              </a:rPr>
              <a:t>•  BFW (Robinson et al., 2020)</a:t>
            </a:r>
          </a:p>
          <a:p>
            <a:r>
              <a:rPr sz="1050">
                <a:solidFill>
                  <a:srgbClr val="1F2A4E"/>
                </a:solidFill>
              </a:rPr>
              <a:t>•  FairFace (Kärkkäinen &amp; Joo, 2021)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Equilíbrio amostral é necessário mas insuficiente em
populações heterogêneas (Latinx). Uso restrito ao
Fitzpatrick I–VI.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0327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043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Intervenções na otimização e nas
funções de perda.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043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Group DRO (Sagawa et al., 2020)</a:t>
            </a:r>
          </a:p>
          <a:p>
            <a:r>
              <a:rPr sz="1050">
                <a:solidFill>
                  <a:srgbClr val="1F2A4E"/>
                </a:solidFill>
              </a:rPr>
              <a:t>•  FSCL+ (Park et al., 2022)</a:t>
            </a:r>
          </a:p>
          <a:p>
            <a:r>
              <a:rPr sz="1050">
                <a:solidFill>
                  <a:srgbClr val="1F2A4E"/>
                </a:solidFill>
              </a:rPr>
              <a:t>•  FairGRAPE (Lin et al., 2022)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043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Conflito severo entre acurácia global e paridade
demográfica (Teorema da Impossibilidade,
Kleinberg et al., 2017).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9340" y="3154680"/>
            <a:ext cx="64008" cy="2834640"/>
          </a:xfrm>
          <a:prstGeom prst="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Modelos visão-linguagem e
transição à escala Monk (MST).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650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FaceScanPaliGemma (AlDahoul et al., 2024)</a:t>
            </a:r>
          </a:p>
          <a:p>
            <a:r>
              <a:rPr sz="1050">
                <a:solidFill>
                  <a:srgbClr val="1F2A4E"/>
                </a:solidFill>
              </a:rPr>
              <a:t>•  FairCLIP (Luo et al., 2024)</a:t>
            </a:r>
          </a:p>
          <a:p>
            <a:r>
              <a:rPr sz="1050">
                <a:solidFill>
                  <a:srgbClr val="1F2A4E"/>
                </a:solidFill>
              </a:rPr>
              <a:t>•  MST (Schumann et al., 2023; Pereira,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650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D68BB"/>
                </a:solidFill>
              </a:rPr>
              <a:t>LIMITAÇÃO</a:t>
            </a:r>
          </a:p>
          <a:p>
            <a:r>
              <a:rPr sz="1050" i="1">
                <a:solidFill>
                  <a:srgbClr val="3D424E"/>
                </a:solidFill>
              </a:rPr>
              <a:t>Acurácia agregada sobe (75,7 %) mas persiste gap
de ~30 pp em Latinx (F1 ≈ 60 %); vieses herdados
da web.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5410" y="3154680"/>
            <a:ext cx="64008" cy="283464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2570" y="3154680"/>
            <a:ext cx="259918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FOCO</a:t>
            </a:r>
          </a:p>
          <a:p>
            <a:r>
              <a:rPr sz="1100">
                <a:solidFill>
                  <a:srgbClr val="3D424E"/>
                </a:solidFill>
              </a:rPr>
              <a:t>Injeção de MST como sinal arquitetural
intermediário via FiLM.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570" y="4023360"/>
            <a:ext cx="259918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MARCOS</a:t>
            </a:r>
          </a:p>
          <a:p>
            <a:r>
              <a:rPr sz="1050">
                <a:solidFill>
                  <a:srgbClr val="1F2A4E"/>
                </a:solidFill>
              </a:rPr>
              <a:t>•  FiLM · ConvNeXt-T (Perez et al., 2018)</a:t>
            </a:r>
          </a:p>
          <a:p>
            <a:r>
              <a:rPr sz="1050">
                <a:solidFill>
                  <a:srgbClr val="1F2A4E"/>
                </a:solidFill>
              </a:rPr>
              <a:t>•  Triangulação ISO/IEC 19795-10:2024</a:t>
            </a:r>
          </a:p>
          <a:p>
            <a:r>
              <a:rPr sz="1050">
                <a:solidFill>
                  <a:srgbClr val="1F2A4E"/>
                </a:solidFill>
              </a:rPr>
              <a:t>•  Decomposição fenotípico × pixel (H6)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2570" y="5212080"/>
            <a:ext cx="259918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1F2A4E"/>
                </a:solidFill>
              </a:rPr>
              <a:t>DIFERENCIAL</a:t>
            </a:r>
          </a:p>
          <a:p>
            <a:r>
              <a:rPr sz="1050" i="1">
                <a:solidFill>
                  <a:srgbClr val="3D424E"/>
                </a:solidFill>
              </a:rPr>
              <a:t>Modulação do fluxo de features pelo tom contínuo —
supera rótulos raciais nominais sem exigir modelos
de bilhões de parâmetros.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08076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707682"/>
                </a:solidFill>
              </a:defRPr>
            </a:pPr>
            <a:r>
              <a:t>Fluxo cronológico: dados balanceados → funções de perda → modelos visão-linguagem com MST → condicionamento arquitetural.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10 /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Baselines de mitigação para comparação sistemática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5943600"/>
              </a:tblGrid>
              <a:tr h="67926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Método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Referência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Ideia central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Adversarial debiasing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Zhang et al.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Segundo modelo tenta “ler” o atributo sensível — o primeiro se defende.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Group DRO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Sagawa et al. (2020)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Otimiza o erro do pior grupo, não o erro médio.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FSCL+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Park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Aprendizado contrastivo com controle explícito de viés.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FineFACE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Manzoor et al.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Atenção mútua entre camadas — operação Pareto-eficiente.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ResNet-34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Kärkkäinen &amp; Joo (2021)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Baseline canônico da própria comunidade FairFace.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ConvNeXt-T puro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Liu et al. (2022)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Controle arquitetural moderno — efeito da rede base sem condicionamento.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11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Lacunas científicas identificadas na literatura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7315200"/>
                <a:gridCol w="3657600"/>
              </a:tblGrid>
              <a:tr h="7924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Lacuna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Endereçamento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Ausência de tabulação pública MST × raça sobre FairFace. Schumann et al. (2023, NeurIPS) estabelecem o protocolo MST sem aplicá-lo ao FairFace; Pereira et al. (2026) liberam o STW sobre dataset próprio.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2 — Contribuição 2.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FiLM nunca instanciado em classificação racial multi-classe. Nem o mecanismo original (Perez et al., 2018) nem sua formulação equivalente Conditional Batch Normalization (de Vries et al., 2017) foram adotados com condicionamento por tom de pele contínuo.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3 — Contribuição 3.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Falta decomposição formal do erro Latinx. Pangelinan et al. (2023) decompõem o gender gap em verificação (FST 6-tons), mas não estendem a classificação racial multi-classe; o patamar F1 ≈ 60 % em Latinx (Lin et al., 2022; AlDahoul et al., 2024) permanece sem explicação quantitativa.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6 — Contribuição 5.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classificação → verificação com condicionamento preservado é lacuna. Madras et al. (2018, LAFTR) provam a transferência fair apenas em dados tabulares; FairCal (2021), MixFairFace (2022) e score normalization (2024) treinam a mitigação diretamente em RFW/BFW.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5 — Contribuição 6.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Reporte empírico de mitigação sem triangulação. Apesar do Teorema da Impossibilidade (Kleinberg et al., 2017) e dos surveys que o catalogam (Mehrabi et al., 2021), papers de mitigação continuam reportando um único indicador agregado.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Etapa 4 — Contribuição 4.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Pipeline experimental em seis etapas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6615" y="1325880"/>
            <a:ext cx="3758184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A. DIAGNÓSTICO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5383" y="1325880"/>
            <a:ext cx="1828800" cy="384048"/>
          </a:xfrm>
          <a:prstGeom prst="roundRect">
            <a:avLst/>
          </a:prstGeom>
          <a:solidFill>
            <a:srgbClr val="B4C4E8"/>
          </a:solidFill>
          <a:ln w="9525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1F2A4E"/>
                </a:solidFill>
              </a:rPr>
              <a:t>B. MÉTODO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44768" y="1325880"/>
            <a:ext cx="5687567" cy="384048"/>
          </a:xfrm>
          <a:prstGeom prst="roundRect">
            <a:avLst/>
          </a:prstGeom>
          <a:solidFill>
            <a:srgbClr val="E8EAED"/>
          </a:solidFill>
          <a:ln w="9525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  <a:r>
              <a:rPr sz="1300" b="1">
                <a:solidFill>
                  <a:srgbClr val="3D424E"/>
                </a:solidFill>
              </a:rPr>
              <a:t>C. VALIDAÇÃO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1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Classificador MST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Treina rede 10-tons sobre MSTE + CCv2.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5999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2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Matriz MST × raça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Tabula tons preditos pelas 7 classes FairFace.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5383" y="1920240"/>
            <a:ext cx="1828800" cy="3931920"/>
          </a:xfrm>
          <a:prstGeom prst="roundRect">
            <a:avLst/>
          </a:prstGeom>
          <a:solidFill>
            <a:srgbClr val="1F2A4E"/>
          </a:solidFill>
          <a:ln w="254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B4C4E8"/>
                </a:solidFill>
              </a:rPr>
              <a:t>ETAPA 3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FFFFFF"/>
                </a:solidFill>
              </a:rPr>
              <a:t>FiLM + ConvNeXt-T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B4C4E8"/>
                </a:solidFill>
              </a:rPr>
              <a:t>Rede condiciona features ao vetor MST (método proposto).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4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Baselines e cenários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Confronta a proposta com seis famílias já publicadas.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1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5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Transferência RFW/BFW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Verifica herança do condicionamento em reconhecimento.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3535" y="1920240"/>
            <a:ext cx="1828800" cy="3931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37160" bIns="109728"/>
          <a:lstStyle/>
          <a:p>
            <a:pPr algn="ctr"/>
            <a:r>
              <a:rPr sz="1100" b="1">
                <a:solidFill>
                  <a:srgbClr val="3D68BB"/>
                </a:solidFill>
              </a:rPr>
              <a:t>ETAPA 6</a:t>
            </a:r>
          </a:p>
          <a:p>
            <a:pPr algn="ctr">
              <a:spcBef>
                <a:spcPts val="600"/>
              </a:spcBef>
            </a:pPr>
            <a:r>
              <a:rPr sz="1600" b="1">
                <a:solidFill>
                  <a:srgbClr val="1F2A4E"/>
                </a:solidFill>
              </a:rPr>
              <a:t>Decomposição do erro</a:t>
            </a:r>
          </a:p>
          <a:p>
            <a:pPr algn="ctr">
              <a:spcBef>
                <a:spcPts val="1400"/>
              </a:spcBef>
            </a:pPr>
            <a:r>
              <a:rPr sz="1200">
                <a:solidFill>
                  <a:srgbClr val="3D424E"/>
                </a:solidFill>
              </a:rPr>
              <a:t>Separa componente fenotípico de componente algorítmico.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85415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114800" y="3886200"/>
            <a:ext cx="100583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44183" y="3886200"/>
            <a:ext cx="100585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73567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02951" y="3886200"/>
            <a:ext cx="100584" cy="0"/>
          </a:xfrm>
          <a:prstGeom prst="bentConnector3">
            <a:avLst/>
          </a:prstGeom>
          <a:ln w="3175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Fluxo em três fases: diagnóstico (etapas 1 e 2), método proposto (etapa 3, destacada) e validação e síntese (etapas 4 a 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Evolução do pipeline experimental — estado em 04/10/2026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pipeline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339" y="1371600"/>
            <a:ext cx="1222363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Etapas 1 a 3 em execução (código implementado, validação preliminar em curso); etapas 4 a 6 planejadas conforme cronograma. Marco de qualificação assegurado.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1: classificador MST treinado internamente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O que faz:  </a:t>
            </a:r>
            <a:r>
              <a:rPr sz="1800">
                <a:solidFill>
                  <a:srgbClr val="3D424E"/>
                </a:solidFill>
              </a:rPr>
              <a:t>produz, para cada imagem facial, o vetor softmax sobre os dez tons da escala Monk.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Decisão pós-reunião Ago/2026:  </a:t>
            </a:r>
            <a:r>
              <a:rPr sz="1800">
                <a:solidFill>
                  <a:srgbClr val="3D424E"/>
                </a:solidFill>
              </a:rPr>
              <a:t>adotar treinamento interno do classificador, reduzindo dependência do release do SkinToneNet (Matias, 2026), cujos pesos e dataset STW ainda não foram divulgados publicamente.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Datasets de treino:  </a:t>
            </a:r>
            <a:r>
              <a:rPr sz="1800">
                <a:solidFill>
                  <a:srgbClr val="3D424E"/>
                </a:solidFill>
              </a:rPr>
              <a:t>Monk Skin Tone Examples (Monk, 2019) e Casual Conversations v2 (Porgali et al., 2023).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Camada auto-suficiente:  </a:t>
            </a:r>
            <a:r>
              <a:rPr sz="1800">
                <a:solidFill>
                  <a:srgbClr val="3D424E"/>
                </a:solidFill>
              </a:rPr>
              <a:t>detecção facial (MTCNN, Zhang et al., 2016), alinhamento, recorte e classificação — viabiliza inferência em datasets sem anotação MST.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Validação:  </a:t>
            </a:r>
            <a:r>
              <a:rPr sz="1800">
                <a:solidFill>
                  <a:srgbClr val="3D424E"/>
                </a:solidFill>
              </a:rPr>
              <a:t>protocolo humano interno (aproximadamente 250 imagens do FairFace) e sensitivity analysis com dois a três classificadores alternativos.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15 /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detalhe técnico do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talhe_tecn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18" y="1371600"/>
            <a:ext cx="11443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Pipeline técnico em cinco etapas: detecção MTCNN → alinhamento por landmarks → segmentação de pele → cor dominante via k-means em CIELab → distância euclidiana à paleta Monk. Backend operacional durante a fase de validação (sensitivity analysis — Cap. 4 §4.2).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amostras FairFace val (qualitativo)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795" y="1371600"/>
            <a:ext cx="968136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Para cada raça FairFace: face com tom MST mais claro (acima) e mais escuro (abaixo) preditos sobre amostra estratificada de 350 imagens. Evidência visual direta de H1 — heterogeneidade fenotípica intra-categorial.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Classificador MST em validação: distribuição MST × raça (quantitativo)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st_demo_distribu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99" y="1371600"/>
            <a:ext cx="10821954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Distribuição percentual (dentro de cada raça) sobre amostra estratificada (n = 350, 50 por raça). Nenhuma raça colapsa em um único tom Monk — evidência preliminar que sustenta a formalização de H1.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2 — Matriz MST × raça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Diagnóstico fenotípico: distribuição de tons Monk predita por raça do FairFace.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" y="1600200"/>
            <a:ext cx="3749039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ENTRADA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90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FairFace val (≈ 10 954 imagens)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Classificador MST da Etapa 1 (congelado)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Rótulos raciais FairFace (7 classes)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19956" y="1600200"/>
            <a:ext cx="3749039" cy="502920"/>
          </a:xfrm>
          <a:prstGeom prst="round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PROCESSO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995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D6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454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Inferência MST sobre todas as imagens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Agregação por raça: contagem de cada tom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Normalização para % dentro de cada raça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Teste χ² de homogeneidade de distribuição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7596" y="1600200"/>
            <a:ext cx="3749039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SAÍDA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759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218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Matriz pública 7 × 10 (CSV) — contribuição 2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Spread por raça (nº de tons distintos)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Rank de heterogeneidade intra-categorial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10912"/>
            <a:ext cx="5623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Paleta Monk 10 tons (eixo horizontal da matriz 7 × 10):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87802" y="5422391"/>
            <a:ext cx="600303" cy="448056"/>
          </a:xfrm>
          <a:prstGeom prst="rect">
            <a:avLst/>
          </a:prstGeom>
          <a:solidFill>
            <a:srgbClr val="F6EDE4"/>
          </a:solidFill>
          <a:ln w="635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7802" y="5897879"/>
            <a:ext cx="61859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3D424E"/>
                </a:solidFill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06393" y="5422391"/>
            <a:ext cx="600303" cy="448056"/>
          </a:xfrm>
          <a:prstGeom prst="rect">
            <a:avLst/>
          </a:prstGeom>
          <a:solidFill>
            <a:srgbClr val="F3E7DB"/>
          </a:solidFill>
          <a:ln w="635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6393" y="5897879"/>
            <a:ext cx="61859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3D424E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24985" y="5422391"/>
            <a:ext cx="600303" cy="448056"/>
          </a:xfrm>
          <a:prstGeom prst="rect">
            <a:avLst/>
          </a:prstGeom>
          <a:solidFill>
            <a:srgbClr val="F7EAD0"/>
          </a:solidFill>
          <a:ln w="635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24985" y="5897879"/>
            <a:ext cx="61859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3D424E"/>
                </a:solidFill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3576" y="5422391"/>
            <a:ext cx="600303" cy="448056"/>
          </a:xfrm>
          <a:prstGeom prst="rect">
            <a:avLst/>
          </a:prstGeom>
          <a:solidFill>
            <a:srgbClr val="EADABA"/>
          </a:solidFill>
          <a:ln w="635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3576" y="5897879"/>
            <a:ext cx="61859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3D424E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62168" y="5422391"/>
            <a:ext cx="600303" cy="448056"/>
          </a:xfrm>
          <a:prstGeom prst="rect">
            <a:avLst/>
          </a:prstGeom>
          <a:solidFill>
            <a:srgbClr val="D7BD96"/>
          </a:solidFill>
          <a:ln w="635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62168" y="5897879"/>
            <a:ext cx="61859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3D424E"/>
                </a:solidFill>
              </a:rP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5422391"/>
            <a:ext cx="600303" cy="448056"/>
          </a:xfrm>
          <a:prstGeom prst="rect">
            <a:avLst/>
          </a:prstGeom>
          <a:solidFill>
            <a:srgbClr val="A07E56"/>
          </a:solidFill>
          <a:ln w="635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5897879"/>
            <a:ext cx="61859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3D424E"/>
                </a:solidFill>
              </a:rP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99351" y="5422391"/>
            <a:ext cx="600303" cy="448056"/>
          </a:xfrm>
          <a:prstGeom prst="rect">
            <a:avLst/>
          </a:prstGeom>
          <a:solidFill>
            <a:srgbClr val="825C43"/>
          </a:solidFill>
          <a:ln w="635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99351" y="5897879"/>
            <a:ext cx="61859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3D424E"/>
                </a:solidFill>
              </a:rPr>
              <a:t>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7943" y="5422391"/>
            <a:ext cx="600303" cy="448056"/>
          </a:xfrm>
          <a:prstGeom prst="rect">
            <a:avLst/>
          </a:prstGeom>
          <a:solidFill>
            <a:srgbClr val="604134"/>
          </a:solidFill>
          <a:ln w="635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7943" y="5897879"/>
            <a:ext cx="61859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3D424E"/>
                </a:solidFill>
              </a:rPr>
              <a:t>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36534" y="5422391"/>
            <a:ext cx="600303" cy="448056"/>
          </a:xfrm>
          <a:prstGeom prst="rect">
            <a:avLst/>
          </a:prstGeom>
          <a:solidFill>
            <a:srgbClr val="3A312A"/>
          </a:solidFill>
          <a:ln w="635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36534" y="5897879"/>
            <a:ext cx="61859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3D424E"/>
                </a:solidFill>
              </a:rP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55126" y="5422391"/>
            <a:ext cx="600303" cy="448056"/>
          </a:xfrm>
          <a:prstGeom prst="rect">
            <a:avLst/>
          </a:prstGeom>
          <a:solidFill>
            <a:srgbClr val="292420"/>
          </a:solidFill>
          <a:ln w="635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55126" y="5897879"/>
            <a:ext cx="618591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3D424E"/>
                </a:solidFill>
              </a:rPr>
              <a:t>10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35040"/>
            <a:ext cx="11274552" cy="7315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64008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Regra de aprovação — hipótese H3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Latinx cobre pelo menos 5 dos 10 tons MST com pico distribuído (não concentrado em um único tom). Confirma heterogeneidade fenotípica intra-categorial.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da escolha do backbone: ConvNeXt-T (Liu et al., 2022)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Paridade com ViTs a custo convolucional:  </a:t>
            </a:r>
            <a:r>
              <a:rPr sz="1800">
                <a:solidFill>
                  <a:srgbClr val="3D424E"/>
                </a:solidFill>
              </a:rPr>
              <a:t>82 % top-1 ImageNet, comparável a Swin-T, ~1/3 dos parâmetros.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Estável em fine-tuning:  </a:t>
            </a:r>
            <a:r>
              <a:rPr sz="1800">
                <a:solidFill>
                  <a:srgbClr val="3D424E"/>
                </a:solidFill>
              </a:rPr>
              <a:t>LayerNorm (não BatchNorm) — robusto a batch pequeno, essencial para 3 sementes.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Saída com dimensionalidade compacta:  </a:t>
            </a:r>
            <a:r>
              <a:rPr sz="1800">
                <a:solidFill>
                  <a:srgbClr val="3D424E"/>
                </a:solidFill>
              </a:rPr>
              <a:t>768 canais na saída do backbone — admite inserção de FiLM com overhead paramétrico mínimo.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Comparável ao baseline canônico:  </a:t>
            </a:r>
            <a:r>
              <a:rPr sz="1800">
                <a:solidFill>
                  <a:srgbClr val="3D424E"/>
                </a:solidFill>
              </a:rPr>
              <a:t>ResNet-34 do FairFace serve como âncora — ConvNeXt-T isola o efeito do condicionamento.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Viável computacionalmente:  </a:t>
            </a:r>
            <a:r>
              <a:rPr sz="1800">
                <a:solidFill>
                  <a:srgbClr val="3D424E"/>
                </a:solidFill>
              </a:rPr>
              <a:t>28 M params permitem 3 sementes × 3 configs em GPU comum (~300 h total).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Racional do mecanismo de condicionamento: FiLM (Perez et al., 2018)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Instanciação mínima suficiente:  </a:t>
            </a:r>
            <a:r>
              <a:rPr sz="1800">
                <a:solidFill>
                  <a:srgbClr val="3D424E"/>
                </a:solidFill>
              </a:rPr>
              <a:t>uma única camada FiLM após o backbone, antes do classificador — menor instanciação possível do mecanismo.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Adequação dimensional ao sinal MST:  </a:t>
            </a:r>
            <a:r>
              <a:rPr sz="1800">
                <a:solidFill>
                  <a:srgbClr val="3D424E"/>
                </a:solidFill>
              </a:rPr>
              <a:t>sinal 10-dim casa naturalmente com γ, β de 768 dim — sem explosão paramétrica.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Eficiência extrema:  </a:t>
            </a:r>
            <a:r>
              <a:rPr sz="1800">
                <a:solidFill>
                  <a:srgbClr val="3D424E"/>
                </a:solidFill>
              </a:rPr>
              <a:t>~14 k parâmetros adicionais (~0,05 % do backbone) — abaixo de qualquer alternativa (cross-attention, adapters, LoRA).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Interpretabilidade direta:  </a:t>
            </a:r>
            <a:r>
              <a:rPr sz="1800">
                <a:solidFill>
                  <a:srgbClr val="3D424E"/>
                </a:solidFill>
              </a:rPr>
              <a:t>γ e β por canal permitem inspecionar como o tom modula as 768 features finais.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Compatibilidade nativa:  </a:t>
            </a:r>
            <a:r>
              <a:rPr sz="1800">
                <a:solidFill>
                  <a:srgbClr val="3D424E"/>
                </a:solidFill>
              </a:rPr>
              <a:t>opera sobre as features de saída do ConvNeXt-T; inicialização identidade (γ=1, β=0) preserva o backbone.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F2A4E"/>
                </a:solidFill>
              </a:rPr>
              <a:t>Lacuna documentada:  </a:t>
            </a:r>
            <a:r>
              <a:rPr sz="1800">
                <a:solidFill>
                  <a:srgbClr val="3D424E"/>
                </a:solidFill>
              </a:rPr>
              <a:t>sem aplicação prévia em fairness facial multi-classe — Contribuição 3 desta pesquisa.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Mecanismo FiLM: modulação de features condicionada ao tom de pele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m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3570" y="1371600"/>
            <a:ext cx="7961811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89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707682"/>
                </a:solidFill>
              </a:defRPr>
            </a:pPr>
            <a:r>
              <a:t>FiLM (Perez et al., 2018) na instanciação mínima: uma única camada inserida após o backbone, modulando as 768 features finais canal a canal, condicionadas ao vetor MST. Overhead paramétrico: ~0,05 % do backbone.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Configurações do estudo de ablation arquitetural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375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965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puro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6636" y="3502152"/>
            <a:ext cx="1250899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28392" y="3502152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ConvNeXt-T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7535" y="3694176"/>
            <a:ext cx="460857" cy="0"/>
          </a:xfrm>
          <a:prstGeom prst="bentConnector3">
            <a:avLst/>
          </a:prstGeom>
          <a:ln w="2540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1663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Controle arquitetural
sem condicionamento.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Baseline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6" y="1325880"/>
            <a:ext cx="3657600" cy="4617720"/>
          </a:xfrm>
          <a:prstGeom prst="roundRect">
            <a:avLst/>
          </a:prstGeom>
          <a:solidFill>
            <a:srgbClr val="1F2A4E"/>
          </a:solidFill>
          <a:ln w="3048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51576" y="15544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1F2A4E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283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ConvNeXt-T + FiLM
(MST direto, 10-dim)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8556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8556" y="3749039"/>
            <a:ext cx="1382572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MST (10-dim)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0312" y="3520439"/>
            <a:ext cx="1580083" cy="384048"/>
          </a:xfrm>
          <a:prstGeom prst="roundRect">
            <a:avLst/>
          </a:prstGeom>
          <a:solidFill>
            <a:srgbClr val="B4C4E8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3112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831128" y="3712463"/>
            <a:ext cx="329184" cy="228600"/>
          </a:xfrm>
          <a:prstGeom prst="bentConnector3">
            <a:avLst/>
          </a:prstGeom>
          <a:ln w="2286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448556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B4C4E8"/>
                </a:solidFill>
              </a:rPr>
              <a:t>Proposta principal — tom
de pele contínuo como
contexto arquitetural.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8556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B4C4E8"/>
                </a:solidFill>
              </a:rPr>
              <a:t>Perez et al. (2018) + Monk
(Schumann et al., 2023)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1325880"/>
            <a:ext cx="3657600" cy="46177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83496" y="1554480"/>
            <a:ext cx="685800" cy="685800"/>
          </a:xfrm>
          <a:prstGeom prst="ellipse">
            <a:avLst/>
          </a:prstGeom>
          <a:solidFill>
            <a:srgbClr val="1F2A4E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8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233172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2A4E"/>
                </a:solidFill>
              </a:rPr>
              <a:t>ConvNeXt-T + FiLM
(CLIP-text, 512-dim)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80475" y="3291839"/>
            <a:ext cx="1382572" cy="384048"/>
          </a:xfrm>
          <a:prstGeom prst="roundRect">
            <a:avLst/>
          </a:prstGeom>
          <a:solidFill>
            <a:srgbClr val="E8EAED"/>
          </a:solidFill>
          <a:ln w="13970">
            <a:solidFill>
              <a:srgbClr val="3D42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3D424E"/>
                </a:solidFill>
              </a:rPr>
              <a:t>Imagem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0475" y="3749039"/>
            <a:ext cx="1382572" cy="384048"/>
          </a:xfrm>
          <a:prstGeom prst="roundRect">
            <a:avLst/>
          </a:prstGeom>
          <a:solidFill>
            <a:srgbClr val="3D68BB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FFFFFF"/>
                </a:solidFill>
              </a:rPr>
              <a:t>CLIP-text (512-dim)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92232" y="3520439"/>
            <a:ext cx="1580083" cy="3840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9144" bIns="9144"/>
          <a:lstStyle/>
          <a:p>
            <a:pPr algn="ctr"/>
            <a:r>
              <a:rPr sz="1000" b="1">
                <a:solidFill>
                  <a:srgbClr val="1F2A4E"/>
                </a:solidFill>
              </a:rPr>
              <a:t>FiLM · ConvNeXt-T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763048" y="3483863"/>
            <a:ext cx="329184" cy="228600"/>
          </a:xfrm>
          <a:prstGeom prst="bentConnector3">
            <a:avLst/>
          </a:prstGeom>
          <a:ln w="22860">
            <a:solidFill>
              <a:srgbClr val="3D42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763048" y="3712463"/>
            <a:ext cx="329184" cy="228600"/>
          </a:xfrm>
          <a:prstGeom prst="bentConnector3">
            <a:avLst/>
          </a:prstGeom>
          <a:ln w="22860">
            <a:solidFill>
              <a:srgbClr val="3D68B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80475" y="43434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D424E"/>
                </a:solidFill>
              </a:rPr>
              <a:t>Alternativa moderna —
embedding textual rico
como sinal condicionante.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0475" y="525780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i="1">
                <a:solidFill>
                  <a:srgbClr val="707682"/>
                </a:solidFill>
              </a:rPr>
              <a:t>Radford et al. (2021) +
Dehdashtian et al. (2024)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Ceteris paribus: mesmo backbone (ConvNeXt-T), mesmo dataset (FairFace), mesmas três sementes, mesma receita de treino — varia-se apenas o sinal condicionante.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4 — Comparação sistemática com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Confronta a proposta FiLM + MST contra seis famílias publicadas sob o mesmo protocolo.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" y="1600200"/>
            <a:ext cx="3749039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ENTRADA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90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FairFace train split (padrão)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6 famílias de mitigação (6 implementações oficiais)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Nossa configuração B (FiLM + MST, Etapa 3)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Mesmo backbone, dataset e receita de treino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19956" y="1600200"/>
            <a:ext cx="3749039" cy="502920"/>
          </a:xfrm>
          <a:prstGeom prst="round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PROCESSO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995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D6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454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Treino de cada método: 3 sementes (42, 1, 2)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Avaliação pareada por classe racial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Cálculo das 3 métricas triangulares por grupo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Teste pareado (bootstrap IC 95 %) entre configs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7596" y="1600200"/>
            <a:ext cx="3749039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SAÍDA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759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218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Tabela comparativa 7 métodos × 3 métricas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Fronteira Pareto (acurácia × disparidade)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Ranking de métodos no espaço F1 vs DR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010912"/>
            <a:ext cx="154402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18288"/>
          <a:lstStyle/>
          <a:p>
            <a:pPr algn="ctr"/>
            <a:r>
              <a:rPr sz="1050" b="1">
                <a:solidFill>
                  <a:srgbClr val="1F2A4E"/>
                </a:solidFill>
              </a:rPr>
              <a:t>ResNet-34</a:t>
            </a:r>
          </a:p>
          <a:p>
            <a:pPr algn="ctr"/>
            <a:r>
              <a:rPr sz="850" i="1">
                <a:solidFill>
                  <a:srgbClr val="707682"/>
                </a:solidFill>
              </a:rPr>
              <a:t>FairFace
baseline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4381" y="5010912"/>
            <a:ext cx="154402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18288"/>
          <a:lstStyle/>
          <a:p>
            <a:pPr algn="ctr"/>
            <a:r>
              <a:rPr sz="1050" b="1">
                <a:solidFill>
                  <a:srgbClr val="1F2A4E"/>
                </a:solidFill>
              </a:rPr>
              <a:t>ConvNeXt-T</a:t>
            </a:r>
          </a:p>
          <a:p>
            <a:pPr algn="ctr"/>
            <a:r>
              <a:rPr sz="850" i="1">
                <a:solidFill>
                  <a:srgbClr val="707682"/>
                </a:solidFill>
              </a:rPr>
              <a:t>backbone
puro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91563" y="5010912"/>
            <a:ext cx="154402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18288"/>
          <a:lstStyle/>
          <a:p>
            <a:pPr algn="ctr"/>
            <a:r>
              <a:rPr sz="1050" b="1">
                <a:solidFill>
                  <a:srgbClr val="1F2A4E"/>
                </a:solidFill>
              </a:rPr>
              <a:t>Adv. Debiasing</a:t>
            </a:r>
          </a:p>
          <a:p>
            <a:pPr algn="ctr"/>
            <a:r>
              <a:rPr sz="850" i="1">
                <a:solidFill>
                  <a:srgbClr val="707682"/>
                </a:solidFill>
              </a:rPr>
              <a:t>Zhang
2018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8745" y="5010912"/>
            <a:ext cx="154402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18288"/>
          <a:lstStyle/>
          <a:p>
            <a:pPr algn="ctr"/>
            <a:r>
              <a:rPr sz="1050" b="1">
                <a:solidFill>
                  <a:srgbClr val="1F2A4E"/>
                </a:solidFill>
              </a:rPr>
              <a:t>Group DRO</a:t>
            </a:r>
          </a:p>
          <a:p>
            <a:pPr algn="ctr"/>
            <a:r>
              <a:rPr sz="850" i="1">
                <a:solidFill>
                  <a:srgbClr val="707682"/>
                </a:solidFill>
              </a:rPr>
              <a:t>Sagawa
2020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25926" y="5010912"/>
            <a:ext cx="154402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18288"/>
          <a:lstStyle/>
          <a:p>
            <a:pPr algn="ctr"/>
            <a:r>
              <a:rPr sz="1050" b="1">
                <a:solidFill>
                  <a:srgbClr val="1F2A4E"/>
                </a:solidFill>
              </a:rPr>
              <a:t>FSCL+</a:t>
            </a:r>
          </a:p>
          <a:p>
            <a:pPr algn="ctr"/>
            <a:r>
              <a:rPr sz="850" i="1">
                <a:solidFill>
                  <a:srgbClr val="707682"/>
                </a:solidFill>
              </a:rPr>
              <a:t>Park
2022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3108" y="5010912"/>
            <a:ext cx="1544029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18288"/>
          <a:lstStyle/>
          <a:p>
            <a:pPr algn="ctr"/>
            <a:r>
              <a:rPr sz="1050" b="1">
                <a:solidFill>
                  <a:srgbClr val="1F2A4E"/>
                </a:solidFill>
              </a:rPr>
              <a:t>FineFACE</a:t>
            </a:r>
          </a:p>
          <a:p>
            <a:pPr algn="ctr"/>
            <a:r>
              <a:rPr sz="850" i="1">
                <a:solidFill>
                  <a:srgbClr val="707682"/>
                </a:solidFill>
              </a:rPr>
              <a:t>Manzoor
2024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60290" y="5010912"/>
            <a:ext cx="1544029" cy="822960"/>
          </a:xfrm>
          <a:prstGeom prst="roundRect">
            <a:avLst/>
          </a:prstGeom>
          <a:solidFill>
            <a:srgbClr val="1F2A4E"/>
          </a:solidFill>
          <a:ln w="2286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18288"/>
          <a:lstStyle/>
          <a:p>
            <a:pPr algn="ctr"/>
            <a:r>
              <a:rPr sz="1050" b="1">
                <a:solidFill>
                  <a:srgbClr val="FFFFFF"/>
                </a:solidFill>
              </a:rPr>
              <a:t>FiLM + MST</a:t>
            </a:r>
          </a:p>
          <a:p>
            <a:pPr algn="ctr"/>
            <a:r>
              <a:rPr sz="850" i="1">
                <a:solidFill>
                  <a:srgbClr val="B4C4E8"/>
                </a:solidFill>
              </a:rPr>
              <a:t>nossa
proposta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035040"/>
            <a:ext cx="11274552" cy="7315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64008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Regra de aprovação — hipótese H1 (central)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Nossa proposta supera o melhor baseline em F1 macro ≥ +2 pontos percentuais E reduz Disparity Ratio em ≥ 20 % — ambos critérios satisfeitos simultaneamente.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5 — Transferência arquitetural para verificação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Testa se o condicionamento FiLM + MST herda-se de classificação para verificação, sem re-treino.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" y="1600200"/>
            <a:ext cx="3749039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ENTRADA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90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FiLM + ConvNeXt-T pré-treinado (Cap. 2)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RFW: 4 raças, pares oficiais 1 : 1 (Wang 2019)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BFW: 4 raças × 2 gêneros (Robinson 2020)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19956" y="1600200"/>
            <a:ext cx="3749039" cy="502920"/>
          </a:xfrm>
          <a:prstGeom prst="round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PROCESSO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995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D6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454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Encoder + FiLM CONGELADOS (feature-freeze)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Treina apenas cabeça de verificação (par-a-par)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Avaliação TAR @ FAR = 1 × 10⁻⁴ por raça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Comparação: backbone igual sem condicionamento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7596" y="1600200"/>
            <a:ext cx="3749039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SAÍDA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759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218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Métricas de verificação estratificadas por raça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Delta TAR por grupo demográfico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Teste empírico do Teorema 1 de LAFTR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010912"/>
            <a:ext cx="3493008" cy="822960"/>
          </a:xfrm>
          <a:prstGeom prst="roundRect">
            <a:avLst/>
          </a:prstGeom>
          <a:solidFill>
            <a:srgbClr val="2E7D32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ConvNeXt-T
+ FiLM (MST)</a:t>
            </a:r>
          </a:p>
          <a:p>
            <a:pPr algn="ctr"/>
            <a:r>
              <a:rPr sz="900" i="1">
                <a:solidFill>
                  <a:srgbClr val="E8EAED"/>
                </a:solidFill>
              </a:rPr>
              <a:t>congelado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950208" y="5422392"/>
            <a:ext cx="182880" cy="0"/>
          </a:xfrm>
          <a:prstGeom prst="bentConnector3">
            <a:avLst/>
          </a:prstGeom>
          <a:ln w="2540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42816" y="5010912"/>
            <a:ext cx="3493008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18288"/>
          <a:lstStyle/>
          <a:p>
            <a:pPr algn="ctr"/>
            <a:r>
              <a:rPr sz="1100" b="1">
                <a:solidFill>
                  <a:srgbClr val="1F2A4E"/>
                </a:solidFill>
              </a:rPr>
              <a:t>Cabeça de
verificação</a:t>
            </a:r>
          </a:p>
          <a:p>
            <a:pPr algn="ctr"/>
            <a:r>
              <a:rPr sz="900" i="1">
                <a:solidFill>
                  <a:srgbClr val="707682"/>
                </a:solidFill>
              </a:rPr>
              <a:t>treinada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35824" y="5422392"/>
            <a:ext cx="182880" cy="0"/>
          </a:xfrm>
          <a:prstGeom prst="bentConnector3">
            <a:avLst/>
          </a:prstGeom>
          <a:ln w="25400">
            <a:solidFill>
              <a:srgbClr val="1F2A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28432" y="5010912"/>
            <a:ext cx="3493008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18288"/>
          <a:lstStyle/>
          <a:p>
            <a:pPr algn="ctr"/>
            <a:r>
              <a:rPr sz="1100" b="1">
                <a:solidFill>
                  <a:srgbClr val="1F2A4E"/>
                </a:solidFill>
              </a:rPr>
              <a:t>RFW · BFW
pairs 1 : 1</a:t>
            </a:r>
          </a:p>
          <a:p>
            <a:pPr algn="ctr"/>
            <a:r>
              <a:rPr sz="900" i="1">
                <a:solidFill>
                  <a:srgbClr val="707682"/>
                </a:solidFill>
              </a:rPr>
              <a:t>avaliação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035040"/>
            <a:ext cx="11274552" cy="7315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64008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Regra de aprovação — hipótese H5 (central)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ΔTAR @ FAR = 1 × 10⁻⁴ ≥ +3 pontos percentuais no grupo African, sobre backbone equivalente sem condicionamento — demonstra transferência via feature-freeze (Madras et al., 2018).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Etapa 6 — Decomposição do erro Latinx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Separa quanto do erro vem de heterogeneidade fenotípica vs limitação do algoritmo.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" y="1600200"/>
            <a:ext cx="3749039" cy="5029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ENTRADA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690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Predições do melhor modelo (Config B, Etapa 3)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Rótulos raciais verdadeiros (FairFace val)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Vetor MST por imagem (Etapa 1)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Fração de pixels faciais (BiSeNet; Pangelinan)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19956" y="1600200"/>
            <a:ext cx="3749039" cy="502920"/>
          </a:xfrm>
          <a:prstGeom prst="roundRect">
            <a:avLst/>
          </a:prstGeom>
          <a:solidFill>
            <a:srgbClr val="3D68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PROCESSO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1995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D68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454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Regressão linear: erro ~ MST_spread + pixel_info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Decomposição ANOVA: fenotípico × algorítmico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Cálculo R² por componente (variância explicada)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Repetição por raça (foco em Latinx)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7596" y="1600200"/>
            <a:ext cx="3749039" cy="50292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/>
            <a:r>
              <a:rPr sz="1400" b="1">
                <a:solidFill>
                  <a:srgbClr val="FFFFFF"/>
                </a:solidFill>
              </a:rPr>
              <a:t>SAÍDA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7596" y="2130551"/>
            <a:ext cx="3749039" cy="2743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2188" y="2240279"/>
            <a:ext cx="3419856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R² componente fenotípico (irredutível)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R² componente algorítmico (mitigável)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1F2A4E"/>
                </a:solidFill>
              </a:rPr>
              <a:t>•  Resposta quantitativa à tese de Pangelinan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193792"/>
            <a:ext cx="7488936" cy="502920"/>
          </a:xfrm>
          <a:prstGeom prst="rect">
            <a:avLst/>
          </a:prstGeom>
          <a:solidFill>
            <a:srgbClr val="3D68BB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Fenotípico (irredutível) — ~70 %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0456" y="5193792"/>
            <a:ext cx="3209544" cy="502920"/>
          </a:xfrm>
          <a:prstGeom prst="rect">
            <a:avLst/>
          </a:prstGeom>
          <a:solidFill>
            <a:srgbClr val="C0392B"/>
          </a:solidFill>
          <a:ln w="12700">
            <a:solidFill>
              <a:srgbClr val="1F2A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" bIns="18288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Algorítmico (mitigável) — ~30 %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742431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707682"/>
                </a:solidFill>
              </a:defRPr>
            </a:pPr>
            <a:r>
              <a:t>Partição ilustrativa do R² — a proporção real é o resultado do experimento.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035040"/>
            <a:ext cx="11274552" cy="73152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64008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Regra de aprovação — hipótese H6 (teste da tese Pangelinan)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Se R² componente de pixel-info ≥ 70 %, confirma a refutação de Pangelinan e vira contribuição quantitativa. Se &lt; 70 %, evidência contrária. Ambos os desfechos são resultado científico válido.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Protocolo de validação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Três perguntas, três respostas pré-registradas — nenhum ajuste pós-resultado.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 QUE AVALIO?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947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2A4E"/>
                </a:solidFill>
              </a:rPr>
              <a:t>A ·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dois cenários estratificados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6636" y="3840480"/>
            <a:ext cx="320040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7091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Cenário A — reporte pelas 7 classes raciais do FairFace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Cenário B — reporte pelos 8 subgrupos raça × gênero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Protocolo interseccional (Buolamwini &amp; Gebru, 2018)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1995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COM QUE RIGOR?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1995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711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1F2A4E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711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sementes · IC 95 % · comparação pareada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94276" y="3840480"/>
            <a:ext cx="320039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Sementes independentes: 42, 1 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Bootstrap não-paramétrico · norma ISO/IEC 19795-10:2024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Padrão biométrico internacional estratificado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7596" y="1600200"/>
            <a:ext cx="3749039" cy="5943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ONDE GENERALIZA?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97596" y="2240279"/>
            <a:ext cx="3749039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6" y="2423160"/>
            <a:ext cx="347472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1F2A4E"/>
                </a:solidFill>
              </a:rPr>
              <a:t>RFW · BFW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6" y="33832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707682"/>
                </a:solidFill>
              </a:rPr>
              <a:t>dois datasets externos de verificação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71916" y="3840480"/>
            <a:ext cx="320039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26196" y="3977639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RFW — 4 raças, pares oficiais 1 : 1 (Wang et al., 2019)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6196" y="4617720"/>
            <a:ext cx="32918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2A4E"/>
                </a:solidFill>
              </a:rPr>
              <a:t>•  BFW — 4 raças × 2 gêneros, balanceado (Robinson et al., 2020)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6196" y="5394960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707682"/>
                </a:solidFill>
              </a:rPr>
              <a:t>Transferência arquitetural via feature-freeze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Critério definido antes do experimento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Para cada hipótese da pesquisa, o valor-limite de aprovação foi fixado antes de rodar os experimentos — o resultado só pode confirmar ou refutar, sem reinterpretar a métrica depois dos dados.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As métricas que vamos reportar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707682"/>
                </a:solidFill>
              </a:defRPr>
            </a:pPr>
            <a:r>
              <a:t>Padrão da literatura — valores reportados: SOTA FaceScanPaliGemma (AlDahoul et al., 2024) sobre FairFace 7-class in-domain.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F1 macro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performance média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Média harmônica de precision/recall por
classe, depois média simples entre as
7 raças do FairFace.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van Rijsbergen 1979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3796" y="4251960"/>
            <a:ext cx="3108960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23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23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75 %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FaceScanPaliGemma  ·  baseline ResNet-34 = 72 %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5676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DR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Disparity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5676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8556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Razão F1_min / F1_max entre raças.
Mede o gap entre o pior e o melhor
subgrupo (0 = total disparidade, 1 = paridade).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8556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Hardt, Price &amp; Srebro 2016 (NeurIPS)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399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48556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8556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0,67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8556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F1 Latinx 60 %  ÷  F1 Black 90 %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51875" y="1600200"/>
            <a:ext cx="3657600" cy="82296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3152"/>
          <a:lstStyle/>
          <a:p>
            <a:pPr algn="ctr"/>
            <a:r>
              <a:rPr sz="2200" b="1">
                <a:solidFill>
                  <a:srgbClr val="FFFFFF"/>
                </a:solidFill>
              </a:rPr>
              <a:t>Worst-class F1</a:t>
            </a:r>
          </a:p>
          <a:p>
            <a:pPr algn="ctr"/>
            <a:r>
              <a:rPr sz="1200" i="1">
                <a:solidFill>
                  <a:srgbClr val="B4C4E8"/>
                </a:solidFill>
              </a:rPr>
              <a:t>pior subgrupo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51875" y="2468879"/>
            <a:ext cx="3657600" cy="365760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60604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D424E"/>
                </a:solidFill>
              </a:rPr>
              <a:t>F1 da raça em que o modelo erra mais.
Garante que ninguém fique para trás,
mesmo quando a média agregada é alta.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65760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707682"/>
                </a:solidFill>
              </a:rPr>
              <a:t>Referência: Sagawa et al. 2020 (ICLR) — Group DRO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26196" y="4251960"/>
            <a:ext cx="3108959" cy="0"/>
          </a:xfrm>
          <a:prstGeom prst="bentConnector3">
            <a:avLst/>
          </a:prstGeom>
          <a:ln w="9525">
            <a:solidFill>
              <a:srgbClr val="7076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34755" y="43434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707682"/>
                </a:solidFill>
              </a:rPr>
              <a:t>SOTA atual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4755" y="4663440"/>
            <a:ext cx="32918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1F2A4E"/>
                </a:solidFill>
              </a:rPr>
              <a:t>60 %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4755" y="55778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D424E"/>
                </a:solidFill>
              </a:rPr>
              <a:t>Latinx  ·  FaceScanPaliGemma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80760"/>
            <a:ext cx="11274552" cy="68580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54864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Por que três métricas e não uma?</a:t>
            </a:r>
          </a:p>
          <a:p>
            <a:pPr algn="ctr"/>
            <a:r>
              <a:rPr sz="1100">
                <a:solidFill>
                  <a:srgbClr val="B4C4E8"/>
                </a:solidFill>
              </a:rPr>
              <a:t>Teorema da Impossibilidade (Kleinberg et al., 2017): quando as prevalências diferem entre grupos, nenhuma métrica única satisfaz ao mesmo tempo (1) acertar a probabilidade predita por grupo, (2) mesma taxa de falso positivo entre grupos e (3) mesma taxa de falso negativo entre grupos. Reportar múltiplas é o único jeito honesto.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Contribuições esperadas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6400800"/>
              </a:tblGrid>
              <a:tr h="11887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Eixo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Contribuições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Foco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Fenotípico-empírico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Documentar como o fenótipo (MST) se distribui dentro de cada rótulo racial.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Metodológico-arquitetural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3, 4, 7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Injetar tom de pele como contexto arquitetural + triangulação de métricas.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Diagnóstico-estrutural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3D424E"/>
                          </a:solidFill>
                        </a:rPr>
                        <a:t>Decompor o erro em fenotípico (irredutível) e algorítmico (mitigável).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Cronograma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5943600"/>
              </a:tblGrid>
              <a:tr h="5283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Etapa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Entrega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Ago–Set/2026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Preparação adiantada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Código das 6 etapas pronto (120 testes passando).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05/10/2026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Marco atual.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Out/2026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Aplicar sugestões da banca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Ajustes de texto e escopo.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Nov–Dez/2026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1 e 2 formais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Treino MST + matriz pública MST × raça.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Jan–Mar/2027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3 (ablation)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3 configurações A/B/C do FiLM.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Abr–Mai/2027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Etapas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6 baselines + transferência RFW/BFW.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Jun/2027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Etapa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Síntese decompositiva.</a:t>
                      </a:r>
                    </a:p>
                  </a:txBody>
                  <a:tcPr/>
                </a:tc>
              </a:tr>
              <a:tr h="5283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2º sem 2027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Redação final + DEFESA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3D424E"/>
                          </a:solidFill>
                        </a:rPr>
                        <a:t>Encerramento.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Riscos identificados e estratégias de mitigação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114800"/>
                <a:gridCol w="6766560"/>
              </a:tblGrid>
              <a:tr h="95097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Risco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Mitigação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Alguma das 6 hipóteses pode ser refutada.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Cada hipótese tem plano B; refutação é resultado científico válido.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Qualidade do nosso classificador de tom de pele.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Validação humana + sensitivity com outros classificadores + benchmark externo (STW) quando disponível.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Refutação parcial pela tese Pangelinan (pixel info &gt; tom).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Já incluída como H6 — refutação vira contribuição quantitativa.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Custo computacional (3 sementes × 3 configs × 6 baselines).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3D424E"/>
                          </a:solidFill>
                        </a:rPr>
                        <a:t>ConvNeXt-T é leve (~28M params); estimativa 200–400 h GPU total.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2A4E"/>
                </a:solidFill>
              </a:defRPr>
            </a:pPr>
            <a:r>
              <a:t>Estado atual do trabalho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79476" y="1463040"/>
            <a:ext cx="3657600" cy="2011680"/>
          </a:xfrm>
          <a:prstGeom prst="round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+3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meses adiantados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B4C4E8"/>
                </a:solidFill>
              </a:defRPr>
            </a:pPr>
            <a:r>
              <a:t>sobre o cronograma proposto na qualificação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65676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5676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6 de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5676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etapas com código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7116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estruturado, testado e pronto para execução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1875" y="1463040"/>
            <a:ext cx="3657600" cy="2011680"/>
          </a:xfrm>
          <a:prstGeom prst="roundRect">
            <a:avLst/>
          </a:prstGeom>
          <a:solidFill>
            <a:srgbClr val="E8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1875" y="1600200"/>
            <a:ext cx="3657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1F2A4E"/>
                </a:solidFill>
              </a:defRPr>
            </a:pPr>
            <a:r>
              <a:t>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5" y="251460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F2A4E"/>
                </a:solidFill>
              </a:defRPr>
            </a:pPr>
            <a:r>
              <a:t>testes automatizados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3315" y="29718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707682"/>
                </a:solidFill>
              </a:defRPr>
            </a:pPr>
            <a:r>
              <a:t>todos passando (unit + smoke + integração)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2A4E"/>
                </a:solidFill>
              </a:defRPr>
            </a:pPr>
            <a:r>
              <a:t>Estado das entregas em 28/09/2026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1 e 2 (código completo):  </a:t>
            </a:r>
            <a:r>
              <a:rPr sz="1600">
                <a:solidFill>
                  <a:srgbClr val="3D424E"/>
                </a:solidFill>
              </a:rPr>
              <a:t>classificador MST treinado internamente, camada de preprocessamento auto-suficiente, matriz MST × raça, teste formal de H2.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 3 (FiLM):  </a:t>
            </a:r>
            <a:r>
              <a:rPr sz="1600">
                <a:solidFill>
                  <a:srgbClr val="3D424E"/>
                </a:solidFill>
              </a:rPr>
              <a:t>camada FiLM, wrapper ConvNeXt-T, ensembler CLIP-text e pipeline de treinamento das três configurações.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Etapas 4, 5 e 6:  </a:t>
            </a:r>
            <a:r>
              <a:rPr sz="1600">
                <a:solidFill>
                  <a:srgbClr val="3D424E"/>
                </a:solidFill>
              </a:rPr>
              <a:t>métricas de equidade, quatro baselines, análise Pareto, verificação em RFW/BFW e decomposição ANOVA/R².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2A4E"/>
                </a:solidFill>
              </a:rPr>
              <a:t>•  Texto da dissertação:  </a:t>
            </a:r>
            <a:r>
              <a:rPr sz="1600">
                <a:solidFill>
                  <a:srgbClr val="3D424E"/>
                </a:solidFill>
              </a:rPr>
              <a:t>cinco capítulos consolidados, três passadas de revisão de estilo e 104 fichas bibliográficas.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Exame de Qualificação · Marcello Ozzetti · Orientação: Prof. Dr. Marcos G. Quiles · PPG-CC UNIFESP/ICT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644652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07682"/>
                </a:solidFill>
              </a:defRPr>
            </a:pPr>
            <a:r>
              <a:t>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Obrigado.</a:t>
            </a:r>
          </a:p>
          <a:p>
            <a:pPr algn="ctr">
              <a:defRPr sz="2800">
                <a:solidFill>
                  <a:srgbClr val="B4C4E8"/>
                </a:solidFill>
              </a:defRPr>
            </a:pPr>
            <a: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i="1">
                <a:solidFill>
                  <a:srgbClr val="B4C4E8"/>
                </a:solidFill>
              </a:defRPr>
            </a:pPr>
            <a:r>
              <a:t>Marcello Ozzetti · marcello.ozzetti@gmail.com · UNIFESP/ICT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