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5" r:id="rId28"/>
    <p:sldId id="291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604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C44F73-46C0-45F5-9789-CC18E07937B1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5DB81D-678A-4592-BAA5-A983BFC634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3660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pt-BR" dirty="0"/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DB81D-678A-4592-BAA5-A983BFC6345B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5688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0" y="137160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F2A4E"/>
                </a:solidFill>
              </a:defRPr>
            </a:pPr>
            <a:r>
              <a:t>Equidade Racial em Classificação Facial</a:t>
            </a:r>
          </a:p>
          <a:p>
            <a:pPr>
              <a:defRPr sz="2000">
                <a:solidFill>
                  <a:srgbClr val="3D424E"/>
                </a:solidFill>
              </a:defRPr>
            </a:pPr>
            <a:r>
              <a:t>Auditoria de viés em sistemas de visão computacional sobre o dataset FairFace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840480"/>
            <a:ext cx="9601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D424E"/>
                </a:solidFill>
              </a:defRPr>
            </a:pPr>
            <a:r>
              <a:rPr dirty="0" err="1"/>
              <a:t>Mestrando</a:t>
            </a:r>
            <a:r>
              <a:rPr dirty="0"/>
              <a:t>:  Marcello Ozzetti</a:t>
            </a:r>
          </a:p>
          <a:p>
            <a:pPr>
              <a:defRPr sz="1600">
                <a:solidFill>
                  <a:srgbClr val="3D424E"/>
                </a:solidFill>
              </a:defRPr>
            </a:pPr>
            <a:r>
              <a:rPr dirty="0" err="1"/>
              <a:t>Orientador</a:t>
            </a:r>
            <a:r>
              <a:rPr dirty="0"/>
              <a:t>:  Prof. Marcos Quiles</a:t>
            </a:r>
          </a:p>
          <a:p>
            <a:pPr>
              <a:defRPr sz="1600">
                <a:solidFill>
                  <a:srgbClr val="3D424E"/>
                </a:solidFill>
              </a:defRPr>
            </a:pPr>
            <a:r>
              <a:rPr dirty="0" err="1"/>
              <a:t>Programa</a:t>
            </a:r>
            <a:r>
              <a:rPr dirty="0"/>
              <a:t>:  </a:t>
            </a:r>
            <a:r>
              <a:rPr dirty="0" err="1"/>
              <a:t>Mestrado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Ciência</a:t>
            </a:r>
            <a:r>
              <a:rPr dirty="0"/>
              <a:t> da </a:t>
            </a:r>
            <a:r>
              <a:rPr dirty="0" err="1"/>
              <a:t>Computação</a:t>
            </a:r>
            <a:r>
              <a:rPr dirty="0"/>
              <a:t> — </a:t>
            </a:r>
            <a:r>
              <a:rPr dirty="0" err="1"/>
              <a:t>Unifesp</a:t>
            </a:r>
            <a:r>
              <a:rPr dirty="0"/>
              <a:t> / ICT</a:t>
            </a:r>
          </a:p>
          <a:p>
            <a:pPr>
              <a:defRPr sz="1600">
                <a:solidFill>
                  <a:srgbClr val="3D424E"/>
                </a:solidFill>
              </a:defRPr>
            </a:pPr>
            <a:r>
              <a:rPr dirty="0"/>
              <a:t>Reunião:  Junho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Sumário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1. Metodologia de pesquisa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2. Racional — historyline da evolução da pesquisa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3. Visão dos principais artigos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4. Gaps, considerações e achados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5. 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707682"/>
                </a:solidFill>
              </a:defRPr>
            </a:pPr>
            <a:r>
              <a:rPr dirty="0"/>
              <a:t>23 </a:t>
            </a:r>
            <a:r>
              <a:rPr dirty="0" err="1"/>
              <a:t>fichas</a:t>
            </a:r>
            <a:r>
              <a:rPr dirty="0"/>
              <a:t> </a:t>
            </a:r>
            <a:r>
              <a:rPr dirty="0" err="1"/>
              <a:t>catalogadas</a:t>
            </a:r>
            <a:r>
              <a:rPr dirty="0"/>
              <a:t> | 14 </a:t>
            </a:r>
            <a:r>
              <a:rPr dirty="0" err="1"/>
              <a:t>perguntas</a:t>
            </a:r>
            <a:r>
              <a:rPr dirty="0"/>
              <a:t> </a:t>
            </a:r>
            <a:r>
              <a:rPr dirty="0" err="1"/>
              <a:t>respondidas</a:t>
            </a:r>
            <a:r>
              <a:rPr dirty="0"/>
              <a:t> | 5 </a:t>
            </a:r>
            <a:r>
              <a:rPr dirty="0" err="1"/>
              <a:t>frentes</a:t>
            </a:r>
            <a:r>
              <a:rPr dirty="0"/>
              <a:t> de </a:t>
            </a:r>
            <a:r>
              <a:rPr dirty="0" err="1"/>
              <a:t>pesquisa</a:t>
            </a:r>
            <a:r>
              <a:rPr dirty="0"/>
              <a:t> </a:t>
            </a:r>
            <a:r>
              <a:rPr dirty="0" err="1"/>
              <a:t>identificadas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Metodologia de pesquisa</a:t>
            </a:r>
          </a:p>
          <a:p>
            <a:pPr>
              <a:defRPr sz="2000">
                <a:solidFill>
                  <a:srgbClr val="E8EAED"/>
                </a:solidFill>
              </a:defRPr>
            </a:pPr>
            <a:r>
              <a:t>5 critérios + 4 fases + rigor de citação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1.1  Gatilho da reestruturação (25/05/2026)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rPr dirty="0" err="1"/>
              <a:t>Três</a:t>
            </a:r>
            <a:r>
              <a:rPr dirty="0"/>
              <a:t> </a:t>
            </a:r>
            <a:r>
              <a:rPr dirty="0" err="1"/>
              <a:t>problemas</a:t>
            </a:r>
            <a:r>
              <a:rPr dirty="0"/>
              <a:t> </a:t>
            </a:r>
            <a:r>
              <a:rPr dirty="0" err="1"/>
              <a:t>estruturais</a:t>
            </a:r>
            <a:r>
              <a:rPr dirty="0"/>
              <a:t> </a:t>
            </a:r>
            <a:r>
              <a:rPr dirty="0" err="1"/>
              <a:t>identificados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</a:t>
            </a:r>
            <a:r>
              <a:rPr dirty="0" err="1"/>
              <a:t>orientador</a:t>
            </a:r>
            <a:r>
              <a:rPr dirty="0"/>
              <a:t>: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/>
              <a:t>(</a:t>
            </a:r>
            <a:r>
              <a:rPr dirty="0" err="1"/>
              <a:t>i</a:t>
            </a:r>
            <a:r>
              <a:rPr dirty="0"/>
              <a:t>) </a:t>
            </a:r>
            <a:r>
              <a:rPr dirty="0" err="1"/>
              <a:t>Síntese</a:t>
            </a:r>
            <a:r>
              <a:rPr dirty="0"/>
              <a:t> </a:t>
            </a:r>
            <a:r>
              <a:rPr dirty="0" err="1"/>
              <a:t>baseada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abstracts</a:t>
            </a:r>
            <a:r>
              <a:rPr lang="pt-BR" dirty="0"/>
              <a:t> -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leitura</a:t>
            </a:r>
            <a:r>
              <a:rPr dirty="0"/>
              <a:t> integral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/>
              <a:t>(ii) </a:t>
            </a:r>
            <a:r>
              <a:rPr dirty="0" err="1"/>
              <a:t>Autoria</a:t>
            </a:r>
            <a:r>
              <a:rPr dirty="0"/>
              <a:t> </a:t>
            </a:r>
            <a:r>
              <a:rPr dirty="0" err="1"/>
              <a:t>incorreta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parte</a:t>
            </a:r>
            <a:r>
              <a:rPr dirty="0"/>
              <a:t> das </a:t>
            </a:r>
            <a:r>
              <a:rPr dirty="0" err="1"/>
              <a:t>citações</a:t>
            </a:r>
            <a:r>
              <a:rPr dirty="0"/>
              <a:t> </a:t>
            </a:r>
            <a:r>
              <a:rPr dirty="0" err="1"/>
              <a:t>principais</a:t>
            </a:r>
            <a:endParaRPr dirty="0"/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/>
              <a:t>(iii) </a:t>
            </a:r>
            <a:r>
              <a:rPr lang="pt-BR" dirty="0"/>
              <a:t>Desconsiderado a</a:t>
            </a:r>
            <a:r>
              <a:rPr dirty="0"/>
              <a:t> '</a:t>
            </a:r>
            <a:r>
              <a:rPr dirty="0" err="1"/>
              <a:t>evolução</a:t>
            </a:r>
            <a:r>
              <a:rPr dirty="0"/>
              <a:t> do MBA'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rPr dirty="0" err="1"/>
              <a:t>Resposta</a:t>
            </a:r>
            <a:r>
              <a:rPr dirty="0"/>
              <a:t>: </a:t>
            </a:r>
            <a:r>
              <a:rPr dirty="0" err="1"/>
              <a:t>protocolo</a:t>
            </a:r>
            <a:r>
              <a:rPr dirty="0"/>
              <a:t> formal de Pesquisa </a:t>
            </a:r>
            <a:r>
              <a:rPr dirty="0" err="1"/>
              <a:t>Bibliográfica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4 </a:t>
            </a:r>
            <a:r>
              <a:rPr dirty="0" err="1"/>
              <a:t>fases</a:t>
            </a:r>
            <a:r>
              <a:rPr dirty="0"/>
              <a:t>, com: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/>
              <a:t>• </a:t>
            </a:r>
            <a:r>
              <a:rPr dirty="0" err="1"/>
              <a:t>Critérios</a:t>
            </a:r>
            <a:r>
              <a:rPr dirty="0"/>
              <a:t> de </a:t>
            </a:r>
            <a:r>
              <a:rPr dirty="0" err="1"/>
              <a:t>seleção</a:t>
            </a:r>
            <a:r>
              <a:rPr dirty="0"/>
              <a:t> </a:t>
            </a:r>
            <a:r>
              <a:rPr dirty="0" err="1"/>
              <a:t>explícitos</a:t>
            </a:r>
            <a:endParaRPr dirty="0"/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/>
              <a:t>• </a:t>
            </a:r>
            <a:r>
              <a:rPr dirty="0" err="1"/>
              <a:t>Verificação</a:t>
            </a:r>
            <a:r>
              <a:rPr dirty="0"/>
              <a:t> de </a:t>
            </a:r>
            <a:r>
              <a:rPr dirty="0" err="1"/>
              <a:t>autoria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fonte</a:t>
            </a:r>
            <a:r>
              <a:rPr dirty="0"/>
              <a:t> </a:t>
            </a:r>
            <a:r>
              <a:rPr dirty="0" err="1"/>
              <a:t>primária</a:t>
            </a:r>
            <a:r>
              <a:rPr dirty="0"/>
              <a:t> (</a:t>
            </a:r>
            <a:r>
              <a:rPr dirty="0" err="1"/>
              <a:t>arXiv</a:t>
            </a:r>
            <a:r>
              <a:rPr dirty="0"/>
              <a:t> DOI)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/>
              <a:t>• </a:t>
            </a:r>
            <a:r>
              <a:rPr dirty="0" err="1"/>
              <a:t>Leitura</a:t>
            </a:r>
            <a:r>
              <a:rPr dirty="0"/>
              <a:t> integral dos PDFs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/>
              <a:t>• </a:t>
            </a:r>
            <a:r>
              <a:rPr dirty="0" err="1"/>
              <a:t>Catalogação</a:t>
            </a:r>
            <a:r>
              <a:rPr dirty="0"/>
              <a:t> </a:t>
            </a:r>
            <a:r>
              <a:rPr dirty="0" err="1"/>
              <a:t>normativa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fichas</a:t>
            </a:r>
            <a:r>
              <a:rPr dirty="0"/>
              <a:t> </a:t>
            </a:r>
            <a:r>
              <a:rPr dirty="0" err="1"/>
              <a:t>estruturadas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1.2  Os 5 critérios de seleção (ordem hierárquica)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rPr dirty="0"/>
              <a:t>1. </a:t>
            </a:r>
            <a:r>
              <a:rPr dirty="0" err="1"/>
              <a:t>Escopo</a:t>
            </a:r>
            <a:r>
              <a:rPr dirty="0"/>
              <a:t> </a:t>
            </a:r>
            <a:r>
              <a:rPr dirty="0" err="1"/>
              <a:t>temático</a:t>
            </a:r>
            <a:r>
              <a:rPr dirty="0"/>
              <a:t> — fairness / </a:t>
            </a:r>
            <a:r>
              <a:rPr dirty="0" err="1"/>
              <a:t>biometria</a:t>
            </a:r>
            <a:r>
              <a:rPr dirty="0"/>
              <a:t> / </a:t>
            </a:r>
            <a:r>
              <a:rPr dirty="0" err="1"/>
              <a:t>raça</a:t>
            </a:r>
            <a:r>
              <a:rPr dirty="0"/>
              <a:t> / auditoria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sistemas</a:t>
            </a:r>
            <a:r>
              <a:rPr dirty="0"/>
              <a:t> </a:t>
            </a:r>
            <a:r>
              <a:rPr dirty="0" err="1"/>
              <a:t>faciais</a:t>
            </a:r>
            <a:endParaRPr dirty="0"/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rPr dirty="0"/>
              <a:t>2. </a:t>
            </a:r>
            <a:r>
              <a:rPr dirty="0" err="1"/>
              <a:t>Recência</a:t>
            </a:r>
            <a:r>
              <a:rPr dirty="0"/>
              <a:t> — 2019–2026 + </a:t>
            </a:r>
            <a:r>
              <a:rPr dirty="0" err="1"/>
              <a:t>exceções</a:t>
            </a:r>
            <a:r>
              <a:rPr dirty="0"/>
              <a:t> </a:t>
            </a:r>
            <a:r>
              <a:rPr dirty="0" err="1"/>
              <a:t>seminais</a:t>
            </a:r>
            <a:endParaRPr dirty="0"/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rPr dirty="0"/>
              <a:t>3. </a:t>
            </a:r>
            <a:r>
              <a:rPr dirty="0" err="1"/>
              <a:t>Verificabilidade</a:t>
            </a:r>
            <a:r>
              <a:rPr dirty="0"/>
              <a:t> — </a:t>
            </a:r>
            <a:r>
              <a:rPr dirty="0" err="1"/>
              <a:t>autoria</a:t>
            </a:r>
            <a:r>
              <a:rPr dirty="0"/>
              <a:t>/</a:t>
            </a:r>
            <a:r>
              <a:rPr dirty="0" err="1"/>
              <a:t>ano</a:t>
            </a:r>
            <a:r>
              <a:rPr dirty="0"/>
              <a:t>/</a:t>
            </a:r>
            <a:r>
              <a:rPr lang="pt-BR" dirty="0"/>
              <a:t>origem</a:t>
            </a:r>
            <a:r>
              <a:rPr dirty="0"/>
              <a:t> </a:t>
            </a:r>
            <a:r>
              <a:rPr dirty="0" err="1"/>
              <a:t>confirmáveis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fonte</a:t>
            </a:r>
            <a:r>
              <a:rPr dirty="0"/>
              <a:t> </a:t>
            </a:r>
            <a:r>
              <a:rPr dirty="0" err="1"/>
              <a:t>primária</a:t>
            </a:r>
            <a:endParaRPr dirty="0"/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rPr dirty="0"/>
              <a:t>4. </a:t>
            </a:r>
            <a:r>
              <a:rPr dirty="0" err="1"/>
              <a:t>Relevância</a:t>
            </a:r>
            <a:r>
              <a:rPr dirty="0"/>
              <a:t> editorial — CVPR, </a:t>
            </a:r>
            <a:r>
              <a:rPr dirty="0" err="1"/>
              <a:t>NeurIPS</a:t>
            </a:r>
            <a:r>
              <a:rPr dirty="0"/>
              <a:t>, ICCV, ECCV, ICML, ICLR, </a:t>
            </a:r>
            <a:r>
              <a:rPr dirty="0" err="1"/>
              <a:t>FAccT</a:t>
            </a:r>
            <a:r>
              <a:rPr dirty="0"/>
              <a:t>, TBIOM, TPAMI, ACM </a:t>
            </a:r>
            <a:r>
              <a:rPr dirty="0" err="1"/>
              <a:t>CSur</a:t>
            </a:r>
            <a:r>
              <a:rPr dirty="0"/>
              <a:t>, Information Fusion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rPr dirty="0"/>
              <a:t>5. Impacto (</a:t>
            </a:r>
            <a:r>
              <a:rPr dirty="0" err="1"/>
              <a:t>citações</a:t>
            </a:r>
            <a:r>
              <a:rPr dirty="0"/>
              <a:t>) — ≥50 (≥3 </a:t>
            </a:r>
            <a:r>
              <a:rPr dirty="0" err="1"/>
              <a:t>anos</a:t>
            </a:r>
            <a:r>
              <a:rPr dirty="0"/>
              <a:t>), ≥20 (2024), </a:t>
            </a:r>
            <a:r>
              <a:rPr dirty="0" err="1"/>
              <a:t>aberto</a:t>
            </a:r>
            <a:r>
              <a:rPr dirty="0"/>
              <a:t> para 2025–26 com </a:t>
            </a:r>
            <a:r>
              <a:rPr dirty="0" err="1"/>
              <a:t>cobertura</a:t>
            </a:r>
            <a:r>
              <a:rPr dirty="0"/>
              <a:t> </a:t>
            </a:r>
            <a:r>
              <a:rPr dirty="0" err="1"/>
              <a:t>única</a:t>
            </a:r>
            <a:endParaRPr dirty="0"/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1.3  Fluxo de trabalho em 4 fases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rPr dirty="0"/>
              <a:t>Fase A — Coleta </a:t>
            </a:r>
            <a:r>
              <a:rPr dirty="0" err="1"/>
              <a:t>sistemática</a:t>
            </a:r>
            <a:endParaRPr dirty="0"/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/>
              <a:t>Google Scholar, Semantic Scholar, </a:t>
            </a:r>
            <a:r>
              <a:rPr dirty="0" err="1"/>
              <a:t>arXiv</a:t>
            </a:r>
            <a:r>
              <a:rPr dirty="0"/>
              <a:t>, </a:t>
            </a:r>
            <a:r>
              <a:rPr lang="pt-BR" dirty="0"/>
              <a:t>DBLP (índice bibliográfico de CC)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rPr lang="pt-BR" dirty="0"/>
              <a:t>Fase B — Triagem editorial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/>
              <a:t>Crit</a:t>
            </a:r>
            <a:r>
              <a:rPr lang="pt-BR" dirty="0"/>
              <a:t>é</a:t>
            </a:r>
            <a:r>
              <a:rPr dirty="0" err="1"/>
              <a:t>rios</a:t>
            </a:r>
            <a:r>
              <a:rPr dirty="0"/>
              <a:t> 1–5 </a:t>
            </a:r>
            <a:r>
              <a:rPr dirty="0" err="1"/>
              <a:t>aplicados</a:t>
            </a:r>
            <a:endParaRPr lang="pt-BR" dirty="0"/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rPr dirty="0"/>
              <a:t>Fase C — </a:t>
            </a:r>
            <a:r>
              <a:rPr lang="pt-BR" dirty="0"/>
              <a:t>Catalogo</a:t>
            </a:r>
            <a:endParaRPr dirty="0"/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/>
              <a:t>Download PDF</a:t>
            </a:r>
            <a:endParaRPr lang="pt-BR" dirty="0"/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 err="1"/>
              <a:t>Ficha</a:t>
            </a:r>
            <a:r>
              <a:rPr dirty="0"/>
              <a:t> </a:t>
            </a:r>
            <a:r>
              <a:rPr lang="pt-BR" dirty="0"/>
              <a:t>normativa </a:t>
            </a:r>
            <a:r>
              <a:rPr dirty="0" err="1"/>
              <a:t>por</a:t>
            </a:r>
            <a:r>
              <a:rPr dirty="0"/>
              <a:t> paper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rPr dirty="0"/>
              <a:t>Fase D — </a:t>
            </a:r>
            <a:r>
              <a:rPr dirty="0" err="1"/>
              <a:t>Síntese</a:t>
            </a:r>
            <a:r>
              <a:rPr dirty="0"/>
              <a:t> transversal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/>
              <a:t>Cross-reference </a:t>
            </a:r>
            <a:r>
              <a:rPr dirty="0" err="1"/>
              <a:t>matricial</a:t>
            </a:r>
            <a:endParaRPr lang="pt-BR" dirty="0"/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lang="pt-BR" dirty="0"/>
              <a:t>I</a:t>
            </a:r>
            <a:r>
              <a:rPr dirty="0" err="1"/>
              <a:t>dentificação</a:t>
            </a:r>
            <a:r>
              <a:rPr dirty="0"/>
              <a:t> de gaps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C5694E-54E1-66CD-6DAC-9396F52B383E}"/>
              </a:ext>
            </a:extLst>
          </p:cNvPr>
          <p:cNvSpPr txBox="1"/>
          <p:nvPr/>
        </p:nvSpPr>
        <p:spPr>
          <a:xfrm>
            <a:off x="457200" y="6400800"/>
            <a:ext cx="5503686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707682"/>
                </a:solidFill>
              </a:defRPr>
            </a:pPr>
            <a:r>
              <a:rPr lang="pt-BR" dirty="0"/>
              <a:t>*Utilização de </a:t>
            </a:r>
            <a:r>
              <a:rPr lang="pt-BR" dirty="0" err="1"/>
              <a:t>LLMs</a:t>
            </a:r>
            <a:r>
              <a:rPr lang="pt-BR" dirty="0"/>
              <a:t> para suportar/auditar o trabalho nestas 4 Fases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rPr dirty="0"/>
              <a:t>1.4  Template de </a:t>
            </a:r>
            <a:r>
              <a:rPr dirty="0" err="1"/>
              <a:t>ficha</a:t>
            </a:r>
            <a:r>
              <a:rPr dirty="0"/>
              <a:t> — 1</a:t>
            </a:r>
            <a:r>
              <a:rPr lang="pt-BR" dirty="0"/>
              <a:t>0</a:t>
            </a:r>
            <a:r>
              <a:rPr dirty="0"/>
              <a:t> </a:t>
            </a:r>
            <a:r>
              <a:rPr dirty="0" err="1"/>
              <a:t>seções</a:t>
            </a:r>
            <a:r>
              <a:rPr dirty="0"/>
              <a:t> </a:t>
            </a:r>
            <a:r>
              <a:rPr dirty="0" err="1"/>
              <a:t>normativas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4042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rPr dirty="0"/>
              <a:t>Toda </a:t>
            </a:r>
            <a:r>
              <a:rPr dirty="0" err="1"/>
              <a:t>ficha</a:t>
            </a:r>
            <a:r>
              <a:rPr dirty="0"/>
              <a:t> segue </a:t>
            </a:r>
            <a:r>
              <a:rPr dirty="0" err="1"/>
              <a:t>estrutura</a:t>
            </a:r>
            <a:r>
              <a:rPr dirty="0"/>
              <a:t> </a:t>
            </a:r>
            <a:r>
              <a:rPr dirty="0" err="1"/>
              <a:t>idêntica</a:t>
            </a:r>
            <a:r>
              <a:rPr dirty="0"/>
              <a:t>: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lang="pt-BR" dirty="0"/>
              <a:t>1</a:t>
            </a:r>
            <a:r>
              <a:rPr dirty="0"/>
              <a:t>. </a:t>
            </a:r>
            <a:r>
              <a:rPr dirty="0" err="1"/>
              <a:t>Resumo</a:t>
            </a:r>
            <a:r>
              <a:rPr dirty="0"/>
              <a:t> do </a:t>
            </a:r>
            <a:r>
              <a:rPr dirty="0" err="1"/>
              <a:t>problema</a:t>
            </a:r>
            <a:r>
              <a:rPr dirty="0"/>
              <a:t> </a:t>
            </a:r>
            <a:r>
              <a:rPr dirty="0" err="1"/>
              <a:t>atacado</a:t>
            </a:r>
            <a:endParaRPr dirty="0"/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lang="pt-BR" dirty="0"/>
              <a:t>2</a:t>
            </a:r>
            <a:r>
              <a:rPr dirty="0"/>
              <a:t>. </a:t>
            </a:r>
            <a:r>
              <a:rPr dirty="0" err="1"/>
              <a:t>Método</a:t>
            </a:r>
            <a:endParaRPr dirty="0"/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lang="pt-BR" dirty="0"/>
              <a:t>3</a:t>
            </a:r>
            <a:r>
              <a:rPr dirty="0"/>
              <a:t>. Datasets e setup experimental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lang="pt-BR" dirty="0"/>
              <a:t>4</a:t>
            </a:r>
            <a:r>
              <a:rPr dirty="0"/>
              <a:t>. </a:t>
            </a:r>
            <a:r>
              <a:rPr dirty="0" err="1"/>
              <a:t>Métricas</a:t>
            </a:r>
            <a:r>
              <a:rPr dirty="0"/>
              <a:t> </a:t>
            </a:r>
            <a:r>
              <a:rPr dirty="0" err="1"/>
              <a:t>reportadas</a:t>
            </a:r>
            <a:endParaRPr dirty="0"/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lang="pt-BR" dirty="0"/>
              <a:t>5</a:t>
            </a:r>
            <a:r>
              <a:rPr dirty="0"/>
              <a:t>. </a:t>
            </a:r>
            <a:r>
              <a:rPr dirty="0" err="1"/>
              <a:t>Resultados</a:t>
            </a:r>
            <a:r>
              <a:rPr dirty="0"/>
              <a:t> </a:t>
            </a:r>
            <a:r>
              <a:rPr dirty="0" err="1"/>
              <a:t>principais</a:t>
            </a:r>
            <a:r>
              <a:rPr dirty="0"/>
              <a:t> (</a:t>
            </a:r>
            <a:r>
              <a:rPr dirty="0" err="1"/>
              <a:t>valores</a:t>
            </a:r>
            <a:r>
              <a:rPr dirty="0"/>
              <a:t> </a:t>
            </a:r>
            <a:r>
              <a:rPr dirty="0" err="1"/>
              <a:t>numéricos</a:t>
            </a:r>
            <a:r>
              <a:rPr dirty="0"/>
              <a:t>)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lang="pt-BR" dirty="0"/>
              <a:t>6</a:t>
            </a:r>
            <a:r>
              <a:rPr dirty="0"/>
              <a:t>. </a:t>
            </a:r>
            <a:r>
              <a:rPr dirty="0" err="1"/>
              <a:t>Limitações</a:t>
            </a:r>
            <a:r>
              <a:rPr dirty="0"/>
              <a:t> </a:t>
            </a:r>
            <a:r>
              <a:rPr dirty="0" err="1"/>
              <a:t>declaradas</a:t>
            </a:r>
            <a:r>
              <a:rPr dirty="0"/>
              <a:t> </a:t>
            </a:r>
            <a:r>
              <a:rPr dirty="0" err="1"/>
              <a:t>pelos</a:t>
            </a:r>
            <a:r>
              <a:rPr dirty="0"/>
              <a:t> </a:t>
            </a:r>
            <a:r>
              <a:rPr dirty="0" err="1"/>
              <a:t>autores</a:t>
            </a:r>
            <a:endParaRPr dirty="0"/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lang="pt-BR" dirty="0"/>
              <a:t>7</a:t>
            </a:r>
            <a:r>
              <a:rPr dirty="0"/>
              <a:t>. </a:t>
            </a:r>
            <a:r>
              <a:rPr dirty="0" err="1"/>
              <a:t>Limitações</a:t>
            </a:r>
            <a:endParaRPr dirty="0"/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lang="pt-BR" dirty="0"/>
              <a:t>8</a:t>
            </a:r>
            <a:r>
              <a:rPr dirty="0"/>
              <a:t>. </a:t>
            </a:r>
            <a:r>
              <a:rPr dirty="0" err="1"/>
              <a:t>Relação</a:t>
            </a:r>
            <a:r>
              <a:rPr dirty="0"/>
              <a:t> com </a:t>
            </a:r>
            <a:r>
              <a:rPr dirty="0" err="1"/>
              <a:t>nossa</a:t>
            </a:r>
            <a:r>
              <a:rPr dirty="0"/>
              <a:t> </a:t>
            </a:r>
            <a:r>
              <a:rPr dirty="0" err="1"/>
              <a:t>pesquisa</a:t>
            </a:r>
            <a:endParaRPr dirty="0"/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lang="pt-BR" dirty="0"/>
              <a:t>9</a:t>
            </a:r>
            <a:r>
              <a:rPr dirty="0"/>
              <a:t>. Pontos para </a:t>
            </a:r>
            <a:r>
              <a:rPr dirty="0" err="1"/>
              <a:t>citar</a:t>
            </a:r>
            <a:r>
              <a:rPr dirty="0"/>
              <a:t> / </a:t>
            </a:r>
            <a:r>
              <a:rPr dirty="0" err="1"/>
              <a:t>posicionar</a:t>
            </a:r>
            <a:endParaRPr dirty="0"/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/>
              <a:t>1</a:t>
            </a:r>
            <a:r>
              <a:rPr lang="pt-BR" dirty="0"/>
              <a:t>0</a:t>
            </a:r>
            <a:r>
              <a:rPr dirty="0"/>
              <a:t>. </a:t>
            </a:r>
            <a:r>
              <a:rPr dirty="0" err="1"/>
              <a:t>Trabalhos</a:t>
            </a:r>
            <a:r>
              <a:rPr dirty="0"/>
              <a:t> </a:t>
            </a:r>
            <a:r>
              <a:rPr dirty="0" err="1"/>
              <a:t>sugeridos</a:t>
            </a:r>
            <a:r>
              <a:rPr dirty="0"/>
              <a:t> </a:t>
            </a:r>
            <a:r>
              <a:rPr dirty="0" err="1"/>
              <a:t>pelos</a:t>
            </a:r>
            <a:r>
              <a:rPr dirty="0"/>
              <a:t> </a:t>
            </a:r>
            <a:r>
              <a:rPr dirty="0" err="1"/>
              <a:t>autores</a:t>
            </a:r>
            <a:r>
              <a:rPr dirty="0"/>
              <a:t> (Future Work)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 err="1"/>
              <a:t>Racional</a:t>
            </a:r>
            <a:r>
              <a:rPr dirty="0"/>
              <a:t> / </a:t>
            </a:r>
            <a:r>
              <a:rPr dirty="0" err="1"/>
              <a:t>Historyline</a:t>
            </a:r>
            <a:endParaRPr dirty="0"/>
          </a:p>
          <a:p>
            <a:pPr>
              <a:defRPr sz="2000">
                <a:solidFill>
                  <a:srgbClr val="E8EAED"/>
                </a:solidFill>
              </a:defRPr>
            </a:pPr>
            <a:r>
              <a:rPr dirty="0" err="1"/>
              <a:t>Evolução</a:t>
            </a:r>
            <a:r>
              <a:rPr dirty="0"/>
              <a:t> da </a:t>
            </a:r>
            <a:r>
              <a:rPr dirty="0" err="1"/>
              <a:t>pesquisa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560903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rPr dirty="0"/>
              <a:t>2.1  Mapa temporal das </a:t>
            </a:r>
            <a:r>
              <a:rPr lang="pt-BR" dirty="0"/>
              <a:t>5</a:t>
            </a:r>
            <a:r>
              <a:rPr dirty="0"/>
              <a:t> </a:t>
            </a:r>
            <a:r>
              <a:rPr dirty="0" err="1"/>
              <a:t>rodadas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7735959"/>
              </p:ext>
            </p:extLst>
          </p:nvPr>
        </p:nvGraphicFramePr>
        <p:xfrm>
          <a:off x="457200" y="137160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Rodada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Foco da rodada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Papers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Achado principal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R1 — Seeds iniciais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Cobertura temática direta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FairFace</a:t>
                      </a:r>
                      <a:r>
                        <a:rPr sz="1500" dirty="0">
                          <a:solidFill>
                            <a:srgbClr val="3D424E"/>
                          </a:solidFill>
                        </a:rPr>
                        <a:t> + Gender Shades + </a:t>
                      </a:r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AlDahoul</a:t>
                      </a:r>
                      <a:r>
                        <a:rPr sz="1500" dirty="0">
                          <a:solidFill>
                            <a:srgbClr val="3D424E"/>
                          </a:solidFill>
                        </a:rPr>
                        <a:t> </a:t>
                      </a:r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formam</a:t>
                      </a:r>
                      <a:r>
                        <a:rPr sz="1500" dirty="0">
                          <a:solidFill>
                            <a:srgbClr val="3D424E"/>
                          </a:solidFill>
                        </a:rPr>
                        <a:t> a 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3D424E"/>
                          </a:solidFill>
                        </a:rPr>
                        <a:t>R2 — </a:t>
                      </a:r>
                      <a:r>
                        <a:rPr lang="pt-BR" sz="1500" dirty="0">
                          <a:solidFill>
                            <a:srgbClr val="3D424E"/>
                          </a:solidFill>
                        </a:rPr>
                        <a:t>Q&amp;A</a:t>
                      </a:r>
                      <a:endParaRPr sz="1500" dirty="0">
                        <a:solidFill>
                          <a:srgbClr val="3D424E"/>
                        </a:solidFill>
                      </a:endParaRP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Técnicas metodológicas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3D424E"/>
                          </a:solidFill>
                        </a:rPr>
                        <a:t>+5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Mitigações existem (FSCL+, Group DRO) mas nunca em race 7-class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3D424E"/>
                          </a:solidFill>
                        </a:rPr>
                        <a:t>R</a:t>
                      </a:r>
                      <a:r>
                        <a:rPr lang="pt-BR" sz="1500" dirty="0">
                          <a:solidFill>
                            <a:srgbClr val="3D424E"/>
                          </a:solidFill>
                        </a:rPr>
                        <a:t>3</a:t>
                      </a:r>
                      <a:r>
                        <a:rPr sz="1500" dirty="0">
                          <a:solidFill>
                            <a:srgbClr val="3D424E"/>
                          </a:solidFill>
                        </a:rPr>
                        <a:t> — </a:t>
                      </a:r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Verificação</a:t>
                      </a:r>
                      <a:r>
                        <a:rPr lang="pt-BR" sz="1500" dirty="0">
                          <a:solidFill>
                            <a:srgbClr val="3D424E"/>
                          </a:solidFill>
                        </a:rPr>
                        <a:t> SOTA</a:t>
                      </a:r>
                      <a:endParaRPr sz="1500" dirty="0">
                        <a:solidFill>
                          <a:srgbClr val="3D424E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Triangulação de SOTA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FaceScanPaliGemma</a:t>
                      </a:r>
                      <a:r>
                        <a:rPr sz="1500" dirty="0">
                          <a:solidFill>
                            <a:srgbClr val="3D424E"/>
                          </a:solidFill>
                        </a:rPr>
                        <a:t> 75.7% </a:t>
                      </a:r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confirmado</a:t>
                      </a:r>
                      <a:r>
                        <a:rPr sz="1500" dirty="0">
                          <a:solidFill>
                            <a:srgbClr val="3D424E"/>
                          </a:solidFill>
                        </a:rPr>
                        <a:t> </a:t>
                      </a:r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como</a:t>
                      </a:r>
                      <a:r>
                        <a:rPr sz="1500" dirty="0">
                          <a:solidFill>
                            <a:srgbClr val="3D424E"/>
                          </a:solidFill>
                        </a:rPr>
                        <a:t> SOTA </a:t>
                      </a:r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único</a:t>
                      </a:r>
                      <a:endParaRPr sz="1500" dirty="0">
                        <a:solidFill>
                          <a:srgbClr val="3D424E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3D424E"/>
                          </a:solidFill>
                        </a:rPr>
                        <a:t>R</a:t>
                      </a:r>
                      <a:r>
                        <a:rPr lang="pt-BR" sz="1500" dirty="0">
                          <a:solidFill>
                            <a:srgbClr val="3D424E"/>
                          </a:solidFill>
                        </a:rPr>
                        <a:t>4</a:t>
                      </a:r>
                      <a:r>
                        <a:rPr sz="1500" dirty="0">
                          <a:solidFill>
                            <a:srgbClr val="3D424E"/>
                          </a:solidFill>
                        </a:rPr>
                        <a:t> — Broadening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Tracks paralelos (não-FairFace)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+5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BFW, Casual Conv, MST-E ampliam o panorama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3D424E"/>
                          </a:solidFill>
                        </a:rPr>
                        <a:t>R</a:t>
                      </a:r>
                      <a:r>
                        <a:rPr lang="pt-BR" sz="1500" dirty="0">
                          <a:solidFill>
                            <a:srgbClr val="3D424E"/>
                          </a:solidFill>
                        </a:rPr>
                        <a:t>5</a:t>
                      </a:r>
                      <a:r>
                        <a:rPr sz="1500" dirty="0">
                          <a:solidFill>
                            <a:srgbClr val="3D424E"/>
                          </a:solidFill>
                        </a:rPr>
                        <a:t> — </a:t>
                      </a:r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Fundamentação</a:t>
                      </a:r>
                      <a:endParaRPr sz="1500" dirty="0">
                        <a:solidFill>
                          <a:srgbClr val="3D424E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Substrato teórico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+4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3D424E"/>
                          </a:solidFill>
                        </a:rPr>
                        <a:t>AAPA + Lewontin: </a:t>
                      </a:r>
                      <a:r>
                        <a:rPr sz="1500" b="1" dirty="0">
                          <a:solidFill>
                            <a:srgbClr val="3D424E"/>
                          </a:solidFill>
                        </a:rPr>
                        <a:t>race </a:t>
                      </a:r>
                      <a:r>
                        <a:rPr sz="1500" b="1" dirty="0" err="1">
                          <a:solidFill>
                            <a:srgbClr val="3D424E"/>
                          </a:solidFill>
                        </a:rPr>
                        <a:t>não</a:t>
                      </a:r>
                      <a:r>
                        <a:rPr sz="1500" b="1" dirty="0">
                          <a:solidFill>
                            <a:srgbClr val="3D424E"/>
                          </a:solidFill>
                        </a:rPr>
                        <a:t> é </a:t>
                      </a:r>
                      <a:r>
                        <a:rPr sz="1500" b="1" dirty="0" err="1">
                          <a:solidFill>
                            <a:srgbClr val="3D424E"/>
                          </a:solidFill>
                        </a:rPr>
                        <a:t>biologia</a:t>
                      </a:r>
                      <a:endParaRPr sz="1500" b="1" dirty="0">
                        <a:solidFill>
                          <a:srgbClr val="3D424E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707682"/>
                </a:solidFill>
              </a:defRPr>
            </a:pPr>
            <a:r>
              <a:rPr dirty="0"/>
              <a:t>Total: 23 </a:t>
            </a:r>
            <a:r>
              <a:rPr dirty="0" err="1"/>
              <a:t>fichas</a:t>
            </a:r>
            <a:r>
              <a:rPr dirty="0"/>
              <a:t> </a:t>
            </a:r>
            <a:r>
              <a:rPr dirty="0" err="1"/>
              <a:t>catalogadas</a:t>
            </a:r>
            <a:r>
              <a:rPr dirty="0"/>
              <a:t> | </a:t>
            </a:r>
            <a:r>
              <a:rPr dirty="0" err="1"/>
              <a:t>todas</a:t>
            </a:r>
            <a:r>
              <a:rPr dirty="0"/>
              <a:t> com </a:t>
            </a:r>
            <a:r>
              <a:rPr dirty="0" err="1"/>
              <a:t>autoria</a:t>
            </a:r>
            <a:r>
              <a:rPr dirty="0"/>
              <a:t> </a:t>
            </a:r>
            <a:r>
              <a:rPr dirty="0" err="1"/>
              <a:t>verificada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fonte</a:t>
            </a:r>
            <a:r>
              <a:rPr dirty="0"/>
              <a:t> </a:t>
            </a:r>
            <a:r>
              <a:rPr dirty="0" err="1"/>
              <a:t>primária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2.2  Aprendizados metodológicos do processo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4534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rPr dirty="0"/>
              <a:t>1. A </a:t>
            </a:r>
            <a:r>
              <a:rPr dirty="0" err="1"/>
              <a:t>literatura</a:t>
            </a:r>
            <a:r>
              <a:rPr dirty="0"/>
              <a:t> </a:t>
            </a:r>
            <a:r>
              <a:rPr dirty="0" err="1"/>
              <a:t>confirma</a:t>
            </a:r>
            <a:r>
              <a:rPr dirty="0"/>
              <a:t> o </a:t>
            </a:r>
            <a:r>
              <a:rPr dirty="0" err="1"/>
              <a:t>problema</a:t>
            </a:r>
            <a:r>
              <a:rPr dirty="0"/>
              <a:t> mas </a:t>
            </a:r>
            <a:r>
              <a:rPr dirty="0" err="1"/>
              <a:t>raramente</a:t>
            </a:r>
            <a:r>
              <a:rPr dirty="0"/>
              <a:t> </a:t>
            </a:r>
            <a:r>
              <a:rPr dirty="0" err="1"/>
              <a:t>executa</a:t>
            </a:r>
            <a:r>
              <a:rPr dirty="0"/>
              <a:t> a </a:t>
            </a:r>
            <a:r>
              <a:rPr dirty="0" err="1"/>
              <a:t>solução</a:t>
            </a:r>
            <a:endParaRPr dirty="0"/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/>
              <a:t>7 papers </a:t>
            </a:r>
            <a:r>
              <a:rPr dirty="0" err="1"/>
              <a:t>sugerem</a:t>
            </a:r>
            <a:r>
              <a:rPr dirty="0"/>
              <a:t> </a:t>
            </a:r>
            <a:r>
              <a:rPr dirty="0" err="1"/>
              <a:t>mitigação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race classification multi-</a:t>
            </a:r>
            <a:r>
              <a:rPr dirty="0" err="1"/>
              <a:t>classe</a:t>
            </a:r>
            <a:r>
              <a:rPr lang="pt-BR" dirty="0"/>
              <a:t>, mas </a:t>
            </a:r>
            <a:r>
              <a:rPr lang="pt-BR" u="sng" dirty="0"/>
              <a:t>nenhum</a:t>
            </a:r>
            <a:r>
              <a:rPr dirty="0"/>
              <a:t> </a:t>
            </a:r>
            <a:r>
              <a:rPr lang="pt-BR" dirty="0"/>
              <a:t>executou</a:t>
            </a:r>
            <a:endParaRPr dirty="0"/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rPr dirty="0"/>
              <a:t>2. </a:t>
            </a:r>
            <a:r>
              <a:rPr dirty="0" err="1"/>
              <a:t>Categorias</a:t>
            </a:r>
            <a:r>
              <a:rPr dirty="0"/>
              <a:t> </a:t>
            </a:r>
            <a:r>
              <a:rPr dirty="0" err="1"/>
              <a:t>raciais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instrumentais</a:t>
            </a:r>
            <a:r>
              <a:rPr dirty="0"/>
              <a:t>,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biológicas</a:t>
            </a:r>
            <a:endParaRPr dirty="0"/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/>
              <a:t>A </a:t>
            </a:r>
            <a:r>
              <a:rPr dirty="0" err="1"/>
              <a:t>escolha</a:t>
            </a:r>
            <a:r>
              <a:rPr dirty="0"/>
              <a:t> do </a:t>
            </a:r>
            <a:r>
              <a:rPr dirty="0" err="1"/>
              <a:t>FairFace</a:t>
            </a:r>
            <a:r>
              <a:rPr dirty="0"/>
              <a:t> 7-class é </a:t>
            </a:r>
            <a:r>
              <a:rPr dirty="0" err="1"/>
              <a:t>pragmática</a:t>
            </a:r>
            <a:r>
              <a:rPr dirty="0"/>
              <a:t> e </a:t>
            </a:r>
            <a:r>
              <a:rPr dirty="0" err="1"/>
              <a:t>alinhada</a:t>
            </a:r>
            <a:r>
              <a:rPr dirty="0"/>
              <a:t> com a </a:t>
            </a:r>
            <a:r>
              <a:rPr dirty="0" err="1"/>
              <a:t>literatura</a:t>
            </a:r>
            <a:r>
              <a:rPr dirty="0"/>
              <a:t> </a:t>
            </a:r>
            <a:r>
              <a:rPr dirty="0" err="1"/>
              <a:t>dominante</a:t>
            </a:r>
            <a:endParaRPr dirty="0"/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 err="1"/>
              <a:t>Mesma</a:t>
            </a:r>
            <a:r>
              <a:rPr dirty="0"/>
              <a:t> </a:t>
            </a:r>
            <a:r>
              <a:rPr dirty="0" err="1"/>
              <a:t>escolha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AlDahoul</a:t>
            </a:r>
            <a:r>
              <a:rPr dirty="0"/>
              <a:t> (SOTA), </a:t>
            </a:r>
            <a:r>
              <a:rPr dirty="0" err="1"/>
              <a:t>FairGRAPE</a:t>
            </a:r>
            <a:r>
              <a:rPr dirty="0"/>
              <a:t>, </a:t>
            </a:r>
            <a:r>
              <a:rPr dirty="0" err="1"/>
              <a:t>FineFACE</a:t>
            </a:r>
            <a:r>
              <a:rPr dirty="0"/>
              <a:t> etc.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rPr dirty="0"/>
              <a:t>3. A </a:t>
            </a:r>
            <a:r>
              <a:rPr dirty="0" err="1"/>
              <a:t>confusão</a:t>
            </a:r>
            <a:r>
              <a:rPr dirty="0"/>
              <a:t> Fitzpatrick </a:t>
            </a:r>
            <a:r>
              <a:rPr lang="pt-BR" dirty="0"/>
              <a:t>(escala dermatológica de classificação de pele, criada em 1975 por Fitzpatrick) </a:t>
            </a:r>
            <a:r>
              <a:rPr dirty="0"/>
              <a:t>↔ race é </a:t>
            </a:r>
            <a:r>
              <a:rPr dirty="0" err="1"/>
              <a:t>endêmica</a:t>
            </a:r>
            <a:endParaRPr dirty="0"/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/>
              <a:t>1/3 dos </a:t>
            </a:r>
            <a:r>
              <a:rPr dirty="0" err="1"/>
              <a:t>próprios</a:t>
            </a:r>
            <a:r>
              <a:rPr dirty="0"/>
              <a:t> </a:t>
            </a:r>
            <a:r>
              <a:rPr dirty="0" err="1"/>
              <a:t>dermatologistas</a:t>
            </a:r>
            <a:r>
              <a:rPr dirty="0"/>
              <a:t> </a:t>
            </a:r>
            <a:r>
              <a:rPr dirty="0" err="1"/>
              <a:t>confunde</a:t>
            </a:r>
            <a:r>
              <a:rPr lang="pt-BR" dirty="0"/>
              <a:t>m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 err="1"/>
              <a:t>Adotar</a:t>
            </a:r>
            <a:r>
              <a:rPr dirty="0"/>
              <a:t> MST resolve no </a:t>
            </a:r>
            <a:r>
              <a:rPr dirty="0" err="1"/>
              <a:t>nível</a:t>
            </a:r>
            <a:r>
              <a:rPr dirty="0"/>
              <a:t> instrumental</a:t>
            </a:r>
            <a:endParaRPr lang="pt-BR" dirty="0"/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endParaRPr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ECDD3B9-A705-122C-D075-0758791E4CFC}"/>
              </a:ext>
            </a:extLst>
          </p:cNvPr>
          <p:cNvSpPr txBox="1"/>
          <p:nvPr/>
        </p:nvSpPr>
        <p:spPr>
          <a:xfrm>
            <a:off x="282558" y="5782966"/>
            <a:ext cx="11360802" cy="106182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1500" i="1">
                <a:solidFill>
                  <a:srgbClr val="707682"/>
                </a:solidFill>
              </a:defRPr>
            </a:lvl1pPr>
          </a:lstStyle>
          <a:p>
            <a:r>
              <a:rPr lang="pt-BR" sz="1050" dirty="0"/>
              <a:t>1. Sete </a:t>
            </a:r>
            <a:r>
              <a:rPr lang="pt-BR" sz="1050" dirty="0" err="1"/>
              <a:t>papers</a:t>
            </a:r>
            <a:r>
              <a:rPr lang="pt-BR" sz="1050" dirty="0"/>
              <a:t> propõem direções de mitigação algorítmica que se aplicariam diretamente a </a:t>
            </a:r>
            <a:r>
              <a:rPr lang="pt-BR" sz="1050" dirty="0" err="1"/>
              <a:t>race</a:t>
            </a:r>
            <a:r>
              <a:rPr lang="pt-BR" sz="1050" dirty="0"/>
              <a:t> </a:t>
            </a:r>
            <a:r>
              <a:rPr lang="pt-BR" sz="1050" dirty="0" err="1"/>
              <a:t>classification</a:t>
            </a:r>
            <a:r>
              <a:rPr lang="pt-BR" sz="1050" dirty="0"/>
              <a:t> </a:t>
            </a:r>
            <a:r>
              <a:rPr lang="pt-BR" sz="1050" dirty="0" err="1"/>
              <a:t>multi-classe</a:t>
            </a:r>
            <a:r>
              <a:rPr lang="pt-BR" sz="1050" dirty="0"/>
              <a:t> — Park (FSCL),  </a:t>
            </a:r>
            <a:r>
              <a:rPr lang="pt-BR" sz="1050" dirty="0" err="1"/>
              <a:t>Sagawa</a:t>
            </a:r>
            <a:r>
              <a:rPr lang="pt-BR" sz="1050" dirty="0"/>
              <a:t> (</a:t>
            </a:r>
            <a:r>
              <a:rPr lang="pt-BR" sz="1050" dirty="0" err="1"/>
              <a:t>Group</a:t>
            </a:r>
            <a:r>
              <a:rPr lang="pt-BR" sz="1050" dirty="0"/>
              <a:t> DRO), </a:t>
            </a:r>
            <a:r>
              <a:rPr lang="pt-BR" sz="1050" dirty="0" err="1"/>
              <a:t>Dehdashtian</a:t>
            </a:r>
            <a:r>
              <a:rPr lang="pt-BR" sz="1050" dirty="0"/>
              <a:t> (U-</a:t>
            </a:r>
            <a:r>
              <a:rPr lang="pt-BR" sz="1050" dirty="0" err="1"/>
              <a:t>FaTE</a:t>
            </a:r>
            <a:r>
              <a:rPr lang="pt-BR" sz="1050" dirty="0"/>
              <a:t>), </a:t>
            </a:r>
            <a:r>
              <a:rPr lang="pt-BR" sz="1050" dirty="0" err="1"/>
              <a:t>Manzoor</a:t>
            </a:r>
            <a:r>
              <a:rPr lang="pt-BR" sz="1050" dirty="0"/>
              <a:t> (</a:t>
            </a:r>
            <a:r>
              <a:rPr lang="pt-BR" sz="1050" dirty="0" err="1"/>
              <a:t>FineFACE</a:t>
            </a:r>
            <a:r>
              <a:rPr lang="pt-BR" sz="1050" dirty="0"/>
              <a:t>), </a:t>
            </a:r>
          </a:p>
          <a:p>
            <a:r>
              <a:rPr lang="pt-BR" sz="1050" dirty="0" err="1"/>
              <a:t>Bhaskaruni</a:t>
            </a:r>
            <a:r>
              <a:rPr lang="pt-BR" sz="1050" dirty="0"/>
              <a:t> (ensemble fair), Lin (</a:t>
            </a:r>
            <a:r>
              <a:rPr lang="pt-BR" sz="1050" dirty="0" err="1"/>
              <a:t>FairGRAPE</a:t>
            </a:r>
            <a:r>
              <a:rPr lang="pt-BR" sz="1050" dirty="0"/>
              <a:t>) e </a:t>
            </a:r>
            <a:r>
              <a:rPr lang="pt-BR" sz="1050" dirty="0" err="1"/>
              <a:t>AlDahoul</a:t>
            </a:r>
            <a:r>
              <a:rPr lang="pt-BR" sz="1050" dirty="0"/>
              <a:t> (combinação VLM + mitigação). Cada um testa em adjacências próximas mas nenhum executa em </a:t>
            </a:r>
            <a:r>
              <a:rPr lang="pt-BR" sz="1050" dirty="0" err="1"/>
              <a:t>FairFace</a:t>
            </a:r>
            <a:r>
              <a:rPr lang="pt-BR" sz="1050" dirty="0"/>
              <a:t> </a:t>
            </a:r>
            <a:r>
              <a:rPr lang="pt-BR" sz="1050" dirty="0" err="1"/>
              <a:t>race</a:t>
            </a:r>
            <a:r>
              <a:rPr lang="pt-BR" sz="1050" dirty="0"/>
              <a:t> 7-class </a:t>
            </a:r>
            <a:r>
              <a:rPr lang="pt-BR" sz="1050" dirty="0" err="1"/>
              <a:t>in-domain</a:t>
            </a:r>
            <a:r>
              <a:rPr lang="pt-BR" sz="1050" dirty="0"/>
              <a:t>. </a:t>
            </a:r>
          </a:p>
          <a:p>
            <a:r>
              <a:rPr lang="pt-BR" sz="1050" dirty="0"/>
              <a:t>Casos representativos: </a:t>
            </a:r>
            <a:r>
              <a:rPr lang="pt-BR" sz="1050" dirty="0" err="1"/>
              <a:t>Dehdashtian</a:t>
            </a:r>
            <a:r>
              <a:rPr lang="pt-BR" sz="1050" dirty="0"/>
              <a:t> testa U-</a:t>
            </a:r>
            <a:r>
              <a:rPr lang="pt-BR" sz="1050" dirty="0" err="1"/>
              <a:t>FaTE</a:t>
            </a:r>
            <a:r>
              <a:rPr lang="pt-BR" sz="1050" dirty="0"/>
              <a:t> em </a:t>
            </a:r>
            <a:r>
              <a:rPr lang="pt-BR" sz="1050" dirty="0" err="1"/>
              <a:t>FairFace</a:t>
            </a:r>
            <a:r>
              <a:rPr lang="pt-BR" sz="1050" dirty="0"/>
              <a:t> mas sobre sex binário; </a:t>
            </a:r>
            <a:r>
              <a:rPr lang="pt-BR" sz="1050" dirty="0" err="1"/>
              <a:t>Manzoor</a:t>
            </a:r>
            <a:r>
              <a:rPr lang="pt-BR" sz="1050" dirty="0"/>
              <a:t> testa </a:t>
            </a:r>
            <a:r>
              <a:rPr lang="pt-BR" sz="1050" dirty="0" err="1"/>
              <a:t>FineFACE</a:t>
            </a:r>
            <a:r>
              <a:rPr lang="pt-BR" sz="1050" dirty="0"/>
              <a:t> em </a:t>
            </a:r>
            <a:r>
              <a:rPr lang="pt-BR" sz="1050" dirty="0" err="1"/>
              <a:t>FairFace</a:t>
            </a:r>
            <a:r>
              <a:rPr lang="pt-BR" sz="1050" dirty="0"/>
              <a:t> mas sobre </a:t>
            </a:r>
            <a:r>
              <a:rPr lang="pt-BR" sz="1050" dirty="0" err="1"/>
              <a:t>gender</a:t>
            </a:r>
            <a:r>
              <a:rPr lang="pt-BR" sz="1050" dirty="0"/>
              <a:t>; </a:t>
            </a:r>
            <a:r>
              <a:rPr lang="pt-BR" sz="1050" dirty="0" err="1"/>
              <a:t>AlDahoul</a:t>
            </a:r>
            <a:r>
              <a:rPr lang="pt-BR" sz="1050" dirty="0"/>
              <a:t>  testa fine-</a:t>
            </a:r>
            <a:r>
              <a:rPr lang="pt-BR" sz="1050" dirty="0" err="1"/>
              <a:t>tuning</a:t>
            </a:r>
            <a:r>
              <a:rPr lang="pt-BR" sz="1050" dirty="0"/>
              <a:t> em </a:t>
            </a:r>
            <a:r>
              <a:rPr lang="pt-BR" sz="1050" dirty="0" err="1"/>
              <a:t>race</a:t>
            </a:r>
            <a:r>
              <a:rPr lang="pt-BR" sz="1050" dirty="0"/>
              <a:t> 7-class mas sem mitigação </a:t>
            </a:r>
          </a:p>
          <a:p>
            <a:r>
              <a:rPr lang="pt-BR" sz="1050" dirty="0"/>
              <a:t>algorítmica explícita. Nossa contribuição C2 fecha esse gap executando a benchmark sistemática.“</a:t>
            </a:r>
          </a:p>
          <a:p>
            <a:endParaRPr lang="pt-BR" sz="1050" dirty="0"/>
          </a:p>
          <a:p>
            <a:r>
              <a:rPr lang="pt-BR" sz="1050" dirty="0"/>
              <a:t>2. MST = Monk </a:t>
            </a:r>
            <a:r>
              <a:rPr lang="pt-BR" sz="1050" dirty="0" err="1"/>
              <a:t>Skin</a:t>
            </a:r>
            <a:r>
              <a:rPr lang="pt-BR" sz="1050" dirty="0"/>
              <a:t> </a:t>
            </a:r>
            <a:r>
              <a:rPr lang="pt-BR" sz="1050" dirty="0" err="1"/>
              <a:t>Tone</a:t>
            </a:r>
            <a:r>
              <a:rPr lang="pt-BR" sz="1050" dirty="0"/>
              <a:t> </a:t>
            </a:r>
            <a:r>
              <a:rPr lang="pt-BR" sz="1050" dirty="0" err="1"/>
              <a:t>Scale</a:t>
            </a:r>
            <a:r>
              <a:rPr lang="pt-BR" sz="1050" dirty="0"/>
              <a:t>. Escala de 10 pontos (1 a 10) para classificar tom de pele percebido, criada em 2023 pelo sociólogo Dr. Ellis Monk (Harvard), publicada no </a:t>
            </a:r>
            <a:r>
              <a:rPr lang="pt-BR" sz="1050" dirty="0" err="1"/>
              <a:t>NeurIPS</a:t>
            </a:r>
            <a:r>
              <a:rPr lang="pt-BR" sz="1050" dirty="0"/>
              <a:t> 2023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 err="1"/>
              <a:t>Visão</a:t>
            </a:r>
            <a:r>
              <a:rPr dirty="0"/>
              <a:t> dos </a:t>
            </a:r>
            <a:r>
              <a:rPr dirty="0" err="1"/>
              <a:t>principais</a:t>
            </a:r>
            <a:r>
              <a:rPr dirty="0"/>
              <a:t> </a:t>
            </a:r>
            <a:r>
              <a:rPr dirty="0" err="1"/>
              <a:t>artigos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3.0  Achados por track temático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539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Track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Foco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Achado central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A — Race 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Treino e teste sobre raça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SOTA atual = 75.7% F1; Latinx persistentemente em 60% 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B — Face recognition fairness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Verification balanceada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3D424E"/>
                          </a:solidFill>
                        </a:rPr>
                        <a:t>Neto 2025 </a:t>
                      </a:r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questiona</a:t>
                      </a:r>
                      <a:r>
                        <a:rPr sz="1500" dirty="0">
                          <a:solidFill>
                            <a:srgbClr val="3D424E"/>
                          </a:solidFill>
                        </a:rPr>
                        <a:t> </a:t>
                      </a:r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discretização</a:t>
                      </a:r>
                      <a:r>
                        <a:rPr sz="1500" dirty="0">
                          <a:solidFill>
                            <a:srgbClr val="3D424E"/>
                          </a:solidFill>
                        </a:rPr>
                        <a:t> per se das </a:t>
                      </a:r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categorias</a:t>
                      </a:r>
                      <a:endParaRPr sz="1500" dirty="0">
                        <a:solidFill>
                          <a:srgbClr val="3D424E"/>
                        </a:solidFill>
                      </a:endParaRPr>
                    </a:p>
                  </a:txBody>
                  <a:tcPr>
                    <a:solidFill>
                      <a:srgbClr val="E8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C — Skin tone (Fitzpatrick / MST)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Auditoria com escala física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MST &gt; Fitzpatrick para fairness research (NeurIPS 2023)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D — Mitigação algorítmica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Técnicas anti-viés (FSCL+, DRO)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7 papers sugerem; ZERO executam em race 7-class FairFace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E — Auditoria e metodologia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Surveys e ferramentas de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Kotwal &amp; Marcel 2025 (TBIOM) é a referência mais atualizada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539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F — Fundamentação científica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Substrato teórico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3D424E"/>
                          </a:solidFill>
                        </a:rPr>
                        <a:t>Race ≠ </a:t>
                      </a:r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biologia</a:t>
                      </a:r>
                      <a:r>
                        <a:rPr sz="1500" dirty="0">
                          <a:solidFill>
                            <a:srgbClr val="3D424E"/>
                          </a:solidFill>
                        </a:rPr>
                        <a:t>: AAPA 2019 + Lewontin 1972 (85% intra-pop)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Fuentes et al. 2019 — AAPA Statement on Race and Racism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Am J Phys Anthropol, vol 169, no 3 | Statement institucional AABA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Papel na tese: FUNDAMENTO TEÓRICO — 'race is not biology'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Citação central: 'Race does not provide an accurate representation of human biological variation'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Posição consolidada da comunidade de antropologia biológica desde 1996, atualizada 2019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Sustenta a limitação reconhecida em §6.1 da tese v3.1 com citação institucional formal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Lewontin 1972 — The Apportionment of Human Diversity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Evolutionary Biology vol 6, Springer | 5000+ citações, 50+ anos de literatura derivada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Papel na tese: FUNDAMENTO GENÉTICO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Partição clássica: 85.4% intra-pop / 8.3% between-pop within-race / 6.3% between-race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Confirmado por estudos genômicos modernos (Rosenberg 2002, Bergstrom 2020)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Sobreposição fenotípica entre 7 classes FairFace, especialmente Latinx, é previsão direta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Caveat: Edwards 2003 ('Lewontin's Fallacy') — classificação possível com loci suficientes, mas isso não justifica taxonomia binária discreta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Buolamwini &amp; Gebru 2018 — Gender Shades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PMLR vol 81 / ACM FAccT | 4 933 citações Semantic Scholar (VERIFICADO)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Papel na tese: MARCO FUNDADOR do campo de auditoria de fairness em CV comercial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Achado-bandeira: gap de 34.7 pp na taxa de erro (lighter male 0% vs darker female 34.7% em IBM)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Decisão metodológica: escolhem Fitzpatrick (não race) por argumento de instabilidade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Precedente direto da nossa Q11 (race não tem fundamento biológico)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Kärkkäinen &amp; Joo 2021 — FairFace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WACV 2021 IEEE/CVF | 263+ citações Google Scholar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Papel na tese: DATASET CENTRAL — toda execução experimental ocorre sobre FairFace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Estrutura: 108 501 imagens; 7 categorias raciais; origem YFCC-100M Flickr; anotação MTurk 3-anotador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Caveat crítico: cross-dataset evaluation usa só 4 raças — não 7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7-class evaluation só aparece em external sets (Twitter/Media/Protest), com Latino F1 = 0.247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AlDahoul et al. 2024/2026 — FaceScanPaliGemma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Nature Scientific Reports 2026 (DOI 10.1038/s41598-026-39584-3) + arXiv 2410.24148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Papel na tese: SOTA ATUAL para FairFace race 7-class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Achado: 75.7% accuracy / 75% F1 macro — número que precisamos alcançar/superar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Baseline FairFace ResNet-34 confirmado em 72% (single seed, sem CI)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Per-class: Black 90% | White 80% | Indian 79% | East Asian 78% | ME 73% | SE Asian 67% | LATINX 60% (pior)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Lin, Kim &amp; Joo 2022 — FairGRAPE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ECCV 2022 | 49 citações Semantic Scholar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Papel na tese: VALIDAÇÃO CRUZADA do baseline 72% + documentação independente do gap Hispanic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Confirmação: ResNet-34 baseline = 72.0% sobre FairFace race 7-class (Tabela 2)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Per-class: Hispanic 59.6% | Black 83.2% | White 73.9% — MESMO padrão hierárquico que AlDahoul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Implicação metodológica: 72% é número robusto através de splits e seeds independentes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Schumann et al. 2023 — MST Annotation Consensus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NeurIPS 2023 Datasets and Benchmarks Track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Papel na tese: PROTOCOLO DE ANOTAÇÃO MST para a frente Q10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Contribuições: (i) Monk Skin Tone Scale 10 pontos; (ii) MST-E dataset (1 515 imgs)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Achado: anotadores de diferentes regiões geográficas têm variação SISTEMÁTICA em MST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Recomendação operacional: pool diverso + alta replicação — importável para Q10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Hazirbas et al. 2021 — Casual Conversations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CVPRW 2021 (Meta / Facebook AI)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Papel na tese: PARADIGMA ALTERNATIVO de anotação — self-reported demographics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Estrutura: 3 011 sujeitos pagos, 45 000+ vídeos; age + gender SELF-REPORTED; Fitzpatrick anotado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Argumento explícito contra race labels: 'Raters may have unconscious biases'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Justifica adotar MST + self-identification como gold standard para Q01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Park et al. 2022 — Fair Supervised Contrastive Learning (FSCL)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CVPR 2022 | 116 citações Semantic Scholar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Papel na tese: TÉCNICA CENTRAL do Capítulo 2 (mitigação)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Teorema 1: SupCon (Khosla 2020) incentiva encoder a aprender atributos sensíveis em datasets enviesados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FSCL+: restringir negativos a mesmo grupo sensível + group-wise normalization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Resultado em CelebA: reduz EO de 30.5 → 6.5 (4.7× menor), perdendo só 1.4 pp de accuracy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Lacuna crítica: NÃO testado em FairFace race 7-class — exatamente nosso gap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Sagawa et al. 2020 — Group DRO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ICLR 2020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Papel na tese: TÉCNICA ALTERNATIVA do Capítulo 2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Achado paradoxal: DRO naive ≈ ERM em redes overparameterized — ambos memorizam treino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Solução: strong ℓ2 regularization (λ ∈ [0.1, 1.0], 4 ordens de magnitude acima do default) OU early stopping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Resultado em CelebA hair color: worst-group accuracy 41.1 → 86.7 (+45 pp); só 1.3 pp perdidos em média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Implicação: se aplicarmos a race 7-class, precisamos sweep de λ — não plug-and-play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Gaps, considerações e achados</a:t>
            </a:r>
          </a:p>
          <a:p>
            <a:pPr>
              <a:defRPr sz="2000">
                <a:solidFill>
                  <a:srgbClr val="E8EAED"/>
                </a:solidFill>
              </a:defRPr>
            </a:pPr>
            <a:r>
              <a:t>5 frentes de pesquisa identificadas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4.1  Achados convergentes da literatura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085274"/>
              </p:ext>
            </p:extLst>
          </p:nvPr>
        </p:nvGraphicFramePr>
        <p:xfrm>
          <a:off x="457200" y="137160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Achado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Papers endossando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Implicação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Balanceamento de dataset não basta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3D424E"/>
                          </a:solidFill>
                        </a:rPr>
                        <a:t>8+ (</a:t>
                      </a:r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Karkkainen</a:t>
                      </a:r>
                      <a:r>
                        <a:rPr sz="1500" dirty="0">
                          <a:solidFill>
                            <a:srgbClr val="3D424E"/>
                          </a:solidFill>
                        </a:rPr>
                        <a:t>, Wang, Grother, Lin, </a:t>
                      </a:r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AlDahoul</a:t>
                      </a:r>
                      <a:r>
                        <a:rPr sz="1500" dirty="0">
                          <a:solidFill>
                            <a:srgbClr val="3D424E"/>
                          </a:solidFill>
                        </a:rPr>
                        <a:t>, Kotwal, Sagawa, Klare)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Mitigação algorítmica é necessária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Latinx/Hispanic é estruturalmente mais difícil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4 (Karkkainen .247, AlDahoul .60, Lin 59.6%, Buolamwini)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00" dirty="0">
                          <a:solidFill>
                            <a:srgbClr val="3D424E"/>
                          </a:solidFill>
                        </a:rPr>
                        <a:t>C</a:t>
                      </a:r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ausa</a:t>
                      </a:r>
                      <a:r>
                        <a:rPr sz="1500" dirty="0">
                          <a:solidFill>
                            <a:srgbClr val="3D424E"/>
                          </a:solidFill>
                        </a:rPr>
                        <a:t> </a:t>
                      </a:r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estrutural</a:t>
                      </a:r>
                      <a:endParaRPr sz="1500" dirty="0">
                        <a:solidFill>
                          <a:srgbClr val="3D424E"/>
                        </a:solidFill>
                      </a:endParaRPr>
                    </a:p>
                  </a:txBody>
                  <a:tcPr>
                    <a:solidFill>
                      <a:srgbClr val="E8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Race é construto social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AAPA 2019, Lewontin 1972, Karkkainen explícito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Tese reconhece e cita formalmente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3D424E"/>
                          </a:solidFill>
                        </a:rPr>
                        <a:t>Ensembles </a:t>
                      </a:r>
                      <a:r>
                        <a:rPr lang="pt-BR" sz="1500" dirty="0">
                          <a:solidFill>
                            <a:srgbClr val="3D424E"/>
                          </a:solidFill>
                        </a:rPr>
                        <a:t>"</a:t>
                      </a:r>
                      <a:r>
                        <a:rPr sz="1500" dirty="0">
                          <a:solidFill>
                            <a:srgbClr val="3D424E"/>
                          </a:solidFill>
                        </a:rPr>
                        <a:t>naive</a:t>
                      </a:r>
                      <a:r>
                        <a:rPr lang="pt-BR" sz="1500" dirty="0">
                          <a:solidFill>
                            <a:srgbClr val="3D424E"/>
                          </a:solidFill>
                        </a:rPr>
                        <a:t>"</a:t>
                      </a:r>
                      <a:r>
                        <a:rPr sz="1500" dirty="0">
                          <a:solidFill>
                            <a:srgbClr val="3D424E"/>
                          </a:solidFill>
                        </a:rPr>
                        <a:t> </a:t>
                      </a:r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não</a:t>
                      </a:r>
                      <a:r>
                        <a:rPr sz="1500" dirty="0">
                          <a:solidFill>
                            <a:srgbClr val="3D424E"/>
                          </a:solidFill>
                        </a:rPr>
                        <a:t> </a:t>
                      </a:r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funcionam</a:t>
                      </a:r>
                      <a:endParaRPr sz="1500" dirty="0">
                        <a:solidFill>
                          <a:srgbClr val="3D424E"/>
                        </a:solidFill>
                      </a:endParaRP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Bhaskaruni 2019, Sagawa 2020, Park 2022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Mitigação exige ponderação demográfica explícita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Métricas multi-classe são fragmentadas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7 papers com métricas diferentes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triangulação</a:t>
                      </a:r>
                      <a:r>
                        <a:rPr sz="1500" dirty="0">
                          <a:solidFill>
                            <a:srgbClr val="3D424E"/>
                          </a:solidFill>
                        </a:rPr>
                        <a:t> DR + worst-class +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4.2  Achados não-óbvios da Rodada 4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1. As 7 categorias do FairFace NÃO têm fundamento biológico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Construto socio-político derivado do US Census + ajustes Karkkainen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AAPA 2019 (statement institucional) + Lewontin 1972 (85% intra-pop) sustentam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2. Fitzpatrick scale foi criada em 1975 para dosimetria PUVA, NÃO para classificação racial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1/3 dos dermatologistas ainda confunde — erro categorial endêmico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3. Não há 'número correto' de tons de pele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5 escalas em uso, cada uma para propósito específico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MST 10-pt é a correta para fairness research (Schumann 2023, padrão Google)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4. A 'dificuldade Latinx' tem fundamento estatístico previsível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85% da variação genética é intra-populacional (Lewontin)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Latinx abrange múltiplos clusters geográficos — sobreposição é previsão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740439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rPr dirty="0"/>
              <a:t>4.3  As 5 </a:t>
            </a:r>
            <a:r>
              <a:rPr dirty="0" err="1"/>
              <a:t>frentes</a:t>
            </a:r>
            <a:r>
              <a:rPr dirty="0"/>
              <a:t> de </a:t>
            </a:r>
            <a:r>
              <a:rPr dirty="0" err="1"/>
              <a:t>pesquisa</a:t>
            </a:r>
            <a:r>
              <a:rPr lang="pt-BR" dirty="0"/>
              <a:t> – para discussão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527757"/>
              </p:ext>
            </p:extLst>
          </p:nvPr>
        </p:nvGraphicFramePr>
        <p:xfrm>
          <a:off x="457200" y="1371600"/>
          <a:ext cx="11484528" cy="4977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8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1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1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r>
                        <a:rPr sz="1600" b="1" dirty="0" err="1">
                          <a:solidFill>
                            <a:srgbClr val="FFFFFF"/>
                          </a:solidFill>
                        </a:rPr>
                        <a:t>Frente</a:t>
                      </a:r>
                      <a:endParaRPr sz="16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Pergunta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Score O+V+I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Mitigação algorítmica em race 7-class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Qual técnica de Track D funciona melhor em FairFace 7-class?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13/15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238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Matriz MST × FairFace 7-race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Como o tom de pele se distribui entre as 7 categorias raciais?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13/15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Métrica fairness multi-classe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Triangulação DR + worst-class + CV é robusta?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11/15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Decomposição do ceiling 72%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Quanto é arquitetura vs metodologia vs dados?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10/15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Confiabilidade</a:t>
                      </a:r>
                      <a:r>
                        <a:rPr sz="1500" dirty="0">
                          <a:solidFill>
                            <a:srgbClr val="3D424E"/>
                          </a:solidFill>
                        </a:rPr>
                        <a:t> </a:t>
                      </a:r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anotação</a:t>
                      </a:r>
                      <a:r>
                        <a:rPr sz="1500" dirty="0">
                          <a:solidFill>
                            <a:srgbClr val="3D424E"/>
                          </a:solidFill>
                        </a:rPr>
                        <a:t> Latinx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Inter-annotator agreement é uniforme entre classes?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3D424E"/>
                          </a:solidFill>
                        </a:rPr>
                        <a:t>9/15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707682"/>
                </a:solidFill>
              </a:defRPr>
            </a:pPr>
            <a:r>
              <a:t>O = Originalidade | V = Viabilidade | I = Impacto (cada de 0–5)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5.1  Tese v3.1 — formulação central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698480" cy="4937760"/>
          </a:xfrm>
          <a:prstGeom prst="roundRect">
            <a:avLst/>
          </a:prstGeom>
          <a:solidFill>
            <a:srgbClr val="E8EAED"/>
          </a:solidFill>
          <a:ln w="25400">
            <a:solidFill>
              <a:srgbClr val="1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365760" rIns="457200" bIns="365760" rtlCol="0" anchor="ctr"/>
          <a:lstStyle/>
          <a:p>
            <a:pPr algn="l">
              <a:defRPr sz="2000" i="1">
                <a:solidFill>
                  <a:srgbClr val="1F2A4E"/>
                </a:solidFill>
              </a:defRPr>
            </a:pPr>
            <a:r>
              <a:t>"O ceiling de 72–75.7% F1 macro em classificação racial 7-class sobre FairFace não é primariamente arquitetural nem metodologicamente solúvel apenas via mitigação algorítmica.</a:t>
            </a:r>
            <a:br/>
            <a:br/>
            <a:r>
              <a:t>Existe componente fenotípico irredutível — sobreposição distribucional de tom de pele entre categorias raciais — particularmente aguda para Latinx/Hispanic.</a:t>
            </a:r>
            <a:br/>
            <a:br/>
            <a:r>
              <a:t>A dissertação contribui originalmente com: (1) primeira matriz pública MST × FairFace 7-race; (2) primeira benchmark sistemática de mitigações algorítmicas em race 7-class; (3) decomposição empírica do erro Latinx; (4) triangulação DR + worst-class + CV como métrica padrão."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dirty="0" err="1"/>
              <a:t>Discussão</a:t>
            </a:r>
            <a:r>
              <a:rPr dirty="0"/>
              <a:t> e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2256</Words>
  <Application>Microsoft Office PowerPoint</Application>
  <PresentationFormat>Widescreen</PresentationFormat>
  <Paragraphs>262</Paragraphs>
  <Slides>28</Slides>
  <Notes>1</Notes>
  <HiddenSlides>10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2" baseType="lpstr">
      <vt:lpstr>Aptos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Marcello Vinicius Alves Ozzetti</cp:lastModifiedBy>
  <cp:revision>27</cp:revision>
  <dcterms:created xsi:type="dcterms:W3CDTF">2013-01-27T09:14:16Z</dcterms:created>
  <dcterms:modified xsi:type="dcterms:W3CDTF">2026-06-01T15:49:42Z</dcterms:modified>
  <cp:category/>
</cp:coreProperties>
</file>