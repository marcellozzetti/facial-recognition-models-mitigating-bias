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a:t>
            </a:r>
          </a:p>
          <a:p>
            <a:pPr>
              <a:spcAft>
                <a:spcPts val="800"/>
              </a:spcAft>
              <a:defRPr sz="2000" b="0">
                <a:solidFill>
                  <a:srgbClr val="3D424E"/>
                </a:solidFill>
              </a:defRPr>
            </a:pPr>
            <a:r>
              <a:t>problema de arquitetura nem só problema de método. Tem um componente</a:t>
            </a:r>
          </a:p>
          <a:p>
            <a:pPr>
              <a:spcAft>
                <a:spcPts val="800"/>
              </a:spcAft>
              <a:defRPr sz="2000" b="0">
                <a:solidFill>
                  <a:srgbClr val="3D424E"/>
                </a:solidFill>
              </a:defRPr>
            </a:pPr>
            <a:r>
              <a:t>fenotípico irredutível: as raças se sobrepõem em tom de pele, especialmente</a:t>
            </a:r>
          </a:p>
          <a:p>
            <a:pPr>
              <a:spcAft>
                <a:spcPts val="800"/>
              </a:spcAft>
              <a:defRPr sz="2000" b="0">
                <a:solidFill>
                  <a:srgbClr val="3D424E"/>
                </a:solidFill>
              </a:defRPr>
            </a:pPr>
            <a:r>
              <a:t>Latinx. A dissertação ia construir a primeira matriz pública dessa</a:t>
            </a:r>
          </a:p>
          <a:p>
            <a:pPr>
              <a:spcAft>
                <a:spcPts val="800"/>
              </a:spcAft>
              <a:defRPr sz="2000" b="0">
                <a:solidFill>
                  <a:srgbClr val="3D424E"/>
                </a:solidFill>
              </a:defRPr>
            </a:pPr>
            <a:r>
              <a:t>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6 tracks temáticos.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Concordamos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Validamos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Alinhamos e validamos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Bônus: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a:t>
            </a:r>
          </a:p>
          <a:p>
            <a:pPr>
              <a:spcAft>
                <a:spcPts val="800"/>
              </a:spcAft>
              <a:defRPr sz="2000" b="0">
                <a:solidFill>
                  <a:srgbClr val="3D424E"/>
                </a:solidFill>
              </a:defRPr>
            </a:pPr>
            <a:r>
              <a:t>que melhora fairness em race classification E em face recognition,</a:t>
            </a:r>
          </a:p>
          <a:p>
            <a:pPr>
              <a:spcAft>
                <a:spcPts val="800"/>
              </a:spcAft>
              <a:defRPr sz="2000" b="0">
                <a:solidFill>
                  <a:srgbClr val="3D424E"/>
                </a:solidFill>
              </a:defRPr>
            </a:pPr>
            <a:r>
              <a:t>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a:p>
            <a:pPr>
              <a:spcAft>
                <a:spcPts val="800"/>
              </a:spcAft>
              <a:defRPr sz="2000" b="0">
                <a:solidFill>
                  <a:srgbClr val="3D424E"/>
                </a:solidFill>
              </a:defRPr>
            </a:pPr>
          </a:p>
          <a:p>
            <a:pPr>
              <a:spcAft>
                <a:spcPts val="800"/>
              </a:spcAft>
              <a:defRPr sz="2000" b="0">
                <a:solidFill>
                  <a:srgbClr val="3D424E"/>
                </a:solidFill>
              </a:defRPr>
            </a:pPr>
            <a:r>
              <a:t>Q04 (mitigação) e Q10 (matriz tom × raça) viram pipeline UNIFICADO.</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Cada etapa será detalhada com conceitos explicados na Parte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Big numbers da pesquisa hoje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29 fichas catalogadas no corpus (era 23 na semana passada)</a:t>
            </a:r>
          </a:p>
          <a:p>
            <a:pPr>
              <a:spcAft>
                <a:spcPts val="800"/>
              </a:spcAft>
              <a:defRPr sz="2000" b="0">
                <a:solidFill>
                  <a:srgbClr val="3D424E"/>
                </a:solidFill>
              </a:defRPr>
            </a:pPr>
          </a:p>
          <a:p>
            <a:pPr>
              <a:spcAft>
                <a:spcPts val="800"/>
              </a:spcAft>
              <a:defRPr sz="2000" b="0">
                <a:solidFill>
                  <a:srgbClr val="3D424E"/>
                </a:solidFill>
              </a:defRPr>
            </a:pPr>
            <a:r>
              <a:t>✓  ~57 papers avaliados ao todo (29 aprovados + 6 rejeitados explicitamente + outros descartados)</a:t>
            </a:r>
          </a:p>
          <a:p>
            <a:pPr>
              <a:spcAft>
                <a:spcPts val="800"/>
              </a:spcAft>
              <a:defRPr sz="2000" b="0">
                <a:solidFill>
                  <a:srgbClr val="3D424E"/>
                </a:solidFill>
              </a:defRPr>
            </a:pPr>
          </a:p>
          <a:p>
            <a:pPr>
              <a:spcAft>
                <a:spcPts val="800"/>
              </a:spcAft>
              <a:defRPr sz="2000" b="0">
                <a:solidFill>
                  <a:srgbClr val="3D424E"/>
                </a:solidFill>
              </a:defRPr>
            </a:pPr>
            <a:r>
              <a:t>✓  7 tracks temáticos cobertos (era 6; Track G NOVO: Mecanismos ML / Redes Neurais)</a:t>
            </a:r>
          </a:p>
          <a:p>
            <a:pPr>
              <a:spcAft>
                <a:spcPts val="800"/>
              </a:spcAft>
              <a:defRPr sz="2000" b="0">
                <a:solidFill>
                  <a:srgbClr val="3D424E"/>
                </a:solidFill>
              </a:defRPr>
            </a:pPr>
          </a:p>
          <a:p>
            <a:pPr>
              <a:spcAft>
                <a:spcPts val="800"/>
              </a:spcAft>
              <a:defRPr sz="2000" b="0">
                <a:solidFill>
                  <a:srgbClr val="3D424E"/>
                </a:solidFill>
              </a:defRPr>
            </a:pPr>
            <a:r>
              <a:t>✓  14 perguntas de pesquisa formalmente respondidas (Q01–Q14)</a:t>
            </a:r>
          </a:p>
          <a:p>
            <a:pPr>
              <a:spcAft>
                <a:spcPts val="800"/>
              </a:spcAft>
              <a:defRPr sz="2000" b="0">
                <a:solidFill>
                  <a:srgbClr val="3D424E"/>
                </a:solidFill>
              </a:defRPr>
            </a:pPr>
          </a:p>
          <a:p>
            <a:pPr>
              <a:spcAft>
                <a:spcPts val="800"/>
              </a:spcAft>
              <a:defRPr sz="2000" b="0">
                <a:solidFill>
                  <a:srgbClr val="3D424E"/>
                </a:solidFill>
              </a:defRPr>
            </a:pPr>
            <a:r>
              <a:t>✓  Cobertura temporal: 1972 a 2026 (54 anos de literatura, mediana 2020–2021)</a:t>
            </a:r>
          </a:p>
          <a:p>
            <a:pPr>
              <a:spcAft>
                <a:spcPts val="800"/>
              </a:spcAft>
              <a:defRPr sz="2000" b="0">
                <a:solidFill>
                  <a:srgbClr val="3D424E"/>
                </a:solidFill>
              </a:defRPr>
            </a:pPr>
          </a:p>
          <a:p>
            <a:pPr>
              <a:spcAft>
                <a:spcPts val="800"/>
              </a:spcAft>
              <a:defRPr sz="2000" b="0">
                <a:solidFill>
                  <a:srgbClr val="3D424E"/>
                </a:solidFill>
              </a:defRPr>
            </a:pPr>
            <a:r>
              <a:t>✓  Autoria verificada em fonte primária: 29 de 29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Comparação: antes (semana passada) vs agora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Antes (diagnóstica)</a:t>
                      </a:r>
                    </a:p>
                  </a:txBody>
                  <a:tcPr>
                    <a:solidFill>
                      <a:srgbClr val="1F2A4E"/>
                    </a:solidFill>
                  </a:tcPr>
                </a:tc>
                <a:tc>
                  <a:txBody>
                    <a:bodyPr/>
                    <a:lstStyle/>
                    <a:p>
                      <a:r>
                        <a:rPr b="1" sz="1600">
                          <a:solidFill>
                            <a:srgbClr val="FFFFFF"/>
                          </a:solidFill>
                        </a:rPr>
                        <a:t>Agora (prescritiva)</a:t>
                      </a:r>
                    </a:p>
                  </a:txBody>
                  <a:tcPr>
                    <a:solidFill>
                      <a:srgbClr val="1F2A4E"/>
                    </a:solidFill>
                  </a:tcPr>
                </a:tc>
              </a:tr>
              <a:tr h="822960">
                <a:tc>
                  <a:txBody>
                    <a:bodyPr/>
                    <a:lstStyle/>
                    <a:p>
                      <a:r>
                        <a:rPr sz="1500">
                          <a:solidFill>
                            <a:srgbClr val="3D424E"/>
                          </a:solidFill>
                        </a:rPr>
                        <a:t>Postura</a:t>
                      </a:r>
                    </a:p>
                  </a:txBody>
                  <a:tcPr>
                    <a:solidFill>
                      <a:srgbClr val="FFFFFF"/>
                    </a:solidFill>
                  </a:tcPr>
                </a:tc>
                <a:tc>
                  <a:txBody>
                    <a:bodyPr/>
                    <a:lstStyle/>
                    <a:p>
                      <a:r>
                        <a:rPr sz="1500">
                          <a:solidFill>
                            <a:srgbClr val="3D424E"/>
                          </a:solidFill>
                        </a:rPr>
                        <a:t>Explicar por que o erro existe</a:t>
                      </a:r>
                    </a:p>
                  </a:txBody>
                  <a:tcPr>
                    <a:solidFill>
                      <a:srgbClr val="FFFFFF"/>
                    </a:solidFill>
                  </a:tcPr>
                </a:tc>
                <a:tc>
                  <a:txBody>
                    <a:bodyPr/>
                    <a:lstStyle/>
                    <a:p>
                      <a:r>
                        <a:rPr sz="1500">
                          <a:solidFill>
                            <a:srgbClr val="3D424E"/>
                          </a:solidFill>
                        </a:rPr>
                        <a:t>Construir um pipeline que reduz o erro</a:t>
                      </a:r>
                    </a:p>
                  </a:txBody>
                  <a:tcPr>
                    <a:solidFill>
                      <a:srgbClr val="FFFFFF"/>
                    </a:solidFill>
                  </a:tcPr>
                </a:tc>
              </a:tr>
              <a:tr h="822960">
                <a:tc>
                  <a:txBody>
                    <a:bodyPr/>
                    <a:lstStyle/>
                    <a:p>
                      <a:r>
                        <a:rPr sz="1500">
                          <a:solidFill>
                            <a:srgbClr val="3D424E"/>
                          </a:solidFill>
                        </a:rPr>
                        <a:t>Saída prática</a:t>
                      </a:r>
                    </a:p>
                  </a:txBody>
                  <a:tcPr>
                    <a:solidFill>
                      <a:srgbClr val="E8EAED"/>
                    </a:solidFill>
                  </a:tcPr>
                </a:tc>
                <a:tc>
                  <a:txBody>
                    <a:bodyPr/>
                    <a:lstStyle/>
                    <a:p>
                      <a:r>
                        <a:rPr sz="1500">
                          <a:solidFill>
                            <a:srgbClr val="3D424E"/>
                          </a:solidFill>
                        </a:rPr>
                        <a:t>Análise post-hoc</a:t>
                      </a:r>
                    </a:p>
                  </a:txBody>
                  <a:tcPr>
                    <a:solidFill>
                      <a:srgbClr val="E8EAED"/>
                    </a:solidFill>
                  </a:tcPr>
                </a:tc>
                <a:tc>
                  <a:txBody>
                    <a:bodyPr/>
                    <a:lstStyle/>
                    <a:p>
                      <a:r>
                        <a:rPr sz="1500">
                          <a:solidFill>
                            <a:srgbClr val="3D424E"/>
                          </a:solidFill>
                        </a:rPr>
                        <a:t>Modelo treinado deployável</a:t>
                      </a:r>
                    </a:p>
                  </a:txBody>
                  <a:tcPr>
                    <a:solidFill>
                      <a:srgbClr val="E8EAED"/>
                    </a:solidFill>
                  </a:tcPr>
                </a:tc>
              </a:tr>
              <a:tr h="822960">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classification</a:t>
                      </a:r>
                    </a:p>
                  </a:txBody>
                  <a:tcPr>
                    <a:solidFill>
                      <a:srgbClr val="FFFFFF"/>
                    </a:solidFill>
                  </a:tcPr>
                </a:tc>
                <a:tc>
                  <a:txBody>
                    <a:bodyPr/>
                    <a:lstStyle/>
                    <a:p>
                      <a:r>
                        <a:rPr sz="1500">
                          <a:solidFill>
                            <a:srgbClr val="3D424E"/>
                          </a:solidFill>
                        </a:rPr>
                        <a:t>Classification + Face recognition</a:t>
                      </a:r>
                    </a:p>
                  </a:txBody>
                  <a:tcPr>
                    <a:solidFill>
                      <a:srgbClr val="FFFFFF"/>
                    </a:solidFill>
                  </a:tcPr>
                </a:tc>
              </a:tr>
              <a:tr h="822960">
                <a:tc>
                  <a:txBody>
                    <a:bodyPr/>
                    <a:lstStyle/>
                    <a:p>
                      <a:r>
                        <a:rPr sz="1500">
                          <a:solidFill>
                            <a:srgbClr val="3D424E"/>
                          </a:solidFill>
                        </a:rPr>
                        <a:t>Q04 e Q10</a:t>
                      </a:r>
                    </a:p>
                  </a:txBody>
                  <a:tcPr>
                    <a:solidFill>
                      <a:srgbClr val="E8EAED"/>
                    </a:solidFill>
                  </a:tcPr>
                </a:tc>
                <a:tc>
                  <a:txBody>
                    <a:bodyPr/>
                    <a:lstStyle/>
                    <a:p>
                      <a:r>
                        <a:rPr sz="1500">
                          <a:solidFill>
                            <a:srgbClr val="3D424E"/>
                          </a:solidFill>
                        </a:rPr>
                        <a:t>Capítulos paralelos</a:t>
                      </a:r>
                    </a:p>
                  </a:txBody>
                  <a:tcPr>
                    <a:solidFill>
                      <a:srgbClr val="E8EAED"/>
                    </a:solidFill>
                  </a:tcPr>
                </a:tc>
                <a:tc>
                  <a:txBody>
                    <a:bodyPr/>
                    <a:lstStyle/>
                    <a:p>
                      <a:r>
                        <a:rPr sz="1500">
                          <a:solidFill>
                            <a:srgbClr val="3D424E"/>
                          </a:solidFill>
                        </a:rPr>
                        <a:t>Pipeline unificado</a:t>
                      </a:r>
                    </a:p>
                  </a:txBody>
                  <a:tcPr>
                    <a:solidFill>
                      <a:srgbClr val="E8EAED"/>
                    </a:solidFill>
                  </a:tcPr>
                </a:tc>
              </a:tr>
              <a:tr h="822960">
                <a:tc>
                  <a:txBody>
                    <a:bodyPr/>
                    <a:lstStyle/>
                    <a:p>
                      <a:r>
                        <a:rPr sz="1500">
                          <a:solidFill>
                            <a:srgbClr val="3D424E"/>
                          </a:solidFill>
                        </a:rPr>
                        <a:t>Critério de sucesso</a:t>
                      </a:r>
                    </a:p>
                  </a:txBody>
                  <a:tcPr>
                    <a:solidFill>
                      <a:srgbClr val="FFFFFF"/>
                    </a:solidFill>
                  </a:tcPr>
                </a:tc>
                <a:tc>
                  <a:txBody>
                    <a:bodyPr/>
                    <a:lstStyle/>
                    <a:p>
                      <a:r>
                        <a:rPr sz="1500">
                          <a:solidFill>
                            <a:srgbClr val="3D424E"/>
                          </a:solidFill>
                        </a:rPr>
                        <a:t>Decomposição irredutível vs redutível</a:t>
                      </a:r>
                    </a:p>
                  </a:txBody>
                  <a:tcPr>
                    <a:solidFill>
                      <a:srgbClr val="FFFFFF"/>
                    </a:solidFill>
                  </a:tcPr>
                </a:tc>
                <a:tc>
                  <a:txBody>
                    <a:bodyPr/>
                    <a:lstStyle/>
                    <a:p>
                      <a:r>
                        <a:rPr sz="1500">
                          <a:solidFill>
                            <a:srgbClr val="3D424E"/>
                          </a:solidFill>
                        </a:rPr>
                        <a:t>Melhora mensurável em métricas concretas</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Aprovação da nova versão é o item principal desta reunião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FiLM (Feature-wise Linear Modulation)?</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técnica de redes neurais (Perez et al., AAAI 2018) que permite uma rede ‘consultar’ uma fonte de contexto extra ao tomar decisões. Tecnicamente: ela modula as features intermediárias por uma transformação aprendida a partir do contexto. Não muda a arquitetura — é uma camada que se adiciona.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mecanismo formal que torna nossa proposta operacional. Sem FiLM, a ideia 'usar tom de pele como contexto' seria vaga. Com FiLM, é matemática e código concreto. Custo computacional: menos de 1% sobre o backbone.</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imagine um médico fazendo diagnóstico. Antes de decidir, ele consulta o exame complementar (ECG, raio-X). FiLM faz isso para a rede de raça: antes de decidir, ela 'consulta' a rede de tom de pele.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fair transferência (LAFTR)?</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Madras et al. (ICML 2018) provaram teoricamente e mostraram empiricamente que, ao treinar uma rede para ser justa em uma tarefa A, essa propriedade de ser justa é HERDADA por outras tarefas B que usem a mesma representação como ponto de partida.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É o que sustenta a EXTENSÃO da nossa tese para face recognition. Se treinarmos fairness na classificação racial (Cap 2), a propriedade fair se transfere para reconhecimento facial (Cap 3) — não precisa re-treinar do zero. Esta é a demonstração empírica que combinamos.</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Analogia: aprender ética profissional em medicina geral nos torna mais éticos também quando nos especializamos em cardiologia. A propriedade 'ética' não depende da especialidade — está embutida no profissional.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explicação simples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em todas as 7 raças, tratando todas igualmente.</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Quanto mais perto de 1.0, mais justo. Latinx vs Black hoje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Hoje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et al. 2017): não existe métrica única</a:t>
            </a:r>
          </a:p>
          <a:p>
            <a:pPr lvl="1">
              <a:spcAft>
                <a:spcPts val="800"/>
              </a:spcAft>
              <a:defRPr sz="1700">
                <a:solidFill>
                  <a:srgbClr val="707682"/>
                </a:solidFill>
              </a:defRPr>
            </a:pPr>
            <a:r>
              <a:t>de fairness. Reportar 3 simultaneamente é a forma honesta de comunicar trade-offs.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H1, H4 e H5 são as hipóteses centrais. Plano B documentado caso refutadas.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(~4 semanas)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(~10-12 semanas)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(~6 semanas)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548640">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548640">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548640">
                <a:tc>
                  <a:txBody>
                    <a:bodyPr/>
                    <a:lstStyle/>
                    <a:p>
                      <a:r>
                        <a:rPr sz="1500">
                          <a:solidFill>
                            <a:srgbClr val="3D424E"/>
                          </a:solidFill>
                        </a:rPr>
                        <a:t>Setup metodológico</a:t>
                      </a:r>
                    </a:p>
                  </a:txBody>
                  <a:tcPr>
                    <a:solidFill>
                      <a:srgbClr val="E8EAED"/>
                    </a:solidFill>
                  </a:tcPr>
                </a:tc>
                <a:tc>
                  <a:txBody>
                    <a:bodyPr/>
                    <a:lstStyle/>
                    <a:p>
                      <a:r>
                        <a:rPr sz="1500">
                          <a:solidFill>
                            <a:srgbClr val="3D424E"/>
                          </a:solidFill>
                        </a:rPr>
                        <a:t>2 semanas</a:t>
                      </a:r>
                    </a:p>
                  </a:txBody>
                  <a:tcPr>
                    <a:solidFill>
                      <a:srgbClr val="E8EAED"/>
                    </a:solidFill>
                  </a:tcPr>
                </a:tc>
                <a:tc>
                  <a:txBody>
                    <a:bodyPr/>
                    <a:lstStyle/>
                    <a:p>
                      <a:r>
                        <a:rPr sz="1500">
                          <a:solidFill>
                            <a:srgbClr val="3D424E"/>
                          </a:solidFill>
                        </a:rPr>
                        <a:t>Documentos com especificações detalhadas</a:t>
                      </a:r>
                    </a:p>
                  </a:txBody>
                  <a:tcPr>
                    <a:solidFill>
                      <a:srgbClr val="E8EAED"/>
                    </a:solidFill>
                  </a:tcPr>
                </a:tc>
              </a:tr>
              <a:tr h="548640">
                <a:tc>
                  <a:txBody>
                    <a:bodyPr/>
                    <a:lstStyle/>
                    <a:p>
                      <a:r>
                        <a:rPr sz="1500">
                          <a:solidFill>
                            <a:srgbClr val="3D424E"/>
                          </a:solidFill>
                        </a:rPr>
                        <a:t>Capítulo 1 — Classificador MST + matriz</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Resultado de H3</a:t>
                      </a:r>
                    </a:p>
                  </a:txBody>
                  <a:tcPr>
                    <a:solidFill>
                      <a:srgbClr val="FFFFFF"/>
                    </a:solidFill>
                  </a:tcPr>
                </a:tc>
              </a:tr>
              <a:tr h="548640">
                <a:tc>
                  <a:txBody>
                    <a:bodyPr/>
                    <a:lstStyle/>
                    <a:p>
                      <a:r>
                        <a:rPr sz="1500">
                          <a:solidFill>
                            <a:srgbClr val="3D424E"/>
                          </a:solidFill>
                        </a:rPr>
                        <a:t>Capítulo 2 — Race + condicionamento</a:t>
                      </a:r>
                    </a:p>
                  </a:txBody>
                  <a:tcPr>
                    <a:solidFill>
                      <a:srgbClr val="E8EAED"/>
                    </a:solidFill>
                  </a:tcPr>
                </a:tc>
                <a:tc>
                  <a:txBody>
                    <a:bodyPr/>
                    <a:lstStyle/>
                    <a:p>
                      <a:r>
                        <a:rPr sz="1500">
                          <a:solidFill>
                            <a:srgbClr val="3D424E"/>
                          </a:solidFill>
                        </a:rPr>
                        <a:t>10–12 semanas</a:t>
                      </a:r>
                    </a:p>
                  </a:txBody>
                  <a:tcPr>
                    <a:solidFill>
                      <a:srgbClr val="E8EAED"/>
                    </a:solidFill>
                  </a:tcPr>
                </a:tc>
                <a:tc>
                  <a:txBody>
                    <a:bodyPr/>
                    <a:lstStyle/>
                    <a:p>
                      <a:r>
                        <a:rPr sz="1500">
                          <a:solidFill>
                            <a:srgbClr val="3D424E"/>
                          </a:solidFill>
                        </a:rPr>
                        <a:t>Resultados de H1, H2, H4</a:t>
                      </a:r>
                    </a:p>
                  </a:txBody>
                  <a:tcPr>
                    <a:solidFill>
                      <a:srgbClr val="E8EAED"/>
                    </a:solidFill>
                  </a:tcPr>
                </a:tc>
              </a:tr>
              <a:tr h="548640">
                <a:tc>
                  <a:txBody>
                    <a:bodyPr/>
                    <a:lstStyle/>
                    <a:p>
                      <a:r>
                        <a:rPr sz="1500">
                          <a:solidFill>
                            <a:srgbClr val="3D424E"/>
                          </a:solidFill>
                        </a:rPr>
                        <a:t>Capítulo 3 — Face recognition</a:t>
                      </a:r>
                    </a:p>
                  </a:txBody>
                  <a:tcPr>
                    <a:solidFill>
                      <a:srgbClr val="FFFFFF"/>
                    </a:solidFill>
                  </a:tcPr>
                </a:tc>
                <a:tc>
                  <a:txBody>
                    <a:bodyPr/>
                    <a:lstStyle/>
                    <a:p>
                      <a:r>
                        <a:rPr sz="1500">
                          <a:solidFill>
                            <a:srgbClr val="3D424E"/>
                          </a:solidFill>
                        </a:rPr>
                        <a:t>6 semanas</a:t>
                      </a:r>
                    </a:p>
                  </a:txBody>
                  <a:tcPr>
                    <a:solidFill>
                      <a:srgbClr val="FFFFFF"/>
                    </a:solidFill>
                  </a:tcPr>
                </a:tc>
                <a:tc>
                  <a:txBody>
                    <a:bodyPr/>
                    <a:lstStyle/>
                    <a:p>
                      <a:r>
                        <a:rPr sz="1500">
                          <a:solidFill>
                            <a:srgbClr val="3D424E"/>
                          </a:solidFill>
                        </a:rPr>
                        <a:t>Resultado de H5</a:t>
                      </a:r>
                    </a:p>
                  </a:txBody>
                  <a:tcPr>
                    <a:solidFill>
                      <a:srgbClr val="FFFFFF"/>
                    </a:solidFill>
                  </a:tcPr>
                </a:tc>
              </a:tr>
              <a:tr h="548640">
                <a:tc>
                  <a:txBody>
                    <a:bodyPr/>
                    <a:lstStyle/>
                    <a:p>
                      <a:r>
                        <a:rPr sz="1500">
                          <a:solidFill>
                            <a:srgbClr val="3D424E"/>
                          </a:solidFill>
                        </a:rPr>
                        <a:t>Síntese final</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Decomposição do erro Latinx</a:t>
                      </a:r>
                    </a:p>
                  </a:txBody>
                  <a:tcPr>
                    <a:solidFill>
                      <a:srgbClr val="E8EAED"/>
                    </a:solidFill>
                  </a:tcPr>
                </a:tc>
              </a:tr>
              <a:tr h="548640">
                <a:tc>
                  <a:txBody>
                    <a:bodyPr/>
                    <a:lstStyle/>
                    <a:p>
                      <a:r>
                        <a:rPr sz="1500">
                          <a:solidFill>
                            <a:srgbClr val="3D424E"/>
                          </a:solidFill>
                        </a:rPr>
                        <a:t>Escrita dos capítulos</a:t>
                      </a:r>
                    </a:p>
                  </a:txBody>
                  <a:tcPr>
                    <a:solidFill>
                      <a:srgbClr val="FFFFFF"/>
                    </a:solidFill>
                  </a:tcPr>
                </a:tc>
                <a:tc>
                  <a:txBody>
                    <a:bodyPr/>
                    <a:lstStyle/>
                    <a:p>
                      <a:r>
                        <a:rPr sz="1500">
                          <a:solidFill>
                            <a:srgbClr val="3D424E"/>
                          </a:solidFill>
                        </a:rPr>
                        <a:t>8–12 semanas (paralelo)</a:t>
                      </a:r>
                    </a:p>
                  </a:txBody>
                  <a:tcPr>
                    <a:solidFill>
                      <a:srgbClr val="FFFFFF"/>
                    </a:solidFill>
                  </a:tcPr>
                </a:tc>
                <a:tc>
                  <a:txBody>
                    <a:bodyPr/>
                    <a:lstStyle/>
                    <a:p>
                      <a:r>
                        <a:rPr sz="1500">
                          <a:solidFill>
                            <a:srgbClr val="3D424E"/>
                          </a:solidFill>
                        </a:rPr>
                        <a:t>Texto final da dissertação</a:t>
                      </a:r>
                    </a:p>
                  </a:txBody>
                  <a:tcPr>
                    <a:solidFill>
                      <a:srgbClr val="FFFFFF"/>
                    </a:solidFill>
                  </a:tcPr>
                </a:tc>
              </a:tr>
              <a:tr h="548640">
                <a:tc>
                  <a:txBody>
                    <a:bodyPr/>
                    <a:lstStyle/>
                    <a:p>
                      <a:r>
                        <a:rPr sz="1500">
                          <a:solidFill>
                            <a:srgbClr val="3D424E"/>
                          </a:solidFill>
                        </a:rPr>
                        <a:t>Defesa prevista</a:t>
                      </a:r>
                    </a:p>
                  </a:txBody>
                  <a:tcPr>
                    <a:solidFill>
                      <a:srgbClr val="E8EAED"/>
                    </a:solidFill>
                  </a:tcPr>
                </a:tc>
                <a:tc>
                  <a:txBody>
                    <a:bodyPr/>
                    <a:lstStyle/>
                    <a:p>
                      <a:r>
                        <a:rPr sz="1500">
                          <a:solidFill>
                            <a:srgbClr val="3D424E"/>
                          </a:solidFill>
                        </a:rPr>
                        <a:t>~ Janeiro–Março de 2027</a:t>
                      </a:r>
                    </a:p>
                  </a:txBody>
                  <a:tcPr>
                    <a:solidFill>
                      <a:srgbClr val="E8EAED"/>
                    </a:solidFill>
                  </a:tcPr>
                </a:tc>
                <a:tc>
                  <a:txBody>
                    <a:bodyPr/>
                    <a:lstStyle/>
                    <a:p>
                      <a:r>
                        <a:rPr sz="1500">
                          <a:solidFill>
                            <a:srgbClr val="3D424E"/>
                          </a:solidFill>
                        </a:rPr>
                        <a:t>Total: ~28–32 semanas ativas</a:t>
                      </a:r>
                    </a:p>
                  </a:txBody>
                  <a:tcPr>
                    <a:solidFill>
                      <a:srgbClr val="E8EAED"/>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Riscos identificados e como mitigá-los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Risco 1 — Alguma hipótese ser refutada</a:t>
            </a:r>
          </a:p>
          <a:p>
            <a:pPr lvl="1">
              <a:spcAft>
                <a:spcPts val="800"/>
              </a:spcAft>
              <a:defRPr sz="1700">
                <a:solidFill>
                  <a:srgbClr val="707682"/>
                </a:solidFill>
              </a:defRPr>
            </a:pPr>
            <a:r>
              <a:t>Plano B documentado. Observação negativa é resultado científico válido.</a:t>
            </a:r>
          </a:p>
          <a:p>
            <a:pPr>
              <a:spcAft>
                <a:spcPts val="800"/>
              </a:spcAft>
              <a:defRPr sz="2000" b="0">
                <a:solidFill>
                  <a:srgbClr val="3D424E"/>
                </a:solidFill>
              </a:defRPr>
            </a:pPr>
          </a:p>
          <a:p>
            <a:pPr>
              <a:spcAft>
                <a:spcPts val="800"/>
              </a:spcAft>
              <a:defRPr sz="2000" b="0">
                <a:solidFill>
                  <a:srgbClr val="3D424E"/>
                </a:solidFill>
              </a:defRPr>
            </a:pPr>
            <a:r>
              <a:t>Risco 2 — Recrutar anotadores diversos para validação manual MST</a:t>
            </a:r>
          </a:p>
          <a:p>
            <a:pPr lvl="1">
              <a:spcAft>
                <a:spcPts val="800"/>
              </a:spcAft>
              <a:defRPr sz="1700">
                <a:solidFill>
                  <a:srgbClr val="707682"/>
                </a:solidFill>
              </a:defRPr>
            </a:pPr>
            <a:r>
              <a:t>Vou usar Prolific Academic com filtros regionais. Custo estimado: $1400 para 700 imagens × 3 anotadores.</a:t>
            </a:r>
          </a:p>
          <a:p>
            <a:pPr>
              <a:spcAft>
                <a:spcPts val="800"/>
              </a:spcAft>
              <a:defRPr sz="2000" b="0">
                <a:solidFill>
                  <a:srgbClr val="3D424E"/>
                </a:solidFill>
              </a:defRPr>
            </a:pPr>
          </a:p>
          <a:p>
            <a:pPr>
              <a:spcAft>
                <a:spcPts val="800"/>
              </a:spcAft>
              <a:defRPr sz="2000" b="0">
                <a:solidFill>
                  <a:srgbClr val="3D424E"/>
                </a:solidFill>
              </a:defRPr>
            </a:pPr>
            <a:r>
              <a:t>Risco 3 — Adaptação multi-classe das técnicas baseline</a:t>
            </a:r>
          </a:p>
          <a:p>
            <a:pPr lvl="1">
              <a:spcAft>
                <a:spcPts val="800"/>
              </a:spcAft>
              <a:defRPr sz="1700">
                <a:solidFill>
                  <a:srgbClr val="707682"/>
                </a:solidFill>
              </a:defRPr>
            </a:pPr>
            <a:r>
              <a:t>Código open-source disponível para todos: FSCL+, Group DRO, FineFACE, Adversarial.</a:t>
            </a:r>
          </a:p>
          <a:p>
            <a:pPr>
              <a:spcAft>
                <a:spcPts val="800"/>
              </a:spcAft>
              <a:defRPr sz="2000" b="0">
                <a:solidFill>
                  <a:srgbClr val="3D424E"/>
                </a:solidFill>
              </a:defRPr>
            </a:pPr>
          </a:p>
          <a:p>
            <a:pPr>
              <a:spcAft>
                <a:spcPts val="800"/>
              </a:spcAft>
              <a:defRPr sz="2000" b="0">
                <a:solidFill>
                  <a:srgbClr val="3D424E"/>
                </a:solidFill>
              </a:defRPr>
            </a:pPr>
            <a:r>
              <a:t>Risco 4 — Compute</a:t>
            </a:r>
          </a:p>
          <a:p>
            <a:pPr lvl="1">
              <a:spcAft>
                <a:spcPts val="800"/>
              </a:spcAft>
              <a:defRPr sz="1700">
                <a:solidFill>
                  <a:srgbClr val="707682"/>
                </a:solidFill>
              </a:defRPr>
            </a:pPr>
            <a:r>
              <a:t>ConvNeXt-T é leve (28M parâmetros). Estimativa ~200–400 GPU-horas para Cap 2 completo.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