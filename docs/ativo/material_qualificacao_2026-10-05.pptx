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921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Ganho transfere para reconhecimento (RFW/BFW)  </a:t>
            </a:r>
            <a:r>
              <a:rPr sz="1300" i="1">
                <a:solidFill>
                  <a:srgbClr val="707682"/>
                </a:solidFill>
              </a:rPr>
              <a:t>[gap ↓ downstream]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82" y="1371600"/>
            <a:ext cx="1054718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943600"/>
                <a:gridCol w="493776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Como endereçamos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existe matriz pública MST × classes raciais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FiLM (Perez 2018) nunca foi aplicado em classificação racial multi-classe.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Métricas de fairness multi-classe estão fragmentadas na literatura.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4 — Contribuição 4 (triangulação).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Transferência de fairness (Madras et al., 2018) para reconhecimento é pouco estudada.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5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há decomposição quantitativa do gap Latinx (fenótipo × algoritmo).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6 — Contribuição 6.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6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534" y="1371600"/>
            <a:ext cx="41078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Fluxo top-down organizado em três fases: diagnóstico (etapas 1 e 2), método proposto (etapa 3) e validação e síntese (etapas 4 a 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59436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Configuração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Sem condicionamento — controle arquitetural.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MST direto, 10-dim)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Proposta principal —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via CLIP-text, 512-dim)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Alternativa moderna — Radford et al. (2021) + Dehdashtian et al. (2024).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validação: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A — apenas raça:  </a:t>
            </a:r>
            <a:r>
              <a:rPr sz="1800">
                <a:solidFill>
                  <a:srgbClr val="3D424E"/>
                </a:solidFill>
              </a:rPr>
              <a:t>reporte estratificado por classe racial (sete classes do FairFace).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B — raça × gênero:  </a:t>
            </a:r>
            <a:r>
              <a:rPr sz="1800">
                <a:solidFill>
                  <a:srgbClr val="3D424E"/>
                </a:solidFill>
              </a:rPr>
              <a:t>análise interseccional (oito subgrupos), conforme protocolo estabelecido por Gender Shades (Buolamwini &amp; Gebru, 2018).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Norma seguida:  </a:t>
            </a:r>
            <a:r>
              <a:rPr sz="1800">
                <a:solidFill>
                  <a:srgbClr val="3D424E"/>
                </a:solidFill>
              </a:rPr>
              <a:t>ISO/IEC 19795-10:2024, padrão internacional para reporte de desempenho biométrico estratificado entre grupos demográficos.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Rigor experimental:  </a:t>
            </a:r>
            <a:r>
              <a:rPr sz="1800">
                <a:solidFill>
                  <a:srgbClr val="3D424E"/>
                </a:solidFill>
              </a:rPr>
              <a:t>três sementes independentes por experimento (42, 1, 2), comparação pareada e intervalo de confiança de 95 % via bootstrap não paramétrico.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transferência (Etapa 5):  </a:t>
            </a:r>
            <a:r>
              <a:rPr sz="1800">
                <a:solidFill>
                  <a:srgbClr val="3D424E"/>
                </a:solidFill>
              </a:rPr>
              <a:t>RFW (Wang et al., 2019) e BFW (Robinson et al., 2020), com pares oficiais de verificação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Triangulação de métricas de equidade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Por que triangular — Kleinberg et al. (2017):  </a:t>
            </a:r>
            <a:r>
              <a:rPr sz="1800">
                <a:solidFill>
                  <a:srgbClr val="3D424E"/>
                </a:solidFill>
              </a:rPr>
              <a:t>Teorema da Impossibilidade — demonstra a impossibilidade formal de satisfação simultânea de múltiplas definições de equidade quando as prevalências diferem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Disparity Ratio:  </a:t>
            </a:r>
            <a:r>
              <a:rPr sz="1800">
                <a:solidFill>
                  <a:srgbClr val="3D424E"/>
                </a:solidFill>
              </a:rPr>
              <a:t>razão entre F1 mínimo e máximo entre grupos; mensura a desigualdade de desempenho.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F1 da pior classe:  </a:t>
            </a:r>
            <a:r>
              <a:rPr sz="1800">
                <a:solidFill>
                  <a:srgbClr val="3D424E"/>
                </a:solidFill>
              </a:rPr>
              <a:t>protege o grupo sub-representado; evita ganhos concentrados apenas na média agregada.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800">
                <a:solidFill>
                  <a:srgbClr val="3D424E"/>
                </a:solidFill>
              </a:rPr>
              <a:t>requer igualdade de taxa de verdadeiro positivo (TPR) condicionada ao rótulo verdadeiro.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Equalized Odds — Hardt et al. (2016):  </a:t>
            </a:r>
            <a:r>
              <a:rPr sz="1800">
                <a:solidFill>
                  <a:srgbClr val="3D424E"/>
                </a:solidFill>
              </a:rPr>
              <a:t>requisito estrito: igualdade simultânea de TPR e FPR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Visualização Pareto:  </a:t>
            </a:r>
            <a:r>
              <a:rPr sz="1800">
                <a:solidFill>
                  <a:srgbClr val="3D424E"/>
                </a:solidFill>
              </a:rPr>
              <a:t>identificação da fronteira Pareto no trade-off acurácia agregada × disparidade demográfica.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