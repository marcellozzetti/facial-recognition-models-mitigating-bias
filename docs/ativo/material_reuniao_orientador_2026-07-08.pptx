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188720"/>
            <a:ext cx="9601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F2A4E"/>
                </a:solidFill>
              </a:defRPr>
            </a:pPr>
            <a:r>
              <a:t>Consolidação do plano de trabalho</a:t>
            </a:r>
          </a:p>
          <a:p>
            <a:pPr>
              <a:defRPr sz="2000">
                <a:solidFill>
                  <a:srgbClr val="3D424E"/>
                </a:solidFill>
              </a:defRPr>
            </a:pPr>
            <a:r>
              <a:t>Estado da escrita, adequação ética e solicitação de extensão</a:t>
            </a:r>
          </a:p>
          <a:p>
            <a:pPr>
              <a:defRPr sz="1500" i="1">
                <a:solidFill>
                  <a:srgbClr val="707682"/>
                </a:solidFill>
              </a:defRPr>
            </a:pPr>
            <a:r>
              <a:t>Alinhamento após 3 semanas sem reuniões — foco em 2 pendências específicas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411480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D424E"/>
                </a:solidFill>
              </a:defRPr>
            </a:pPr>
            <a:r>
              <a:t>Mestrando:  Marcello Ozzetti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Orientador:  Prof. Marcos Quiles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Programa:  Mestrado em Ciência da Computação — Unifesp / ICT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Reunião:  08 de julho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Agenda da reunião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Plano de trabalho consolidado — 3 marcos formais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Pendência 1 — Escrita da qualificação e postura sobre uso de LLM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Pendência 2 — Adequação ética CEP/Unifesp (Res. 200/2021)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Solicitação pessoal — extensão de 2 meses no prazo da defesa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Perguntas objetivas e próximos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Reunião enxuta, foco em alinhamento e desbloqueio.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Plano de trabalho consolidado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Três marcos formais no horizonte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Três marcos formais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572000"/>
                <a:gridCol w="2286000"/>
                <a:gridCol w="4572000"/>
              </a:tblGrid>
              <a:tr h="11887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Marco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Data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Observação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1ª revisão da qualificação ao orientador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15/jul/2026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Mantida — 7 dias a partir de hoje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Pedido formal de qualificação (PPG-CC / ICT)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30/jul/2026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Mantido — prazo regimental do Programa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Defesa da qualificação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outubro/2026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Ajustada de agosto para outubro (solicitação de extensão de 2 meses)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Marcos 1 e 2 mantidos; marco 3 depende da solicitação formal de extensão.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Pendência 1 — Escrita da qualificação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Corpo pronto no repositório; transferência manual para Overleaf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Estado do corpo dos capítulos no repositório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5943600"/>
                <a:gridCol w="320040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Capítulo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Base narrativa no repositório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Estado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1. Introdução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_pre_qualificacao_narrativa.md v1.2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Corpo pronto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2. Revisão bibliográfica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104 fichas + _mapa_citacoes_por_capitulo.md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Corpo pronto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3. Objetivos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_objetivo_tese v3.6 (OG + 6 OE + 6 H + 7 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Corpo pronto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4. Metodologia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_decisao_arquitetural_film + _checklist_etica_cep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Corpo pronto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5. Cronograma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Marcos ajustados desta reunião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 finalizar após alinhamento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Repositório GitHub pode ser aberto ao vivo durante a reunião.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Postura sobre uso de LLM — este trabalho NÃO é 100 % LLM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Princípio:  </a:t>
            </a:r>
            <a:r>
              <a:rPr sz="1600">
                <a:solidFill>
                  <a:srgbClr val="3D424E"/>
                </a:solidFill>
              </a:rPr>
              <a:t>cada linha do texto final é escrita, lida e apropriada conscientemente pelo mestrando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Papel do mestrando:  </a:t>
            </a:r>
            <a:r>
              <a:rPr sz="1600">
                <a:solidFill>
                  <a:srgbClr val="3D424E"/>
                </a:solidFill>
              </a:rPr>
              <a:t>definição do problema, escolha do dataset, leitura crítica dos 104 papers, decisões arquiteturais, argumentação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Papel da LLM (Claude Code):  </a:t>
            </a:r>
            <a:r>
              <a:rPr sz="1600">
                <a:solidFill>
                  <a:srgbClr val="3D424E"/>
                </a:solidFill>
              </a:rPr>
              <a:t>ferramenta operacional — estruturação, revisão de coerência, formatação de fichas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Papel do NotebookLM:  </a:t>
            </a:r>
            <a:r>
              <a:rPr sz="1600">
                <a:solidFill>
                  <a:srgbClr val="3D424E"/>
                </a:solidFill>
              </a:rPr>
              <a:t>segunda opinião externa e independente (validação, não construção)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Transferência para Overleaf:  </a:t>
            </a:r>
            <a:r>
              <a:rPr sz="1600">
                <a:solidFill>
                  <a:srgbClr val="3D424E"/>
                </a:solidFill>
              </a:rPr>
              <a:t>MANUAL, linha a linha — garante consistência ABNT + revisão obrigatória + apropriação defensável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Analogia: LLM é ferramenta operacional (como IDE, corretor ortográfico, mecanismo de busca).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Divisão explícita de responsabilidade autor × LLM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3657600"/>
                <a:gridCol w="3657600"/>
              </a:tblGrid>
              <a:tr h="5943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Atividade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Autor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Papel da LLM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Definição do problema e pergunta de pesquisa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Marcello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Nenhum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Leitura crítica dos 104 papers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Marcello (PDFs, VPN)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Assistência em resumos pós-leitura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Fichas bibliográficas (104)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Marcello (verificação PDF a PDF)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Formatação padronizada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Argumentação e storytelling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Marcello (decisões editoriais)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Sugestão de estrutura + revisão de coerência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Decisão arquitetural FiLM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Marcello + Orientador (reuniões)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Comparação sistemática entre alternativas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Ajuste ético do OE-1 (v3.6)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Marcello (interpretação Res. 200/2021)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Análise da resolução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Transferência para Overleaf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Marcello — manual, linha a linha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Nenhum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Se o orientador desejar, posso abrir os capítulos no repositório agora.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Pendência 2 — Adequação ética CEP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Resolução 200/2021/CONSU Unifesp — enquadramento no Art. 8º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Análise da Resolução 200/2021/CONSU Unifesp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Base legal:  </a:t>
            </a:r>
            <a:r>
              <a:rPr sz="1600">
                <a:solidFill>
                  <a:srgbClr val="3D424E"/>
                </a:solidFill>
              </a:rPr>
              <a:t>Resolução nº 200/2021/CONSELHO UNIVERSITÁRIO Unifesp (SEI 0719529)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Pergunta central:  </a:t>
            </a:r>
            <a:r>
              <a:rPr sz="1600">
                <a:solidFill>
                  <a:srgbClr val="3D424E"/>
                </a:solidFill>
              </a:rPr>
              <a:t>o projeto envolve, direta ou indiretamente, seres humanos?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Datasets utilizados:  </a:t>
            </a:r>
            <a:r>
              <a:rPr sz="1600">
                <a:solidFill>
                  <a:srgbClr val="3D424E"/>
                </a:solidFill>
              </a:rPr>
              <a:t>FairFace, RFW, BFW, BUPT — todos secundários, públicos, sem coleta primária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Natureza da pesquisa:  </a:t>
            </a:r>
            <a:r>
              <a:rPr sz="1600">
                <a:solidFill>
                  <a:srgbClr val="3D424E"/>
                </a:solidFill>
              </a:rPr>
              <a:t>puramente computacional, sem intervenção em seres humanos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Ajuste v3.6 aplicado:  </a:t>
            </a:r>
            <a:r>
              <a:rPr sz="1600">
                <a:solidFill>
                  <a:srgbClr val="3D424E"/>
                </a:solidFill>
              </a:rPr>
              <a:t>validação MST do OE-1 substituída por processo interno (Mestrando + Orientador)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Enquadramento:  </a:t>
            </a:r>
            <a:r>
              <a:rPr sz="1600">
                <a:solidFill>
                  <a:srgbClr val="3D424E"/>
                </a:solidFill>
              </a:rPr>
              <a:t>Art. 8º — dispensa de cadastro no CEP; exige apenas Declaração de Responsabilidade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Auditoria completa em _checklist_etica_cep.md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Ajuste técnico no OE-1 (v3.5 → v3.6)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114800"/>
                <a:gridCol w="502920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Aspecto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v3.5 (anterior)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v3.6 (atual)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Método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Crowdsourcing externo via Prolific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Validação interna pela equipe acadêmica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Anotadores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~3 externos pagos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Mestrando + Orientador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Escala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~700 imgs estratificadas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~200-300 imgs estratificadas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Estratificação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Por raça e tom MST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Por raça e tom MST (preservada)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Implicação ética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Requer CEP (pesquisa indireta com humanos)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Dispensa CEP → apenas Declaração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Rigor metodológico preservado via estratificação; escala adaptada ao processo interno.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Trâmite administrativo — próximos passos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Confirmar hoje quem é o(a) Chefe do Departamento (3ª assinatura obrigatória)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Baixar modelo de Declaração em http://www.cep.unifesp.br/cep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Preencher com dados do projeto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Coletar 3 assinaturas via SEI Unifesp — Mestrando + Orientador + Chefe do Departamento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Anexar Declaração assinada à entrega da qualificação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 </a:t>
            </a:r>
            <a:r>
              <a:rPr sz="1600">
                <a:solidFill>
                  <a:srgbClr val="3D424E"/>
                </a:solidFill>
              </a:rPr>
              <a:t>Incluir parágrafo metodológico no Cap 4 sobre dispensa CEP (Art. 8º)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Solicitação pessoal — extensão de 2 meses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Cuidado parental e reprogramação do prazo da defesa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Solicitação formal de extensão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Motivo:  </a:t>
            </a:r>
            <a:r>
              <a:rPr sz="1600">
                <a:solidFill>
                  <a:srgbClr val="3D424E"/>
                </a:solidFill>
              </a:rPr>
              <a:t>nascimento de minha filha em 28/março/2026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>Período de afastamento das atividades acadêmicas nas semanas subsequentes para cuidado parental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Solicitação:  </a:t>
            </a:r>
            <a:r>
              <a:rPr sz="1600">
                <a:solidFill>
                  <a:srgbClr val="3D424E"/>
                </a:solidFill>
              </a:rPr>
              <a:t>extensão de 2 meses no prazo da defesa da qualificação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Prazo anterior:  </a:t>
            </a:r>
            <a:r>
              <a:rPr sz="1600">
                <a:solidFill>
                  <a:srgbClr val="3D424E"/>
                </a:solidFill>
              </a:rPr>
              <a:t>agosto/2026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Prazo solicitado:  </a:t>
            </a:r>
            <a:r>
              <a:rPr sz="1600">
                <a:solidFill>
                  <a:srgbClr val="3D424E"/>
                </a:solidFill>
              </a:rPr>
              <a:t>outubro/2026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Marcos preservados:  </a:t>
            </a:r>
            <a:r>
              <a:rPr sz="1600">
                <a:solidFill>
                  <a:srgbClr val="3D424E"/>
                </a:solidFill>
              </a:rPr>
              <a:t>1ª revisão em 15/jul e pedido formal em 30/jul mantidos — a extensão afeta apenas o prazo final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Documento:  </a:t>
            </a:r>
            <a:r>
              <a:rPr sz="1600">
                <a:solidFill>
                  <a:srgbClr val="3D424E"/>
                </a:solidFill>
              </a:rPr>
              <a:t>carta formal em 2 parágrafos redigida, pronta para envio via SEI ou conforme trâmite indicado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Perguntas e próximos passos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Alinhamento objetivo — 6 perguntas + plano de 7 dias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Perguntas objetivas ao orientador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Estrutura dos capítulos apresentada está adequada? Sugestões?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Chefe do Departamento — quem assina a Declaração de Responsabilidade do CEP?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Trâmite formal da extensão de 2 meses — carta, requerimento SEI, processo?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Template Overleaf institucional Unifesp / ICT ou padrão ABNT genérico?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Co-orientador — alguma definição?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 </a:t>
            </a:r>
            <a:r>
              <a:rPr sz="1600">
                <a:solidFill>
                  <a:srgbClr val="3D424E"/>
                </a:solidFill>
              </a:rPr>
              <a:t>Composição da banca preliminar — alguma sugestão?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Próximos 7 dias — plano até 15/jul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486400"/>
                <a:gridCol w="411480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Data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Atividade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Entregável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08-09/jul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Transferência do Cap 1 (Markdown → Overleaf)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 1 em LaTeX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10-11/jul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Transferência do Cap 2 (Revisão bibliográfica)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 2 em LaTeX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12-13/jul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Transferência dos Caps 3, 4 e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Caps 3-5 em LaTeX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Revisão final integrada + ajustes desta reunião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Documento consolidado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15/jul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Entrega da 1ª revisão da qualificação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Marco 1 atingido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Tramitação da Declaração CEP e carta de extensão em paralelo.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Obrigado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Discussão livre — dúvidas e alinhamento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