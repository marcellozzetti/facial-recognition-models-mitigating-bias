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371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Atribuição Causal e Pareamento Metodológico em Classificação de Raça 7-classes no FairFace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0E8F5"/>
                </a:solidFill>
              </a:defRPr>
            </a:pPr>
            <a:r>
              <a:t>Reunião de progresso — atividades 10–24 de maio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Autor: Marcello Ozzetti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Orientador: Prof. Marcos Quiles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Programa: Mestrado em Ciência da Computação — Unifesp/ICT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Estado do projeto há 2 semanas (10/05/2026)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3716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O que tínhamos: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5 Fatores de atribuição causal rodados (Linha A)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ConvNeXt-T identificado como única alavanca arquitetural (Fator 5)</a:t>
            </a:r>
          </a:p>
          <a:p>
            <a:pPr lvl="2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F1 +2.3pp (~7σ), Razão de Disparidade −0.13 (~3σ)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Critério Pareto-aware best-epoch documentado (Linha B)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Sem posicionamento absoluto vs literatura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Dúvida central: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"Nosso F1 ≈ 0.69 é bom ou ruim? Comparado a quê?"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Atividade 1: Pesquisa textual SOTA (10–15/05)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097280"/>
          <a:ext cx="13258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"/>
                <a:gridCol w="4114800"/>
              </a:tblGrid>
              <a:tr h="4114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Faz race 7-class?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FairFace (Kärkkäinen 2021) — paper-pai do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392B"/>
                          </a:solidFill>
                        </a:rPr>
                        <a:t>❌ (4-class merged)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FineFACE (Liu 2024) — citado como SOTA-fairness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392B"/>
                          </a:solidFill>
                        </a:rPr>
                        <a:t>❌ (classifica GÊNERO)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U-FaTE (CVPR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392B"/>
                          </a:solidFill>
                        </a:rPr>
                        <a:t>❌ (multi-task)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FairGRAPE (ECCV 2022)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392B"/>
                          </a:solidFill>
                        </a:rPr>
                        <a:t>❌ (compressão)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DSAP (Inf. Fusion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392B"/>
                          </a:solidFill>
                        </a:rPr>
                        <a:t>❌ (auditoria de dataset)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Fairness-is-in-Details (ECML 2025)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392B"/>
                          </a:solidFill>
                        </a:rPr>
                        <a:t>❌ (auditoria de dataset)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Hassanpour 2024 (arXiv 2410.24148)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</a:rPr>
                        <a:t>✅ ÚNICA referência publicada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7498079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6B9E"/>
                </a:solidFill>
              </a:defRPr>
            </a:pPr>
            <a:r>
              <a:t>Achado central: Hassanpour 2024 é a SOTA-CNN real (ResNet-34 baseline = 0.720). FaceScanPaliGemma do mesmo paper = 0.757 (VLM 3B params, não comparável arquiteturalmente).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Atividade 2: Experimentos Adicionais de Posicionamento (15–22/05)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097280"/>
          <a:ext cx="13258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943600"/>
                <a:gridCol w="4114800"/>
              </a:tblGrid>
              <a:tr h="43891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Nome descritivo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O que isola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Resultado (3-seed)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Exp-FairFace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Recipe paper-pai (RN-34 + Adam)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F1 = 0.676 ± 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Exp-FineFACE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Recipe FineFACE sem multi-expert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F1 = 0.663 ± 0.007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Exp-DadosBrutos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Sem nosso pré-processamento (MTCNN + cleaning)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F1 = 0.695 ± 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Exp-ProtocoloSOTA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Reprodução integral do protocolo Hassanpour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F1 = 0.703 ± 0.005, IR = 1.541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7498079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6B9E"/>
                </a:solidFill>
              </a:defRPr>
            </a:pPr>
            <a:r>
              <a:t>Observações: nosso recipe AdamW@224 é localmente ótimo. Sob protocolo Hassanpour idêntico, ficamos a −0.85pp single-vs-single (1.7σ da variância).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Atividade 3: Análise de Robustez (22/05)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3716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Pergunta: "A alavanca ConvNeXt-T persiste sem subamostragem por raça?"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Rob-SemSubamostragem — 6 runs (controle + ConvNeXt × 3 seeds), balance: none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Achado dual: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(1) Subamostragem é estatisticamente NEUTRA (Outcome B)</a:t>
            </a:r>
          </a:p>
          <a:p>
            <a:pPr lvl="2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Acurácia, F1 e IR essencialmente idênticos com vs sem subamostragem</a:t>
            </a:r>
          </a:p>
          <a:p>
            <a:pPr lvl="2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Refuta empiricamente prática-padrão da literatura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(2) Alavanca ConvNeXt-T PERSISTE em 3 protocolos:</a:t>
            </a:r>
          </a:p>
          <a:p>
            <a:pPr lvl="2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Protocolo casado original: +2.3pp F1 (~7σ)</a:t>
            </a:r>
          </a:p>
          <a:p>
            <a:pPr lvl="2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Sem subamostragem: +1.4pp F1 (~1.5σ — atenuada)</a:t>
            </a:r>
          </a:p>
          <a:p>
            <a:pPr lvl="2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Protocolo Hassanpour: +2.4pp F1 (~3.5σ)</a:t>
            </a:r>
          </a:p>
          <a:p>
            <a:pPr lvl="2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Robusta em 3 protocolos distintos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Atividade 4: Auditoria Empírica de Hiperparâmetros (22–23/05)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97280"/>
          <a:ext cx="14173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114800"/>
                <a:gridCol w="3200400"/>
              </a:tblGrid>
              <a:tr h="43891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Auditoria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Variável testada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Aud-Paciência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patience: 5 →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bit-a-bit idêntico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392B"/>
                          </a:solidFill>
                        </a:rPr>
                        <a:t>❌ não é limitador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Aud-Dropout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dropout: 0.2 → 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F1 −0.003, IR +0.058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392B"/>
                          </a:solidFill>
                        </a:rPr>
                        <a:t>❌ não é limitador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Aud-Augmentation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TrivialAugmentWide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F1 +0.9pp, mas desloca viés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392B"/>
                          </a:solidFill>
                        </a:rPr>
                        <a:t>⚠️ rejeitado per-class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Aud-Oversampling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balance: none → oversample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F1 −2pp, Latino −12.5pp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392B"/>
                          </a:solidFill>
                        </a:rPr>
                        <a:t>❌ CATASTRÓFICO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7498079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6B9E"/>
                </a:solidFill>
              </a:defRPr>
            </a:pPr>
            <a:r>
              <a:t>Achado: nenhuma técnica comum "corrige" o gap. A única intervenção robusta verificada é arquitetural (ConvNeXt-T).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Atividade 5: Análises Pós-Treinamento (23/05) — sem retreinamento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3716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6400800"/>
              </a:tblGrid>
              <a:tr h="43891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Análise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Referência canônica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O que adiciona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PT-Interseccional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Buolamwini &amp; Gebru, FAccT 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IR cresce 1.541 → 3.241 quando crossado com gênero × 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PT-Ensemble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Lakshminarayanan et al., NeurIPS 2017 (8000+ cit)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Deep ensemble reduz variância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PT-TTA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Krizhevsky 2012 (AlexNet 10-crop)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Test-Time Augmentation com transformações seguras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PT-Calibração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Guo et al., ICML 2017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Temperature scaling + threshold per-class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7498079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6B9E"/>
                </a:solidFill>
              </a:defRPr>
            </a:pPr>
            <a:r>
              <a:t>Resultados: PT-Ensemble = 0.7299 acc. Ensemble + TTA = IR = 1.474 (melhor equidade do projeto). Pior subgrupo interseccional: Middle Eastern × Female × 3-9 (28.6%).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Achado Central #1: Alavanca ConvNeXt-T (3 protocolos)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097280"/>
          <a:ext cx="12801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Protocolo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Δ F1 (ConvNeXt vs Controle)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Δ Razão de Disparidade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Casado original (5 Fatores)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+2.3pp (~7σ)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−0.128 (~3σ)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Sem subamostragem (Rob)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+1.4pp (~1.5σ)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−0.065 (~0.7σ)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Protocolo Hassanpour (Exp-ProtocoloSOTA)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+2.4pp (~3.5σ)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−0.087 (~1.8σ)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7498079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6B9E"/>
                </a:solidFill>
              </a:defRPr>
            </a:pPr>
            <a:r>
              <a:t>Hipóteses mecanísticas a discutir (Fator 5): H1 LayerNorm &gt; BatchNorm, H2 Kernel depthwise 7×7, H3 Recipe de pré-treinamento moderno.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Achado Central #2: Critério Pareto-aware best-epoch (Linha B)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0972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43891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Função de custo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Δ F1 sob critério correto vs ingênuo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Cross-Entropy (CE)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+0.021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AdaFace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+0.146 (12% de melhoria relativa)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MagFace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+0.087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ArcFace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+0.034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7498079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6B9E"/>
                </a:solidFill>
              </a:defRPr>
            </a:pPr>
            <a:r>
              <a:t>Descoberta: min(val_loss) é anti-correlacionado com F1 para cabeças com margem angular. Comparações entre funções de custo podem ser INVERTIDAS sob critério ingênuo.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Posicionamento final vs SOTA-CNN (versão ética)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39" y="1097280"/>
          <a:ext cx="13075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1645920"/>
                <a:gridCol w="1371600"/>
                <a:gridCol w="2743200"/>
              </a:tblGrid>
              <a:tr h="418011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Configuração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Acurácia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IR ↓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Comparação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Hassanpour ResNet-34 baseline (single-run)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referência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Nosso ConvNeXt-T single seed (s42)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0.7115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0.7083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1.496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−0.85pp (1.7σ)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Nosso ConvNeXt-T média 3 seeds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0.7060 ± 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1.541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−1.4pp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Nosso ConvNeXt-T deep ensemble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0.7299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0.7285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1.501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agregação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Nosso ConvNeXt-T + 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1.474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melhor 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Nosso ConvNeXt-T + Ensemble + Calibração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0.7304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0.7292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1.501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melhor F1/Acc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7498079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6B9E"/>
                </a:solidFill>
              </a:defRPr>
            </a:pPr>
            <a:r>
              <a:t>Mensagem ética: comparação simétrica single-vs-single nos dá −0.85pp (dentro da variância). Estimativas agregadas refletem MAIOR CONFIABILIDADE da estimativa via técnicas científicas (Lakshminarayanan 2017), NÃO superação direta.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Pontos de discussão com o orientador (5)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3716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1. Posicionamento vs SOTA: estamos no caminho certo?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Comparação simétrica nos dá −0.85pp (dentro da variância natural).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Narrativa Linha A + Linha B é defensável?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2. Achado de FineFACE não classificar raça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Destaque na introdução (1 parágrafo) ou só related work?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3. Análise interseccional revela 'Middle Eastern Female 3-9' como pior subgrupo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Vai para Resultados ou Discussão? Recomendar mitigação específica?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4. Roadmap pós-qualificação (Caminho 1)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Group DRO (Sagawa 2020) + DINOv2 (Oquab 2023) entre qualificação e defesa final. Faz sentido?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5. Auditoria empírica de código no corpo da tese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Capítulo de Resultados (como achado) ou Apêndice (como rigor metodológico)?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Próximos passos — Junho 2026 (REDAÇÃO)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3716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  <a:gridCol w="2743200"/>
              </a:tblGrid>
              <a:tr h="43891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Capítulo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Conteúdo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Prazo sugerido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Metodologia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Protocolo, métricas, 5 fatores, anchors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1-7/06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Resultados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Tabelas consolidadas, narrativa Linha A + 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8-14/06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Discussão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Interpretar achados, conectar com literatura, limitações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15-21/06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Introdução + Conclusão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Por último, quando souber o que está dizendo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22-30/06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7498079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6B9E"/>
                </a:solidFill>
              </a:defRPr>
            </a:pPr>
            <a:r>
              <a:t>Defesa de qualificação: ago/2026 (Art. 49 Unifesp/ICT). Régua de decisão: cada análise daqui pra frente deve avançar uma das 3 contribuições OU fechar uma limitação SEM abrir nova.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Recursos e transparência (custo das 2 semanas)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097280"/>
          <a:ext cx="13258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Tempo GPU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Energia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Custo BR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5 Fatores definitivos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~25h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~12.5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~R$ 12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4 Experimentos Adicionais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~25h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~12.5 kWh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~R$ 12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Rob-SemSubamostragem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~10h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~R$ 5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Auditoria empírica (4 testes)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~7h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~3.5 kWh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~R$ 3.50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Análises Pós-Treinamento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~1h (inferência)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~0.5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~R$ 0.50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TOTAL 2 semanas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~68h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~34 kWh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~R$ 33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CO₂ equivalente (matriz BR)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</a:rPr>
                        <a:t>~1.3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7498079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6B9E"/>
                </a:solidFill>
              </a:defRPr>
            </a:pPr>
            <a:r>
              <a:t>Hardware: RTX 4070 SUPER 12GB Windows + nobreak TSShara 1000VA 220V. Documentação: 18+ documentos em docs/ (15+ novos, 3 atualizados). Terminologia alinhada com Haykin.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8EE"/>
                </a:solidFill>
              </a:defRPr>
            </a:pPr>
            <a: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Encerramento — Estado da dissertação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3716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Pacote pronto após 2 semanas intensas: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5 Fatores + 4 Experimentos Adicionais + 1 Análise de Robustez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+ 4 Auditorias empíricas + 4 Análises pós-treinamento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= 18 análises distribuídas em 5 fases distintas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Posicionamento absoluto: −0.85pp vs SOTA-CNN (dentro da variância)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Auditoria empírica refutando suspeitos no nosso próprio código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Análise interseccional + ensemble + TTA + calibração documentadas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Roadmap pós-qualificação preparado (Group DRO + DINOv2)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Bateria experimental ENCERRADA — próximo bloco único: REDAÇÃO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1F3A68"/>
                </a:solidFill>
              </a:defRPr>
            </a:pPr>
            <a:r>
              <a:t>Pergunta direta ao orientador: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"O pacote está pronto para qualificação em agosto? Algum ajuste de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 escopo, ênfase ou priorização recomendado antes de eu começar a redação?"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