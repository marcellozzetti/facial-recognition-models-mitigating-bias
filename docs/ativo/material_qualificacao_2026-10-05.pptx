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nifesp_completa_policromi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20040"/>
            <a:ext cx="1920240" cy="1158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" y="27432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UNIFESP</a:t>
            </a:r>
          </a:p>
          <a:p>
            <a:pPr>
              <a:defRPr sz="1100">
                <a:solidFill>
                  <a:srgbClr val="B4C4E8"/>
                </a:solidFill>
              </a:defRPr>
            </a:pPr>
            <a:r>
              <a:t>Instituto de</a:t>
            </a:r>
            <a:br/>
            <a:r>
              <a:t>Ciência e</a:t>
            </a:r>
            <a:br/>
            <a:r>
              <a:t>Tecnologia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0972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EXAME DE QUALIFICAÇÃO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E"/>
                </a:solidFill>
              </a:defRPr>
            </a:pPr>
            <a:r>
              <a:t>Mitigação de viés racial em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classificação facial com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condicionamento por tom de pele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572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Mestrando:  </a:t>
            </a:r>
            <a:r>
              <a:rPr sz="1600">
                <a:solidFill>
                  <a:srgbClr val="3D424E"/>
                </a:solidFill>
              </a:rPr>
              <a:t>Marcello Vinicius Alves Ozzetti Cruz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Orientador:  </a:t>
            </a:r>
            <a:r>
              <a:rPr sz="1600">
                <a:solidFill>
                  <a:srgbClr val="3D424E"/>
                </a:solidFill>
              </a:rPr>
              <a:t>Prof. Dr. Marcos Gonçalves Quiles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Programa:  </a:t>
            </a:r>
            <a:r>
              <a:rPr sz="1600">
                <a:solidFill>
                  <a:srgbClr val="3D424E"/>
                </a:solidFill>
              </a:rPr>
              <a:t>Pós-Graduação em Ciência da Computação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Data:  </a:t>
            </a:r>
            <a:r>
              <a:rPr sz="1600">
                <a:solidFill>
                  <a:srgbClr val="3D424E"/>
                </a:solidFill>
              </a:rPr>
              <a:t>05 de setembro de 2026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Local:  </a:t>
            </a:r>
            <a:r>
              <a:rPr sz="1600">
                <a:solidFill>
                  <a:srgbClr val="3D424E"/>
                </a:solidFill>
              </a:rPr>
              <a:t>UNIFESP / ICT — São José dos Campos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Reconhecimento facial já é infraestrutura social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5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5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DISPOSITIVOS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Desbloqueio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 celular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273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273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BANCOS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Autenticação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financeira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FRONTEIRAS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21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Controle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migratório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1481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481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SEGURANÇA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625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Identificação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policial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66160"/>
            <a:ext cx="4114800" cy="23774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94760"/>
            <a:ext cx="4114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10 – 100 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B4C4E8"/>
                </a:solidFill>
              </a:defRPr>
            </a:pPr>
            <a:r>
              <a:t>diferença na taxa de</a:t>
            </a:r>
            <a:br/>
            <a:r>
              <a:t>falso positivo entre</a:t>
            </a:r>
            <a:br/>
            <a:r>
              <a:t>grupos raciais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566160"/>
            <a:ext cx="6766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NIST 2019 (Grother et al.): </a:t>
            </a:r>
            <a:r>
              <a:rPr sz="1600">
                <a:solidFill>
                  <a:srgbClr val="3D424E"/>
                </a:solidFill>
              </a:rPr>
              <a:t>maior auditoria pública já feita em biometria facial — 189 algoritmos comerciais avaliados sobre 18 milhões de imagens.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Gender Shades (Buolamwini &amp; Gebru, 2018): </a:t>
            </a:r>
            <a:r>
              <a:rPr sz="1600">
                <a:solidFill>
                  <a:srgbClr val="3D424E"/>
                </a:solidFill>
              </a:rPr>
              <a:t>estudo fundacional que colocou o viés racial-de-gênero na agenda pública.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Conclusão: </a:t>
            </a:r>
            <a:r>
              <a:rPr sz="1600">
                <a:solidFill>
                  <a:srgbClr val="3D424E"/>
                </a:solidFill>
              </a:rPr>
              <a:t>a tecnologia funciona bem para a maioria, mas não funciona igualmente bem para todos.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 tema virou obrigação regulatória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5276" y="2167128"/>
            <a:ext cx="10058400" cy="54864"/>
          </a:xfrm>
          <a:prstGeom prst="rect">
            <a:avLst/>
          </a:prstGeom>
          <a:solidFill>
            <a:srgbClr val="70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52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94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69164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Gender Shades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306323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Buolamwini &amp; Gebru colocam o viés na agenda.</a:t>
            </a:r>
          </a:p>
        </p:txBody>
      </p:sp>
      <p:sp>
        <p:nvSpPr>
          <p:cNvPr id="9" name="Oval 8"/>
          <p:cNvSpPr/>
          <p:nvPr/>
        </p:nvSpPr>
        <p:spPr>
          <a:xfrm>
            <a:off x="40980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22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36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NIST FRVT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64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Grother et al. documentam disparidade 10–100× em escala industrial.</a:t>
            </a:r>
          </a:p>
        </p:txBody>
      </p:sp>
      <p:sp>
        <p:nvSpPr>
          <p:cNvPr id="13" name="Oval 12"/>
          <p:cNvSpPr/>
          <p:nvPr/>
        </p:nvSpPr>
        <p:spPr>
          <a:xfrm>
            <a:off x="745083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50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C0392B"/>
                </a:solidFill>
              </a:defRPr>
            </a:pPr>
            <a: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64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EU AI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92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Auditoria de equidade vira REQUISITO FORMAL para sistemas biométricos.</a:t>
            </a:r>
          </a:p>
        </p:txBody>
      </p:sp>
      <p:sp>
        <p:nvSpPr>
          <p:cNvPr id="17" name="Oval 16"/>
          <p:cNvSpPr/>
          <p:nvPr/>
        </p:nvSpPr>
        <p:spPr>
          <a:xfrm>
            <a:off x="108036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378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92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FAccT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20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Lafargue et al. propõem pipeline de auditoria com propagação de incerteza.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881360" cy="10058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30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i="1">
                <a:solidFill>
                  <a:srgbClr val="FFFFFF"/>
                </a:solidFill>
              </a:defRPr>
            </a:pPr>
            <a:r>
              <a:t>A pergunta científica mudou. Já não é “existe viés?” — está provado. É “como mitigar de forma defensável e auditável?”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Disparidade estável de ~30 pontos entre grupos raciais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isparidade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90" y="1371600"/>
            <a:ext cx="1001057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FaceScanPaliGemma (AlDahoul et al., 2024) sobre o dataset FairFace (Kärkkäinen &amp; Joo, 2021). Diferença entre Black e Latinx = 30 pontos percentuais.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Por que “Latinx” é a classe mais difícil?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itzpatrick_vs_m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5669280" cy="22921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Fitzpatrick (esq., 6 tons) × Monk (dir., 10 tons).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Rótulo monolítico:  </a:t>
            </a:r>
            <a:r>
              <a:rPr sz="1600">
                <a:solidFill>
                  <a:srgbClr val="3D424E"/>
                </a:solidFill>
              </a:rPr>
              <a:t>a categoria agrupa fenótipos muito diferentes em uma única etiqueta.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Escala Monk (Ellis Monk, 2019):  </a:t>
            </a:r>
            <a:r>
              <a:rPr sz="1600">
                <a:solidFill>
                  <a:srgbClr val="3D424E"/>
                </a:solidFill>
              </a:rPr>
              <a:t>10 tons — sucessora moderna da escala Fitzpatrick, que sub-representa tons escuros.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Schumann et al. (2023):  </a:t>
            </a:r>
            <a:r>
              <a:rPr sz="1600">
                <a:solidFill>
                  <a:srgbClr val="3D424E"/>
                </a:solidFill>
              </a:rPr>
              <a:t>consolida a MST como padrão moderno de auditoria em fairness facial.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Consequência:  </a:t>
            </a:r>
            <a:r>
              <a:rPr sz="1600">
                <a:solidFill>
                  <a:srgbClr val="3D424E"/>
                </a:solidFill>
              </a:rPr>
              <a:t>a rotulagem monolítica de raça esconde essa diversidade e prejudica o modelo em grupos heterogêneos como Latinx.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Contra-argumento: e se o problema não for “raça”?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519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519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 CRÍTICA DA 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" y="2011680"/>
            <a:ext cx="5486400" cy="434340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Pangelinan et al. (2023, FAccT):  </a:t>
            </a:r>
            <a:r>
              <a:rPr sz="1600">
                <a:solidFill>
                  <a:srgbClr val="3D424E"/>
                </a:solidFill>
              </a:rPr>
              <a:t>o gap racial em face recognition é primariamente explicado pela FRAÇÃO DE FACE ÚTIL na imagem, não pelo rótulo de raça.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Matias et al. (2026):  </a:t>
            </a:r>
            <a:r>
              <a:rPr sz="1600">
                <a:solidFill>
                  <a:srgbClr val="3D424E"/>
                </a:solidFill>
              </a:rPr>
              <a:t>publica o SkinToneNet e reforça o tom de pele como dimensão auditável — pressiona a comunidade a abandonar rótulos nominais.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Implicação forte:  </a:t>
            </a:r>
            <a:r>
              <a:rPr sz="1600">
                <a:solidFill>
                  <a:srgbClr val="3D424E"/>
                </a:solidFill>
              </a:rPr>
              <a:t>se a refutação vale, condicionar por raça é injustificável — o sinal correto seria puramente fenotípico.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735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735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NOSSA POSIÇÃO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7356" y="2011680"/>
            <a:ext cx="5486400" cy="4343400"/>
          </a:xfrm>
          <a:prstGeom prst="roundRect">
            <a:avLst/>
          </a:prstGeom>
          <a:solidFill>
            <a:srgbClr val="B4C4E8"/>
          </a:solidFill>
          <a:ln>
            <a:solidFill>
              <a:srgbClr val="B4C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595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Tom de pele COMPLEMENTA a raça:  </a:t>
            </a:r>
            <a:r>
              <a:rPr sz="1600">
                <a:solidFill>
                  <a:srgbClr val="3D424E"/>
                </a:solidFill>
              </a:rPr>
              <a:t>usamos MST como contexto — o rótulo racial continua sendo o alvo de predição.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Incorporamos a crítica formalmente:  </a:t>
            </a:r>
            <a:r>
              <a:rPr sz="1600">
                <a:solidFill>
                  <a:srgbClr val="3D424E"/>
                </a:solidFill>
              </a:rPr>
              <a:t>H6 testa diretamente a tese de Pangelinan (R² ≥ 70 % explicado por pixel information).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Refutação vira contribuição:  </a:t>
            </a:r>
            <a:r>
              <a:rPr sz="1600">
                <a:solidFill>
                  <a:srgbClr val="3D424E"/>
                </a:solidFill>
              </a:rPr>
              <a:t>se a crítica vencer, entregamos decomposição quantitativa do erro — resultado científico válido.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 geral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9418320" cy="25603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Desenvolver e avaliar um pipeline de classificação racial que usa o tom de pele (escala Monk, 10 tons) como sinal de contexto para reduzir a disparidade entre grupos, sem sacrificar a acurácia geral.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3D424E"/>
                </a:solidFill>
              </a:defRPr>
            </a:pPr>
            <a:r>
              <a:t>Arquitetura escolhida: ConvNeXt-T (Liu et al., 2022) como rede base + FiLM (Perez et al., 2018) como mecanismo que “consulta” o tom de pele antes de decidir.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Objetivos específicos e hipóteses testáveis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7091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091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OBJETIVOS ESPECÍFICOS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1.  </a:t>
            </a:r>
            <a:r>
              <a:rPr sz="1500">
                <a:solidFill>
                  <a:srgbClr val="3D424E"/>
                </a:solidFill>
              </a:rPr>
              <a:t>Quantificar distribuição MST × classe racial no FairFace.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2.  </a:t>
            </a:r>
            <a:r>
              <a:rPr sz="1500">
                <a:solidFill>
                  <a:srgbClr val="3D424E"/>
                </a:solidFill>
              </a:rPr>
              <a:t>Treinar e avaliar classificador MST próprio + sensitivity.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3.  </a:t>
            </a:r>
            <a:r>
              <a:rPr sz="1500">
                <a:solidFill>
                  <a:srgbClr val="3D424E"/>
                </a:solidFill>
              </a:rPr>
              <a:t>Implementar FiLM sobre ConvNeXt-T e comparar vs 6 baselines.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4.  </a:t>
            </a:r>
            <a:r>
              <a:rPr sz="1500">
                <a:solidFill>
                  <a:srgbClr val="3D424E"/>
                </a:solidFill>
              </a:rPr>
              <a:t>Demonstrar transferência do ganho para reconhecimento (RFW/BFW).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5.  </a:t>
            </a:r>
            <a:r>
              <a:rPr sz="1500">
                <a:solidFill>
                  <a:srgbClr val="3D424E"/>
                </a:solidFill>
              </a:rPr>
              <a:t>Formalizar triangulação de métricas (DR, F1 pior classe, EO).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6.  </a:t>
            </a:r>
            <a:r>
              <a:rPr sz="1500">
                <a:solidFill>
                  <a:srgbClr val="3D424E"/>
                </a:solidFill>
              </a:rPr>
              <a:t>Decompor erro Latinx: fenótipo (irredutível) vs modelo (mitigável).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163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HIPÓTESES TESTÁVEIS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879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H1.  </a:t>
            </a:r>
            <a:r>
              <a:rPr sz="1500">
                <a:solidFill>
                  <a:srgbClr val="3D424E"/>
                </a:solidFill>
              </a:rPr>
              <a:t>Classificador MST atinge concordância humana  </a:t>
            </a:r>
            <a:r>
              <a:rPr sz="1300" i="1">
                <a:solidFill>
                  <a:srgbClr val="707682"/>
                </a:solidFill>
              </a:rPr>
              <a:t>[κ ≥ 0,7]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H2.  </a:t>
            </a:r>
            <a:r>
              <a:rPr sz="1500">
                <a:solidFill>
                  <a:srgbClr val="3D424E"/>
                </a:solidFill>
              </a:rPr>
              <a:t>Latinx cobre ≥ 5 dos 10 tons Monk  </a:t>
            </a:r>
            <a:r>
              <a:rPr sz="1300" i="1">
                <a:solidFill>
                  <a:srgbClr val="707682"/>
                </a:solidFill>
              </a:rPr>
              <a:t>[cobertura ≥ 5]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H3.  </a:t>
            </a:r>
            <a:r>
              <a:rPr sz="1500">
                <a:solidFill>
                  <a:srgbClr val="3D424E"/>
                </a:solidFill>
              </a:rPr>
              <a:t>Condicionamento reduz disparidade sem perder acurácia  </a:t>
            </a:r>
            <a:r>
              <a:rPr sz="1300" i="1">
                <a:solidFill>
                  <a:srgbClr val="707682"/>
                </a:solidFill>
              </a:rPr>
              <a:t>[DR ↓  ·  F1 ≥ baseline]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H4.  </a:t>
            </a:r>
            <a:r>
              <a:rPr sz="1500">
                <a:solidFill>
                  <a:srgbClr val="3D424E"/>
                </a:solidFill>
              </a:rPr>
              <a:t>≥ 50 % dos erros Latinx em zonas de sobreposição  </a:t>
            </a:r>
            <a:r>
              <a:rPr sz="1300" i="1">
                <a:solidFill>
                  <a:srgbClr val="707682"/>
                </a:solidFill>
              </a:rPr>
              <a:t>[concentração ≥ 50 %]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H5.  </a:t>
            </a:r>
            <a:r>
              <a:rPr sz="1500">
                <a:solidFill>
                  <a:srgbClr val="3D424E"/>
                </a:solidFill>
              </a:rPr>
              <a:t>Ganho transfere para reconhecimento (RFW/BFW)  </a:t>
            </a:r>
            <a:r>
              <a:rPr sz="1300" i="1">
                <a:solidFill>
                  <a:srgbClr val="707682"/>
                </a:solidFill>
              </a:rPr>
              <a:t>[gap ↓ downstream]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H6.  </a:t>
            </a:r>
            <a:r>
              <a:rPr sz="1500">
                <a:solidFill>
                  <a:srgbClr val="3D424E"/>
                </a:solidFill>
              </a:rPr>
              <a:t>Pixel information explica variância do erro (Pangelinan)  </a:t>
            </a:r>
            <a:r>
              <a:rPr sz="1300" i="1">
                <a:solidFill>
                  <a:srgbClr val="707682"/>
                </a:solidFill>
              </a:rPr>
              <a:t>[R² ≥ 70 %]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6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Timeline das principais respostas ao problema (2018–2026)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timeline_mitiga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882" y="1371600"/>
            <a:ext cx="10547188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Frentes cronológicas: dados balanceados → funções de perda → arquiteturas Pareto-eficientes → modelos vision-language → escalas MST → heterogeneidade fenotípica.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Seis baselines de mitigação (comparação sistemática planejada)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943600"/>
              </a:tblGrid>
              <a:tr h="6792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Método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Referência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Ideia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Adversarial debiasing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Zhang et al.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Segundo modelo tenta “ler” o atributo sensível — o primeiro se defende.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Group 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Sagawa et al.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Otimiza o erro do pior grupo, não o erro médio.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FSCL+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Park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Aprendizado contrastivo com controle explícito de viés.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FineFACE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Manzoor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Atenção mútua entre camadas — operação Pareto-eficiente.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ResNet-34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Kärkkäinen &amp; Joo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Baseline canônico da própria comunidade FairFace.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ConvNeXt-T puro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Liu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Controle arquitetural moderno — efeito da rede base sem condicionamento.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Cinco lacunas científicas identificadas na literatura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943600"/>
                <a:gridCol w="4937760"/>
              </a:tblGrid>
              <a:tr h="7924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Lacuna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Como endereçamos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Não existe matriz pública MST × classes raciais no FairFace.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2 — Contribuição 2.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FiLM (Perez 2018) nunca foi aplicado em classificação racial multi-classe.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3 — Contribuição 3.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Métricas de fairness multi-classe estão fragmentadas na literatura.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4 — Contribuição 4 (triangulação).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Transferência de fairness (Madras et al., 2018) para reconhecimento é pouco estudada.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5 — Contribuição 5.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Não há decomposição quantitativa do gap Latinx (fenótipo × algoritmo).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6 — Contribuição 6.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Pipeline em 6 etapas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ipeline_6et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0534" y="1371600"/>
            <a:ext cx="410788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Fluxo top-down organizado em 3 fases: diagnóstico (etapas 1-2), método proposto (etapa 3) e validação/síntese (etapas 4-6).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Etapa 1 — Classificador de tom de pele (próprio)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O que faz:  </a:t>
            </a:r>
            <a:r>
              <a:rPr sz="1800">
                <a:solidFill>
                  <a:srgbClr val="3D424E"/>
                </a:solidFill>
              </a:rPr>
              <a:t>recebe uma foto de rosto e devolve as 10 probabilidades da escala Monk.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Decisão pós-reunião Ago/2026:  </a:t>
            </a:r>
            <a:r>
              <a:rPr sz="1800">
                <a:solidFill>
                  <a:srgbClr val="3D424E"/>
                </a:solidFill>
              </a:rPr>
              <a:t>treinar nosso próprio classificador — não depender do SkinToneNet (Matias 2026), cujos pesos e dataset STW ainda não foram liberados.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treino:  </a:t>
            </a:r>
            <a:r>
              <a:rPr sz="1800">
                <a:solidFill>
                  <a:srgbClr val="3D424E"/>
                </a:solidFill>
              </a:rPr>
              <a:t>MSTE — Monk Skin Tone Examples (Monk, 2019, Google) e Casual Conversations v2 (Porgali et al., 2023, Meta).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Camada auto-suficiente:  </a:t>
            </a:r>
            <a:r>
              <a:rPr sz="1800">
                <a:solidFill>
                  <a:srgbClr val="3D424E"/>
                </a:solidFill>
              </a:rPr>
              <a:t>detecta o rosto (MTCNN, Zhang et al. 2016), alinha, corta e classifica — funciona em qualquer dataset, até os que não têm anotação.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Validação:  </a:t>
            </a:r>
            <a:r>
              <a:rPr sz="1800">
                <a:solidFill>
                  <a:srgbClr val="3D424E"/>
                </a:solidFill>
              </a:rPr>
              <a:t>protocolo humano interno (~250 imagens do FairFace) + sensitivity analysis com 2 a 3 classificadores alternativos.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Por que ConvNeXt-T (Liu et al., 2022)?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Paridade com ViTs a custo convolucional:  </a:t>
            </a:r>
            <a:r>
              <a:rPr sz="1800">
                <a:solidFill>
                  <a:srgbClr val="3D424E"/>
                </a:solidFill>
              </a:rPr>
              <a:t>82 % top-1 ImageNet, comparável a Swin-T, ~1/3 dos params.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Estável em fine-tuning:  </a:t>
            </a:r>
            <a:r>
              <a:rPr sz="1800">
                <a:solidFill>
                  <a:srgbClr val="3D424E"/>
                </a:solidFill>
              </a:rPr>
              <a:t>LayerNorm (não BatchNorm) — robusto a batch pequeno, essencial para 3 sementes.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Inserção natural de FiLM:  </a:t>
            </a:r>
            <a:r>
              <a:rPr sz="1800">
                <a:solidFill>
                  <a:srgbClr val="3D424E"/>
                </a:solidFill>
              </a:rPr>
              <a:t>4 estágios hierárquicos oferecem 4 pontos de inserção sem modificar blocos internos.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Comparável ao baseline canônico:  </a:t>
            </a:r>
            <a:r>
              <a:rPr sz="1800">
                <a:solidFill>
                  <a:srgbClr val="3D424E"/>
                </a:solidFill>
              </a:rPr>
              <a:t>ResNet-34 do FairFace serve como âncora — ConvNeXt-T isola o efeito do condicionamento.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Viável computacionalmente:  </a:t>
            </a:r>
            <a:r>
              <a:rPr sz="1800">
                <a:solidFill>
                  <a:srgbClr val="3D424E"/>
                </a:solidFill>
              </a:rPr>
              <a:t>28 M params permitem 3 sementes × 3 configs em GPU comum (~300 h total).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Por que FiLM (Perez et al., 2018)?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Adequação dimensional ao sinal MST:  </a:t>
            </a:r>
            <a:r>
              <a:rPr sz="1800">
                <a:solidFill>
                  <a:srgbClr val="3D424E"/>
                </a:solidFill>
              </a:rPr>
              <a:t>sinal 10-dim casa naturalmente com γ, β — sem explosão paramétrica.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Eficiência:  </a:t>
            </a:r>
            <a:r>
              <a:rPr sz="1800">
                <a:solidFill>
                  <a:srgbClr val="3D424E"/>
                </a:solidFill>
              </a:rPr>
              <a:t>~380 k parâmetros (~1,3 % do backbone) — muito abaixo de cross-attention (~3×).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Interpretabilidade direta:  </a:t>
            </a:r>
            <a:r>
              <a:rPr sz="1800">
                <a:solidFill>
                  <a:srgbClr val="3D424E"/>
                </a:solidFill>
              </a:rPr>
              <a:t>γ e β por canal permitem inspecionar como cada tom modula as features.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Compatibilidade nativa:  </a:t>
            </a:r>
            <a:r>
              <a:rPr sz="1800">
                <a:solidFill>
                  <a:srgbClr val="3D424E"/>
                </a:solidFill>
              </a:rPr>
              <a:t>opera bem com LayerNorm do ConvNeXt-T; init identidade preserva backbone.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Lacuna documentada:  </a:t>
            </a:r>
            <a:r>
              <a:rPr sz="1800">
                <a:solidFill>
                  <a:srgbClr val="3D424E"/>
                </a:solidFill>
              </a:rPr>
              <a:t>sem aplicação prévia em fairness facial multi-classe — Contribuição 3 desta pesquisa.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Descartadas com justificativa formal (Cap 2):  </a:t>
            </a:r>
            <a:r>
              <a:rPr sz="1800">
                <a:solidFill>
                  <a:srgbClr val="3D424E"/>
                </a:solidFill>
              </a:rPr>
              <a:t>Concatenação, CBN, Cross-attention, AdaIN, SPADE, HyperNetworks, LoRA/Adaptadores.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Mecanismo FiLM — como o tom entra como contexto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864" y="1371600"/>
            <a:ext cx="760522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FiLM (Perez et al., 2018) modula as features intermediárias do ConvNeXt-T canal a canal, condicionadas ao vetor MST. Overhead: ~1,3 % do backbone.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Três configurações comparadas no estudo de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937760"/>
                <a:gridCol w="59436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Configuração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O que testa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puro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Sem condicionamento — controle arquitetural.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+ FiLM (sinal MST direto, 10-dim)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Proposta principal — tom de pele entra como contexto.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+ FiLM (sinal via CLIP-text, 512-dim)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Alternativa moderna — Radford et al. (2021) + Dehdashtian et al. (2024).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Como validamos — cenários e norma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Cenário A — apenas raça:  </a:t>
            </a:r>
            <a:r>
              <a:rPr sz="1800">
                <a:solidFill>
                  <a:srgbClr val="3D424E"/>
                </a:solidFill>
              </a:rPr>
              <a:t>métricas por classe racial (7 classes do FairFace).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Cenário B — raça × gênero:  </a:t>
            </a:r>
            <a:r>
              <a:rPr sz="1800">
                <a:solidFill>
                  <a:srgbClr val="3D424E"/>
                </a:solidFill>
              </a:rPr>
              <a:t>análise interseccional (8 subgrupos, seguindo Gender Shades — Buolamwini &amp; Gebru, 2018).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Norma seguida:  </a:t>
            </a:r>
            <a:r>
              <a:rPr sz="1800">
                <a:solidFill>
                  <a:srgbClr val="3D424E"/>
                </a:solidFill>
              </a:rPr>
              <a:t>ISO/IEC 19795-10:2024 — padrão internacional para reporte de desempenho biométrico entre grupos.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Rigor experimental:  </a:t>
            </a:r>
            <a:r>
              <a:rPr sz="1800">
                <a:solidFill>
                  <a:srgbClr val="3D424E"/>
                </a:solidFill>
              </a:rPr>
              <a:t>3 sementes independentes por experimento (42, 1, 2), comparação pareada, intervalo de confiança 95 % via bootstrap.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transferência (Etapa 5):  </a:t>
            </a:r>
            <a:r>
              <a:rPr sz="1800">
                <a:solidFill>
                  <a:srgbClr val="3D424E"/>
                </a:solidFill>
              </a:rPr>
              <a:t>RFW (Wang et al., 2019) e BFW (Robinson et al., 2020) — pares oficiais 1:1.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Triangulação de métricas — nenhuma métrica isolada basta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Por que triangular — Kleinberg et al. (2017):  </a:t>
            </a:r>
            <a:r>
              <a:rPr sz="1800">
                <a:solidFill>
                  <a:srgbClr val="3D424E"/>
                </a:solidFill>
              </a:rPr>
              <a:t>Teorema da Impossibilidade — não existe métrica única de equidade que satisfaça todos os critérios simultaneamente.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Disparity Ratio:  </a:t>
            </a:r>
            <a:r>
              <a:rPr sz="1800">
                <a:solidFill>
                  <a:srgbClr val="3D424E"/>
                </a:solidFill>
              </a:rPr>
              <a:t>razão entre pior e melhor F1. Mede o quão desigual é o desempenho entre grupos.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F1 da pior classe:  </a:t>
            </a:r>
            <a:r>
              <a:rPr sz="1800">
                <a:solidFill>
                  <a:srgbClr val="3D424E"/>
                </a:solidFill>
              </a:rPr>
              <a:t>protege o grupo mais fraco — garante que a melhoria não vem só no meio.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Equal Opportunity — Hardt et al. (2016, NeurIPS):  </a:t>
            </a:r>
            <a:r>
              <a:rPr sz="1800">
                <a:solidFill>
                  <a:srgbClr val="3D424E"/>
                </a:solidFill>
              </a:rPr>
              <a:t>iguala a taxa de acerto entre grupos, condicionada ao rótulo verdadeiro.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Equalized Odds — Hardt et al. (2016):  </a:t>
            </a:r>
            <a:r>
              <a:rPr sz="1800">
                <a:solidFill>
                  <a:srgbClr val="3D424E"/>
                </a:solidFill>
              </a:rPr>
              <a:t>vai além — iguala acerto e erro entre grupos.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Visualização Pareto:  </a:t>
            </a:r>
            <a:r>
              <a:rPr sz="1800">
                <a:solidFill>
                  <a:srgbClr val="3D424E"/>
                </a:solidFill>
              </a:rPr>
              <a:t>para cada modelo, plotamos acurácia × disparidade — vemos quem está na fronteira.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Contribuições esperadas — 3 eixos, 7 contribuições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64008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Eixo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Contribuições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Foco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Fenotípico-empírico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Documentar como o fenótipo (MST) se distribui dentro de cada rótulo racial.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Metodológico-arquitetural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3, 4, 7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Injetar tom de pele como contexto arquitetural + triangulação de métricas.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Diagnóstico-estrutural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Decompor o erro em fenotípico (irredutível) e algorítmico (mitigável).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5943600"/>
              </a:tblGrid>
              <a:tr h="5283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Entrega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Ago–Set/2026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Preparação adiantada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Código das 6 etapas pronto (120 testes passando).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05/10/2026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Marco atual.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Out/2026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Aplicar sugestões da banca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Ajustes de texto e escopo.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Nov–Dez/2026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1 e 2 formais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Treino MST + matriz pública MST × raça.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Jan–Mar/2027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3 (ablation)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3 configurações A/B/C do FiLM.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Abr–Mai/2027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4 e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6 baselines + transferência RFW/BFW.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Jun/2027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Síntese decompositiva.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2º sem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Redação final + DEFESA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Encerramento.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Riscos identificados e mitigações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114800"/>
                <a:gridCol w="6766560"/>
              </a:tblGrid>
              <a:tr h="95097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Risco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Mitigação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Alguma das 6 hipóteses pode ser refutada.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Cada hipótese tem plano B; refutação é resultado científico válido.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Qualidade do nosso classificador de tom de pele.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Validação humana + sensitivity com outros classificadores + benchmark externo (STW) quando disponível.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Refutação parcial pela tese Pangelinan (pixel info &gt; tom).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Já incluída como H6 — refutação vira contribuição quantitativa.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Custo computacional (3 sementes × 3 configs × 6 baselines).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é leve (~28M params); estimativa 200–400 h GPU total.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Estado atual — adiantados no 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79476" y="1463040"/>
            <a:ext cx="3657600" cy="201168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94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+3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meses adiantados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B4C4E8"/>
                </a:solidFill>
              </a:defRPr>
            </a:pPr>
            <a:r>
              <a:t>sobre o cronograma proposto na qualificação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6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6 de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56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etapas com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71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estruturado, testado e pronto para execução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1875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1875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5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testes automatizados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315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todos passando (unit + smoke + integração)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A4E"/>
                </a:solidFill>
              </a:defRPr>
            </a:pPr>
            <a:r>
              <a:t>Entregas concretas até 28/09/2026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1 e 2 (código completo):  </a:t>
            </a:r>
            <a:r>
              <a:rPr sz="1600">
                <a:solidFill>
                  <a:srgbClr val="3D424E"/>
                </a:solidFill>
              </a:rPr>
              <a:t>classificador MST próprio, camada auto-suficiente, matriz MST × raça, teste da H2.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 3 (FiLM):  </a:t>
            </a:r>
            <a:r>
              <a:rPr sz="1600">
                <a:solidFill>
                  <a:srgbClr val="3D424E"/>
                </a:solidFill>
              </a:rPr>
              <a:t>camada FiLM + wrapper ConvNeXt-T + ensembler CLIP-text + pipeline de treino das 3 configs.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4, 5 e 6:  </a:t>
            </a:r>
            <a:r>
              <a:rPr sz="1600">
                <a:solidFill>
                  <a:srgbClr val="3D424E"/>
                </a:solidFill>
              </a:rPr>
              <a:t>métricas de fairness + 4 baselines + Pareto + verificação RFW/BFW + decomposição ANOVA/R².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Texto da dissertação:  </a:t>
            </a:r>
            <a:r>
              <a:rPr sz="1600">
                <a:solidFill>
                  <a:srgbClr val="3D424E"/>
                </a:solidFill>
              </a:rPr>
              <a:t>5 capítulos consolidados, 3 passadas de revisão de estilo, 104 fichas bibliográficas.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Obrigado.</a:t>
            </a:r>
          </a:p>
          <a:p>
            <a:pPr algn="ctr">
              <a:defRPr sz="2800">
                <a:solidFill>
                  <a:srgbClr val="B4C4E8"/>
                </a:solidFill>
              </a:defRPr>
            </a:pPr>
            <a: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B4C4E8"/>
                </a:solidFill>
              </a:defRPr>
            </a:pPr>
            <a:r>
              <a:t>Marcello Ozzetti · marcello.ozzetti@gmail.com · UNIFESP/ICT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