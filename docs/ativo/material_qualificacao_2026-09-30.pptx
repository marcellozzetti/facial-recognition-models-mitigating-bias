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esp_completa_policromia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0040"/>
            <a:ext cx="1920240" cy="1158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" y="27432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UNIFESP</a:t>
            </a:r>
          </a:p>
          <a:p>
            <a:pPr>
              <a:defRPr sz="1100">
                <a:solidFill>
                  <a:srgbClr val="B4C4E8"/>
                </a:solidFill>
              </a:defRPr>
            </a:pPr>
            <a:r>
              <a:t>Instituto de</a:t>
            </a:r>
            <a:br/>
            <a:r>
              <a:t>Ciência e</a:t>
            </a:r>
            <a:br/>
            <a:r>
              <a:t>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EXAME DE QUALIFICAÇÃO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E"/>
                </a:solidFill>
              </a:defRPr>
            </a:pPr>
            <a:r>
              <a:t>Mitigação de viés racial em</a:t>
            </a:r>
          </a:p>
          <a:p>
            <a:pPr>
              <a:defRPr sz="3200" b="1">
                <a:solidFill>
                  <a:srgbClr val="1F2A4E"/>
                </a:solidFill>
              </a:defRPr>
            </a:pPr>
            <a:r>
              <a:t>classificação facial com</a:t>
            </a:r>
          </a:p>
          <a:p>
            <a:pPr>
              <a:defRPr sz="3200" b="1">
                <a:solidFill>
                  <a:srgbClr val="1F2A4E"/>
                </a:solidFill>
              </a:defRPr>
            </a:pPr>
            <a:r>
              <a:t>condicionamento por tom de pele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Mestrando:  </a:t>
            </a:r>
            <a:r>
              <a:rPr sz="1600">
                <a:solidFill>
                  <a:srgbClr val="3D424E"/>
                </a:solidFill>
              </a:rPr>
              <a:t>Marcello Vinicius Alves Ozzetti Cruz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Orientador:  </a:t>
            </a:r>
            <a:r>
              <a:rPr sz="1600">
                <a:solidFill>
                  <a:srgbClr val="3D424E"/>
                </a:solidFill>
              </a:rPr>
              <a:t>Prof. Dr. Marcos Gonçalves Quiles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Programa:  </a:t>
            </a:r>
            <a:r>
              <a:rPr sz="1600">
                <a:solidFill>
                  <a:srgbClr val="3D424E"/>
                </a:solidFill>
              </a:rPr>
              <a:t>Pós-Graduação em Ciência da Computação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Data:  </a:t>
            </a:r>
            <a:r>
              <a:rPr sz="1600">
                <a:solidFill>
                  <a:srgbClr val="3D424E"/>
                </a:solidFill>
              </a:rPr>
              <a:t>30 de setembro de 2026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Local:  </a:t>
            </a:r>
            <a:r>
              <a:rPr sz="1600">
                <a:solidFill>
                  <a:srgbClr val="3D424E"/>
                </a:solidFill>
              </a:rPr>
              <a:t>UNIFESP / ICT — São José dos Campos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Roteiro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3796" y="1554480"/>
            <a:ext cx="822960" cy="9601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" y="1554480"/>
            <a:ext cx="822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2476" y="1554480"/>
            <a:ext cx="4434840" cy="9601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9636" y="1554480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Motivação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" y="2651760"/>
            <a:ext cx="822960" cy="9601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2651760"/>
            <a:ext cx="822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2476" y="2651760"/>
            <a:ext cx="4434840" cy="9601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9636" y="2651760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Problema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" y="3749039"/>
            <a:ext cx="822960" cy="9601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" y="3749039"/>
            <a:ext cx="822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2476" y="3749039"/>
            <a:ext cx="4434840" cy="9601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9636" y="3749039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Objetivos e hipóteses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" y="4846320"/>
            <a:ext cx="822960" cy="9601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" y="4846320"/>
            <a:ext cx="822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2476" y="4846320"/>
            <a:ext cx="4434840" cy="9601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9636" y="4846320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Revisão da literatura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1554480"/>
            <a:ext cx="822960" cy="9601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1636" y="1554480"/>
            <a:ext cx="822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0316" y="1554480"/>
            <a:ext cx="4434840" cy="9601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7476" y="1554480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Metodologia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2651760"/>
            <a:ext cx="822960" cy="9601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1636" y="2651760"/>
            <a:ext cx="822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00316" y="2651760"/>
            <a:ext cx="4434840" cy="9601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7476" y="2651760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Contribuições esperadas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3749039"/>
            <a:ext cx="822960" cy="9601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1636" y="3749039"/>
            <a:ext cx="822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00316" y="3749039"/>
            <a:ext cx="4434840" cy="9601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7476" y="3749039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Cronograma e riscos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4846320"/>
            <a:ext cx="822960" cy="9601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1636" y="4846320"/>
            <a:ext cx="822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00316" y="4846320"/>
            <a:ext cx="4434840" cy="9601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7476" y="4846320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Estado atual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Reconhecimento facial já é infraestrutura social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5" y="1463040"/>
            <a:ext cx="2377440" cy="16459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DISPOSITIVOS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Desbloqueio</a:t>
            </a:r>
          </a:p>
          <a:p>
            <a:pPr algn="ctr">
              <a:defRPr sz="1600" b="1">
                <a:solidFill>
                  <a:srgbClr val="1F2A4E"/>
                </a:solidFill>
              </a:defRPr>
            </a:pPr>
            <a:r>
              <a:t>de celular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2736" y="1463040"/>
            <a:ext cx="2377440" cy="16459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BANCOS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4176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Autenticação</a:t>
            </a:r>
          </a:p>
          <a:p>
            <a:pPr algn="ctr">
              <a:defRPr sz="1600" b="1">
                <a:solidFill>
                  <a:srgbClr val="1F2A4E"/>
                </a:solidFill>
              </a:defRPr>
            </a:pPr>
            <a:r>
              <a:t>financeira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463040"/>
            <a:ext cx="2377440" cy="16459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FRONTEIRAS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Controle</a:t>
            </a:r>
          </a:p>
          <a:p>
            <a:pPr algn="ctr">
              <a:defRPr sz="1600" b="1">
                <a:solidFill>
                  <a:srgbClr val="1F2A4E"/>
                </a:solidFill>
              </a:defRPr>
            </a:pPr>
            <a:r>
              <a:t>migratório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14816" y="1463040"/>
            <a:ext cx="2377440" cy="16459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4816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SEGURANÇA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Identificação</a:t>
            </a:r>
          </a:p>
          <a:p>
            <a:pPr algn="ctr">
              <a:defRPr sz="1600" b="1">
                <a:solidFill>
                  <a:srgbClr val="1F2A4E"/>
                </a:solidFill>
              </a:defRPr>
            </a:pPr>
            <a:r>
              <a:t>policial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4114800" cy="237744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4114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10 – 100 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C4E8"/>
                </a:solidFill>
              </a:defRPr>
            </a:pPr>
            <a:r>
              <a:t>diferença na taxa de</a:t>
            </a:r>
            <a:br/>
            <a:r>
              <a:t>falso positivo entre</a:t>
            </a:r>
            <a:br/>
            <a:r>
              <a:t>grupos raciais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6616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F2A4E"/>
                </a:solidFill>
              </a:rPr>
              <a:t>NIST 2019 (Grother et al.): </a:t>
            </a:r>
            <a:r>
              <a:rPr sz="1500">
                <a:solidFill>
                  <a:srgbClr val="3D424E"/>
                </a:solidFill>
              </a:rPr>
              <a:t>maior auditoria pública já feita em biometria facial — 189 algoritmos comerciais avaliados sobre 18 milhões de imagens.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2A4E"/>
                </a:solidFill>
              </a:rPr>
              <a:t>Gender Shades (Buolamwini &amp; Gebru, 2018): </a:t>
            </a:r>
            <a:r>
              <a:rPr sz="1500">
                <a:solidFill>
                  <a:srgbClr val="3D424E"/>
                </a:solidFill>
              </a:rPr>
              <a:t>estudo fundacional que colocou o viés racial-de-gênero na agenda pública.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2A4E"/>
                </a:solidFill>
              </a:rPr>
              <a:t>Conclusão: </a:t>
            </a:r>
            <a:r>
              <a:rPr sz="1500">
                <a:solidFill>
                  <a:srgbClr val="3D424E"/>
                </a:solidFill>
              </a:rPr>
              <a:t>a tecnologia funciona bem para a maioria, mas não funciona igualmente bem para todos.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O tema virou obrigação regulatória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5276" y="2167128"/>
            <a:ext cx="10058400" cy="54864"/>
          </a:xfrm>
          <a:prstGeom prst="rect">
            <a:avLst/>
          </a:prstGeom>
          <a:solidFill>
            <a:srgbClr val="707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5236" y="1874519"/>
            <a:ext cx="640080" cy="640080"/>
          </a:xfrm>
          <a:prstGeom prst="ellipse">
            <a:avLst/>
          </a:prstGeom>
          <a:solidFill>
            <a:srgbClr val="1F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2A4E"/>
                </a:solidFill>
              </a:defRPr>
            </a:pPr>
            <a:r>
              <a:t>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69164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A4E"/>
                </a:solidFill>
              </a:defRPr>
            </a:pPr>
            <a:r>
              <a:t>Gender Shades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14883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D424E"/>
                </a:solidFill>
              </a:defRPr>
            </a:pPr>
            <a:r>
              <a:t>Buolamwini &amp; Gebru colocam o viés na agenda.</a:t>
            </a:r>
          </a:p>
        </p:txBody>
      </p:sp>
      <p:sp>
        <p:nvSpPr>
          <p:cNvPr id="9" name="Oval 8"/>
          <p:cNvSpPr/>
          <p:nvPr/>
        </p:nvSpPr>
        <p:spPr>
          <a:xfrm>
            <a:off x="4098036" y="1874519"/>
            <a:ext cx="640080" cy="640080"/>
          </a:xfrm>
          <a:prstGeom prst="ellipse">
            <a:avLst/>
          </a:prstGeom>
          <a:solidFill>
            <a:srgbClr val="1F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2276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2A4E"/>
                </a:solidFill>
              </a:defRPr>
            </a:pPr>
            <a: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3636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A4E"/>
                </a:solidFill>
              </a:defRPr>
            </a:pPr>
            <a:r>
              <a:t>NIST FRVT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7916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D424E"/>
                </a:solidFill>
              </a:defRPr>
            </a:pPr>
            <a:r>
              <a:t>Grother et al. documentam disparidade 10–100× em escala industrial.</a:t>
            </a:r>
          </a:p>
        </p:txBody>
      </p:sp>
      <p:sp>
        <p:nvSpPr>
          <p:cNvPr id="13" name="Oval 12"/>
          <p:cNvSpPr/>
          <p:nvPr/>
        </p:nvSpPr>
        <p:spPr>
          <a:xfrm>
            <a:off x="7450836" y="1874519"/>
            <a:ext cx="640080" cy="640080"/>
          </a:xfrm>
          <a:prstGeom prst="ellipse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5076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</a:defRPr>
            </a:pPr>
            <a: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6436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A4E"/>
                </a:solidFill>
              </a:defRPr>
            </a:pPr>
            <a:r>
              <a:t>EU AI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0715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D424E"/>
                </a:solidFill>
              </a:defRPr>
            </a:pPr>
            <a:r>
              <a:t>Auditoria de equidade vira REQUISITO FORMAL para sistemas biométricos.</a:t>
            </a:r>
          </a:p>
        </p:txBody>
      </p:sp>
      <p:sp>
        <p:nvSpPr>
          <p:cNvPr id="17" name="Oval 16"/>
          <p:cNvSpPr/>
          <p:nvPr/>
        </p:nvSpPr>
        <p:spPr>
          <a:xfrm>
            <a:off x="10803636" y="1874519"/>
            <a:ext cx="640080" cy="640080"/>
          </a:xfrm>
          <a:prstGeom prst="ellipse">
            <a:avLst/>
          </a:prstGeom>
          <a:solidFill>
            <a:srgbClr val="1F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37876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2A4E"/>
                </a:solidFill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9236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A4E"/>
                </a:solidFill>
              </a:defRPr>
            </a:pPr>
            <a:r>
              <a:t>FAccT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3515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D424E"/>
                </a:solidFill>
              </a:defRPr>
            </a:pPr>
            <a:r>
              <a:t>Lafargue et al. propõem pipeline de auditoria com propagação de incerteza.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10881360" cy="100584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30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FFFFFF"/>
                </a:solidFill>
              </a:defRPr>
            </a:pPr>
            <a:r>
              <a:t>A pergunta científica mudou. Já não é “existe viés?” — está provado. É “como mitigar de forma defensável e auditável?”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Disparidade estável de ~30 pontos entre grupos raciais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isparidade_ra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190" y="1371600"/>
            <a:ext cx="1001057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07682"/>
                </a:solidFill>
              </a:defRPr>
            </a:pPr>
            <a:r>
              <a:t>FaceScanPaliGemma (AlDahoul et al., 2024) sobre o dataset FairFace (Kärkkäinen &amp; Joo, 2021). Diferença entre Black e Latinx = 30 pontos percentuais.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A disparidade persiste através de múltiplas arquiteturas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f1_sota_compar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476" y="1371600"/>
            <a:ext cx="9361999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07682"/>
                </a:solidFill>
              </a:defRPr>
            </a:pPr>
            <a:r>
              <a:t>Comparativo de F1 macro entre modelos publicados sobre o FairFace. A hierarquia de dificuldade entre raças é estável — problema estrutural, não artefato de um único modelo.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Por que “Latinx” é a classe mais difícil?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fitzpatrick_vs_m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669280" cy="22921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07682"/>
                </a:solidFill>
              </a:defRPr>
            </a:pPr>
            <a:r>
              <a:t>Fitzpatrick (esq., 6 tons) × Monk (dir., 10 tons).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2A4E"/>
                </a:solidFill>
              </a:rPr>
              <a:t>Rótulo monolítico:  </a:t>
            </a:r>
            <a:r>
              <a:rPr sz="1600">
                <a:solidFill>
                  <a:srgbClr val="3D424E"/>
                </a:solidFill>
              </a:rPr>
              <a:t>a categoria agrupa fenótipos muito diferentes em uma única etiqueta.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A4E"/>
                </a:solidFill>
              </a:rPr>
              <a:t>Escala Monk (Ellis Monk, 2019):  </a:t>
            </a:r>
            <a:r>
              <a:rPr sz="1600">
                <a:solidFill>
                  <a:srgbClr val="3D424E"/>
                </a:solidFill>
              </a:rPr>
              <a:t>10 tons — sucessora moderna da escala Fitzpatrick, que sub-representa tons escuros.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A4E"/>
                </a:solidFill>
              </a:rPr>
              <a:t>Schumann et al. (2023):  </a:t>
            </a:r>
            <a:r>
              <a:rPr sz="1600">
                <a:solidFill>
                  <a:srgbClr val="3D424E"/>
                </a:solidFill>
              </a:rPr>
              <a:t>consolida a MST como padrão moderno de auditoria em fairness facial.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A4E"/>
                </a:solidFill>
              </a:rPr>
              <a:t>Consequência:  </a:t>
            </a:r>
            <a:r>
              <a:rPr sz="1600">
                <a:solidFill>
                  <a:srgbClr val="3D424E"/>
                </a:solidFill>
              </a:rPr>
              <a:t>a rotulagem monolítica de raça esconde essa diversidade e prejudica o modelo em grupos heterogêneos como Latinx.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Contra-argumento: e se o problema não for “raça”?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5196" y="1417320"/>
            <a:ext cx="548640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5196" y="147218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 CRÍTICA DA LITERATURA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" y="2011680"/>
            <a:ext cx="5486400" cy="434340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" y="21945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</a:rPr>
              <a:t>Pangelinan et al. (2023, FAccT):  </a:t>
            </a:r>
            <a:r>
              <a:rPr sz="1400">
                <a:solidFill>
                  <a:srgbClr val="3D424E"/>
                </a:solidFill>
              </a:rPr>
              <a:t>o gap racial em face recognition é primariamente explicado pela FRAÇÃO DE FACE ÚTIL na imagem, não pelo rótulo de raça.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</a:rPr>
              <a:t>Matias et al. (2026):  </a:t>
            </a:r>
            <a:r>
              <a:rPr sz="1400">
                <a:solidFill>
                  <a:srgbClr val="3D424E"/>
                </a:solidFill>
              </a:rPr>
              <a:t>publica o SkinToneNet e reforça o tom de pele como dimensão auditável — pressiona a comunidade a abandonar rótulos nominais.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</a:rPr>
              <a:t>Implicação forte:  </a:t>
            </a:r>
            <a:r>
              <a:rPr sz="1400">
                <a:solidFill>
                  <a:srgbClr val="3D424E"/>
                </a:solidFill>
              </a:rPr>
              <a:t>se a refutação vale, condicionar por raça é injustificável — o sinal correto seria puramente fenotípico.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1417320"/>
            <a:ext cx="5486400" cy="5029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47218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NOSSA POSIÇÃO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2011680"/>
            <a:ext cx="5486400" cy="4343400"/>
          </a:xfrm>
          <a:prstGeom prst="roundRect">
            <a:avLst/>
          </a:prstGeom>
          <a:solidFill>
            <a:srgbClr val="B4C4E8"/>
          </a:solidFill>
          <a:ln>
            <a:solidFill>
              <a:srgbClr val="B4C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21945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A4E"/>
                </a:solidFill>
              </a:rPr>
              <a:t>Tom de pele COMPLEMENTA, não substitui a raça:  </a:t>
            </a:r>
            <a:r>
              <a:rPr sz="1400">
                <a:solidFill>
                  <a:srgbClr val="3D424E"/>
                </a:solidFill>
              </a:rPr>
              <a:t>usamos MST como sinal de contexto que ajuda a rede — o rótulo racial continua sendo o alvo de predição.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E"/>
                </a:solidFill>
              </a:rPr>
              <a:t>Incorporamos a crítica formalmente:  </a:t>
            </a:r>
            <a:r>
              <a:rPr sz="1400">
                <a:solidFill>
                  <a:srgbClr val="3D424E"/>
                </a:solidFill>
              </a:rPr>
              <a:t>H6 testa diretamente a tese de Pangelinan (≥ 70 % da variância do erro explicada por pixel information).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E"/>
                </a:solidFill>
              </a:rPr>
              <a:t>Controle explícito de pixel information (Etapa 5):  </a:t>
            </a:r>
            <a:r>
              <a:rPr sz="1400">
                <a:solidFill>
                  <a:srgbClr val="3D424E"/>
                </a:solidFill>
              </a:rPr>
              <a:t>avaliamos com e sem esse confounder — se a crítica vencer, a refutação vira contribuição quantitativa.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E"/>
                </a:solidFill>
              </a:rPr>
              <a:t>Ganho esperado se a nossa tese estiver certa:  </a:t>
            </a:r>
            <a:r>
              <a:rPr sz="1400">
                <a:solidFill>
                  <a:srgbClr val="3D424E"/>
                </a:solidFill>
              </a:rPr>
              <a:t>redução de disparidade + explicação estrutural de quanto do erro é irredutível vs mitigável.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Objetivo geral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25603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Desenvolver e avaliar um pipeline de classificação racial que usa o tom de pele (escala Monk, 10 tons) como sinal de contexto para reduzir a disparidade entre grupos, sem sacrificar a acurácia geral.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D424E"/>
                </a:solidFill>
              </a:defRPr>
            </a:pPr>
            <a:r>
              <a:t>Arquitetura escolhida: ConvNeXt-T (Liu et al., 2022) como rede base + FiLM (Perez et al., 2018) como mecanismo que “consulta” o tom de pele antes de decidir.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Seis objetivos específicos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972800"/>
              </a:tblGrid>
              <a:tr h="6792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Quantificar como o tom de pele Monk se distribui dentro de cada grupo racial do FairFace.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Treinar e avaliar classificador MST próprio, com sensitivity analysis contra alternativas.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Implementar o pipeline com FiLM sobre ConvNeXt-T e compará-lo contra seis baselines.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Demonstrar que o ganho em classificação transfere para reconhecimento (RFW/BFW).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Formalizar a triangulação de métricas — Disparity Ratio, F1 da pior classe, Equal Opportunity.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Decompor quanto do erro Latinx vem do fenótipo (irredutível) e quanto do modelo (mitigável).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Seis hipóteses testáveis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858000"/>
                <a:gridCol w="3931920"/>
              </a:tblGrid>
              <a:tr h="6792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Hipótese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Confirma se...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O classificador MST próprio atinge concordância humana suficiente.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κ ≥ 0,7 com anotações internas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 classe Latinx cobre ≥ 5 dos 10 tons Monk no FairFace.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cobertura observada ≥ 5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Condicionar por tom reduz disparidade sem perder acurácia agregada.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DR menor + F1 macro ≥ baseline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≥ 50 % dos erros Latinx concentram-se em zonas de sobreposição de tom.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concentração observada ≥ 50 %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O ganho em classificação transfere para reconhecimento.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redução de gap também em RFW/BFW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Parte substancial do gap é explicada por pixel information (Pangelinan 2023).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R² explicado ≥ 70 %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Timeline das principais respostas ao problema (2018–2026)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timeline_mitig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82" y="1371600"/>
            <a:ext cx="10547188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07682"/>
                </a:solidFill>
              </a:defRPr>
            </a:pPr>
            <a:r>
              <a:t>Frentes cronológicas: dados balanceados → funções de perda → arquiteturas Pareto-eficientes → modelos vision-language → escalas MST → heterogeneidade fenotípica.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Seis baselines de mitigação (comparação sistemática planejada)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943600"/>
              </a:tblGrid>
              <a:tr h="6792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Referência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Ideia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Adversarial debiasing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Zhang et al.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Segundo modelo tenta “ler” o atributo sensível — o primeiro se defende.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Group 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Sagawa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Otimiza o erro do pior grupo, não o erro médio.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FSCL+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Park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Aprendizado contrastivo com controle explícito de viés.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FineFACE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Manzoor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Atenção mútua entre camadas — operação Pareto-eficiente.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ResNet-34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Kärkkäinen &amp; Joo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Baseline canônico da própria comunidade FairFace.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ConvNeXt-T puro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Liu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Controle arquitetural moderno — efeito da rede base sem condicionamento.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O rótulo racial esconde variação — evidência externa à computação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Antropologia biológica — Telles (2014):  </a:t>
            </a:r>
            <a:r>
              <a:rPr sz="1800">
                <a:solidFill>
                  <a:srgbClr val="3D424E"/>
                </a:solidFill>
              </a:rPr>
              <a:t>projeto PERLA em 4 países latino-americanos documenta “pigmentocracia”.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Genética populacional — Bryc et al. (2015, AJHG):  </a:t>
            </a:r>
            <a:r>
              <a:rPr sz="1800">
                <a:solidFill>
                  <a:srgbClr val="3D424E"/>
                </a:solidFill>
              </a:rPr>
              <a:t>estudo com 162 mil indivíduos mostra composição ancestral altamente variável em Latinos.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Sociologia identitária — Pew Research (López et al., 2017):  </a:t>
            </a:r>
            <a:r>
              <a:rPr sz="1800">
                <a:solidFill>
                  <a:srgbClr val="3D424E"/>
                </a:solidFill>
              </a:rPr>
              <a:t>identidade Hispanic decai de 97 % para 50 % ao longo de quatro gerações nos EUA.</a:t>
            </a:r>
          </a:p>
          <a:p>
            <a:pPr>
              <a:spcAft>
                <a:spcPts val="1000"/>
              </a:spcAft>
              <a:defRPr sz="1800">
                <a:solidFill>
                  <a:srgbClr val="3D424E"/>
                </a:solidFill>
              </a:defRPr>
            </a:pPr>
            <a:r>
              <a:t>•  Três disciplinas independentes convergem: o rótulo racial do FairFace não captura variação fenotípica real.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Consequência metodológica:  </a:t>
            </a:r>
            <a:r>
              <a:rPr sz="1800">
                <a:solidFill>
                  <a:srgbClr val="3D424E"/>
                </a:solidFill>
              </a:rPr>
              <a:t>condicionar por tom de pele não substitui o rótulo — dá ao modelo uma pista objetiva que a rotulagem sozinha não oferece.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Cinco lacunas científicas identificadas na literatura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943600"/>
                <a:gridCol w="4937760"/>
              </a:tblGrid>
              <a:tr h="792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Lacuna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Como endereçamos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Não existe matriz pública MST × classes raciais no FairFace.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2 — Contribuição 2.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FiLM (Perez 2018) nunca foi aplicado em classificação racial multi-classe.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3 — Contribuição 3.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L3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Métricas de fairness multi-classe estão fragmentadas na literatura.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4 — Contribuição 4 (triangulação).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Transferência de fairness (Madras et al., 2018) para reconhecimento é pouco estudada.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5 — Contribuição 5.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Não há decomposição quantitativa do gap Latinx (fenótipo × algoritmo).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6 — Contribuição 6.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Pipeline em 6 etapas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ipeline_6et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534" y="1371600"/>
            <a:ext cx="410788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07682"/>
                </a:solidFill>
              </a:defRPr>
            </a:pPr>
            <a:r>
              <a:t>Fluxo top-down organizado em 3 fases: diagnóstico (etapas 1-2), método proposto (etapa 3) e validação/síntese (etapas 4-6).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Etapa 1 — Classificador de tom de pele (próprio)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O que faz:  </a:t>
            </a:r>
            <a:r>
              <a:rPr sz="1800">
                <a:solidFill>
                  <a:srgbClr val="3D424E"/>
                </a:solidFill>
              </a:rPr>
              <a:t>recebe uma foto de rosto e devolve as 10 probabilidades da escala Monk.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Decisão pós-reunião Ago/2026:  </a:t>
            </a:r>
            <a:r>
              <a:rPr sz="1800">
                <a:solidFill>
                  <a:srgbClr val="3D424E"/>
                </a:solidFill>
              </a:rPr>
              <a:t>treinar nosso próprio classificador — não depender do SkinToneNet (Matias 2026), cujos pesos e dataset STW ainda não foram liberados.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Datasets de treino:  </a:t>
            </a:r>
            <a:r>
              <a:rPr sz="1800">
                <a:solidFill>
                  <a:srgbClr val="3D424E"/>
                </a:solidFill>
              </a:rPr>
              <a:t>MSTE — Monk Skin Tone Examples (Monk, 2019, Google) e Casual Conversations v2 (Porgali et al., 2023, Meta).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Camada auto-suficiente:  </a:t>
            </a:r>
            <a:r>
              <a:rPr sz="1800">
                <a:solidFill>
                  <a:srgbClr val="3D424E"/>
                </a:solidFill>
              </a:rPr>
              <a:t>detecta o rosto (MTCNN, Zhang et al. 2016), alinha, corta e classifica — funciona em qualquer dataset, até os que não têm anotação.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Validação:  </a:t>
            </a:r>
            <a:r>
              <a:rPr sz="1800">
                <a:solidFill>
                  <a:srgbClr val="3D424E"/>
                </a:solidFill>
              </a:rPr>
              <a:t>protocolo humano interno (~250 imagens do FairFace) + sensitivity analysis com 2 a 3 classificadores alternativos.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Por que ConvNeXt-T (Liu et al., 2022) e não ResNet ou ViT?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931920"/>
              </a:tblGrid>
              <a:tr h="792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Critério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ResNet-34 (Kärkkäinen 2021)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ViT-B (Swin, DeiT)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ConvNeXt-T (adotado)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Desempenho 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76 % top-1 — 5 anos atrás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81–83 % top-1 — SOTA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82 % top-1 — paridade com ViT a custo convolucional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Estabilidade em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BatchNorm — sensível a batch pequeno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Boa, mas exige mais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LayerNorm — robusto a variação de batch (importante p/ 3 sementes)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Compatibilidade com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4 estágios naturais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Estrutura por tokens — inserção não trivial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4 estágios hierárquicos — inserção direta após bloco principal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Comparabilidade científica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É o baseline canônico de fairness facial (FairFace)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Sem baseline consolidado em fairness facial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Controle arquitetural moderno vs ResNet — isola efeito do FiLM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Custo computacional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22 M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86 M params (ViT-B)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28 M params — leve, viabiliza 3 sementes × 3 configs em GPU comum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Por que FiLM (Perez et al., 2018) e não outras técnicas de condicionamento?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5486400"/>
              </a:tblGrid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Alternativa avaliada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Referência / origem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Por que descartada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Concatenação direta MST →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Prática comum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Explosão paramétrica e diluição do sinal — sem modulação explícita.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Conditional Batch 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Anterior a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Caso particular do FiLM — generalizado por Perez et al. (2018).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Cross-attention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Transformer decoders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Superdimensionado para sinal 10-dim — ~3× o custo de FiLM sem ganho.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AdaIN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Style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Projetado p/ transferência de estilo — incompatível com sinal demográfico.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SPADE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Síntese de imagens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Requer mapa espacial denso — incompatível com vetor MST global.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HyperNetworks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Meta-aprendizagem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Instabilidade documentada — sobredimensionado para nosso porte.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LoRA / Adaptadores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Parameter-efficient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Modifica pesos, não condiciona features — categoria distinta (trab. futuro).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FiLM (adotado)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Perez et al. (2018)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24E"/>
                          </a:solidFill>
                        </a:rPr>
                        <a:t>★ 10-dim ideal + ~1 % overhead + interpretabilidade γ,β + compatível com LayerNorm.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Mecanismo FiLM — como o tom entra como contexto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l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359" y="1371600"/>
            <a:ext cx="6944234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07682"/>
                </a:solidFill>
              </a:defRPr>
            </a:pPr>
            <a:r>
              <a:t>FiLM (Perez et al., 2018) modula as features intermediárias do ConvNeXt-T canal a canal, condicionadas ao vetor MST. Overhead: ~1,3 % do backbone.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Três configurações comparadas no estudo de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937760"/>
                <a:gridCol w="5943600"/>
              </a:tblGrid>
              <a:tr h="11887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Configuração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 que testa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ConvNeXt-T puro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Sem condicionamento — controle arquitetural.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ConvNeXt-T + FiLM (sinal MST direto, 10-dim)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Proposta principal — tom de pele entra como contexto.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ConvNeXt-T + FiLM (sinal via CLIP-text, 512-dim)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Alternativa moderna — Radford et al. (2021) + Dehdashtian et al. (2024).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Como validamos — cenários e norma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Cenário A — apenas raça:  </a:t>
            </a:r>
            <a:r>
              <a:rPr sz="1800">
                <a:solidFill>
                  <a:srgbClr val="3D424E"/>
                </a:solidFill>
              </a:rPr>
              <a:t>métricas por classe racial (7 classes do FairFace).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Cenário B — raça × gênero:  </a:t>
            </a:r>
            <a:r>
              <a:rPr sz="1800">
                <a:solidFill>
                  <a:srgbClr val="3D424E"/>
                </a:solidFill>
              </a:rPr>
              <a:t>análise interseccional (8 subgrupos, seguindo Gender Shades — Buolamwini &amp; Gebru, 2018).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Norma seguida:  </a:t>
            </a:r>
            <a:r>
              <a:rPr sz="1800">
                <a:solidFill>
                  <a:srgbClr val="3D424E"/>
                </a:solidFill>
              </a:rPr>
              <a:t>ISO/IEC 19795-10:2024 — padrão internacional para reporte de desempenho biométrico entre grupos.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Rigor experimental:  </a:t>
            </a:r>
            <a:r>
              <a:rPr sz="1800">
                <a:solidFill>
                  <a:srgbClr val="3D424E"/>
                </a:solidFill>
              </a:rPr>
              <a:t>3 sementes independentes por experimento (42, 1, 2), comparação pareada, intervalo de confiança 95 % via bootstrap.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Datasets de transferência (Etapa 5):  </a:t>
            </a:r>
            <a:r>
              <a:rPr sz="1800">
                <a:solidFill>
                  <a:srgbClr val="3D424E"/>
                </a:solidFill>
              </a:rPr>
              <a:t>RFW (Wang et al., 2019) e BFW (Robinson et al., 2020) — pares oficiais 1:1.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Triangulação de métricas — nenhuma métrica isolada basta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Por que triangular — Kleinberg et al. (2017):  </a:t>
            </a:r>
            <a:r>
              <a:rPr sz="1800">
                <a:solidFill>
                  <a:srgbClr val="3D424E"/>
                </a:solidFill>
              </a:rPr>
              <a:t>Teorema da Impossibilidade — não existe métrica única de equidade que satisfaça todos os critérios simultaneamente.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Disparity Ratio:  </a:t>
            </a:r>
            <a:r>
              <a:rPr sz="1800">
                <a:solidFill>
                  <a:srgbClr val="3D424E"/>
                </a:solidFill>
              </a:rPr>
              <a:t>razão entre pior e melhor F1. Mede o quão desigual é o desempenho entre grupos.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F1 da pior classe:  </a:t>
            </a:r>
            <a:r>
              <a:rPr sz="1800">
                <a:solidFill>
                  <a:srgbClr val="3D424E"/>
                </a:solidFill>
              </a:rPr>
              <a:t>protege o grupo mais fraco — garante que a melhoria não vem só no meio.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Equal Opportunity — Hardt et al. (2016, NeurIPS):  </a:t>
            </a:r>
            <a:r>
              <a:rPr sz="1800">
                <a:solidFill>
                  <a:srgbClr val="3D424E"/>
                </a:solidFill>
              </a:rPr>
              <a:t>iguala a taxa de acerto entre grupos, condicionada ao rótulo verdadeiro.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Equalized Odds — Hardt et al. (2016):  </a:t>
            </a:r>
            <a:r>
              <a:rPr sz="1800">
                <a:solidFill>
                  <a:srgbClr val="3D424E"/>
                </a:solidFill>
              </a:rPr>
              <a:t>vai além — iguala acerto e erro entre grupos.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Visualização Pareto:  </a:t>
            </a:r>
            <a:r>
              <a:rPr sz="1800">
                <a:solidFill>
                  <a:srgbClr val="3D424E"/>
                </a:solidFill>
              </a:rPr>
              <a:t>para cada modelo, plotamos acurácia × disparidade — vemos quem está na fronteira.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Contribuições esperadas — 3 eixos, 7 contribuições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6400800"/>
              </a:tblGrid>
              <a:tr h="11887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Eixo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Contribuições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Foco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Fenotípico-empírico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Documentar como o fenótipo (MST) se distribui dentro de cada rótulo racial.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Metodológico-arquitetural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3, 4, 7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Injetar tom de pele como contexto arquitetural + triangulação de métricas.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Diagnóstico-estrutural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Decompor o erro em fenotípico (irredutível) e algorítmico (mitigável).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Cronograma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400800"/>
              </a:tblGrid>
              <a:tr h="4322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Período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Entrega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Ago/2026 (hoje)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Preparação adiantada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Código das Etapas 1 e 2 pronto e testado.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Set/2026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QUALIFICAÇÃO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Marco atual.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Out/2026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Aplicar sugestões da banca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Ajustes de texto e escopo.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Nov/2026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1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Treinar classificador MST + validação humana.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Dez/2026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Matriz pública MST × raça.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Jan–Mar/2027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Ablation 3 configurações FiLM.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Abr/2027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Comparação vs 6 baselines.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Mai/2027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Transferência RFW/BFW.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Jun/2027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Etapa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Síntese decompositiva.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2º sem 2027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Redação final + DEFESA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424E"/>
                          </a:solidFill>
                        </a:rPr>
                        <a:t>Encerramento.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Riscos identificados e mitigações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114800"/>
                <a:gridCol w="6766560"/>
              </a:tblGrid>
              <a:tr h="95097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Risco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Mitigação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Alguma das 6 hipóteses pode ser refutada.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Cada hipótese tem plano B; refutação é resultado científico válido.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Qualidade do nosso classificador de tom de pele.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Validação humana + sensitivity com outros classificadores + benchmark externo (STW) quando disponível.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Refutação parcial pela tese Pangelinan (pixel info &gt; tom).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Já incluída como H6 — refutação vira contribuição quantitativa.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Custo computacional (3 sementes × 3 configs × 6 baselines).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ConvNeXt-T é leve (~28M params); estimativa 200–400 h GPU total.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Estado atual — adiantados no cronograma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9476" y="1463040"/>
            <a:ext cx="3657600" cy="201168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9476" y="1600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+3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" y="2514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meses adiantados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C4E8"/>
                </a:solidFill>
              </a:defRPr>
            </a:pPr>
            <a:r>
              <a:t>sobre o cronograma proposto na qualificação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6" y="1463040"/>
            <a:ext cx="3657600" cy="20116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6" y="1600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A4E"/>
                </a:solidFill>
              </a:defRPr>
            </a:pPr>
            <a:r>
              <a:t>6 de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5676" y="2514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A4E"/>
                </a:solidFill>
              </a:defRPr>
            </a:pPr>
            <a:r>
              <a:t>etapas com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7116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707682"/>
                </a:solidFill>
              </a:defRPr>
            </a:pPr>
            <a:r>
              <a:t>estruturado, testado e pronto para execução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1875" y="1463040"/>
            <a:ext cx="3657600" cy="20116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1875" y="1600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A4E"/>
                </a:solidFill>
              </a:defRPr>
            </a:pPr>
            <a: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875" y="2514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A4E"/>
                </a:solidFill>
              </a:defRPr>
            </a:pPr>
            <a:r>
              <a:t>testes automatizados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3315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707682"/>
                </a:solidFill>
              </a:defRPr>
            </a:pPr>
            <a:r>
              <a:t>todos passando (unit + smoke + integração)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A4E"/>
                </a:solidFill>
              </a:defRPr>
            </a:pPr>
            <a:r>
              <a:t>Entregas concretas até 30/08/2026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•  Etapas 1 e 2 (código completo):  </a:t>
            </a:r>
            <a:r>
              <a:rPr sz="1500">
                <a:solidFill>
                  <a:srgbClr val="3D424E"/>
                </a:solidFill>
              </a:rPr>
              <a:t>classificador MST próprio, camada auto-suficiente, matriz MST × raça, teste da H2.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•  Etapa 3 (FiLM):  </a:t>
            </a:r>
            <a:r>
              <a:rPr sz="1500">
                <a:solidFill>
                  <a:srgbClr val="3D424E"/>
                </a:solidFill>
              </a:rPr>
              <a:t>camada FiLM + wrapper ConvNeXt-T + ensembler CLIP-text + pipeline de treino das 3 configs.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•  Etapas 4, 5 e 6:  </a:t>
            </a:r>
            <a:r>
              <a:rPr sz="1500">
                <a:solidFill>
                  <a:srgbClr val="3D424E"/>
                </a:solidFill>
              </a:rPr>
              <a:t>métricas de fairness + 4 baselines + Pareto + verificação RFW/BFW + decomposição ANOVA/R².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•  Texto da dissertação:  </a:t>
            </a:r>
            <a:r>
              <a:rPr sz="1500">
                <a:solidFill>
                  <a:srgbClr val="3D424E"/>
                </a:solidFill>
              </a:rPr>
              <a:t>5 capítulos consolidados, 3 passadas de revisão de estilo, 104 fichas bibliográficas.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Por que este trabalho é oportuno 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D424E"/>
                </a:solidFill>
              </a:defRPr>
            </a:pPr>
            <a:r>
              <a:t>•  Regulação europeia recém-aprovada (AI Act, 2024) exige auditoria de equidade em sistemas biométricos.</a:t>
            </a:r>
          </a:p>
          <a:p>
            <a:pPr>
              <a:spcAft>
                <a:spcPts val="1000"/>
              </a:spcAft>
              <a:defRPr sz="1800">
                <a:solidFill>
                  <a:srgbClr val="3D424E"/>
                </a:solidFill>
              </a:defRPr>
            </a:pPr>
            <a:r>
              <a:t>•  Literatura de 2023–2026 converge para tom de pele como pista central (Pangelinan 2023, Matias 2026, Schumann 2023).</a:t>
            </a:r>
          </a:p>
          <a:p>
            <a:pPr>
              <a:spcAft>
                <a:spcPts val="1000"/>
              </a:spcAft>
              <a:defRPr sz="1800">
                <a:solidFill>
                  <a:srgbClr val="3D424E"/>
                </a:solidFill>
              </a:defRPr>
            </a:pPr>
            <a:r>
              <a:t>•  Ferramentas necessárias amadureceram: MSTE, Casual Conversations v2, FairFace, RFW, BFW.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A proposta agrega 3 vetores:  </a:t>
            </a:r>
            <a:r>
              <a:rPr sz="1800">
                <a:solidFill>
                  <a:srgbClr val="3D424E"/>
                </a:solidFill>
              </a:rPr>
              <a:t>fenotípico (empírico), metodológico (arquitetural) e diagnóstico (decompositivo).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Diferencial científico:  </a:t>
            </a:r>
            <a:r>
              <a:rPr sz="1800">
                <a:solidFill>
                  <a:srgbClr val="3D424E"/>
                </a:solidFill>
              </a:rPr>
              <a:t>não busca apenas “reduzir F1 médio” — busca entender quanto do erro é mitigável e quanto é limite estrutural do problema.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Qualificação · Marcello Ozzetti · Prof. Marcos Quiles ·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Obrigado.</a:t>
            </a:r>
          </a:p>
          <a:p>
            <a:pPr algn="ctr">
              <a:defRPr sz="2800">
                <a:solidFill>
                  <a:srgbClr val="B4C4E8"/>
                </a:solidFill>
              </a:defRPr>
            </a:pPr>
            <a: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B4C4E8"/>
                </a:solidFill>
              </a:defRPr>
            </a:pPr>
            <a:r>
              <a:t>Marcello Ozzetti · marcello.ozzetti@gmail.com · UNIFESP/ICT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