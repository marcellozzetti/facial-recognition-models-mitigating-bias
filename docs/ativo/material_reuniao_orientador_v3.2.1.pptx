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Como a tese estava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A tese era DIAGNÓSTICA — focada em explicar por que o erro existe:</a:t>
            </a:r>
          </a:p>
          <a:p>
            <a:pPr>
              <a:spcAft>
                <a:spcPts val="800"/>
              </a:spcAft>
              <a:defRPr sz="2000" b="0">
                <a:solidFill>
                  <a:srgbClr val="3D424E"/>
                </a:solidFill>
              </a:defRPr>
            </a:pPr>
          </a:p>
          <a:p>
            <a:pPr>
              <a:spcAft>
                <a:spcPts val="800"/>
              </a:spcAft>
              <a:defRPr sz="2000" b="0">
                <a:solidFill>
                  <a:srgbClr val="3D424E"/>
                </a:solidFill>
              </a:defRPr>
            </a:pPr>
            <a:r>
              <a:t>“O limite atual de 75% F1 em classificação racial sobre o FairFace não é só problema de arquitetura nem só problema de método. Tem um componente fenotípico irredutível: as raças se sobrepõem em tom de pele, especialmente Latinx. A dissertação ia construir a primeira matriz pública dessa sobreposição e quantificar o que dá para reduzir vs o que é estrutural.”</a:t>
            </a:r>
          </a:p>
          <a:p>
            <a:pPr>
              <a:spcAft>
                <a:spcPts val="800"/>
              </a:spcAft>
              <a:defRPr sz="2000" b="0">
                <a:solidFill>
                  <a:srgbClr val="3D424E"/>
                </a:solidFill>
              </a:defRPr>
            </a:pPr>
          </a:p>
          <a:p>
            <a:pPr>
              <a:spcAft>
                <a:spcPts val="800"/>
              </a:spcAft>
              <a:defRPr sz="2000" b="0">
                <a:solidFill>
                  <a:srgbClr val="3D424E"/>
                </a:solidFill>
              </a:defRPr>
            </a:pPr>
            <a:r>
              <a:t>Corpus naquele momento: 23 fichas catalogadas, 6 tracks temáticos.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validamos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Concordamos que a evolução metodológica melhorou significativamente</a:t>
            </a:r>
          </a:p>
          <a:p>
            <a:pPr>
              <a:spcAft>
                <a:spcPts val="800"/>
              </a:spcAft>
              <a:defRPr sz="2000" b="0">
                <a:solidFill>
                  <a:srgbClr val="3D424E"/>
                </a:solidFill>
              </a:defRPr>
            </a:pPr>
          </a:p>
          <a:p>
            <a:pPr>
              <a:spcAft>
                <a:spcPts val="800"/>
              </a:spcAft>
              <a:defRPr sz="2000" b="0">
                <a:solidFill>
                  <a:srgbClr val="3D424E"/>
                </a:solidFill>
              </a:defRPr>
            </a:pPr>
            <a:r>
              <a:t>✓  Validamos que o SOTA encontrado (FaceScanPaliGemma 75.7% F1) é mesmo o atual</a:t>
            </a:r>
          </a:p>
          <a:p>
            <a:pPr>
              <a:spcAft>
                <a:spcPts val="800"/>
              </a:spcAft>
              <a:defRPr sz="2000" b="0">
                <a:solidFill>
                  <a:srgbClr val="3D424E"/>
                </a:solidFill>
              </a:defRPr>
            </a:pPr>
          </a:p>
          <a:p>
            <a:pPr>
              <a:spcAft>
                <a:spcPts val="800"/>
              </a:spcAft>
              <a:defRPr sz="2000" b="0">
                <a:solidFill>
                  <a:srgbClr val="3D424E"/>
                </a:solidFill>
              </a:defRPr>
            </a:pPr>
            <a:r>
              <a:t>✓  Alinhamos e validamos a linha de pesquisa proposta</a:t>
            </a:r>
          </a:p>
          <a:p>
            <a:pPr>
              <a:spcAft>
                <a:spcPts val="800"/>
              </a:spcAft>
              <a:defRPr sz="2000" b="0">
                <a:solidFill>
                  <a:srgbClr val="3D424E"/>
                </a:solidFill>
              </a:defRPr>
            </a:pPr>
          </a:p>
          <a:p>
            <a:pPr>
              <a:spcAft>
                <a:spcPts val="800"/>
              </a:spcAft>
              <a:defRPr sz="2000" b="0">
                <a:solidFill>
                  <a:srgbClr val="3D424E"/>
                </a:solidFill>
              </a:defRPr>
            </a:pPr>
            <a:r>
              <a:t>Estas 3 validações são a base sobre a qual estou construindo a nova versão da tese.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Achados adicionais: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Mudança central: deixa de ‘decompor o erro’ e passa a ‘construir um pipeline’ que melhora fairness em race classification 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Pipeline construtivo em 6 etapas:</a:t>
            </a:r>
          </a:p>
          <a:p>
            <a:pPr lvl="1">
              <a:spcAft>
                <a:spcPts val="800"/>
              </a:spcAft>
              <a:defRPr sz="1700">
                <a:solidFill>
                  <a:srgbClr val="707682"/>
                </a:solidFill>
              </a:defRPr>
            </a:pPr>
            <a:r>
              <a:t>1. Classificador de tom de pele (MST) — usar SkinToneNet pré-treinado</a:t>
            </a:r>
          </a:p>
          <a:p>
            <a:pPr lvl="1">
              <a:spcAft>
                <a:spcPts val="800"/>
              </a:spcAft>
              <a:defRPr sz="1700">
                <a:solidFill>
                  <a:srgbClr val="707682"/>
                </a:solidFill>
              </a:defRPr>
            </a:pPr>
            <a:r>
              <a:t>2. Auditar FairFace e publicar a matriz pública MST × raça</a:t>
            </a:r>
          </a:p>
          <a:p>
            <a:pPr lvl="1">
              <a:spcAft>
                <a:spcPts val="800"/>
              </a:spcAft>
              <a:defRPr sz="1700">
                <a:solidFill>
                  <a:srgbClr val="707682"/>
                </a:solidFill>
              </a:defRPr>
            </a:pPr>
            <a:r>
              <a:t>3. Race classifier com tom de pele como contexto (mecanismo FiLM)</a:t>
            </a:r>
          </a:p>
          <a:p>
            <a:pPr lvl="1">
              <a:spcAft>
                <a:spcPts val="800"/>
              </a:spcAft>
              <a:defRPr sz="1700">
                <a:solidFill>
                  <a:srgbClr val="707682"/>
                </a:solidFill>
              </a:defRPr>
            </a:pPr>
            <a:r>
              <a:t>4. Comparar fairness COM vs SEM tom de pele, contra 6 baselines</a:t>
            </a:r>
          </a:p>
          <a:p>
            <a:pPr lvl="1">
              <a:spcAft>
                <a:spcPts val="800"/>
              </a:spcAft>
              <a:defRPr sz="1700">
                <a:solidFill>
                  <a:srgbClr val="707682"/>
                </a:solidFill>
              </a:defRPr>
            </a:pPr>
            <a:r>
              <a:t>5. Aplicar pipeline a face recognition (RFW ou BFW)</a:t>
            </a:r>
          </a:p>
          <a:p>
            <a:pPr lvl="1">
              <a:spcAft>
                <a:spcPts val="800"/>
              </a:spcAft>
              <a:defRPr sz="1700">
                <a:solidFill>
                  <a:srgbClr val="707682"/>
                </a:solidFill>
              </a:defRPr>
            </a:pPr>
            <a:r>
              <a:t>6. Medir melhora em Black/African e decomposição Latinx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Triagem do corpus de pesquisa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Dos 57 papers avaliados, aprovamos 29 como fichas do corpus.</a:t>
            </a:r>
          </a:p>
          <a:p>
            <a:pPr>
              <a:spcAft>
                <a:spcPts val="800"/>
              </a:spcAft>
              <a:defRPr sz="2000" b="0">
                <a:solidFill>
                  <a:srgbClr val="3D424E"/>
                </a:solidFill>
              </a:defRPr>
            </a:pPr>
          </a:p>
          <a:p>
            <a:pPr>
              <a:spcAft>
                <a:spcPts val="800"/>
              </a:spcAft>
              <a:defRPr sz="2000" b="0">
                <a:solidFill>
                  <a:srgbClr val="3D424E"/>
                </a:solidFill>
              </a:defRPr>
            </a:pPr>
            <a:r>
              <a:t>Aprovação seguiu os critérios de seleção acordados:</a:t>
            </a:r>
          </a:p>
          <a:p>
            <a:pPr lvl="1">
              <a:spcAft>
                <a:spcPts val="800"/>
              </a:spcAft>
              <a:defRPr sz="1700">
                <a:solidFill>
                  <a:srgbClr val="707682"/>
                </a:solidFill>
              </a:defRPr>
            </a:pPr>
            <a:r>
              <a:t>Venue científico forte (top conferences ou journals peer-reviewed)</a:t>
            </a:r>
          </a:p>
          <a:p>
            <a:pPr lvl="1">
              <a:spcAft>
                <a:spcPts val="800"/>
              </a:spcAft>
              <a:defRPr sz="1700">
                <a:solidFill>
                  <a:srgbClr val="707682"/>
                </a:solidFill>
              </a:defRPr>
            </a:pPr>
            <a:r>
              <a:t>Citações acima do threshold do ano de publicação</a:t>
            </a:r>
          </a:p>
          <a:p>
            <a:pPr lvl="1">
              <a:spcAft>
                <a:spcPts val="800"/>
              </a:spcAft>
              <a:defRPr sz="1700">
                <a:solidFill>
                  <a:srgbClr val="707682"/>
                </a:solidFill>
              </a:defRPr>
            </a:pPr>
            <a:r>
              <a:t>Aplicabilidade direta a uma das 14 perguntas de pesquisa</a:t>
            </a:r>
          </a:p>
          <a:p>
            <a:pPr lvl="1">
              <a:spcAft>
                <a:spcPts val="800"/>
              </a:spcAft>
              <a:defRPr sz="1700">
                <a:solidFill>
                  <a:srgbClr val="707682"/>
                </a:solidFill>
              </a:defRPr>
            </a:pPr>
            <a:r>
              <a:t>Aprovação por exceção (cobertura única) com justificativa registrada</a:t>
            </a:r>
          </a:p>
          <a:p>
            <a:pPr>
              <a:spcAft>
                <a:spcPts val="800"/>
              </a:spcAft>
              <a:defRPr sz="2000" b="0">
                <a:solidFill>
                  <a:srgbClr val="3D424E"/>
                </a:solidFill>
              </a:defRPr>
            </a:pPr>
          </a:p>
          <a:p>
            <a:pPr>
              <a:spcAft>
                <a:spcPts val="800"/>
              </a:spcAft>
              <a:defRPr sz="2000" b="0">
                <a:solidFill>
                  <a:srgbClr val="3D424E"/>
                </a:solidFill>
              </a:defRPr>
            </a:pPr>
            <a:r>
              <a:t>Cada decisão (aprovado / standby / descartado) tem data e justificativa em _triagem.md.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Classificador MST pré-treinado validado pela Rodada 6 (SkinToneNet, Pereira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O que é FiLM (Feature-wise Linear Modulation)?</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Formulação matemática (Perez et al. 2018, AAAI)</a:t>
            </a:r>
          </a:p>
          <a:p>
            <a:pPr>
              <a:defRPr sz="1500">
                <a:solidFill>
                  <a:srgbClr val="3D424E"/>
                </a:solidFill>
              </a:defRPr>
            </a:pPr>
            <a:r>
              <a:t>Dada uma feature map intermediária F do backbone e um vetor de contexto z (no nosso caso, vetor MST de 10 dimensões saído do SkinToneNet):</a:t>
            </a:r>
          </a:p>
          <a:p>
            <a:pPr>
              <a:defRPr sz="1700" b="1">
                <a:solidFill>
                  <a:srgbClr val="1F2A4E"/>
                </a:solidFill>
              </a:defRPr>
            </a:pPr>
            <a:r>
              <a:t>    FiLM(F | γ, β) = γ ⊙ F + β       onde γ = fγ(z) e β = fβ(z)</a:t>
            </a:r>
          </a:p>
          <a:p>
            <a:pPr>
              <a:defRPr sz="1400">
                <a:solidFill>
                  <a:srgbClr val="3D424E"/>
                </a:solidFill>
              </a:defRPr>
            </a:pPr>
            <a:r>
              <a:t>fγ e fβ são duas pequenas MLPs treináveis que mapeiam o contexto z para os parâmetros de modulação (γ, β) por canal. O símbolo ⊙ é multiplicação elemento-a-elemento.</a:t>
            </a:r>
          </a:p>
        </p:txBody>
      </p:sp>
      <p:sp>
        <p:nvSpPr>
          <p:cNvPr id="5" name="Rounded Rectangle 4"/>
          <p:cNvSpPr/>
          <p:nvPr/>
        </p:nvSpPr>
        <p:spPr>
          <a:xfrm>
            <a:off x="548640" y="3657600"/>
            <a:ext cx="11064240" cy="210312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Como aplicar no nosso pipeline (receita prática)</a:t>
            </a:r>
          </a:p>
          <a:p>
            <a:pPr>
              <a:spcAft>
                <a:spcPts val="200"/>
              </a:spcAft>
              <a:defRPr sz="1400">
                <a:solidFill>
                  <a:srgbClr val="3D424E"/>
                </a:solidFill>
              </a:defRPr>
            </a:pPr>
            <a:r>
              <a:t>1. Extrair vetor MST z ∈ ℝ¹⁰ da imagem usando o SkinToneNet pré-treinado.</a:t>
            </a:r>
          </a:p>
          <a:p>
            <a:pPr>
              <a:spcAft>
                <a:spcPts val="200"/>
              </a:spcAft>
              <a:defRPr sz="1400">
                <a:solidFill>
                  <a:srgbClr val="3D424E"/>
                </a:solidFill>
              </a:defRPr>
            </a:pPr>
            <a:r>
              <a:t>2. Para cada bloco residual do ConvNeXt-T, inserir um bloco FiLM que recebe z e produz (γ, β).</a:t>
            </a:r>
          </a:p>
          <a:p>
            <a:pPr>
              <a:spcAft>
                <a:spcPts val="200"/>
              </a:spcAft>
              <a:defRPr sz="1400">
                <a:solidFill>
                  <a:srgbClr val="3D424E"/>
                </a:solidFill>
              </a:defRPr>
            </a:pPr>
            <a:r>
              <a:t>3. Modular as features intermediárias F do bloco: F' = γ ⊙ F + β.</a:t>
            </a:r>
          </a:p>
          <a:p>
            <a:pPr>
              <a:spcAft>
                <a:spcPts val="200"/>
              </a:spcAft>
              <a:defRPr sz="1400">
                <a:solidFill>
                  <a:srgbClr val="3D424E"/>
                </a:solidFill>
              </a:defRPr>
            </a:pPr>
            <a:r>
              <a:t>4. Backbone e cabeça de classificação treinam normalmente; só os parâmetros das MLPs (fγ, fβ) são novos.</a:t>
            </a:r>
          </a:p>
        </p:txBody>
      </p:sp>
      <p:sp>
        <p:nvSpPr>
          <p:cNvPr id="6" name="Rounded Rectangle 5"/>
          <p:cNvSpPr/>
          <p:nvPr/>
        </p:nvSpPr>
        <p:spPr>
          <a:xfrm>
            <a:off x="548640" y="5943600"/>
            <a:ext cx="11064240" cy="82296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defRPr sz="1300" b="1">
                <a:solidFill>
                  <a:srgbClr val="2E7D32"/>
                </a:solidFill>
              </a:defRPr>
            </a:pPr>
            <a:r>
              <a:t>Por que importa para a tese</a:t>
            </a:r>
          </a:p>
          <a:p>
            <a:pPr>
              <a:defRPr sz="1300">
                <a:solidFill>
                  <a:srgbClr val="3D424E"/>
                </a:solidFill>
              </a:defRPr>
            </a:pPr>
            <a:r>
              <a:t>Sem FiLM, 'usar tom de pele como contexto' seria vaga. Com FiLM, é matemática e código concreto — qualquer revisor consegue reproduzir.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O que é fair transferência (LAFTR)?</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219456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Formalização teórica (Madras et al. 2018, ICML)</a:t>
            </a:r>
          </a:p>
          <a:p>
            <a:pPr>
              <a:spcAft>
                <a:spcPts val="200"/>
              </a:spcAft>
              <a:defRPr sz="1300">
                <a:solidFill>
                  <a:srgbClr val="3D424E"/>
                </a:solidFill>
              </a:defRPr>
            </a:pPr>
            <a:r>
              <a:t>Encoder e: X → Z      mapeia entrada para representação latente Z</a:t>
            </a:r>
          </a:p>
          <a:p>
            <a:pPr>
              <a:spcAft>
                <a:spcPts val="200"/>
              </a:spcAft>
              <a:defRPr sz="1300">
                <a:solidFill>
                  <a:srgbClr val="3D424E"/>
                </a:solidFill>
              </a:defRPr>
            </a:pPr>
            <a:r>
              <a:t>Classificador c: Z → Y      prediz a tarefa de interesse</a:t>
            </a:r>
          </a:p>
          <a:p>
            <a:pPr>
              <a:spcAft>
                <a:spcPts val="200"/>
              </a:spcAft>
              <a:defRPr sz="1300">
                <a:solidFill>
                  <a:srgbClr val="3D424E"/>
                </a:solidFill>
              </a:defRPr>
            </a:pPr>
            <a:r>
              <a:t>Adversário a: Z → S      tenta prever atributo sensível S a partir de Z</a:t>
            </a:r>
          </a:p>
          <a:p>
            <a:pPr>
              <a:spcAft>
                <a:spcPts val="200"/>
              </a:spcAft>
              <a:defRPr sz="1300" b="1">
                <a:solidFill>
                  <a:srgbClr val="1F2A4E"/>
                </a:solidFill>
              </a:defRPr>
            </a:pPr>
            <a:r>
              <a:t>Objetivo:    min_{e,c} max_a  [ L_clf(c(e(X)), Y)  +  λ · L_adv(a(e(X)), S) ]</a:t>
            </a:r>
          </a:p>
          <a:p>
            <a:pPr>
              <a:spcAft>
                <a:spcPts val="200"/>
              </a:spcAft>
              <a:defRPr sz="1300" b="1">
                <a:solidFill>
                  <a:srgbClr val="1F2A4E"/>
                </a:solidFill>
              </a:defRPr>
            </a:pPr>
            <a:r>
              <a:t>Resultado teórico: se a falha (L_adv → 0), então Z é fair sob demographic parity / equalized odds.</a:t>
            </a:r>
          </a:p>
        </p:txBody>
      </p:sp>
      <p:sp>
        <p:nvSpPr>
          <p:cNvPr id="5" name="Rounded Rectangle 4"/>
          <p:cNvSpPr/>
          <p:nvPr/>
        </p:nvSpPr>
        <p:spPr>
          <a:xfrm>
            <a:off x="548640" y="3703320"/>
            <a:ext cx="11064240" cy="17373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Garantia de transferência (Teorema 1, Madras 2018)</a:t>
            </a:r>
          </a:p>
          <a:p>
            <a:pPr>
              <a:defRPr sz="1400">
                <a:solidFill>
                  <a:srgbClr val="3D424E"/>
                </a:solidFill>
              </a:defRPr>
            </a:pPr>
            <a:r>
              <a:t>Para QUALQUER classificador downstream c' treinado sobre a mesma representação Z, a violação de fairness de c' é limitada superiormente pela violação de fairness em c. Em palavras simples: a propriedade fair é PROPRIEDADE DA REPRESENTAÇÃO Z, não da tarefa específica.</a:t>
            </a:r>
          </a:p>
          <a:p>
            <a:pPr>
              <a:defRPr sz="1300">
                <a:solidFill>
                  <a:srgbClr val="3D424E"/>
                </a:solidFill>
              </a:defRPr>
            </a:pPr>
            <a:r>
              <a:t>Implicação: ao treinar fair em race classification (Cap 2), o backbone passa a Z fair. Reaproveitamos esse mesmo Z em face recognition (Cap 3) sem re-treinar fairness do zero.</a:t>
            </a:r>
          </a:p>
        </p:txBody>
      </p:sp>
      <p:sp>
        <p:nvSpPr>
          <p:cNvPr id="6" name="Rounded Rectangle 5"/>
          <p:cNvSpPr/>
          <p:nvPr/>
        </p:nvSpPr>
        <p:spPr>
          <a:xfrm>
            <a:off x="548640" y="5577840"/>
            <a:ext cx="11064240" cy="118872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defRPr sz="1300" b="1">
                <a:solidFill>
                  <a:srgbClr val="2E7D32"/>
                </a:solidFill>
              </a:defRPr>
            </a:pPr>
            <a:r>
              <a:t>Evidência empírica complementar</a:t>
            </a:r>
          </a:p>
          <a:p>
            <a:pPr>
              <a:defRPr sz="1300">
                <a:solidFill>
                  <a:srgbClr val="3D424E"/>
                </a:solidFill>
              </a:defRPr>
            </a:pPr>
            <a:r>
              <a:t>Aguirre &amp; Dredze 2023 (arXiv:2305.12671) — confirmaram empiricamente que objetivos de fairness demográfico SE TRANSFEREM entre tarefas que compartilham representação (domínio NLP, mas princípio é independente da modalidade).</a:t>
            </a:r>
          </a:p>
        </p:txBody>
      </p:sp>
      <p:sp>
        <p:nvSpPr>
          <p:cNvPr id="7" name="TextBox 6"/>
          <p:cNvSpPr txBox="1"/>
          <p:nvPr/>
        </p:nvSpPr>
        <p:spPr>
          <a:xfrm>
            <a:off x="457200" y="6446520"/>
            <a:ext cx="11430000" cy="365760"/>
          </a:xfrm>
          <a:prstGeom prst="rect">
            <a:avLst/>
          </a:prstGeom>
          <a:noFill/>
        </p:spPr>
        <p:txBody>
          <a:bodyPr wrap="none">
            <a:spAutoFit/>
          </a:bodyPr>
          <a:lstStyle/>
          <a:p>
            <a:pPr>
              <a:defRPr sz="1300" i="1">
                <a:solidFill>
                  <a:srgbClr val="707682"/>
                </a:solidFill>
              </a:defRPr>
            </a:pPr>
            <a:r>
              <a:t>H5 em revisão após Pangelinan 2023 (Rodada 6): pixel info pode ser confounder adicional em FR — discussão na pauta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Etapas 1, 4 e 5 reforçadas pela Rodada 6 (SkinToneNet, Adversarial debiasing, fair transfer empírico)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As métricas que vamos reportar — todas públicas e estabelecidas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F1 macro — média das pontuações nas 7 raças, tratando todas igualmente</a:t>
            </a:r>
          </a:p>
          <a:p>
            <a:pPr lvl="1">
              <a:spcAft>
                <a:spcPts val="800"/>
              </a:spcAft>
              <a:defRPr sz="1700">
                <a:solidFill>
                  <a:srgbClr val="707682"/>
                </a:solidFill>
              </a:defRPr>
            </a:pPr>
            <a:r>
              <a:t>Referência: van Rijsbergen 1979 (livro Information Retrieval). Implementação: sklearn.metrics.f1_score(average='macro').</a:t>
            </a:r>
          </a:p>
          <a:p>
            <a:pPr lvl="1">
              <a:spcAft>
                <a:spcPts val="800"/>
              </a:spcAft>
              <a:defRPr sz="1700">
                <a:solidFill>
                  <a:srgbClr val="707682"/>
                </a:solidFill>
              </a:defRPr>
            </a:pPr>
            <a:r>
              <a:t>Quanto maior, melhor. SOTA atual = 75% (FaceScanPaliGemma).</a:t>
            </a:r>
          </a:p>
          <a:p>
            <a:pPr>
              <a:spcAft>
                <a:spcPts val="800"/>
              </a:spcAft>
              <a:defRPr sz="2000" b="0">
                <a:solidFill>
                  <a:srgbClr val="3D424E"/>
                </a:solidFill>
              </a:defRPr>
            </a:pPr>
          </a:p>
          <a:p>
            <a:pPr>
              <a:spcAft>
                <a:spcPts val="800"/>
              </a:spcAft>
              <a:defRPr sz="2000" b="0">
                <a:solidFill>
                  <a:srgbClr val="3D424E"/>
                </a:solidFill>
              </a:defRPr>
            </a:pPr>
            <a:r>
              <a:t>DR (Disparity Ratio) — razão entre a melhor e a pior raça</a:t>
            </a:r>
          </a:p>
          <a:p>
            <a:pPr lvl="1">
              <a:spcAft>
                <a:spcPts val="800"/>
              </a:spcAft>
              <a:defRPr sz="1700">
                <a:solidFill>
                  <a:srgbClr val="707682"/>
                </a:solidFill>
              </a:defRPr>
            </a:pPr>
            <a:r>
              <a:t>Referência: Hardt, Price &amp; Srebro 2016 (NeurIPS) — Equal Opportunity / Equalized Odds.</a:t>
            </a:r>
          </a:p>
          <a:p>
            <a:pPr lvl="1">
              <a:spcAft>
                <a:spcPts val="800"/>
              </a:spcAft>
              <a:defRPr sz="1700">
                <a:solidFill>
                  <a:srgbClr val="707682"/>
                </a:solidFill>
              </a:defRPr>
            </a:pPr>
            <a:r>
              <a:t>Quanto mais perto de 1.0, mais justo. Latinx vs Black atualmente = 60% / 90% = 0.67.</a:t>
            </a:r>
          </a:p>
          <a:p>
            <a:pPr>
              <a:spcAft>
                <a:spcPts val="800"/>
              </a:spcAft>
              <a:defRPr sz="2000" b="0">
                <a:solidFill>
                  <a:srgbClr val="3D424E"/>
                </a:solidFill>
              </a:defRPr>
            </a:pPr>
          </a:p>
          <a:p>
            <a:pPr>
              <a:spcAft>
                <a:spcPts val="800"/>
              </a:spcAft>
              <a:defRPr sz="2000" b="0">
                <a:solidFill>
                  <a:srgbClr val="3D424E"/>
                </a:solidFill>
              </a:defRPr>
            </a:pPr>
            <a:r>
              <a:t>Worst-class F1 — pontuação na raça em que o modelo se sai pior</a:t>
            </a:r>
          </a:p>
          <a:p>
            <a:pPr lvl="1">
              <a:spcAft>
                <a:spcPts val="800"/>
              </a:spcAft>
              <a:defRPr sz="1700">
                <a:solidFill>
                  <a:srgbClr val="707682"/>
                </a:solidFill>
              </a:defRPr>
            </a:pPr>
            <a:r>
              <a:t>Referência: Sagawa et al. 2020 (ICLR) — Group DRO. Métrica = min_g F1(g).</a:t>
            </a:r>
          </a:p>
          <a:p>
            <a:pPr lvl="1">
              <a:spcAft>
                <a:spcPts val="800"/>
              </a:spcAft>
              <a:defRPr sz="1700">
                <a:solidFill>
                  <a:srgbClr val="707682"/>
                </a:solidFill>
              </a:defRPr>
            </a:pPr>
            <a:r>
              <a:t>Atualmente = 60% (Latinx). Quanto maior, melhor o pior caso.</a:t>
            </a:r>
          </a:p>
          <a:p>
            <a:pPr>
              <a:spcAft>
                <a:spcPts val="800"/>
              </a:spcAft>
              <a:defRPr sz="2000" b="0">
                <a:solidFill>
                  <a:srgbClr val="3D424E"/>
                </a:solidFill>
              </a:defRPr>
            </a:pPr>
          </a:p>
          <a:p>
            <a:pPr>
              <a:spcAft>
                <a:spcPts val="800"/>
              </a:spcAft>
              <a:defRPr sz="2000" b="0">
                <a:solidFill>
                  <a:srgbClr val="3D424E"/>
                </a:solidFill>
              </a:defRPr>
            </a:pPr>
            <a:r>
              <a:t>Por que 3 métricas e não uma?</a:t>
            </a:r>
          </a:p>
          <a:p>
            <a:pPr lvl="1">
              <a:spcAft>
                <a:spcPts val="800"/>
              </a:spcAft>
              <a:defRPr sz="1700">
                <a:solidFill>
                  <a:srgbClr val="707682"/>
                </a:solidFill>
              </a:defRPr>
            </a:pPr>
            <a:r>
              <a:t>Teorema da impossibilidade (Kleinberg, Mullainathan &amp; Raghavan 2017, ITCS): não existe métrica única de fairness — reportar as 3 é forma honesta de comunicar trade-offs.</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Todas as 3 métricas + teorema da impossibilidade já têm ficha catalogada no corpus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H5 em revisão após Pangelinan 2023 (Rodada 6): pixel info pode ser confounder — discussão na pauta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493776">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493776">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493776">
                <a:tc>
                  <a:txBody>
                    <a:bodyPr/>
                    <a:lstStyle/>
                    <a:p>
                      <a:r>
                        <a:rPr sz="1500">
                          <a:solidFill>
                            <a:srgbClr val="3D424E"/>
                          </a:solidFill>
                        </a:rPr>
                        <a:t>Submissão para qualificação</a:t>
                      </a:r>
                    </a:p>
                  </a:txBody>
                  <a:tcPr>
                    <a:solidFill>
                      <a:srgbClr val="E8EAED"/>
                    </a:solidFill>
                  </a:tcPr>
                </a:tc>
                <a:tc>
                  <a:txBody>
                    <a:bodyPr/>
                    <a:lstStyle/>
                    <a:p>
                      <a:r>
                        <a:rPr sz="1500">
                          <a:solidFill>
                            <a:srgbClr val="3D424E"/>
                          </a:solidFill>
                        </a:rPr>
                        <a:t>+2 semanas após aprovação</a:t>
                      </a:r>
                    </a:p>
                  </a:txBody>
                  <a:tcPr>
                    <a:solidFill>
                      <a:srgbClr val="E8EAED"/>
                    </a:solidFill>
                  </a:tcPr>
                </a:tc>
                <a:tc>
                  <a:txBody>
                    <a:bodyPr/>
                    <a:lstStyle/>
                    <a:p>
                      <a:r>
                        <a:rPr sz="1500">
                          <a:solidFill>
                            <a:srgbClr val="3D424E"/>
                          </a:solidFill>
                        </a:rPr>
                        <a:t>Documento de qualificação ao programa</a:t>
                      </a:r>
                    </a:p>
                  </a:txBody>
                  <a:tcPr>
                    <a:solidFill>
                      <a:srgbClr val="E8EAED"/>
                    </a:solidFill>
                  </a:tcPr>
                </a:tc>
              </a:tr>
              <a:tr h="493776">
                <a:tc>
                  <a:txBody>
                    <a:bodyPr/>
                    <a:lstStyle/>
                    <a:p>
                      <a:r>
                        <a:rPr sz="1500">
                          <a:solidFill>
                            <a:srgbClr val="3D424E"/>
                          </a:solidFill>
                        </a:rPr>
                        <a:t>Setup metodológico</a:t>
                      </a:r>
                    </a:p>
                  </a:txBody>
                  <a:tcPr>
                    <a:solidFill>
                      <a:srgbClr val="FFFFFF"/>
                    </a:solidFill>
                  </a:tcPr>
                </a:tc>
                <a:tc>
                  <a:txBody>
                    <a:bodyPr/>
                    <a:lstStyle/>
                    <a:p>
                      <a:r>
                        <a:rPr sz="1500">
                          <a:solidFill>
                            <a:srgbClr val="3D424E"/>
                          </a:solidFill>
                        </a:rPr>
                        <a:t>2 semanas</a:t>
                      </a:r>
                    </a:p>
                  </a:txBody>
                  <a:tcPr>
                    <a:solidFill>
                      <a:srgbClr val="FFFFFF"/>
                    </a:solidFill>
                  </a:tcPr>
                </a:tc>
                <a:tc>
                  <a:txBody>
                    <a:bodyPr/>
                    <a:lstStyle/>
                    <a:p>
                      <a:r>
                        <a:rPr sz="1500">
                          <a:solidFill>
                            <a:srgbClr val="3D424E"/>
                          </a:solidFill>
                        </a:rPr>
                        <a:t>Documentos com especificações detalhadas</a:t>
                      </a:r>
                    </a:p>
                  </a:txBody>
                  <a:tcPr>
                    <a:solidFill>
                      <a:srgbClr val="FFFFFF"/>
                    </a:solidFill>
                  </a:tcPr>
                </a:tc>
              </a:tr>
              <a:tr h="493776">
                <a:tc>
                  <a:txBody>
                    <a:bodyPr/>
                    <a:lstStyle/>
                    <a:p>
                      <a:r>
                        <a:rPr sz="1500">
                          <a:solidFill>
                            <a:srgbClr val="3D424E"/>
                          </a:solidFill>
                        </a:rPr>
                        <a:t>Capítulo 1 — Classificador MST + matriz</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Resultado de H3</a:t>
                      </a:r>
                    </a:p>
                  </a:txBody>
                  <a:tcPr>
                    <a:solidFill>
                      <a:srgbClr val="E8EAED"/>
                    </a:solidFill>
                  </a:tcPr>
                </a:tc>
              </a:tr>
              <a:tr h="493776">
                <a:tc>
                  <a:txBody>
                    <a:bodyPr/>
                    <a:lstStyle/>
                    <a:p>
                      <a:r>
                        <a:rPr sz="1500">
                          <a:solidFill>
                            <a:srgbClr val="3D424E"/>
                          </a:solidFill>
                        </a:rPr>
                        <a:t>Capítulo 2 — Race + condicionamento</a:t>
                      </a:r>
                    </a:p>
                  </a:txBody>
                  <a:tcPr>
                    <a:solidFill>
                      <a:srgbClr val="FFFFFF"/>
                    </a:solidFill>
                  </a:tcPr>
                </a:tc>
                <a:tc>
                  <a:txBody>
                    <a:bodyPr/>
                    <a:lstStyle/>
                    <a:p>
                      <a:r>
                        <a:rPr sz="1500">
                          <a:solidFill>
                            <a:srgbClr val="3D424E"/>
                          </a:solidFill>
                        </a:rPr>
                        <a:t>10–12 semanas</a:t>
                      </a:r>
                    </a:p>
                  </a:txBody>
                  <a:tcPr>
                    <a:solidFill>
                      <a:srgbClr val="FFFFFF"/>
                    </a:solidFill>
                  </a:tcPr>
                </a:tc>
                <a:tc>
                  <a:txBody>
                    <a:bodyPr/>
                    <a:lstStyle/>
                    <a:p>
                      <a:r>
                        <a:rPr sz="1500">
                          <a:solidFill>
                            <a:srgbClr val="3D424E"/>
                          </a:solidFill>
                        </a:rPr>
                        <a:t>Resultados de H1, H2, H4</a:t>
                      </a:r>
                    </a:p>
                  </a:txBody>
                  <a:tcPr>
                    <a:solidFill>
                      <a:srgbClr val="FFFFFF"/>
                    </a:solidFill>
                  </a:tcPr>
                </a:tc>
              </a:tr>
              <a:tr h="493776">
                <a:tc>
                  <a:txBody>
                    <a:bodyPr/>
                    <a:lstStyle/>
                    <a:p>
                      <a:r>
                        <a:rPr sz="1500">
                          <a:solidFill>
                            <a:srgbClr val="3D424E"/>
                          </a:solidFill>
                        </a:rPr>
                        <a:t>Capítulo 3 — Face recognition</a:t>
                      </a:r>
                    </a:p>
                  </a:txBody>
                  <a:tcPr>
                    <a:solidFill>
                      <a:srgbClr val="E8EAED"/>
                    </a:solidFill>
                  </a:tcPr>
                </a:tc>
                <a:tc>
                  <a:txBody>
                    <a:bodyPr/>
                    <a:lstStyle/>
                    <a:p>
                      <a:r>
                        <a:rPr sz="1500">
                          <a:solidFill>
                            <a:srgbClr val="3D424E"/>
                          </a:solidFill>
                        </a:rPr>
                        <a:t>6 semanas</a:t>
                      </a:r>
                    </a:p>
                  </a:txBody>
                  <a:tcPr>
                    <a:solidFill>
                      <a:srgbClr val="E8EAED"/>
                    </a:solidFill>
                  </a:tcPr>
                </a:tc>
                <a:tc>
                  <a:txBody>
                    <a:bodyPr/>
                    <a:lstStyle/>
                    <a:p>
                      <a:r>
                        <a:rPr sz="1500">
                          <a:solidFill>
                            <a:srgbClr val="3D424E"/>
                          </a:solidFill>
                        </a:rPr>
                        <a:t>Resultado de H5</a:t>
                      </a:r>
                    </a:p>
                  </a:txBody>
                  <a:tcPr>
                    <a:solidFill>
                      <a:srgbClr val="E8EAED"/>
                    </a:solidFill>
                  </a:tcPr>
                </a:tc>
              </a:tr>
              <a:tr h="493776">
                <a:tc>
                  <a:txBody>
                    <a:bodyPr/>
                    <a:lstStyle/>
                    <a:p>
                      <a:r>
                        <a:rPr sz="1500">
                          <a:solidFill>
                            <a:srgbClr val="3D424E"/>
                          </a:solidFill>
                        </a:rPr>
                        <a:t>Síntese final</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Decomposição do erro Latinx</a:t>
                      </a:r>
                    </a:p>
                  </a:txBody>
                  <a:tcPr>
                    <a:solidFill>
                      <a:srgbClr val="FFFFFF"/>
                    </a:solidFill>
                  </a:tcPr>
                </a:tc>
              </a:tr>
              <a:tr h="493776">
                <a:tc>
                  <a:txBody>
                    <a:bodyPr/>
                    <a:lstStyle/>
                    <a:p>
                      <a:r>
                        <a:rPr sz="1500">
                          <a:solidFill>
                            <a:srgbClr val="3D424E"/>
                          </a:solidFill>
                        </a:rPr>
                        <a:t>Escrita dos capítulos</a:t>
                      </a:r>
                    </a:p>
                  </a:txBody>
                  <a:tcPr>
                    <a:solidFill>
                      <a:srgbClr val="E8EAED"/>
                    </a:solidFill>
                  </a:tcPr>
                </a:tc>
                <a:tc>
                  <a:txBody>
                    <a:bodyPr/>
                    <a:lstStyle/>
                    <a:p>
                      <a:r>
                        <a:rPr sz="1500">
                          <a:solidFill>
                            <a:srgbClr val="3D424E"/>
                          </a:solidFill>
                        </a:rPr>
                        <a:t>8–12 semanas (paralelo)</a:t>
                      </a:r>
                    </a:p>
                  </a:txBody>
                  <a:tcPr>
                    <a:solidFill>
                      <a:srgbClr val="E8EAED"/>
                    </a:solidFill>
                  </a:tcPr>
                </a:tc>
                <a:tc>
                  <a:txBody>
                    <a:bodyPr/>
                    <a:lstStyle/>
                    <a:p>
                      <a:r>
                        <a:rPr sz="1500">
                          <a:solidFill>
                            <a:srgbClr val="3D424E"/>
                          </a:solidFill>
                        </a:rPr>
                        <a:t>Texto final da dissertação</a:t>
                      </a:r>
                    </a:p>
                  </a:txBody>
                  <a:tcPr>
                    <a:solidFill>
                      <a:srgbClr val="E8EAED"/>
                    </a:solidFill>
                  </a:tcPr>
                </a:tc>
              </a:tr>
              <a:tr h="493776">
                <a:tc>
                  <a:txBody>
                    <a:bodyPr/>
                    <a:lstStyle/>
                    <a:p>
                      <a:r>
                        <a:rPr sz="1500">
                          <a:solidFill>
                            <a:srgbClr val="3D424E"/>
                          </a:solidFill>
                        </a:rPr>
                        <a:t>Defesa prevista</a:t>
                      </a:r>
                    </a:p>
                  </a:txBody>
                  <a:tcPr>
                    <a:solidFill>
                      <a:srgbClr val="FFFFFF"/>
                    </a:solidFill>
                  </a:tcPr>
                </a:tc>
                <a:tc>
                  <a:txBody>
                    <a:bodyPr/>
                    <a:lstStyle/>
                    <a:p>
                      <a:r>
                        <a:rPr sz="1500">
                          <a:solidFill>
                            <a:srgbClr val="3D424E"/>
                          </a:solidFill>
                        </a:rPr>
                        <a:t>~ Janeiro–Março de 2027</a:t>
                      </a:r>
                    </a:p>
                  </a:txBody>
                  <a:tcPr>
                    <a:solidFill>
                      <a:srgbClr val="FFFFFF"/>
                    </a:solidFill>
                  </a:tcPr>
                </a:tc>
                <a:tc>
                  <a:txBody>
                    <a:bodyPr/>
                    <a:lstStyle/>
                    <a:p>
                      <a:r>
                        <a:rPr sz="1500">
                          <a:solidFill>
                            <a:srgbClr val="3D424E"/>
                          </a:solidFill>
                        </a:rPr>
                        <a:t>Total: ~28–32 semanas ativas</a:t>
                      </a:r>
                    </a:p>
                  </a:txBody>
                  <a:tcP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Slides de apoio</a:t>
            </a:r>
          </a:p>
          <a:p>
            <a:pPr>
              <a:defRPr sz="2000">
                <a:solidFill>
                  <a:srgbClr val="E8EAED"/>
                </a:solidFill>
              </a:defRPr>
            </a:pPr>
            <a:r>
              <a:t>Material complementar para consulta durante a discussão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As 14 perguntas de pesquisa respondidas</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5577840" cy="5029200"/>
          </a:xfrm>
          <a:prstGeom prst="rect">
            <a:avLst/>
          </a:prstGeom>
          <a:noFill/>
        </p:spPr>
        <p:txBody>
          <a:bodyPr wrap="square">
            <a:spAutoFit/>
          </a:bodyPr>
          <a:lstStyle/>
          <a:p>
            <a:pPr>
              <a:spcAft>
                <a:spcPts val="600"/>
              </a:spcAft>
            </a:pPr>
            <a:r>
              <a:rPr b="1" sz="1300">
                <a:solidFill>
                  <a:srgbClr val="1F2A4E"/>
                </a:solidFill>
              </a:rPr>
              <a:t>Q01  </a:t>
            </a:r>
            <a:r>
              <a:rPr sz="1300">
                <a:solidFill>
                  <a:srgbClr val="3D424E"/>
                </a:solidFill>
              </a:rPr>
              <a:t>Existem melhores datasets para corrigir fairness em biometria facial de raças?</a:t>
            </a:r>
          </a:p>
          <a:p>
            <a:pPr>
              <a:spcAft>
                <a:spcPts val="600"/>
              </a:spcAft>
            </a:pPr>
            <a:r>
              <a:rPr b="1" sz="1300">
                <a:solidFill>
                  <a:srgbClr val="1F2A4E"/>
                </a:solidFill>
              </a:rPr>
              <a:t>Q02  </a:t>
            </a:r>
            <a:r>
              <a:rPr sz="1300">
                <a:solidFill>
                  <a:srgbClr val="3D424E"/>
                </a:solidFill>
              </a:rPr>
              <a:t>Qual o dataset mais utilizado nos estudos de fairness?</a:t>
            </a:r>
          </a:p>
          <a:p>
            <a:pPr>
              <a:spcAft>
                <a:spcPts val="600"/>
              </a:spcAft>
            </a:pPr>
            <a:r>
              <a:rPr b="1" sz="1300">
                <a:solidFill>
                  <a:srgbClr val="1F2A4E"/>
                </a:solidFill>
              </a:rPr>
              <a:t>Q03  </a:t>
            </a:r>
            <a:r>
              <a:rPr sz="1300">
                <a:solidFill>
                  <a:srgbClr val="3D424E"/>
                </a:solidFill>
              </a:rPr>
              <a:t>Qual o split oficial do FairFace e por que diferentes papers usam splits distintos?</a:t>
            </a:r>
          </a:p>
          <a:p>
            <a:pPr>
              <a:spcAft>
                <a:spcPts val="600"/>
              </a:spcAft>
            </a:pPr>
            <a:r>
              <a:rPr b="1" sz="1300">
                <a:solidFill>
                  <a:srgbClr val="1F2A4E"/>
                </a:solidFill>
              </a:rPr>
              <a:t>Q04  </a:t>
            </a:r>
            <a:r>
              <a:rPr sz="1300">
                <a:solidFill>
                  <a:srgbClr val="3D424E"/>
                </a:solidFill>
              </a:rPr>
              <a:t>Quais técnicas de mitigação algorítmica já foram testadas em FairFace race 7-class?</a:t>
            </a:r>
          </a:p>
          <a:p>
            <a:pPr>
              <a:spcAft>
                <a:spcPts val="600"/>
              </a:spcAft>
            </a:pPr>
            <a:r>
              <a:rPr b="1" sz="1300">
                <a:solidFill>
                  <a:srgbClr val="1F2A4E"/>
                </a:solidFill>
              </a:rPr>
              <a:t>Q05  </a:t>
            </a:r>
            <a:r>
              <a:rPr sz="1300">
                <a:solidFill>
                  <a:srgbClr val="3D424E"/>
                </a:solidFill>
              </a:rPr>
              <a:t>Existe consenso sobre métrica de fairness para classificação multi-classe?</a:t>
            </a:r>
          </a:p>
          <a:p>
            <a:pPr>
              <a:spcAft>
                <a:spcPts val="600"/>
              </a:spcAft>
            </a:pPr>
            <a:r>
              <a:rPr b="1" sz="1300">
                <a:solidFill>
                  <a:srgbClr val="1F2A4E"/>
                </a:solidFill>
              </a:rPr>
              <a:t>Q06  </a:t>
            </a:r>
            <a:r>
              <a:rPr sz="1300">
                <a:solidFill>
                  <a:srgbClr val="3D424E"/>
                </a:solidFill>
              </a:rPr>
              <a:t>O baseline ResNet-34 = 72% acurácia é teto da arquitetura ou da metodologia?</a:t>
            </a:r>
          </a:p>
          <a:p>
            <a:pPr>
              <a:spcAft>
                <a:spcPts val="600"/>
              </a:spcAft>
            </a:pPr>
            <a:r>
              <a:rPr b="1" sz="1300">
                <a:solidFill>
                  <a:srgbClr val="1F2A4E"/>
                </a:solidFill>
              </a:rPr>
              <a:t>Q07  </a:t>
            </a:r>
            <a:r>
              <a:rPr sz="1300">
                <a:solidFill>
                  <a:srgbClr val="3D424E"/>
                </a:solidFill>
              </a:rPr>
              <a:t>Existe pesquisa de fairness em biometria facial sem usar FairFace?</a:t>
            </a:r>
          </a:p>
        </p:txBody>
      </p:sp>
      <p:sp>
        <p:nvSpPr>
          <p:cNvPr id="5" name="TextBox 4"/>
          <p:cNvSpPr txBox="1"/>
          <p:nvPr/>
        </p:nvSpPr>
        <p:spPr>
          <a:xfrm>
            <a:off x="6263640" y="1280160"/>
            <a:ext cx="5577840" cy="5029200"/>
          </a:xfrm>
          <a:prstGeom prst="rect">
            <a:avLst/>
          </a:prstGeom>
          <a:noFill/>
        </p:spPr>
        <p:txBody>
          <a:bodyPr wrap="square">
            <a:spAutoFit/>
          </a:bodyPr>
          <a:lstStyle/>
          <a:p>
            <a:pPr>
              <a:spcAft>
                <a:spcPts val="600"/>
              </a:spcAft>
            </a:pPr>
            <a:r>
              <a:rPr b="1" sz="1300">
                <a:solidFill>
                  <a:srgbClr val="1F2A4E"/>
                </a:solidFill>
              </a:rPr>
              <a:t>Q08  </a:t>
            </a:r>
            <a:r>
              <a:rPr sz="1300">
                <a:solidFill>
                  <a:srgbClr val="3D424E"/>
                </a:solidFill>
              </a:rPr>
              <a:t>Por que os estudos tentam sempre fazer merge de classes raciais?</a:t>
            </a:r>
          </a:p>
          <a:p>
            <a:pPr>
              <a:spcAft>
                <a:spcPts val="600"/>
              </a:spcAft>
            </a:pPr>
            <a:r>
              <a:rPr b="1" sz="1300">
                <a:solidFill>
                  <a:srgbClr val="1F2A4E"/>
                </a:solidFill>
              </a:rPr>
              <a:t>Q09  </a:t>
            </a:r>
            <a:r>
              <a:rPr sz="1300">
                <a:solidFill>
                  <a:srgbClr val="3D424E"/>
                </a:solidFill>
              </a:rPr>
              <a:t>7 classes é realmente a taxonomia correta para fairness racial facial?</a:t>
            </a:r>
          </a:p>
          <a:p>
            <a:pPr>
              <a:spcAft>
                <a:spcPts val="600"/>
              </a:spcAft>
            </a:pPr>
            <a:r>
              <a:rPr b="1" sz="1300">
                <a:solidFill>
                  <a:srgbClr val="1F2A4E"/>
                </a:solidFill>
              </a:rPr>
              <a:t>Q10  </a:t>
            </a:r>
            <a:r>
              <a:rPr sz="1300">
                <a:solidFill>
                  <a:srgbClr val="3D424E"/>
                </a:solidFill>
              </a:rPr>
              <a:t>Existe matriz associativa Fitzpatrick/MST × FairFace 7-race?</a:t>
            </a:r>
          </a:p>
          <a:p>
            <a:pPr>
              <a:spcAft>
                <a:spcPts val="600"/>
              </a:spcAft>
            </a:pPr>
            <a:r>
              <a:rPr b="1" sz="1300">
                <a:solidFill>
                  <a:srgbClr val="1F2A4E"/>
                </a:solidFill>
              </a:rPr>
              <a:t>Q11  </a:t>
            </a:r>
            <a:r>
              <a:rPr sz="1300">
                <a:solidFill>
                  <a:srgbClr val="3D424E"/>
                </a:solidFill>
              </a:rPr>
              <a:t>As 7 categorias raciais do FairFace têm fundamento biológico ou socio-político?</a:t>
            </a:r>
          </a:p>
          <a:p>
            <a:pPr>
              <a:spcAft>
                <a:spcPts val="600"/>
              </a:spcAft>
            </a:pPr>
            <a:r>
              <a:rPr b="1" sz="1300">
                <a:solidFill>
                  <a:srgbClr val="1F2A4E"/>
                </a:solidFill>
              </a:rPr>
              <a:t>Q12  </a:t>
            </a:r>
            <a:r>
              <a:rPr sz="1300">
                <a:solidFill>
                  <a:srgbClr val="3D424E"/>
                </a:solidFill>
              </a:rPr>
              <a:t>Como antropologia forense moderna trata 'raça'?</a:t>
            </a:r>
          </a:p>
          <a:p>
            <a:pPr>
              <a:spcAft>
                <a:spcPts val="600"/>
              </a:spcAft>
            </a:pPr>
            <a:r>
              <a:rPr b="1" sz="1300">
                <a:solidFill>
                  <a:srgbClr val="1F2A4E"/>
                </a:solidFill>
              </a:rPr>
              <a:t>Q13  </a:t>
            </a:r>
            <a:r>
              <a:rPr sz="1300">
                <a:solidFill>
                  <a:srgbClr val="3D424E"/>
                </a:solidFill>
              </a:rPr>
              <a:t>Origem e propósito da escala Fitzpatrick — para que foi criada?</a:t>
            </a:r>
          </a:p>
          <a:p>
            <a:pPr>
              <a:spcAft>
                <a:spcPts val="600"/>
              </a:spcAft>
            </a:pPr>
            <a:r>
              <a:rPr b="1" sz="1300">
                <a:solidFill>
                  <a:srgbClr val="1F2A4E"/>
                </a:solidFill>
              </a:rPr>
              <a:t>Q14  </a:t>
            </a:r>
            <a:r>
              <a:rPr sz="1300">
                <a:solidFill>
                  <a:srgbClr val="3D424E"/>
                </a:solidFill>
              </a:rPr>
              <a:t>Quantos tons de pele existem cientificamente?</a:t>
            </a:r>
          </a:p>
        </p:txBody>
      </p:sp>
      <p:sp>
        <p:nvSpPr>
          <p:cNvPr id="6" name="TextBox 5"/>
          <p:cNvSpPr txBox="1"/>
          <p:nvPr/>
        </p:nvSpPr>
        <p:spPr>
          <a:xfrm>
            <a:off x="457200" y="6446520"/>
            <a:ext cx="11430000" cy="365760"/>
          </a:xfrm>
          <a:prstGeom prst="rect">
            <a:avLst/>
          </a:prstGeom>
          <a:noFill/>
        </p:spPr>
        <p:txBody>
          <a:bodyPr wrap="none">
            <a:spAutoFit/>
          </a:bodyPr>
          <a:lstStyle/>
          <a:p>
            <a:pPr>
              <a:defRPr sz="1300" i="1">
                <a:solidFill>
                  <a:srgbClr val="707682"/>
                </a:solidFill>
              </a:defRPr>
            </a:pPr>
            <a:r>
              <a:t>Detalhamento completo em docs/ativo/04_pesquisa_bibliografica/_perguntas.md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Pangelinan et al. (2023) — Causas de variação demográfica em FR</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arXiv:2304.07175 — autores Notre Dame / Florida Tech</a:t>
            </a:r>
          </a:p>
        </p:txBody>
      </p:sp>
      <p:sp>
        <p:nvSpPr>
          <p:cNvPr id="4" name="Rectangle 3"/>
          <p:cNvSpPr/>
          <p:nvPr/>
        </p:nvSpPr>
        <p:spPr>
          <a:xfrm>
            <a:off x="457200" y="1463040"/>
            <a:ext cx="1143000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Analisa POR QUE a accuracy de face recognition varia entre grupos demográficos. Conclui que diferenças de pixel info da face nas imagens de teste explicam mais variação do que tom de pele direto.</a:t>
            </a:r>
          </a:p>
        </p:txBody>
      </p:sp>
      <p:sp>
        <p:nvSpPr>
          <p:cNvPr id="6" name="Rounded Rectangle 5"/>
          <p:cNvSpPr/>
          <p:nvPr/>
        </p:nvSpPr>
        <p:spPr>
          <a:xfrm>
            <a:off x="548640" y="4114800"/>
            <a:ext cx="11064240" cy="2194560"/>
          </a:xfrm>
          <a:prstGeom prst="round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C0392B"/>
                </a:solidFill>
              </a:defRPr>
            </a:pPr>
            <a:r>
              <a:t>Impacto na nossa tese</a:t>
            </a:r>
          </a:p>
          <a:p>
            <a:pPr>
              <a:defRPr sz="1600">
                <a:solidFill>
                  <a:srgbClr val="3D424E"/>
                </a:solidFill>
              </a:defRPr>
            </a:pPr>
            <a:r>
              <a:t>Refutação potencial de H5. Para FR (verificação 1:1), pixel info pode ser causa primária. Motivou reformulação de H5 em discussão na pauta de hoje.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Pereira et al. (2026) — SkinToneNet + dataset STW</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arXiv:2603.02475 — autores ICMC-USP / IMPA</a:t>
            </a:r>
          </a:p>
        </p:txBody>
      </p:sp>
      <p:sp>
        <p:nvSpPr>
          <p:cNvPr id="4" name="Rectangle 3"/>
          <p:cNvSpPr/>
          <p:nvPr/>
        </p:nvSpPr>
        <p:spPr>
          <a:xfrm>
            <a:off x="457200" y="1463040"/>
            <a:ext cx="11430000" cy="457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Propõe classificador MST (ViT-Small fine-tuned) treinado em dataset STW (42 mil imagens, 3,5 mil indivíduos, MST 10 classes). Audita FairFace e reporta ausência sistêmica de MST 6-10. NÃO publica matriz cruzada MST × raça.</a:t>
            </a:r>
          </a:p>
        </p:txBody>
      </p:sp>
      <p:sp>
        <p:nvSpPr>
          <p:cNvPr id="6" name="Rounded Rectangle 5"/>
          <p:cNvSpPr/>
          <p:nvPr/>
        </p:nvSpPr>
        <p:spPr>
          <a:xfrm>
            <a:off x="548640" y="4114800"/>
            <a:ext cx="11064240" cy="219456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2E7D32"/>
                </a:solidFill>
              </a:defRPr>
            </a:pPr>
            <a:r>
              <a:t>Impacto na nossa tese</a:t>
            </a:r>
          </a:p>
          <a:p>
            <a:pPr>
              <a:defRPr sz="1600">
                <a:solidFill>
                  <a:srgbClr val="3D424E"/>
                </a:solidFill>
              </a:defRPr>
            </a:pPr>
            <a:r>
              <a:t>Insumo direto do nosso pipeline: usar SkinToneNet pré-treinado em vez de treinar do zero. Nossa contribuição C2 (matriz cruzada) segue original. Economiza ~3 semanas de cronograma.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Dooley et al. (2022) — Fairer architectures make for fairer FR</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arXiv:2210.09943 — NAS search para FR fairness</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Argumenta que biases são inerentes a arquiteturas neurais. Faz busca de arquitetura (NAS) jointly com hiperparâmetros e produz modelos que Pareto-dominam baselines de mitigação tradicionais.</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Reforça nossa H2: trocar a arquitetura por si só importa. Valida escolha de ConvNeXt-T como backbone moderno. Se H1 falhar mas ConvNeXt-T puro já reduzir disparity, parte do efeito é arquitetural.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Aguirre &amp; Dredze (2023) — Transferring fairness via multi-task</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arXiv:2305.12671 — Johns Hopkins</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Adapta uma fairness loss single-task para um framework multi-task e demonstra empiricamente que objetivos de fairness demográfico SE TRANSFEREM entre tarefas que compartilham representação. Domínio dos experimentos é NLP.</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Reforço empírico do princípio teórico do LAFTR (Madras 2018). Fortalece as etapas 3 e 5 do pipeline (race classifier condicionado e extensão para FR).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Kolla &amp; Savadamuthu (2022) — Impact of racial distribution in training</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arXiv:2211.14498 — WACVW 2023 (IEEE/CVF)</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Investiga o efeito da distribuição racial nos dados de treino sobre disparities de face recognition. Conclui que distribuição uniforme de raças NO TREINO sozinha não garante FR sem viés.</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Reforça necessidade de intervenção arquitetural além de balanceamento de dados. FairFace já é balanceado e o gap Latinx persiste — coerente com a tese de que precisamos do FiLM-conditioning.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Liu et al. (2025) — BNMR Bayesian meta-learning</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arXiv:2505.01699 — ACM FAccT 2025</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Propõe BNMR (Bayesian Network-informed Meta Reweighting): uma rede bayesiana calibra meta-learning de reweighting de amostras durante treino, tracking de viés do modelo em tempo real.</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Baseline competitivo recente. Mecanismo é ortogonal ao nosso (sample reweighting vs FiLM-conditioning). Candidato a baseline forte do Cap 2 para comparação justa.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