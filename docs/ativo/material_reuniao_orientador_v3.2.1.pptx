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011680"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0" y="1371600"/>
            <a:ext cx="9601200" cy="1828800"/>
          </a:xfrm>
          <a:prstGeom prst="rect">
            <a:avLst/>
          </a:prstGeom>
          <a:noFill/>
        </p:spPr>
        <p:txBody>
          <a:bodyPr wrap="square">
            <a:spAutoFit/>
          </a:bodyPr>
          <a:lstStyle/>
          <a:p>
            <a:pPr>
              <a:defRPr sz="3800" b="1">
                <a:solidFill>
                  <a:srgbClr val="1F2A4E"/>
                </a:solidFill>
              </a:defRPr>
            </a:pPr>
            <a:r>
              <a:t>Equidade Racial em Classificação Facial</a:t>
            </a:r>
          </a:p>
          <a:p>
            <a:pPr>
              <a:defRPr sz="2200">
                <a:solidFill>
                  <a:srgbClr val="3D424E"/>
                </a:solidFill>
              </a:defRPr>
            </a:pPr>
            <a:r>
              <a:t>Atualização da pesquisa — o que evoluiu nesta semana</a:t>
            </a:r>
          </a:p>
        </p:txBody>
      </p:sp>
      <p:sp>
        <p:nvSpPr>
          <p:cNvPr id="4" name="TextBox 3"/>
          <p:cNvSpPr txBox="1"/>
          <p:nvPr/>
        </p:nvSpPr>
        <p:spPr>
          <a:xfrm>
            <a:off x="2286000" y="3840480"/>
            <a:ext cx="9601200" cy="2286000"/>
          </a:xfrm>
          <a:prstGeom prst="rect">
            <a:avLst/>
          </a:prstGeom>
          <a:noFill/>
        </p:spPr>
        <p:txBody>
          <a:bodyPr wrap="square">
            <a:spAutoFit/>
          </a:bodyPr>
          <a:lstStyle/>
          <a:p>
            <a:pPr>
              <a:defRPr sz="1700">
                <a:solidFill>
                  <a:srgbClr val="3D424E"/>
                </a:solidFill>
              </a:defRPr>
            </a:pPr>
            <a:r>
              <a:t>Mestrando:  Marcello Ozzetti</a:t>
            </a:r>
          </a:p>
          <a:p>
            <a:pPr>
              <a:defRPr sz="1700">
                <a:solidFill>
                  <a:srgbClr val="3D424E"/>
                </a:solidFill>
              </a:defRPr>
            </a:pPr>
            <a:r>
              <a:t>Orientador:  Prof. Marcos Quiles</a:t>
            </a:r>
          </a:p>
          <a:p>
            <a:pPr>
              <a:defRPr sz="1700">
                <a:solidFill>
                  <a:srgbClr val="3D424E"/>
                </a:solidFill>
              </a:defRPr>
            </a:pPr>
            <a:r>
              <a:t>Programa:  Mestrado em Ciência da Computação — Unifesp / ICT</a:t>
            </a:r>
          </a:p>
          <a:p>
            <a:pPr>
              <a:defRPr sz="1700">
                <a:solidFill>
                  <a:srgbClr val="3D424E"/>
                </a:solidFill>
              </a:defRPr>
            </a:pPr>
            <a:r>
              <a:t>Reunião:  Junho de 2026 (segunda reunião do mês)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Principais alinhamentos e decisões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Parte 1 — Onde paramos na última reunião</a:t>
            </a:r>
          </a:p>
          <a:p>
            <a:pPr lvl="1">
              <a:spcAft>
                <a:spcPts val="800"/>
              </a:spcAft>
              <a:defRPr sz="1700">
                <a:solidFill>
                  <a:srgbClr val="707682"/>
                </a:solidFill>
              </a:defRPr>
            </a:pPr>
            <a:r>
              <a:t>Recap da última reunião e orientações</a:t>
            </a:r>
          </a:p>
          <a:p>
            <a:pPr>
              <a:spcAft>
                <a:spcPts val="800"/>
              </a:spcAft>
              <a:defRPr sz="2000" b="0">
                <a:solidFill>
                  <a:srgbClr val="3D424E"/>
                </a:solidFill>
              </a:defRPr>
            </a:pPr>
            <a:r>
              <a:t>Parte 2 — O que avancei nesta semana</a:t>
            </a:r>
          </a:p>
          <a:p>
            <a:pPr lvl="1">
              <a:spcAft>
                <a:spcPts val="800"/>
              </a:spcAft>
              <a:defRPr sz="1700">
                <a:solidFill>
                  <a:srgbClr val="707682"/>
                </a:solidFill>
              </a:defRPr>
            </a:pPr>
            <a:r>
              <a:t>Resposta direta aos 4 pedidos: ampliar venues, revisar método, validar SOTA, reformular tese</a:t>
            </a:r>
          </a:p>
          <a:p>
            <a:pPr>
              <a:spcAft>
                <a:spcPts val="800"/>
              </a:spcAft>
              <a:defRPr sz="2000" b="0">
                <a:solidFill>
                  <a:srgbClr val="3D424E"/>
                </a:solidFill>
              </a:defRPr>
            </a:pPr>
            <a:r>
              <a:t>Parte 3 — Como a tese está sendo construída agora</a:t>
            </a:r>
          </a:p>
          <a:p>
            <a:pPr lvl="1">
              <a:spcAft>
                <a:spcPts val="800"/>
              </a:spcAft>
              <a:defRPr sz="1700">
                <a:solidFill>
                  <a:srgbClr val="707682"/>
                </a:solidFill>
              </a:defRPr>
            </a:pPr>
            <a:r>
              <a:t>Linguagem clara: cada conceito explicado antes de usar</a:t>
            </a:r>
          </a:p>
          <a:p>
            <a:pPr>
              <a:spcAft>
                <a:spcPts val="800"/>
              </a:spcAft>
              <a:defRPr sz="2000" b="0">
                <a:solidFill>
                  <a:srgbClr val="3D424E"/>
                </a:solidFill>
              </a:defRPr>
            </a:pPr>
            <a:r>
              <a:t>Parte 4 — Próximos passos</a:t>
            </a:r>
          </a:p>
          <a:p>
            <a:pPr lvl="1">
              <a:spcAft>
                <a:spcPts val="800"/>
              </a:spcAft>
              <a:defRPr sz="1700">
                <a:solidFill>
                  <a:srgbClr val="707682"/>
                </a:solidFill>
              </a:defRPr>
            </a:pPr>
            <a:r>
              <a:t>O que preciso decidir nesta reunião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1</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Onde paramos na última reunião</a:t>
            </a:r>
          </a:p>
          <a:p>
            <a:pPr>
              <a:defRPr sz="2000">
                <a:solidFill>
                  <a:srgbClr val="E8EAED"/>
                </a:solidFill>
              </a:defRPr>
            </a:pPr>
            <a:r>
              <a:t>Recap da última reunião e orientações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Como a tese estava na última reunião — visão resumida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5715000"/>
                <a:gridCol w="5715000"/>
              </a:tblGrid>
              <a:tr h="705394">
                <a:tc>
                  <a:txBody>
                    <a:bodyPr/>
                    <a:lstStyle/>
                    <a:p>
                      <a:r>
                        <a:rPr b="1" sz="1600">
                          <a:solidFill>
                            <a:srgbClr val="FFFFFF"/>
                          </a:solidFill>
                        </a:rPr>
                        <a:t>Dimensão</a:t>
                      </a:r>
                    </a:p>
                  </a:txBody>
                  <a:tcPr>
                    <a:solidFill>
                      <a:srgbClr val="1F2A4E"/>
                    </a:solidFill>
                  </a:tcPr>
                </a:tc>
                <a:tc>
                  <a:txBody>
                    <a:bodyPr/>
                    <a:lstStyle/>
                    <a:p>
                      <a:r>
                        <a:rPr b="1" sz="1600">
                          <a:solidFill>
                            <a:srgbClr val="FFFFFF"/>
                          </a:solidFill>
                        </a:rPr>
                        <a:t>Estado naquele momento</a:t>
                      </a:r>
                    </a:p>
                  </a:txBody>
                  <a:tcPr>
                    <a:solidFill>
                      <a:srgbClr val="1F2A4E"/>
                    </a:solidFill>
                  </a:tcPr>
                </a:tc>
              </a:tr>
              <a:tr h="705394">
                <a:tc>
                  <a:txBody>
                    <a:bodyPr/>
                    <a:lstStyle/>
                    <a:p>
                      <a:r>
                        <a:rPr sz="1500">
                          <a:solidFill>
                            <a:srgbClr val="3D424E"/>
                          </a:solidFill>
                        </a:rPr>
                        <a:t>Postura</a:t>
                      </a:r>
                    </a:p>
                  </a:txBody>
                  <a:tcPr>
                    <a:solidFill>
                      <a:srgbClr val="FFFFFF"/>
                    </a:solidFill>
                  </a:tcPr>
                </a:tc>
                <a:tc>
                  <a:txBody>
                    <a:bodyPr/>
                    <a:lstStyle/>
                    <a:p>
                      <a:r>
                        <a:rPr sz="1500">
                          <a:solidFill>
                            <a:srgbClr val="3D424E"/>
                          </a:solidFill>
                        </a:rPr>
                        <a:t>Diagnóstica — explicar por que o erro existe</a:t>
                      </a:r>
                    </a:p>
                  </a:txBody>
                  <a:tcPr>
                    <a:solidFill>
                      <a:srgbClr val="FFFFFF"/>
                    </a:solidFill>
                  </a:tcPr>
                </a:tc>
              </a:tr>
              <a:tr h="705394">
                <a:tc>
                  <a:txBody>
                    <a:bodyPr/>
                    <a:lstStyle/>
                    <a:p>
                      <a:r>
                        <a:rPr sz="1500">
                          <a:solidFill>
                            <a:srgbClr val="3D424E"/>
                          </a:solidFill>
                        </a:rPr>
                        <a:t>Tese central</a:t>
                      </a:r>
                    </a:p>
                  </a:txBody>
                  <a:tcPr>
                    <a:solidFill>
                      <a:srgbClr val="E8EAED"/>
                    </a:solidFill>
                  </a:tcPr>
                </a:tc>
                <a:tc>
                  <a:txBody>
                    <a:bodyPr/>
                    <a:lstStyle/>
                    <a:p>
                      <a:r>
                        <a:rPr sz="1500">
                          <a:solidFill>
                            <a:srgbClr val="3D424E"/>
                          </a:solidFill>
                        </a:rPr>
                        <a:t>75% F1 é teto fenotípico irredutível: raças se sobrepõem em tom de pele, especialmente Latinx</a:t>
                      </a:r>
                    </a:p>
                  </a:txBody>
                  <a:tcPr>
                    <a:solidFill>
                      <a:srgbClr val="E8EAED"/>
                    </a:solidFill>
                  </a:tcPr>
                </a:tc>
              </a:tr>
              <a:tr h="705394">
                <a:tc>
                  <a:txBody>
                    <a:bodyPr/>
                    <a:lstStyle/>
                    <a:p>
                      <a:r>
                        <a:rPr sz="1500">
                          <a:solidFill>
                            <a:srgbClr val="3D424E"/>
                          </a:solidFill>
                        </a:rPr>
                        <a:t>Tarefa</a:t>
                      </a:r>
                    </a:p>
                  </a:txBody>
                  <a:tcPr>
                    <a:solidFill>
                      <a:srgbClr val="FFFFFF"/>
                    </a:solidFill>
                  </a:tcPr>
                </a:tc>
                <a:tc>
                  <a:txBody>
                    <a:bodyPr/>
                    <a:lstStyle/>
                    <a:p>
                      <a:r>
                        <a:rPr sz="1500">
                          <a:solidFill>
                            <a:srgbClr val="3D424E"/>
                          </a:solidFill>
                        </a:rPr>
                        <a:t>Apenas race classification (sem face recognition)</a:t>
                      </a:r>
                    </a:p>
                  </a:txBody>
                  <a:tcPr>
                    <a:solidFill>
                      <a:srgbClr val="FFFFFF"/>
                    </a:solidFill>
                  </a:tcPr>
                </a:tc>
              </a:tr>
              <a:tr h="705394">
                <a:tc>
                  <a:txBody>
                    <a:bodyPr/>
                    <a:lstStyle/>
                    <a:p>
                      <a:r>
                        <a:rPr sz="1500">
                          <a:solidFill>
                            <a:srgbClr val="3D424E"/>
                          </a:solidFill>
                        </a:rPr>
                        <a:t>Critério de sucesso</a:t>
                      </a:r>
                    </a:p>
                  </a:txBody>
                  <a:tcPr>
                    <a:solidFill>
                      <a:srgbClr val="E8EAED"/>
                    </a:solidFill>
                  </a:tcPr>
                </a:tc>
                <a:tc>
                  <a:txBody>
                    <a:bodyPr/>
                    <a:lstStyle/>
                    <a:p>
                      <a:r>
                        <a:rPr sz="1500">
                          <a:solidFill>
                            <a:srgbClr val="3D424E"/>
                          </a:solidFill>
                        </a:rPr>
                        <a:t>Decomposição: irredutível vs redutível</a:t>
                      </a:r>
                    </a:p>
                  </a:txBody>
                  <a:tcPr>
                    <a:solidFill>
                      <a:srgbClr val="E8EAED"/>
                    </a:solidFill>
                  </a:tcPr>
                </a:tc>
              </a:tr>
              <a:tr h="705394">
                <a:tc>
                  <a:txBody>
                    <a:bodyPr/>
                    <a:lstStyle/>
                    <a:p>
                      <a:r>
                        <a:rPr sz="1500">
                          <a:solidFill>
                            <a:srgbClr val="3D424E"/>
                          </a:solidFill>
                        </a:rPr>
                        <a:t>Corpus</a:t>
                      </a:r>
                    </a:p>
                  </a:txBody>
                  <a:tcPr>
                    <a:solidFill>
                      <a:srgbClr val="FFFFFF"/>
                    </a:solidFill>
                  </a:tcPr>
                </a:tc>
                <a:tc>
                  <a:txBody>
                    <a:bodyPr/>
                    <a:lstStyle/>
                    <a:p>
                      <a:r>
                        <a:rPr sz="1500">
                          <a:solidFill>
                            <a:srgbClr val="3D424E"/>
                          </a:solidFill>
                        </a:rPr>
                        <a:t>23 fichas em 6 tracks (A: race clf; B: FR fairness; C: skin tone; D: mitigação; E: auditoria; F: fundamentação)</a:t>
                      </a:r>
                    </a:p>
                  </a:txBody>
                  <a:tcPr>
                    <a:solidFill>
                      <a:srgbClr val="FFFFFF"/>
                    </a:solidFill>
                  </a:tcPr>
                </a:tc>
              </a:tr>
              <a:tr h="705396">
                <a:tc>
                  <a:txBody>
                    <a:bodyPr/>
                    <a:lstStyle/>
                    <a:p>
                      <a:r>
                        <a:rPr sz="1500">
                          <a:solidFill>
                            <a:srgbClr val="3D424E"/>
                          </a:solidFill>
                        </a:rPr>
                        <a:t>Validado na reunião</a:t>
                      </a:r>
                    </a:p>
                  </a:txBody>
                  <a:tcPr>
                    <a:solidFill>
                      <a:srgbClr val="E8EAED"/>
                    </a:solidFill>
                  </a:tcPr>
                </a:tc>
                <a:tc>
                  <a:txBody>
                    <a:bodyPr/>
                    <a:lstStyle/>
                    <a:p>
                      <a:r>
                        <a:rPr sz="1500">
                          <a:solidFill>
                            <a:srgbClr val="3D424E"/>
                          </a:solidFill>
                        </a:rPr>
                        <a:t>Evolução metodológica, SOTA (FaceScanPaliGemma 75.7%), linha de pesquisa proposta</a:t>
                      </a:r>
                    </a:p>
                  </a:txBody>
                  <a:tcPr>
                    <a:solidFill>
                      <a:srgbClr val="E8EAED"/>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Esta é a base sobre a qual estamos construindo a nova versão (prescritiva) da tese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4 pedidos que combinamos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Revisar o método em profundidade de cada artigo selecionado</a:t>
            </a:r>
          </a:p>
          <a:p>
            <a:pPr lvl="1">
              <a:spcAft>
                <a:spcPts val="800"/>
              </a:spcAft>
              <a:defRPr sz="1700">
                <a:solidFill>
                  <a:srgbClr val="707682"/>
                </a:solidFill>
              </a:defRPr>
            </a:pPr>
            <a:r>
              <a:t>Queremos enxergar não só o resultado, mas o rigor metodológico</a:t>
            </a:r>
          </a:p>
          <a:p>
            <a:pPr>
              <a:spcAft>
                <a:spcPts val="800"/>
              </a:spcAft>
              <a:defRPr sz="2000" b="0">
                <a:solidFill>
                  <a:srgbClr val="3D424E"/>
                </a:solidFill>
              </a:defRPr>
            </a:pPr>
          </a:p>
          <a:p>
            <a:pPr>
              <a:spcAft>
                <a:spcPts val="800"/>
              </a:spcAft>
              <a:defRPr sz="2000" b="0">
                <a:solidFill>
                  <a:srgbClr val="3D424E"/>
                </a:solidFill>
              </a:defRPr>
            </a:pPr>
            <a:r>
              <a:t>2. Ampliar a pesquisa para venues de ML, Redes Neurais e temas relacionados</a:t>
            </a:r>
          </a:p>
          <a:p>
            <a:pPr lvl="1">
              <a:spcAft>
                <a:spcPts val="800"/>
              </a:spcAft>
              <a:defRPr sz="1700">
                <a:solidFill>
                  <a:srgbClr val="707682"/>
                </a:solidFill>
              </a:defRPr>
            </a:pPr>
            <a:r>
              <a:t>Identificamos lacuna de papers fundadores destes campos</a:t>
            </a:r>
          </a:p>
          <a:p>
            <a:pPr>
              <a:spcAft>
                <a:spcPts val="800"/>
              </a:spcAft>
              <a:defRPr sz="2000" b="0">
                <a:solidFill>
                  <a:srgbClr val="3D424E"/>
                </a:solidFill>
              </a:defRPr>
            </a:pPr>
          </a:p>
          <a:p>
            <a:pPr>
              <a:spcAft>
                <a:spcPts val="800"/>
              </a:spcAft>
              <a:defRPr sz="2000" b="0">
                <a:solidFill>
                  <a:srgbClr val="3D424E"/>
                </a:solidFill>
              </a:defRPr>
            </a:pPr>
            <a:r>
              <a:t>3. Double-check do SOTA (75.7% F1)</a:t>
            </a:r>
          </a:p>
          <a:p>
            <a:pPr lvl="1">
              <a:spcAft>
                <a:spcPts val="800"/>
              </a:spcAft>
              <a:defRPr sz="1700">
                <a:solidFill>
                  <a:srgbClr val="707682"/>
                </a:solidFill>
              </a:defRPr>
            </a:pPr>
            <a:r>
              <a:t>Garantir que não emergiu competidor recente</a:t>
            </a:r>
          </a:p>
          <a:p>
            <a:pPr>
              <a:spcAft>
                <a:spcPts val="800"/>
              </a:spcAft>
              <a:defRPr sz="2000" b="0">
                <a:solidFill>
                  <a:srgbClr val="3D424E"/>
                </a:solidFill>
              </a:defRPr>
            </a:pPr>
          </a:p>
          <a:p>
            <a:pPr>
              <a:spcAft>
                <a:spcPts val="800"/>
              </a:spcAft>
              <a:defRPr sz="2000" b="0">
                <a:solidFill>
                  <a:srgbClr val="3D424E"/>
                </a:solidFill>
              </a:defRPr>
            </a:pPr>
            <a:r>
              <a:t>4. Reformular a tese de DIAGNÓSTICA para PRESCRITIVA</a:t>
            </a:r>
          </a:p>
          <a:p>
            <a:pPr lvl="1">
              <a:spcAft>
                <a:spcPts val="800"/>
              </a:spcAft>
              <a:defRPr sz="1700">
                <a:solidFill>
                  <a:srgbClr val="707682"/>
                </a:solidFill>
              </a:defRPr>
            </a:pPr>
            <a:r>
              <a:t>Treinar classifier de tom → usar para condicionar classifier de raça → estender a face recognition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2</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O que avancei nesta semana</a:t>
            </a:r>
          </a:p>
          <a:p>
            <a:pPr>
              <a:defRPr sz="2000">
                <a:solidFill>
                  <a:srgbClr val="E8EAED"/>
                </a:solidFill>
              </a:defRPr>
            </a:pPr>
            <a:r>
              <a:t>Resposta direta aos 4 pedidos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2: ampliar venues ML / Redes Neurais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Rodada 5 de triagem com foco em ML e Redes Neurais.</a:t>
            </a:r>
          </a:p>
          <a:p>
            <a:pPr>
              <a:spcAft>
                <a:spcPts val="800"/>
              </a:spcAft>
              <a:defRPr sz="2000" b="0">
                <a:solidFill>
                  <a:srgbClr val="3D424E"/>
                </a:solidFill>
              </a:defRPr>
            </a:pPr>
          </a:p>
          <a:p>
            <a:pPr>
              <a:spcAft>
                <a:spcPts val="800"/>
              </a:spcAft>
              <a:defRPr sz="2000" b="0">
                <a:solidFill>
                  <a:srgbClr val="3D424E"/>
                </a:solidFill>
              </a:defRPr>
            </a:pPr>
            <a:r>
              <a:t>Adicionei 6 fichas novas, todas de venues top da área:</a:t>
            </a:r>
          </a:p>
          <a:p>
            <a:pPr lvl="1">
              <a:spcAft>
                <a:spcPts val="800"/>
              </a:spcAft>
              <a:defRPr sz="1700">
                <a:solidFill>
                  <a:srgbClr val="707682"/>
                </a:solidFill>
              </a:defRPr>
            </a:pPr>
            <a:r>
              <a:t>• Hardt, Price &amp; Srebro (NeurIPS 2016) — origem das métricas formais de fairness</a:t>
            </a:r>
          </a:p>
          <a:p>
            <a:pPr lvl="1">
              <a:spcAft>
                <a:spcPts val="800"/>
              </a:spcAft>
              <a:defRPr sz="1700">
                <a:solidFill>
                  <a:srgbClr val="707682"/>
                </a:solidFill>
              </a:defRPr>
            </a:pPr>
            <a:r>
              <a:t>• Perez et al. (AAAI 2018) — FiLM, mecanismo de condicionamento neural</a:t>
            </a:r>
          </a:p>
          <a:p>
            <a:pPr lvl="1">
              <a:spcAft>
                <a:spcPts val="800"/>
              </a:spcAft>
              <a:defRPr sz="1700">
                <a:solidFill>
                  <a:srgbClr val="707682"/>
                </a:solidFill>
              </a:defRPr>
            </a:pPr>
            <a:r>
              <a:t>• Zemel et al. (ICML 2013, Test-of-Time Award 2023) — Fair Representation Learning</a:t>
            </a:r>
          </a:p>
          <a:p>
            <a:pPr lvl="1">
              <a:spcAft>
                <a:spcPts val="800"/>
              </a:spcAft>
              <a:defRPr sz="1700">
                <a:solidFill>
                  <a:srgbClr val="707682"/>
                </a:solidFill>
              </a:defRPr>
            </a:pPr>
            <a:r>
              <a:t>• Madras et al. (ICML 2018) — LAFTR, prova teórica de fair transferência</a:t>
            </a:r>
          </a:p>
          <a:p>
            <a:pPr lvl="1">
              <a:spcAft>
                <a:spcPts val="800"/>
              </a:spcAft>
              <a:defRPr sz="1700">
                <a:solidFill>
                  <a:srgbClr val="707682"/>
                </a:solidFill>
              </a:defRPr>
            </a:pPr>
            <a:r>
              <a:t>• Zhang, Lemoine &amp; Mitchell (AIES 2018) — adversarial debiasing</a:t>
            </a:r>
          </a:p>
          <a:p>
            <a:pPr lvl="1">
              <a:spcAft>
                <a:spcPts val="800"/>
              </a:spcAft>
              <a:defRPr sz="1700">
                <a:solidFill>
                  <a:srgbClr val="707682"/>
                </a:solidFill>
              </a:defRPr>
            </a:pPr>
            <a:r>
              <a:t>• Kleinberg, Mullainathan &amp; Raghavan (ITCS 2017) — teorema da impossibilidade</a:t>
            </a:r>
          </a:p>
          <a:p>
            <a:pPr>
              <a:spcAft>
                <a:spcPts val="800"/>
              </a:spcAft>
              <a:defRPr sz="2000" b="0">
                <a:solidFill>
                  <a:srgbClr val="3D424E"/>
                </a:solidFill>
              </a:defRPr>
            </a:pPr>
          </a:p>
          <a:p>
            <a:pPr>
              <a:spcAft>
                <a:spcPts val="800"/>
              </a:spcAft>
              <a:defRPr sz="2000" b="0">
                <a:solidFill>
                  <a:srgbClr val="3D424E"/>
                </a:solidFill>
              </a:defRPr>
            </a:pPr>
            <a:r>
              <a:t>Cada um destes é base de algum baseline ou mecanismo do pipeline.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1: revisar método em profundidade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Criei uma nova Seção 12 normativa em cada ficha: ‘Análise crítica do método’.</a:t>
            </a:r>
          </a:p>
          <a:p>
            <a:pPr>
              <a:spcAft>
                <a:spcPts val="800"/>
              </a:spcAft>
              <a:defRPr sz="2000" b="0">
                <a:solidFill>
                  <a:srgbClr val="3D424E"/>
                </a:solidFill>
              </a:defRPr>
            </a:pPr>
          </a:p>
          <a:p>
            <a:pPr>
              <a:spcAft>
                <a:spcPts val="800"/>
              </a:spcAft>
              <a:defRPr sz="2000" b="0">
                <a:solidFill>
                  <a:srgbClr val="3D424E"/>
                </a:solidFill>
              </a:defRPr>
            </a:pPr>
            <a:r>
              <a:t>Avalia cada paper em 5 dimensões:</a:t>
            </a:r>
          </a:p>
          <a:p>
            <a:pPr lvl="1">
              <a:spcAft>
                <a:spcPts val="800"/>
              </a:spcAft>
              <a:defRPr sz="1700">
                <a:solidFill>
                  <a:srgbClr val="707682"/>
                </a:solidFill>
              </a:defRPr>
            </a:pPr>
            <a:r>
              <a:t>(a) Rigor formal — matemática defensável? Pressupostos declarados?</a:t>
            </a:r>
          </a:p>
          <a:p>
            <a:pPr lvl="1">
              <a:spcAft>
                <a:spcPts val="800"/>
              </a:spcAft>
              <a:defRPr sz="1700">
                <a:solidFill>
                  <a:srgbClr val="707682"/>
                </a:solidFill>
              </a:defRPr>
            </a:pPr>
            <a:r>
              <a:t>(b) Reprodutibilidade — hiperparâmetros, código, seeds?</a:t>
            </a:r>
          </a:p>
          <a:p>
            <a:pPr lvl="1">
              <a:spcAft>
                <a:spcPts val="800"/>
              </a:spcAft>
              <a:defRPr sz="1700">
                <a:solidFill>
                  <a:srgbClr val="707682"/>
                </a:solidFill>
              </a:defRPr>
            </a:pPr>
            <a:r>
              <a:t>(c) Aplicabilidade ao nosso pipeline — onde funciona e onde falha?</a:t>
            </a:r>
          </a:p>
          <a:p>
            <a:pPr lvl="1">
              <a:spcAft>
                <a:spcPts val="800"/>
              </a:spcAft>
              <a:defRPr sz="1700">
                <a:solidFill>
                  <a:srgbClr val="707682"/>
                </a:solidFill>
              </a:defRPr>
            </a:pPr>
            <a:r>
              <a:t>(d) Design choices — o que foi justificado vs assumido?</a:t>
            </a:r>
          </a:p>
          <a:p>
            <a:pPr lvl="1">
              <a:spcAft>
                <a:spcPts val="800"/>
              </a:spcAft>
              <a:defRPr sz="1700">
                <a:solidFill>
                  <a:srgbClr val="707682"/>
                </a:solidFill>
              </a:defRPr>
            </a:pPr>
            <a:r>
              <a:t>(e) Conexão com o que aprendi na Rodada 5</a:t>
            </a:r>
          </a:p>
          <a:p>
            <a:pPr>
              <a:spcAft>
                <a:spcPts val="800"/>
              </a:spcAft>
              <a:defRPr sz="2000" b="0">
                <a:solidFill>
                  <a:srgbClr val="3D424E"/>
                </a:solidFill>
              </a:defRPr>
            </a:pPr>
          </a:p>
          <a:p>
            <a:pPr>
              <a:spcAft>
                <a:spcPts val="800"/>
              </a:spcAft>
              <a:defRPr sz="2000" b="0">
                <a:solidFill>
                  <a:srgbClr val="3D424E"/>
                </a:solidFill>
              </a:defRPr>
            </a:pPr>
            <a:r>
              <a:t>Adicionada nas 10 fichas centrais (lista de leitura prioritária).</a:t>
            </a:r>
          </a:p>
          <a:p>
            <a:pPr>
              <a:spcAft>
                <a:spcPts val="800"/>
              </a:spcAft>
              <a:defRPr sz="2000" b="0">
                <a:solidFill>
                  <a:srgbClr val="3D424E"/>
                </a:solidFill>
              </a:defRPr>
            </a:pPr>
            <a:r>
              <a:t>Vamos expandir para as outras 19 após aprovação conjunta da nova versão da tese.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3: double-check do SOTA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Executei a Rodada 2.6 com janela expandida fevereiro–junho de 2026.</a:t>
            </a:r>
          </a:p>
          <a:p>
            <a:pPr>
              <a:spcAft>
                <a:spcPts val="800"/>
              </a:spcAft>
              <a:defRPr sz="2000" b="0">
                <a:solidFill>
                  <a:srgbClr val="3D424E"/>
                </a:solidFill>
              </a:defRPr>
            </a:pPr>
          </a:p>
          <a:p>
            <a:pPr>
              <a:spcAft>
                <a:spcPts val="800"/>
              </a:spcAft>
              <a:defRPr sz="2000" b="0">
                <a:solidFill>
                  <a:srgbClr val="3D424E"/>
                </a:solidFill>
              </a:defRPr>
            </a:pPr>
            <a:r>
              <a:t>Fonte: 12 papers que citam o FaceScanPaliGemma no Semantic Scholar.</a:t>
            </a:r>
          </a:p>
          <a:p>
            <a:pPr>
              <a:spcAft>
                <a:spcPts val="800"/>
              </a:spcAft>
              <a:defRPr sz="2000" b="0">
                <a:solidFill>
                  <a:srgbClr val="3D424E"/>
                </a:solidFill>
              </a:defRPr>
            </a:pPr>
          </a:p>
          <a:p>
            <a:pPr>
              <a:spcAft>
                <a:spcPts val="800"/>
              </a:spcAft>
              <a:defRPr sz="2000" b="0">
                <a:solidFill>
                  <a:srgbClr val="3D424E"/>
                </a:solidFill>
              </a:defRPr>
            </a:pPr>
            <a:r>
              <a:t>Resultado: NENHUM dos 12 papers usa FairFace race 7-class como métrica principal.</a:t>
            </a:r>
          </a:p>
          <a:p>
            <a:pPr lvl="1">
              <a:spcAft>
                <a:spcPts val="800"/>
              </a:spcAft>
              <a:defRPr sz="1700">
                <a:solidFill>
                  <a:srgbClr val="707682"/>
                </a:solidFill>
              </a:defRPr>
            </a:pPr>
            <a:r>
              <a:t>Citantes trabalham em tarefas diferentes: gender, age, emotion, detection, audit, etc.</a:t>
            </a:r>
          </a:p>
          <a:p>
            <a:pPr>
              <a:spcAft>
                <a:spcPts val="800"/>
              </a:spcAft>
              <a:defRPr sz="2000" b="0">
                <a:solidFill>
                  <a:srgbClr val="3D424E"/>
                </a:solidFill>
              </a:defRPr>
            </a:pPr>
          </a:p>
          <a:p>
            <a:pPr>
              <a:spcAft>
                <a:spcPts val="800"/>
              </a:spcAft>
              <a:defRPr sz="2000" b="0">
                <a:solidFill>
                  <a:srgbClr val="3D424E"/>
                </a:solidFill>
              </a:defRPr>
            </a:pPr>
            <a:r>
              <a:t>Conclusão: FaceScanPaliGemma 75.7% F1 segue sendo o SOTA único em junho/2026.</a:t>
            </a:r>
          </a:p>
          <a:p>
            <a:pPr>
              <a:spcAft>
                <a:spcPts val="800"/>
              </a:spcAft>
              <a:defRPr sz="2000" b="0">
                <a:solidFill>
                  <a:srgbClr val="3D424E"/>
                </a:solidFill>
              </a:defRPr>
            </a:pPr>
          </a:p>
          <a:p>
            <a:pPr>
              <a:spcAft>
                <a:spcPts val="800"/>
              </a:spcAft>
              <a:defRPr sz="2000" b="0">
                <a:solidFill>
                  <a:srgbClr val="3D424E"/>
                </a:solidFill>
              </a:defRPr>
            </a:pPr>
            <a:r>
              <a:t>Achados adicionais: validação cruzada confirmou também o baseline ResNet-34 = 72%</a:t>
            </a:r>
          </a:p>
          <a:p>
            <a:pPr lvl="1">
              <a:spcAft>
                <a:spcPts val="800"/>
              </a:spcAft>
              <a:defRPr sz="1700">
                <a:solidFill>
                  <a:srgbClr val="707682"/>
                </a:solidFill>
              </a:defRPr>
            </a:pPr>
            <a:r>
              <a:t>Reportado por AlDahoul (2024/26) E por Lin (FairGRAPE 2022) independentemente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Resposta ao pedido 4: reformular para PRESCRITIVA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Mudança central: deixa de ‘decompor o erro’ e passa a ‘construir um pipeline’ que melhora fairness em race classification E em face recognition, usando tom de pele como sinal auxiliar.</a:t>
            </a:r>
          </a:p>
          <a:p>
            <a:pPr>
              <a:spcAft>
                <a:spcPts val="800"/>
              </a:spcAft>
              <a:defRPr sz="2000" b="0">
                <a:solidFill>
                  <a:srgbClr val="3D424E"/>
                </a:solidFill>
              </a:defRPr>
            </a:pPr>
          </a:p>
          <a:p>
            <a:pPr>
              <a:spcAft>
                <a:spcPts val="800"/>
              </a:spcAft>
              <a:defRPr sz="2000" b="0">
                <a:solidFill>
                  <a:srgbClr val="3D424E"/>
                </a:solidFill>
              </a:defRPr>
            </a:pPr>
            <a:r>
              <a:t>Pipeline construtivo em 6 etapas:</a:t>
            </a:r>
          </a:p>
          <a:p>
            <a:pPr lvl="1">
              <a:spcAft>
                <a:spcPts val="800"/>
              </a:spcAft>
              <a:defRPr sz="1700">
                <a:solidFill>
                  <a:srgbClr val="707682"/>
                </a:solidFill>
              </a:defRPr>
            </a:pPr>
            <a:r>
              <a:t>1. Classificador de tom de pele (MST) — usar SkinToneNet pré-treinado</a:t>
            </a:r>
          </a:p>
          <a:p>
            <a:pPr lvl="1">
              <a:spcAft>
                <a:spcPts val="800"/>
              </a:spcAft>
              <a:defRPr sz="1700">
                <a:solidFill>
                  <a:srgbClr val="707682"/>
                </a:solidFill>
              </a:defRPr>
            </a:pPr>
            <a:r>
              <a:t>2. Auditar FairFace e publicar a matriz pública MST × raça</a:t>
            </a:r>
          </a:p>
          <a:p>
            <a:pPr lvl="1">
              <a:spcAft>
                <a:spcPts val="800"/>
              </a:spcAft>
              <a:defRPr sz="1700">
                <a:solidFill>
                  <a:srgbClr val="707682"/>
                </a:solidFill>
              </a:defRPr>
            </a:pPr>
            <a:r>
              <a:t>3. Race classifier com tom de pele como contexto (mecanismo FiLM)</a:t>
            </a:r>
          </a:p>
          <a:p>
            <a:pPr lvl="1">
              <a:spcAft>
                <a:spcPts val="800"/>
              </a:spcAft>
              <a:defRPr sz="1700">
                <a:solidFill>
                  <a:srgbClr val="707682"/>
                </a:solidFill>
              </a:defRPr>
            </a:pPr>
            <a:r>
              <a:t>4. Comparar fairness COM vs SEM tom de pele, contra 6 baselines</a:t>
            </a:r>
          </a:p>
          <a:p>
            <a:pPr lvl="1">
              <a:spcAft>
                <a:spcPts val="800"/>
              </a:spcAft>
              <a:defRPr sz="1700">
                <a:solidFill>
                  <a:srgbClr val="707682"/>
                </a:solidFill>
              </a:defRPr>
            </a:pPr>
            <a:r>
              <a:t>5. Aplicar pipeline a face recognition (RFW ou BFW)</a:t>
            </a:r>
          </a:p>
          <a:p>
            <a:pPr lvl="1">
              <a:spcAft>
                <a:spcPts val="800"/>
              </a:spcAft>
              <a:defRPr sz="1700">
                <a:solidFill>
                  <a:srgbClr val="707682"/>
                </a:solidFill>
              </a:defRPr>
            </a:pPr>
            <a:r>
              <a:t>6. Medir melhora em Black/African e decomposição Latinx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Triagem do corpus de pesquisa</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Dos 57 papers avaliados, aprovamos 29 como fichas do corpus.</a:t>
            </a:r>
          </a:p>
          <a:p>
            <a:pPr>
              <a:spcAft>
                <a:spcPts val="800"/>
              </a:spcAft>
              <a:defRPr sz="2000" b="0">
                <a:solidFill>
                  <a:srgbClr val="3D424E"/>
                </a:solidFill>
              </a:defRPr>
            </a:pPr>
          </a:p>
          <a:p>
            <a:pPr>
              <a:spcAft>
                <a:spcPts val="800"/>
              </a:spcAft>
              <a:defRPr sz="2000" b="0">
                <a:solidFill>
                  <a:srgbClr val="3D424E"/>
                </a:solidFill>
              </a:defRPr>
            </a:pPr>
            <a:r>
              <a:t>Aprovação seguiu os critérios de seleção acordados:</a:t>
            </a:r>
          </a:p>
          <a:p>
            <a:pPr lvl="1">
              <a:spcAft>
                <a:spcPts val="800"/>
              </a:spcAft>
              <a:defRPr sz="1700">
                <a:solidFill>
                  <a:srgbClr val="707682"/>
                </a:solidFill>
              </a:defRPr>
            </a:pPr>
            <a:r>
              <a:t>Venue científico forte (top conferences ou journals peer-reviewed)</a:t>
            </a:r>
          </a:p>
          <a:p>
            <a:pPr lvl="1">
              <a:spcAft>
                <a:spcPts val="800"/>
              </a:spcAft>
              <a:defRPr sz="1700">
                <a:solidFill>
                  <a:srgbClr val="707682"/>
                </a:solidFill>
              </a:defRPr>
            </a:pPr>
            <a:r>
              <a:t>Citações acima do threshold do ano de publicação</a:t>
            </a:r>
          </a:p>
          <a:p>
            <a:pPr lvl="1">
              <a:spcAft>
                <a:spcPts val="800"/>
              </a:spcAft>
              <a:defRPr sz="1700">
                <a:solidFill>
                  <a:srgbClr val="707682"/>
                </a:solidFill>
              </a:defRPr>
            </a:pPr>
            <a:r>
              <a:t>Aplicabilidade direta a uma das 14 perguntas de pesquisa</a:t>
            </a:r>
          </a:p>
          <a:p>
            <a:pPr lvl="1">
              <a:spcAft>
                <a:spcPts val="800"/>
              </a:spcAft>
              <a:defRPr sz="1700">
                <a:solidFill>
                  <a:srgbClr val="707682"/>
                </a:solidFill>
              </a:defRPr>
            </a:pPr>
            <a:r>
              <a:t>Aprovação por exceção (cobertura única) com justificativa registrada</a:t>
            </a:r>
          </a:p>
          <a:p>
            <a:pPr>
              <a:spcAft>
                <a:spcPts val="800"/>
              </a:spcAft>
              <a:defRPr sz="2000" b="0">
                <a:solidFill>
                  <a:srgbClr val="3D424E"/>
                </a:solidFill>
              </a:defRPr>
            </a:pPr>
          </a:p>
          <a:p>
            <a:pPr>
              <a:spcAft>
                <a:spcPts val="800"/>
              </a:spcAft>
              <a:defRPr sz="2000" b="0">
                <a:solidFill>
                  <a:srgbClr val="3D424E"/>
                </a:solidFill>
              </a:defRPr>
            </a:pPr>
            <a:r>
              <a:t>Cada decisão (aprovado / standby / descartado) tem data e justificativa registradas.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3</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Como a tese está sendo construída</a:t>
            </a:r>
          </a:p>
          <a:p>
            <a:pPr>
              <a:defRPr sz="2000">
                <a:solidFill>
                  <a:srgbClr val="E8EAED"/>
                </a:solidFill>
              </a:defRPr>
            </a:pPr>
            <a:r>
              <a:t>Agora prescritiva, com conceitos explicados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 tese em uma frase clara</a:t>
            </a:r>
          </a:p>
        </p:txBody>
      </p:sp>
      <p:sp>
        <p:nvSpPr>
          <p:cNvPr id="3" name="Rounded Rectangle 2"/>
          <p:cNvSpPr/>
          <p:nvPr/>
        </p:nvSpPr>
        <p:spPr>
          <a:xfrm>
            <a:off x="731520" y="1554480"/>
            <a:ext cx="10698480" cy="4937760"/>
          </a:xfrm>
          <a:prstGeom prst="roundRect">
            <a:avLst/>
          </a:prstGeom>
          <a:solidFill>
            <a:srgbClr val="E8EAED"/>
          </a:solidFill>
          <a:ln w="254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tIns="365760"/>
          <a:lstStyle/>
          <a:p>
            <a:pPr algn="l">
              <a:defRPr sz="2000">
                <a:solidFill>
                  <a:srgbClr val="1F2A4E"/>
                </a:solidFill>
              </a:defRPr>
            </a:pPr>
            <a:r>
              <a:t>Treinar uma rede neural para reconhecer o tom de pele de uma foto, e usar essa informação como contexto extra ao treinar uma rede de classificação racial, melhora as métricas de fairness (a paridade entre raças). Essa melhoria também se transfere para tarefas downstream de reconhecimento facial, beneficiando especialmente grupos sub-representados (Black/African).</a:t>
            </a:r>
            <a:br/>
            <a:br/>
            <a:r>
              <a:t>Em outras palavras: o tom de pele é informação que o classificador de raça precisa ter explicitamente — não pode descobrir sozinho.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O que é a escala MST (Monk Skin Tone)?</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463040"/>
            <a:ext cx="11064240" cy="15544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Em palavras simples</a:t>
            </a:r>
          </a:p>
          <a:p>
            <a:pPr>
              <a:defRPr sz="1800">
                <a:solidFill>
                  <a:srgbClr val="3D424E"/>
                </a:solidFill>
              </a:defRPr>
            </a:pPr>
            <a:r>
              <a:t>Uma escala de 10 tons de pele (do tom 1 mais claro ao tom 10 mais escuro), criada em 2023 pelo sociólogo Dr. Ellis Monk (Harvard) em parceria com o Google. Foi desenhada especificamente para auditar fairness em sistemas de IA — não é a escala antiga de dermatologia (Fitzpatrick), que tem viés para pele clara.</a:t>
            </a:r>
          </a:p>
        </p:txBody>
      </p:sp>
      <p:sp>
        <p:nvSpPr>
          <p:cNvPr id="5" name="Rounded Rectangle 4"/>
          <p:cNvSpPr/>
          <p:nvPr/>
        </p:nvSpPr>
        <p:spPr>
          <a:xfrm>
            <a:off x="548640" y="3200400"/>
            <a:ext cx="11064240" cy="155448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1F2A4E"/>
                </a:solidFill>
              </a:defRPr>
            </a:pPr>
            <a:r>
              <a:t>Por que importa para a tese</a:t>
            </a:r>
          </a:p>
          <a:p>
            <a:pPr>
              <a:defRPr sz="1800">
                <a:solidFill>
                  <a:srgbClr val="3D424E"/>
                </a:solidFill>
              </a:defRPr>
            </a:pPr>
            <a:r>
              <a:t>Nossa tese precisa medir tom de pele de forma confiável e granular. MST é o padrão moderno aceito pela comunidade de fairness research (publicado em NeurIPS 2023). Substituir a Fitzpatrick pela MST evita 3 problemas conhecidos da escala antiga.</a:t>
            </a:r>
          </a:p>
        </p:txBody>
      </p:sp>
      <p:sp>
        <p:nvSpPr>
          <p:cNvPr id="6" name="Rounded Rectangle 5"/>
          <p:cNvSpPr/>
          <p:nvPr/>
        </p:nvSpPr>
        <p:spPr>
          <a:xfrm>
            <a:off x="548640" y="4937760"/>
            <a:ext cx="11064240" cy="146304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500" b="1">
                <a:solidFill>
                  <a:srgbClr val="2E7D32"/>
                </a:solidFill>
              </a:defRPr>
            </a:pPr>
            <a:r>
              <a:t>Exemplo concreto</a:t>
            </a:r>
          </a:p>
          <a:p>
            <a:pPr>
              <a:defRPr sz="1700">
                <a:solidFill>
                  <a:srgbClr val="3D424E"/>
                </a:solidFill>
              </a:defRPr>
            </a:pPr>
            <a:r>
              <a:t>A Fitzpatrick (1975) tem só 6 tons, sendo 3 deles para variações de 'pele considerada branca'. Um terço dos próprios dermatologistas confunde Fitzpatrick com classificação racial — erro categorial endêmico.</a:t>
            </a:r>
          </a:p>
        </p:txBody>
      </p:sp>
      <p:sp>
        <p:nvSpPr>
          <p:cNvPr id="7" name="TextBox 6"/>
          <p:cNvSpPr txBox="1"/>
          <p:nvPr/>
        </p:nvSpPr>
        <p:spPr>
          <a:xfrm>
            <a:off x="457200" y="6446520"/>
            <a:ext cx="11430000" cy="365760"/>
          </a:xfrm>
          <a:prstGeom prst="rect">
            <a:avLst/>
          </a:prstGeom>
          <a:noFill/>
        </p:spPr>
        <p:txBody>
          <a:bodyPr wrap="none">
            <a:spAutoFit/>
          </a:bodyPr>
          <a:lstStyle/>
          <a:p>
            <a:pPr>
              <a:defRPr sz="1400" i="1">
                <a:solidFill>
                  <a:srgbClr val="707682"/>
                </a:solidFill>
              </a:defRPr>
            </a:pPr>
            <a:r>
              <a:t>Classificador MST pré-treinado validado pela Rodada 6 (SkinToneNet, Pereira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O que é FiLM (Feature-wise Linear Modulation)?</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11064240" cy="640080"/>
          </a:xfrm>
          <a:prstGeom prst="rect">
            <a:avLst/>
          </a:prstGeom>
          <a:noFill/>
        </p:spPr>
        <p:txBody>
          <a:bodyPr wrap="none">
            <a:spAutoFit/>
          </a:bodyPr>
          <a:lstStyle/>
          <a:p>
            <a:pPr>
              <a:defRPr sz="1600" i="1">
                <a:solidFill>
                  <a:srgbClr val="3D424E"/>
                </a:solidFill>
              </a:defRPr>
            </a:pPr>
            <a:r>
              <a:t>Em palavras simples: uma camada que permite à rede de raça 'consultar' o tom de pele antes de decidir.</a:t>
            </a:r>
          </a:p>
        </p:txBody>
      </p:sp>
      <p:sp>
        <p:nvSpPr>
          <p:cNvPr id="5" name="Rounded Rectangle 4"/>
          <p:cNvSpPr/>
          <p:nvPr/>
        </p:nvSpPr>
        <p:spPr>
          <a:xfrm>
            <a:off x="548640" y="2103120"/>
            <a:ext cx="3200400" cy="128016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400" b="1">
                <a:solidFill>
                  <a:srgbClr val="1F2A4E"/>
                </a:solidFill>
              </a:defRPr>
            </a:pPr>
            <a:r>
              <a:t>1.  Reconhecer tom de pele</a:t>
            </a:r>
          </a:p>
          <a:p>
            <a:pPr>
              <a:defRPr sz="1200">
                <a:solidFill>
                  <a:srgbClr val="3D424E"/>
                </a:solidFill>
              </a:defRPr>
            </a:pPr>
            <a:r>
              <a:t>SkinToneNet olha para a foto e devolve um vetor de tom (MST 1 a 10).</a:t>
            </a:r>
          </a:p>
        </p:txBody>
      </p:sp>
      <p:sp>
        <p:nvSpPr>
          <p:cNvPr id="6" name="Right Arrow 5"/>
          <p:cNvSpPr/>
          <p:nvPr/>
        </p:nvSpPr>
        <p:spPr>
          <a:xfrm>
            <a:off x="3794759" y="2560320"/>
            <a:ext cx="457200" cy="365760"/>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97679" y="2103120"/>
            <a:ext cx="3200400" cy="1280160"/>
          </a:xfrm>
          <a:prstGeom prst="round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400" b="1">
                <a:solidFill>
                  <a:srgbClr val="FFFFFF"/>
                </a:solidFill>
              </a:defRPr>
            </a:pPr>
            <a:r>
              <a:t>2.  Camada FiLM</a:t>
            </a:r>
          </a:p>
          <a:p>
            <a:pPr>
              <a:defRPr sz="1200">
                <a:solidFill>
                  <a:srgbClr val="E8EAED"/>
                </a:solidFill>
              </a:defRPr>
            </a:pPr>
            <a:r>
              <a:t>Usa o vetor de tom para ajustar as features intermediárias da rede de raça.</a:t>
            </a:r>
          </a:p>
        </p:txBody>
      </p:sp>
      <p:sp>
        <p:nvSpPr>
          <p:cNvPr id="8" name="Right Arrow 7"/>
          <p:cNvSpPr/>
          <p:nvPr/>
        </p:nvSpPr>
        <p:spPr>
          <a:xfrm>
            <a:off x="7543800" y="2560320"/>
            <a:ext cx="457200" cy="365760"/>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46719" y="2103120"/>
            <a:ext cx="3200400" cy="128016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400" b="1">
                <a:solidFill>
                  <a:srgbClr val="1F2A4E"/>
                </a:solidFill>
              </a:defRPr>
            </a:pPr>
            <a:r>
              <a:t>3.  Decidir a raça</a:t>
            </a:r>
          </a:p>
          <a:p>
            <a:pPr>
              <a:defRPr sz="1200">
                <a:solidFill>
                  <a:srgbClr val="3D424E"/>
                </a:solidFill>
              </a:defRPr>
            </a:pPr>
            <a:r>
              <a:t>ConvNeXt-T decide entre as 7 raças do FairFace já com o tom como contexto.</a:t>
            </a:r>
          </a:p>
        </p:txBody>
      </p:sp>
      <p:sp>
        <p:nvSpPr>
          <p:cNvPr id="10" name="Rounded Rectangle 9"/>
          <p:cNvSpPr/>
          <p:nvPr/>
        </p:nvSpPr>
        <p:spPr>
          <a:xfrm>
            <a:off x="548640" y="4023360"/>
            <a:ext cx="11064240" cy="118872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2E7D32"/>
                </a:solidFill>
              </a:defRPr>
            </a:pPr>
            <a:r>
              <a:t>Analogia</a:t>
            </a:r>
          </a:p>
          <a:p>
            <a:pPr>
              <a:defRPr sz="1400">
                <a:solidFill>
                  <a:srgbClr val="3D424E"/>
                </a:solidFill>
              </a:defRPr>
            </a:pPr>
            <a:r>
              <a:t>Um médico fazendo diagnóstico. Antes de decidir, ele consulta um exame complementar (ECG, raio-X). FiLM faz isso para a rede de raça: antes de decidir, ela 'consulta' a saída do classificador de tom de pele.</a:t>
            </a:r>
          </a:p>
        </p:txBody>
      </p:sp>
      <p:sp>
        <p:nvSpPr>
          <p:cNvPr id="11" name="Rounded Rectangle 10"/>
          <p:cNvSpPr/>
          <p:nvPr/>
        </p:nvSpPr>
        <p:spPr>
          <a:xfrm>
            <a:off x="548640" y="5394960"/>
            <a:ext cx="11064240" cy="10972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Por que importa para a tese</a:t>
            </a:r>
          </a:p>
          <a:p>
            <a:pPr>
              <a:defRPr sz="1400">
                <a:solidFill>
                  <a:srgbClr val="3D424E"/>
                </a:solidFill>
              </a:defRPr>
            </a:pPr>
            <a:r>
              <a:t>Sem FiLM, 'usar tom de pele como contexto' seria uma ideia vaga. Com FiLM, vira mecanismo concreto e reproduzível, validado em mais de 600 papers desde 2018 (Perez et al., AAAI 2018).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O que é fair transferência (LAFTR)?</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11064240" cy="640080"/>
          </a:xfrm>
          <a:prstGeom prst="rect">
            <a:avLst/>
          </a:prstGeom>
          <a:noFill/>
        </p:spPr>
        <p:txBody>
          <a:bodyPr wrap="none">
            <a:spAutoFit/>
          </a:bodyPr>
          <a:lstStyle/>
          <a:p>
            <a:pPr>
              <a:defRPr sz="1500" i="1">
                <a:solidFill>
                  <a:srgbClr val="3D424E"/>
                </a:solidFill>
              </a:defRPr>
            </a:pPr>
            <a:r>
              <a:t>Em palavras simples: se uma rede aprendeu a ser justa em uma tarefa, ela carrega essa propriedade para outras tarefas que usem a mesma representação interna.</a:t>
            </a:r>
          </a:p>
        </p:txBody>
      </p:sp>
      <p:sp>
        <p:nvSpPr>
          <p:cNvPr id="5" name="Rounded Rectangle 4"/>
          <p:cNvSpPr/>
          <p:nvPr/>
        </p:nvSpPr>
        <p:spPr>
          <a:xfrm>
            <a:off x="548640" y="2286000"/>
            <a:ext cx="3840480" cy="146304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400" b="1">
                <a:solidFill>
                  <a:srgbClr val="1F2A4E"/>
                </a:solidFill>
              </a:defRPr>
            </a:pPr>
            <a:r>
              <a:t>Cap 2 — Race classification</a:t>
            </a:r>
          </a:p>
          <a:p>
            <a:pPr>
              <a:defRPr sz="1200">
                <a:solidFill>
                  <a:srgbClr val="3D424E"/>
                </a:solidFill>
              </a:defRPr>
            </a:pPr>
            <a:r>
              <a:t>Treinamos a rede com objetivo fair sobre tom de pele e raça. O backbone aprende uma representação que é, por construção, mais equilibrada entre grupos.</a:t>
            </a:r>
          </a:p>
        </p:txBody>
      </p:sp>
      <p:sp>
        <p:nvSpPr>
          <p:cNvPr id="6" name="Right Arrow 5"/>
          <p:cNvSpPr/>
          <p:nvPr/>
        </p:nvSpPr>
        <p:spPr>
          <a:xfrm>
            <a:off x="4480560" y="2788920"/>
            <a:ext cx="822960" cy="457200"/>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394960" y="2286000"/>
            <a:ext cx="2194560" cy="1463040"/>
          </a:xfrm>
          <a:prstGeom prst="round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82880"/>
          <a:lstStyle/>
          <a:p>
            <a:pPr algn="ctr">
              <a:defRPr sz="1400" b="1">
                <a:solidFill>
                  <a:srgbClr val="FFFFFF"/>
                </a:solidFill>
              </a:defRPr>
            </a:pPr>
            <a:r>
              <a:t>Backbone fair</a:t>
            </a:r>
          </a:p>
          <a:p>
            <a:pPr algn="ctr">
              <a:defRPr sz="1100">
                <a:solidFill>
                  <a:srgbClr val="E8EAED"/>
                </a:solidFill>
              </a:defRPr>
            </a:pPr>
            <a:r>
              <a:t>A propriedade fair fica embutida AQUI.</a:t>
            </a:r>
          </a:p>
        </p:txBody>
      </p:sp>
      <p:sp>
        <p:nvSpPr>
          <p:cNvPr id="8" name="Right Arrow 7"/>
          <p:cNvSpPr/>
          <p:nvPr/>
        </p:nvSpPr>
        <p:spPr>
          <a:xfrm>
            <a:off x="7680960" y="2788920"/>
            <a:ext cx="822960" cy="457200"/>
          </a:xfrm>
          <a:prstGeom prst="rightArrow">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0" y="2286000"/>
            <a:ext cx="3017520" cy="1463040"/>
          </a:xfrm>
          <a:prstGeom prst="roundRect">
            <a:avLst/>
          </a:prstGeom>
          <a:solidFill>
            <a:srgbClr val="E8EAED"/>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400" b="1">
                <a:solidFill>
                  <a:srgbClr val="1F2A4E"/>
                </a:solidFill>
              </a:defRPr>
            </a:pPr>
            <a:r>
              <a:t>Cap 3 — Face recognition</a:t>
            </a:r>
          </a:p>
          <a:p>
            <a:pPr>
              <a:defRPr sz="1200">
                <a:solidFill>
                  <a:srgbClr val="3D424E"/>
                </a:solidFill>
              </a:defRPr>
            </a:pPr>
            <a:r>
              <a:t>Reaproveitamos o mesmo backbone. Como ele já é fair, a tarefa nova herda essa propriedade — sem precisar re-treinar do zero.</a:t>
            </a:r>
          </a:p>
        </p:txBody>
      </p:sp>
      <p:sp>
        <p:nvSpPr>
          <p:cNvPr id="10" name="Rounded Rectangle 9"/>
          <p:cNvSpPr/>
          <p:nvPr/>
        </p:nvSpPr>
        <p:spPr>
          <a:xfrm>
            <a:off x="548640" y="3931920"/>
            <a:ext cx="11064240" cy="1371600"/>
          </a:xfrm>
          <a:prstGeom prst="roundRect">
            <a:avLst/>
          </a:prstGeom>
          <a:solidFill>
            <a:srgbClr val="FFFFFF"/>
          </a:solidFill>
          <a:ln w="1905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37160"/>
          <a:lstStyle/>
          <a:p>
            <a:pPr algn="ctr">
              <a:defRPr sz="1400" b="1">
                <a:solidFill>
                  <a:srgbClr val="1F2A4E"/>
                </a:solidFill>
              </a:defRPr>
            </a:pPr>
            <a:r>
              <a:t>O que Madras et al. 2018 (ICML) provam</a:t>
            </a:r>
          </a:p>
          <a:p>
            <a:pPr>
              <a:defRPr sz="1300">
                <a:solidFill>
                  <a:srgbClr val="3D424E"/>
                </a:solidFill>
              </a:defRPr>
            </a:pPr>
            <a:r>
              <a:t>A fairness é PROPRIEDADE DA REPRESENTAÇÃO INTERNA — não da tarefa específica. Qualquer classificador downstream que use a mesma representação herda um limite superior de injustiça. É essa garantia teórica que sustenta a extensão da nossa tese para face recognition (Cap 3).</a:t>
            </a:r>
          </a:p>
        </p:txBody>
      </p:sp>
      <p:sp>
        <p:nvSpPr>
          <p:cNvPr id="11" name="Rounded Rectangle 10"/>
          <p:cNvSpPr/>
          <p:nvPr/>
        </p:nvSpPr>
        <p:spPr>
          <a:xfrm>
            <a:off x="548640" y="5440680"/>
            <a:ext cx="11064240" cy="914400"/>
          </a:xfrm>
          <a:prstGeom prst="roundRect">
            <a:avLst/>
          </a:prstGeom>
          <a:solidFill>
            <a:srgbClr val="FFFFFF"/>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defRPr sz="1300" b="1">
                <a:solidFill>
                  <a:srgbClr val="2E7D32"/>
                </a:solidFill>
              </a:defRPr>
            </a:pPr>
            <a:r>
              <a:t>Analogia</a:t>
            </a:r>
          </a:p>
          <a:p>
            <a:pPr>
              <a:defRPr sz="1300">
                <a:solidFill>
                  <a:srgbClr val="3D424E"/>
                </a:solidFill>
              </a:defRPr>
            </a:pPr>
            <a:r>
              <a:t>Aprender ética profissional em medicina geral nos torna mais éticos também quando nos especializamos em cardiologia. A 'ética' é uma propriedade do profissional, não da especialidade.</a:t>
            </a:r>
          </a:p>
        </p:txBody>
      </p:sp>
      <p:sp>
        <p:nvSpPr>
          <p:cNvPr id="12" name="TextBox 11"/>
          <p:cNvSpPr txBox="1"/>
          <p:nvPr/>
        </p:nvSpPr>
        <p:spPr>
          <a:xfrm>
            <a:off x="457200" y="6446520"/>
            <a:ext cx="11430000" cy="365760"/>
          </a:xfrm>
          <a:prstGeom prst="rect">
            <a:avLst/>
          </a:prstGeom>
          <a:noFill/>
        </p:spPr>
        <p:txBody>
          <a:bodyPr wrap="none">
            <a:spAutoFit/>
          </a:bodyPr>
          <a:lstStyle/>
          <a:p>
            <a:pPr>
              <a:defRPr sz="1200" i="1">
                <a:solidFill>
                  <a:srgbClr val="707682"/>
                </a:solidFill>
              </a:defRPr>
            </a:pPr>
            <a:r>
              <a:t>H5 em revisão após Pangelinan 2023 (Rodada 6): pixel info pode ser confounder adicional em FR — discussão na pauta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pipeline em 6 etapas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Etapa 1 — Treinar um classificador de tom de pele (MST)</a:t>
            </a:r>
          </a:p>
          <a:p>
            <a:pPr lvl="1">
              <a:spcAft>
                <a:spcPts val="800"/>
              </a:spcAft>
              <a:defRPr sz="1700">
                <a:solidFill>
                  <a:srgbClr val="707682"/>
                </a:solidFill>
              </a:defRPr>
            </a:pPr>
            <a:r>
              <a:t>Dados: MST-E (Schumann 2023) + Casual Conversations (Meta 2021)</a:t>
            </a:r>
          </a:p>
          <a:p>
            <a:pPr>
              <a:spcAft>
                <a:spcPts val="800"/>
              </a:spcAft>
              <a:defRPr sz="2000" b="0">
                <a:solidFill>
                  <a:srgbClr val="3D424E"/>
                </a:solidFill>
              </a:defRPr>
            </a:pPr>
            <a:r>
              <a:t>Etapa 2 — Auditar o FairFace: como tom de pele se distribui entre as 7 raças?</a:t>
            </a:r>
          </a:p>
          <a:p>
            <a:pPr lvl="1">
              <a:spcAft>
                <a:spcPts val="800"/>
              </a:spcAft>
              <a:defRPr sz="1700">
                <a:solidFill>
                  <a:srgbClr val="707682"/>
                </a:solidFill>
              </a:defRPr>
            </a:pPr>
            <a:r>
              <a:t>Aplicar o classificador MST sobre 10.954 imagens; validar manualmente um subset</a:t>
            </a:r>
          </a:p>
          <a:p>
            <a:pPr>
              <a:spcAft>
                <a:spcPts val="800"/>
              </a:spcAft>
              <a:defRPr sz="2000" b="0">
                <a:solidFill>
                  <a:srgbClr val="3D424E"/>
                </a:solidFill>
              </a:defRPr>
            </a:pPr>
            <a:r>
              <a:t>Etapa 3 — Treinar o classificador de raça USANDO tom de pele como contexto (via FiLM)</a:t>
            </a:r>
          </a:p>
          <a:p>
            <a:pPr lvl="1">
              <a:spcAft>
                <a:spcPts val="800"/>
              </a:spcAft>
              <a:defRPr sz="1700">
                <a:solidFill>
                  <a:srgbClr val="707682"/>
                </a:solidFill>
              </a:defRPr>
            </a:pPr>
            <a:r>
              <a:t>Backbone: ConvNeXt-T (rede moderna, 28 milhões de parâmetros — leve)</a:t>
            </a:r>
          </a:p>
          <a:p>
            <a:pPr>
              <a:spcAft>
                <a:spcPts val="800"/>
              </a:spcAft>
              <a:defRPr sz="2000" b="0">
                <a:solidFill>
                  <a:srgbClr val="3D424E"/>
                </a:solidFill>
              </a:defRPr>
            </a:pPr>
            <a:r>
              <a:t>Etapa 4 — Comparar fairness: COM tom de pele vs SEM</a:t>
            </a:r>
          </a:p>
          <a:p>
            <a:pPr lvl="1">
              <a:spcAft>
                <a:spcPts val="800"/>
              </a:spcAft>
              <a:defRPr sz="1700">
                <a:solidFill>
                  <a:srgbClr val="707682"/>
                </a:solidFill>
              </a:defRPr>
            </a:pPr>
            <a:r>
              <a:t>Baselines: ConvNeXt-T puro, FSCL+, Group DRO, Adversarial debiasing</a:t>
            </a:r>
          </a:p>
          <a:p>
            <a:pPr>
              <a:spcAft>
                <a:spcPts val="800"/>
              </a:spcAft>
              <a:defRPr sz="2000" b="0">
                <a:solidFill>
                  <a:srgbClr val="3D424E"/>
                </a:solidFill>
              </a:defRPr>
            </a:pPr>
            <a:r>
              <a:t>Etapa 5 — Aplicar pipeline idêntico em reconhecimento facial (RFW ou BFW)</a:t>
            </a:r>
          </a:p>
          <a:p>
            <a:pPr lvl="1">
              <a:spcAft>
                <a:spcPts val="800"/>
              </a:spcAft>
              <a:defRPr sz="1700">
                <a:solidFill>
                  <a:srgbClr val="707682"/>
                </a:solidFill>
              </a:defRPr>
            </a:pPr>
            <a:r>
              <a:t>Verificar transferência da propriedade fair</a:t>
            </a:r>
          </a:p>
          <a:p>
            <a:pPr>
              <a:spcAft>
                <a:spcPts val="800"/>
              </a:spcAft>
              <a:defRPr sz="2000" b="0">
                <a:solidFill>
                  <a:srgbClr val="3D424E"/>
                </a:solidFill>
              </a:defRPr>
            </a:pPr>
            <a:r>
              <a:t>Etapa 6 — Medir se Black/African melhora especificamente</a:t>
            </a:r>
          </a:p>
          <a:p>
            <a:pPr lvl="1">
              <a:spcAft>
                <a:spcPts val="800"/>
              </a:spcAft>
              <a:defRPr sz="1700">
                <a:solidFill>
                  <a:srgbClr val="707682"/>
                </a:solidFill>
              </a:defRPr>
            </a:pPr>
            <a:r>
              <a:t>Métrica: TAR @ FAR fixo por raça</a:t>
            </a:r>
          </a:p>
        </p:txBody>
      </p:sp>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Etapas 1, 4 e 5 reforçadas pela Rodada 6 (SkinToneNet, Adversarial debiasing, fair transfer empírico)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600" b="1">
                <a:solidFill>
                  <a:srgbClr val="1F2A4E"/>
                </a:solidFill>
              </a:defRPr>
            </a:pPr>
            <a:r>
              <a:t>As métricas que vamos reportar — todas públicas e estabelecidas</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48640" y="1325880"/>
            <a:ext cx="11064240" cy="13258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r>
              <a:rPr sz="1500" b="1">
                <a:solidFill>
                  <a:srgbClr val="1F2A4E"/>
                </a:solidFill>
              </a:rPr>
              <a:t>F1 macro</a:t>
            </a:r>
            <a:r>
              <a:rPr sz="1300">
                <a:solidFill>
                  <a:srgbClr val="3D424E"/>
                </a:solidFill>
              </a:rPr>
              <a:t>  —  Média das pontuações nas 7 raças, tratando todas igualmente</a:t>
            </a:r>
          </a:p>
          <a:p>
            <a:pPr>
              <a:defRPr sz="1100" i="1">
                <a:solidFill>
                  <a:srgbClr val="707682"/>
                </a:solidFill>
              </a:defRPr>
            </a:pPr>
            <a:r>
              <a:t>Referência: van Rijsbergen 1979 (Information Retrieval)</a:t>
            </a:r>
          </a:p>
          <a:p>
            <a:pPr>
              <a:defRPr sz="1200">
                <a:solidFill>
                  <a:srgbClr val="3D424E"/>
                </a:solidFill>
              </a:defRPr>
            </a:pPr>
            <a:r>
              <a:t>Quanto maior, melhor. SOTA atual = 75% (FaceScanPaliGemma).</a:t>
            </a:r>
          </a:p>
        </p:txBody>
      </p:sp>
      <p:sp>
        <p:nvSpPr>
          <p:cNvPr id="5" name="Rounded Rectangle 4"/>
          <p:cNvSpPr/>
          <p:nvPr/>
        </p:nvSpPr>
        <p:spPr>
          <a:xfrm>
            <a:off x="548640" y="2788920"/>
            <a:ext cx="11064240" cy="13258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r>
              <a:rPr sz="1500" b="1">
                <a:solidFill>
                  <a:srgbClr val="1F2A4E"/>
                </a:solidFill>
              </a:rPr>
              <a:t>DR (Disparity Ratio)</a:t>
            </a:r>
            <a:r>
              <a:rPr sz="1300">
                <a:solidFill>
                  <a:srgbClr val="3D424E"/>
                </a:solidFill>
              </a:rPr>
              <a:t>  —  Razão entre a melhor e a pior raça</a:t>
            </a:r>
          </a:p>
          <a:p>
            <a:pPr>
              <a:defRPr sz="1100" i="1">
                <a:solidFill>
                  <a:srgbClr val="707682"/>
                </a:solidFill>
              </a:defRPr>
            </a:pPr>
            <a:r>
              <a:t>Referência: Hardt, Price &amp; Srebro 2016 (NeurIPS) — Equal Opportunity</a:t>
            </a:r>
          </a:p>
          <a:p>
            <a:pPr>
              <a:defRPr sz="1200">
                <a:solidFill>
                  <a:srgbClr val="3D424E"/>
                </a:solidFill>
              </a:defRPr>
            </a:pPr>
            <a:r>
              <a:t>Mais perto de 1.0 = mais justo. Latinx vs Black atual = 60%/90% = 0.67.</a:t>
            </a:r>
          </a:p>
        </p:txBody>
      </p:sp>
      <p:sp>
        <p:nvSpPr>
          <p:cNvPr id="6" name="Rounded Rectangle 5"/>
          <p:cNvSpPr/>
          <p:nvPr/>
        </p:nvSpPr>
        <p:spPr>
          <a:xfrm>
            <a:off x="548640" y="4251960"/>
            <a:ext cx="11064240" cy="132588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r>
              <a:rPr sz="1500" b="1">
                <a:solidFill>
                  <a:srgbClr val="1F2A4E"/>
                </a:solidFill>
              </a:rPr>
              <a:t>Worst-class F1</a:t>
            </a:r>
            <a:r>
              <a:rPr sz="1300">
                <a:solidFill>
                  <a:srgbClr val="3D424E"/>
                </a:solidFill>
              </a:rPr>
              <a:t>  —  Pontuação na raça em que o modelo se sai pior</a:t>
            </a:r>
          </a:p>
          <a:p>
            <a:pPr>
              <a:defRPr sz="1100" i="1">
                <a:solidFill>
                  <a:srgbClr val="707682"/>
                </a:solidFill>
              </a:defRPr>
            </a:pPr>
            <a:r>
              <a:t>Referência: Sagawa et al. 2020 (ICLR) — Group DRO. Métrica = min_g F1(g)</a:t>
            </a:r>
          </a:p>
          <a:p>
            <a:pPr>
              <a:defRPr sz="1200">
                <a:solidFill>
                  <a:srgbClr val="3D424E"/>
                </a:solidFill>
              </a:defRPr>
            </a:pPr>
            <a:r>
              <a:t>Atualmente = 60% (Latinx). Quanto maior, melhor o pior caso.</a:t>
            </a:r>
          </a:p>
        </p:txBody>
      </p:sp>
      <p:sp>
        <p:nvSpPr>
          <p:cNvPr id="7" name="Rounded Rectangle 6"/>
          <p:cNvSpPr/>
          <p:nvPr/>
        </p:nvSpPr>
        <p:spPr>
          <a:xfrm>
            <a:off x="548640" y="5715000"/>
            <a:ext cx="11064240" cy="868680"/>
          </a:xfrm>
          <a:prstGeom prst="roundRect">
            <a:avLst/>
          </a:prstGeom>
          <a:solidFill>
            <a:srgbClr val="FFFFFF"/>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91440"/>
          <a:lstStyle/>
          <a:p>
            <a:pPr algn="ctr"/>
            <a:r>
              <a:rPr sz="1300" b="1">
                <a:solidFill>
                  <a:srgbClr val="C0392B"/>
                </a:solidFill>
              </a:rPr>
              <a:t>Por que 3 métricas e não uma?</a:t>
            </a:r>
          </a:p>
          <a:p>
            <a:pPr>
              <a:defRPr sz="1200">
                <a:solidFill>
                  <a:srgbClr val="3D424E"/>
                </a:solidFill>
              </a:defRPr>
            </a:pPr>
            <a:r>
              <a:t>Teorema da impossibilidade (Kleinberg, Mullainathan &amp; Raghavan 2017, ITCS): não existe métrica única de fairness — reportar as 3 simultaneamente é a forma honesta de comunicar trade-offs.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As 5 hipóteses que vamos testar (na forma de perguntas)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822960">
                <a:tc>
                  <a:txBody>
                    <a:bodyPr/>
                    <a:lstStyle/>
                    <a:p>
                      <a:r>
                        <a:rPr b="1" sz="1600">
                          <a:solidFill>
                            <a:srgbClr val="FFFFFF"/>
                          </a:solidFill>
                        </a:rPr>
                        <a:t>#</a:t>
                      </a:r>
                    </a:p>
                  </a:txBody>
                  <a:tcPr>
                    <a:solidFill>
                      <a:srgbClr val="1F2A4E"/>
                    </a:solidFill>
                  </a:tcPr>
                </a:tc>
                <a:tc>
                  <a:txBody>
                    <a:bodyPr/>
                    <a:lstStyle/>
                    <a:p>
                      <a:r>
                        <a:rPr b="1" sz="1600">
                          <a:solidFill>
                            <a:srgbClr val="FFFFFF"/>
                          </a:solidFill>
                        </a:rPr>
                        <a:t>Pergunta</a:t>
                      </a:r>
                    </a:p>
                  </a:txBody>
                  <a:tcPr>
                    <a:solidFill>
                      <a:srgbClr val="1F2A4E"/>
                    </a:solidFill>
                  </a:tcPr>
                </a:tc>
                <a:tc>
                  <a:txBody>
                    <a:bodyPr/>
                    <a:lstStyle/>
                    <a:p>
                      <a:r>
                        <a:rPr b="1" sz="1600">
                          <a:solidFill>
                            <a:srgbClr val="FFFFFF"/>
                          </a:solidFill>
                        </a:rPr>
                        <a:t>Como saberemos se SIM</a:t>
                      </a:r>
                    </a:p>
                  </a:txBody>
                  <a:tcPr>
                    <a:solidFill>
                      <a:srgbClr val="1F2A4E"/>
                    </a:solidFill>
                  </a:tcPr>
                </a:tc>
              </a:tr>
              <a:tr h="822960">
                <a:tc>
                  <a:txBody>
                    <a:bodyPr/>
                    <a:lstStyle/>
                    <a:p>
                      <a:r>
                        <a:rPr sz="1500">
                          <a:solidFill>
                            <a:srgbClr val="3D424E"/>
                          </a:solidFill>
                        </a:rPr>
                        <a:t>H1</a:t>
                      </a:r>
                    </a:p>
                  </a:txBody>
                  <a:tcPr>
                    <a:solidFill>
                      <a:srgbClr val="FFFFFF"/>
                    </a:solidFill>
                  </a:tcPr>
                </a:tc>
                <a:tc>
                  <a:txBody>
                    <a:bodyPr/>
                    <a:lstStyle/>
                    <a:p>
                      <a:r>
                        <a:rPr sz="1500">
                          <a:solidFill>
                            <a:srgbClr val="3D424E"/>
                          </a:solidFill>
                        </a:rPr>
                        <a:t>O pipeline com tom de pele melhora fairness em classificação?</a:t>
                      </a:r>
                    </a:p>
                  </a:txBody>
                  <a:tcPr>
                    <a:solidFill>
                      <a:srgbClr val="FFFFFF"/>
                    </a:solidFill>
                  </a:tcPr>
                </a:tc>
                <a:tc>
                  <a:txBody>
                    <a:bodyPr/>
                    <a:lstStyle/>
                    <a:p>
                      <a:r>
                        <a:rPr sz="1500">
                          <a:solidFill>
                            <a:srgbClr val="3D424E"/>
                          </a:solidFill>
                        </a:rPr>
                        <a:t>F1 sobe ≥+2pp E DR cai ≥20% vs ResNet-34</a:t>
                      </a:r>
                    </a:p>
                  </a:txBody>
                  <a:tcPr>
                    <a:solidFill>
                      <a:srgbClr val="FFFFFF"/>
                    </a:solidFill>
                  </a:tcPr>
                </a:tc>
              </a:tr>
              <a:tr h="822960">
                <a:tc>
                  <a:txBody>
                    <a:bodyPr/>
                    <a:lstStyle/>
                    <a:p>
                      <a:r>
                        <a:rPr sz="1500">
                          <a:solidFill>
                            <a:srgbClr val="3D424E"/>
                          </a:solidFill>
                        </a:rPr>
                        <a:t>H2</a:t>
                      </a:r>
                    </a:p>
                  </a:txBody>
                  <a:tcPr>
                    <a:solidFill>
                      <a:srgbClr val="E8EAED"/>
                    </a:solidFill>
                  </a:tcPr>
                </a:tc>
                <a:tc>
                  <a:txBody>
                    <a:bodyPr/>
                    <a:lstStyle/>
                    <a:p>
                      <a:r>
                        <a:rPr sz="1500">
                          <a:solidFill>
                            <a:srgbClr val="3D424E"/>
                          </a:solidFill>
                        </a:rPr>
                        <a:t>Trocar a rede (ResNet-34 → ConvNeXt-T) por si só ajuda Latinx?</a:t>
                      </a:r>
                    </a:p>
                  </a:txBody>
                  <a:tcPr>
                    <a:solidFill>
                      <a:srgbClr val="E8EAED"/>
                    </a:solidFill>
                  </a:tcPr>
                </a:tc>
                <a:tc>
                  <a:txBody>
                    <a:bodyPr/>
                    <a:lstStyle/>
                    <a:p>
                      <a:r>
                        <a:rPr sz="1500">
                          <a:solidFill>
                            <a:srgbClr val="3D424E"/>
                          </a:solidFill>
                        </a:rPr>
                        <a:t>Latinx permanece em ≈60% (não muda)</a:t>
                      </a:r>
                    </a:p>
                  </a:txBody>
                  <a:tcPr>
                    <a:solidFill>
                      <a:srgbClr val="E8EAED"/>
                    </a:solidFill>
                  </a:tcPr>
                </a:tc>
              </a:tr>
              <a:tr h="822960">
                <a:tc>
                  <a:txBody>
                    <a:bodyPr/>
                    <a:lstStyle/>
                    <a:p>
                      <a:r>
                        <a:rPr sz="1500">
                          <a:solidFill>
                            <a:srgbClr val="3D424E"/>
                          </a:solidFill>
                        </a:rPr>
                        <a:t>H3</a:t>
                      </a:r>
                    </a:p>
                  </a:txBody>
                  <a:tcPr>
                    <a:solidFill>
                      <a:srgbClr val="FFFFFF"/>
                    </a:solidFill>
                  </a:tcPr>
                </a:tc>
                <a:tc>
                  <a:txBody>
                    <a:bodyPr/>
                    <a:lstStyle/>
                    <a:p>
                      <a:r>
                        <a:rPr sz="1500">
                          <a:solidFill>
                            <a:srgbClr val="3D424E"/>
                          </a:solidFill>
                        </a:rPr>
                        <a:t>Latinx tem tom de pele espalhado em várias categorias?</a:t>
                      </a:r>
                    </a:p>
                  </a:txBody>
                  <a:tcPr>
                    <a:solidFill>
                      <a:srgbClr val="FFFFFF"/>
                    </a:solidFill>
                  </a:tcPr>
                </a:tc>
                <a:tc>
                  <a:txBody>
                    <a:bodyPr/>
                    <a:lstStyle/>
                    <a:p>
                      <a:r>
                        <a:rPr sz="1500">
                          <a:solidFill>
                            <a:srgbClr val="3D424E"/>
                          </a:solidFill>
                        </a:rPr>
                        <a:t>Spread cobre ≥5 das 10 categorias MST</a:t>
                      </a:r>
                    </a:p>
                  </a:txBody>
                  <a:tcPr>
                    <a:solidFill>
                      <a:srgbClr val="FFFFFF"/>
                    </a:solidFill>
                  </a:tcPr>
                </a:tc>
              </a:tr>
              <a:tr h="822960">
                <a:tc>
                  <a:txBody>
                    <a:bodyPr/>
                    <a:lstStyle/>
                    <a:p>
                      <a:r>
                        <a:rPr sz="1500">
                          <a:solidFill>
                            <a:srgbClr val="3D424E"/>
                          </a:solidFill>
                        </a:rPr>
                        <a:t>H4</a:t>
                      </a:r>
                    </a:p>
                  </a:txBody>
                  <a:tcPr>
                    <a:solidFill>
                      <a:srgbClr val="E8EAED"/>
                    </a:solidFill>
                  </a:tcPr>
                </a:tc>
                <a:tc>
                  <a:txBody>
                    <a:bodyPr/>
                    <a:lstStyle/>
                    <a:p>
                      <a:r>
                        <a:rPr sz="1500">
                          <a:solidFill>
                            <a:srgbClr val="3D424E"/>
                          </a:solidFill>
                        </a:rPr>
                        <a:t>A maior parte dos erros do Latinx é por sobreposição de tom?</a:t>
                      </a:r>
                    </a:p>
                  </a:txBody>
                  <a:tcPr>
                    <a:solidFill>
                      <a:srgbClr val="E8EAED"/>
                    </a:solidFill>
                  </a:tcPr>
                </a:tc>
                <a:tc>
                  <a:txBody>
                    <a:bodyPr/>
                    <a:lstStyle/>
                    <a:p>
                      <a:r>
                        <a:rPr sz="1500">
                          <a:solidFill>
                            <a:srgbClr val="3D424E"/>
                          </a:solidFill>
                        </a:rPr>
                        <a:t>≥50% dos erros estão em zonas de overlap</a:t>
                      </a:r>
                    </a:p>
                  </a:txBody>
                  <a:tcPr>
                    <a:solidFill>
                      <a:srgbClr val="E8EAED"/>
                    </a:solidFill>
                  </a:tcPr>
                </a:tc>
              </a:tr>
              <a:tr h="822960">
                <a:tc>
                  <a:txBody>
                    <a:bodyPr/>
                    <a:lstStyle/>
                    <a:p>
                      <a:r>
                        <a:rPr sz="1500">
                          <a:solidFill>
                            <a:srgbClr val="3D424E"/>
                          </a:solidFill>
                        </a:rPr>
                        <a:t>H5</a:t>
                      </a:r>
                    </a:p>
                  </a:txBody>
                  <a:tcPr>
                    <a:solidFill>
                      <a:srgbClr val="FFFFFF"/>
                    </a:solidFill>
                  </a:tcPr>
                </a:tc>
                <a:tc>
                  <a:txBody>
                    <a:bodyPr/>
                    <a:lstStyle/>
                    <a:p>
                      <a:r>
                        <a:rPr sz="1500">
                          <a:solidFill>
                            <a:srgbClr val="3D424E"/>
                          </a:solidFill>
                        </a:rPr>
                        <a:t>A melhoria transfere para reconhecimento facial?</a:t>
                      </a:r>
                    </a:p>
                  </a:txBody>
                  <a:tcPr>
                    <a:solidFill>
                      <a:srgbClr val="FFFFFF"/>
                    </a:solidFill>
                  </a:tcPr>
                </a:tc>
                <a:tc>
                  <a:txBody>
                    <a:bodyPr/>
                    <a:lstStyle/>
                    <a:p>
                      <a:r>
                        <a:rPr sz="1500">
                          <a:solidFill>
                            <a:srgbClr val="3D424E"/>
                          </a:solidFill>
                        </a:rPr>
                        <a:t>Black/African melhora ≥+3pp em RFW ou BFW</a:t>
                      </a:r>
                    </a:p>
                  </a:txBody>
                  <a:tcPr>
                    <a:solidFill>
                      <a:srgbClr val="FFFFFF"/>
                    </a:solidFill>
                  </a:tcPr>
                </a:tc>
              </a:tr>
            </a:tbl>
          </a:graphicData>
        </a:graphic>
      </p:graphicFrame>
      <p:sp>
        <p:nvSpPr>
          <p:cNvPr id="5" name="TextBox 4"/>
          <p:cNvSpPr txBox="1"/>
          <p:nvPr/>
        </p:nvSpPr>
        <p:spPr>
          <a:xfrm>
            <a:off x="457200" y="6400800"/>
            <a:ext cx="11430000" cy="365760"/>
          </a:xfrm>
          <a:prstGeom prst="rect">
            <a:avLst/>
          </a:prstGeom>
          <a:noFill/>
        </p:spPr>
        <p:txBody>
          <a:bodyPr wrap="none">
            <a:spAutoFit/>
          </a:bodyPr>
          <a:lstStyle/>
          <a:p>
            <a:pPr>
              <a:defRPr sz="1500" i="1">
                <a:solidFill>
                  <a:srgbClr val="707682"/>
                </a:solidFill>
              </a:defRPr>
            </a:pPr>
            <a:r>
              <a:t>H5 em revisão após Pangelinan 2023 (Rodada 6): pixel info pode ser confounder — discussão na pauta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4</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Próximos passos</a:t>
            </a:r>
          </a:p>
          <a:p>
            <a:pPr>
              <a:defRPr sz="2000">
                <a:solidFill>
                  <a:srgbClr val="E8EAED"/>
                </a:solidFill>
              </a:defRPr>
            </a:pPr>
            <a:r>
              <a:t>Plano experimental e calendário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3000" b="1">
                <a:solidFill>
                  <a:srgbClr val="1F2A4E"/>
                </a:solidFill>
              </a:defRPr>
            </a:pPr>
            <a:r>
              <a:t>Cronograma estimado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11430000" cy="4937760"/>
        </p:xfrm>
        <a:graphic>
          <a:graphicData uri="http://schemas.openxmlformats.org/drawingml/2006/table">
            <a:tbl>
              <a:tblPr firstRow="1" bandRow="1">
                <a:tableStyleId>{5C22544A-7EE6-4342-B048-85BDC9FD1C3A}</a:tableStyleId>
              </a:tblPr>
              <a:tblGrid>
                <a:gridCol w="3810000"/>
                <a:gridCol w="3810000"/>
                <a:gridCol w="3810000"/>
              </a:tblGrid>
              <a:tr h="493776">
                <a:tc>
                  <a:txBody>
                    <a:bodyPr/>
                    <a:lstStyle/>
                    <a:p>
                      <a:r>
                        <a:rPr b="1" sz="1600">
                          <a:solidFill>
                            <a:srgbClr val="FFFFFF"/>
                          </a:solidFill>
                        </a:rPr>
                        <a:t>Fase</a:t>
                      </a:r>
                    </a:p>
                  </a:txBody>
                  <a:tcPr>
                    <a:solidFill>
                      <a:srgbClr val="1F2A4E"/>
                    </a:solidFill>
                  </a:tcPr>
                </a:tc>
                <a:tc>
                  <a:txBody>
                    <a:bodyPr/>
                    <a:lstStyle/>
                    <a:p>
                      <a:r>
                        <a:rPr b="1" sz="1600">
                          <a:solidFill>
                            <a:srgbClr val="FFFFFF"/>
                          </a:solidFill>
                        </a:rPr>
                        <a:t>Duração</a:t>
                      </a:r>
                    </a:p>
                  </a:txBody>
                  <a:tcPr>
                    <a:solidFill>
                      <a:srgbClr val="1F2A4E"/>
                    </a:solidFill>
                  </a:tcPr>
                </a:tc>
                <a:tc>
                  <a:txBody>
                    <a:bodyPr/>
                    <a:lstStyle/>
                    <a:p>
                      <a:r>
                        <a:rPr b="1" sz="1600">
                          <a:solidFill>
                            <a:srgbClr val="FFFFFF"/>
                          </a:solidFill>
                        </a:rPr>
                        <a:t>O que será entregue</a:t>
                      </a:r>
                    </a:p>
                  </a:txBody>
                  <a:tcPr>
                    <a:solidFill>
                      <a:srgbClr val="1F2A4E"/>
                    </a:solidFill>
                  </a:tcPr>
                </a:tc>
              </a:tr>
              <a:tr h="493776">
                <a:tc>
                  <a:txBody>
                    <a:bodyPr/>
                    <a:lstStyle/>
                    <a:p>
                      <a:r>
                        <a:rPr sz="1500">
                          <a:solidFill>
                            <a:srgbClr val="3D424E"/>
                          </a:solidFill>
                        </a:rPr>
                        <a:t>Aprovação conjunta da nova versão da tese</a:t>
                      </a:r>
                    </a:p>
                  </a:txBody>
                  <a:tcPr>
                    <a:solidFill>
                      <a:srgbClr val="FFFFFF"/>
                    </a:solidFill>
                  </a:tcPr>
                </a:tc>
                <a:tc>
                  <a:txBody>
                    <a:bodyPr/>
                    <a:lstStyle/>
                    <a:p>
                      <a:r>
                        <a:rPr sz="1500">
                          <a:solidFill>
                            <a:srgbClr val="3D424E"/>
                          </a:solidFill>
                        </a:rPr>
                        <a:t>Esta reunião</a:t>
                      </a:r>
                    </a:p>
                  </a:txBody>
                  <a:tcPr>
                    <a:solidFill>
                      <a:srgbClr val="FFFFFF"/>
                    </a:solidFill>
                  </a:tcPr>
                </a:tc>
                <a:tc>
                  <a:txBody>
                    <a:bodyPr/>
                    <a:lstStyle/>
                    <a:p>
                      <a:r>
                        <a:rPr sz="1500">
                          <a:solidFill>
                            <a:srgbClr val="3D424E"/>
                          </a:solidFill>
                        </a:rPr>
                        <a:t>Ajustes na tese se necessário</a:t>
                      </a:r>
                    </a:p>
                  </a:txBody>
                  <a:tcPr>
                    <a:solidFill>
                      <a:srgbClr val="FFFFFF"/>
                    </a:solidFill>
                  </a:tcPr>
                </a:tc>
              </a:tr>
              <a:tr h="493776">
                <a:tc>
                  <a:txBody>
                    <a:bodyPr/>
                    <a:lstStyle/>
                    <a:p>
                      <a:r>
                        <a:rPr sz="1500">
                          <a:solidFill>
                            <a:srgbClr val="3D424E"/>
                          </a:solidFill>
                        </a:rPr>
                        <a:t>Submissão para qualificação</a:t>
                      </a:r>
                    </a:p>
                  </a:txBody>
                  <a:tcPr>
                    <a:solidFill>
                      <a:srgbClr val="E8EAED"/>
                    </a:solidFill>
                  </a:tcPr>
                </a:tc>
                <a:tc>
                  <a:txBody>
                    <a:bodyPr/>
                    <a:lstStyle/>
                    <a:p>
                      <a:r>
                        <a:rPr sz="1500">
                          <a:solidFill>
                            <a:srgbClr val="3D424E"/>
                          </a:solidFill>
                        </a:rPr>
                        <a:t>+2 semanas após aprovação</a:t>
                      </a:r>
                    </a:p>
                  </a:txBody>
                  <a:tcPr>
                    <a:solidFill>
                      <a:srgbClr val="E8EAED"/>
                    </a:solidFill>
                  </a:tcPr>
                </a:tc>
                <a:tc>
                  <a:txBody>
                    <a:bodyPr/>
                    <a:lstStyle/>
                    <a:p>
                      <a:r>
                        <a:rPr sz="1500">
                          <a:solidFill>
                            <a:srgbClr val="3D424E"/>
                          </a:solidFill>
                        </a:rPr>
                        <a:t>Documento de qualificação ao programa</a:t>
                      </a:r>
                    </a:p>
                  </a:txBody>
                  <a:tcPr>
                    <a:solidFill>
                      <a:srgbClr val="E8EAED"/>
                    </a:solidFill>
                  </a:tcPr>
                </a:tc>
              </a:tr>
              <a:tr h="493776">
                <a:tc>
                  <a:txBody>
                    <a:bodyPr/>
                    <a:lstStyle/>
                    <a:p>
                      <a:r>
                        <a:rPr sz="1500">
                          <a:solidFill>
                            <a:srgbClr val="3D424E"/>
                          </a:solidFill>
                        </a:rPr>
                        <a:t>Setup metodológico</a:t>
                      </a:r>
                    </a:p>
                  </a:txBody>
                  <a:tcPr>
                    <a:solidFill>
                      <a:srgbClr val="FFFFFF"/>
                    </a:solidFill>
                  </a:tcPr>
                </a:tc>
                <a:tc>
                  <a:txBody>
                    <a:bodyPr/>
                    <a:lstStyle/>
                    <a:p>
                      <a:r>
                        <a:rPr sz="1500">
                          <a:solidFill>
                            <a:srgbClr val="3D424E"/>
                          </a:solidFill>
                        </a:rPr>
                        <a:t>2 semanas</a:t>
                      </a:r>
                    </a:p>
                  </a:txBody>
                  <a:tcPr>
                    <a:solidFill>
                      <a:srgbClr val="FFFFFF"/>
                    </a:solidFill>
                  </a:tcPr>
                </a:tc>
                <a:tc>
                  <a:txBody>
                    <a:bodyPr/>
                    <a:lstStyle/>
                    <a:p>
                      <a:r>
                        <a:rPr sz="1500">
                          <a:solidFill>
                            <a:srgbClr val="3D424E"/>
                          </a:solidFill>
                        </a:rPr>
                        <a:t>Documentos com especificações detalhadas</a:t>
                      </a:r>
                    </a:p>
                  </a:txBody>
                  <a:tcPr>
                    <a:solidFill>
                      <a:srgbClr val="FFFFFF"/>
                    </a:solidFill>
                  </a:tcPr>
                </a:tc>
              </a:tr>
              <a:tr h="493776">
                <a:tc>
                  <a:txBody>
                    <a:bodyPr/>
                    <a:lstStyle/>
                    <a:p>
                      <a:r>
                        <a:rPr sz="1500">
                          <a:solidFill>
                            <a:srgbClr val="3D424E"/>
                          </a:solidFill>
                        </a:rPr>
                        <a:t>Capítulo 1 — Classificador MST + matriz</a:t>
                      </a:r>
                    </a:p>
                  </a:txBody>
                  <a:tcPr>
                    <a:solidFill>
                      <a:srgbClr val="E8EAED"/>
                    </a:solidFill>
                  </a:tcPr>
                </a:tc>
                <a:tc>
                  <a:txBody>
                    <a:bodyPr/>
                    <a:lstStyle/>
                    <a:p>
                      <a:r>
                        <a:rPr sz="1500">
                          <a:solidFill>
                            <a:srgbClr val="3D424E"/>
                          </a:solidFill>
                        </a:rPr>
                        <a:t>4 semanas</a:t>
                      </a:r>
                    </a:p>
                  </a:txBody>
                  <a:tcPr>
                    <a:solidFill>
                      <a:srgbClr val="E8EAED"/>
                    </a:solidFill>
                  </a:tcPr>
                </a:tc>
                <a:tc>
                  <a:txBody>
                    <a:bodyPr/>
                    <a:lstStyle/>
                    <a:p>
                      <a:r>
                        <a:rPr sz="1500">
                          <a:solidFill>
                            <a:srgbClr val="3D424E"/>
                          </a:solidFill>
                        </a:rPr>
                        <a:t>Resultado de H3</a:t>
                      </a:r>
                    </a:p>
                  </a:txBody>
                  <a:tcPr>
                    <a:solidFill>
                      <a:srgbClr val="E8EAED"/>
                    </a:solidFill>
                  </a:tcPr>
                </a:tc>
              </a:tr>
              <a:tr h="493776">
                <a:tc>
                  <a:txBody>
                    <a:bodyPr/>
                    <a:lstStyle/>
                    <a:p>
                      <a:r>
                        <a:rPr sz="1500">
                          <a:solidFill>
                            <a:srgbClr val="3D424E"/>
                          </a:solidFill>
                        </a:rPr>
                        <a:t>Capítulo 2 — Race + condicionamento</a:t>
                      </a:r>
                    </a:p>
                  </a:txBody>
                  <a:tcPr>
                    <a:solidFill>
                      <a:srgbClr val="FFFFFF"/>
                    </a:solidFill>
                  </a:tcPr>
                </a:tc>
                <a:tc>
                  <a:txBody>
                    <a:bodyPr/>
                    <a:lstStyle/>
                    <a:p>
                      <a:r>
                        <a:rPr sz="1500">
                          <a:solidFill>
                            <a:srgbClr val="3D424E"/>
                          </a:solidFill>
                        </a:rPr>
                        <a:t>10–12 semanas</a:t>
                      </a:r>
                    </a:p>
                  </a:txBody>
                  <a:tcPr>
                    <a:solidFill>
                      <a:srgbClr val="FFFFFF"/>
                    </a:solidFill>
                  </a:tcPr>
                </a:tc>
                <a:tc>
                  <a:txBody>
                    <a:bodyPr/>
                    <a:lstStyle/>
                    <a:p>
                      <a:r>
                        <a:rPr sz="1500">
                          <a:solidFill>
                            <a:srgbClr val="3D424E"/>
                          </a:solidFill>
                        </a:rPr>
                        <a:t>Resultados de H1, H2, H4</a:t>
                      </a:r>
                    </a:p>
                  </a:txBody>
                  <a:tcPr>
                    <a:solidFill>
                      <a:srgbClr val="FFFFFF"/>
                    </a:solidFill>
                  </a:tcPr>
                </a:tc>
              </a:tr>
              <a:tr h="493776">
                <a:tc>
                  <a:txBody>
                    <a:bodyPr/>
                    <a:lstStyle/>
                    <a:p>
                      <a:r>
                        <a:rPr sz="1500">
                          <a:solidFill>
                            <a:srgbClr val="3D424E"/>
                          </a:solidFill>
                        </a:rPr>
                        <a:t>Capítulo 3 — Face recognition</a:t>
                      </a:r>
                    </a:p>
                  </a:txBody>
                  <a:tcPr>
                    <a:solidFill>
                      <a:srgbClr val="E8EAED"/>
                    </a:solidFill>
                  </a:tcPr>
                </a:tc>
                <a:tc>
                  <a:txBody>
                    <a:bodyPr/>
                    <a:lstStyle/>
                    <a:p>
                      <a:r>
                        <a:rPr sz="1500">
                          <a:solidFill>
                            <a:srgbClr val="3D424E"/>
                          </a:solidFill>
                        </a:rPr>
                        <a:t>6 semanas</a:t>
                      </a:r>
                    </a:p>
                  </a:txBody>
                  <a:tcPr>
                    <a:solidFill>
                      <a:srgbClr val="E8EAED"/>
                    </a:solidFill>
                  </a:tcPr>
                </a:tc>
                <a:tc>
                  <a:txBody>
                    <a:bodyPr/>
                    <a:lstStyle/>
                    <a:p>
                      <a:r>
                        <a:rPr sz="1500">
                          <a:solidFill>
                            <a:srgbClr val="3D424E"/>
                          </a:solidFill>
                        </a:rPr>
                        <a:t>Resultado de H5</a:t>
                      </a:r>
                    </a:p>
                  </a:txBody>
                  <a:tcPr>
                    <a:solidFill>
                      <a:srgbClr val="E8EAED"/>
                    </a:solidFill>
                  </a:tcPr>
                </a:tc>
              </a:tr>
              <a:tr h="493776">
                <a:tc>
                  <a:txBody>
                    <a:bodyPr/>
                    <a:lstStyle/>
                    <a:p>
                      <a:r>
                        <a:rPr sz="1500">
                          <a:solidFill>
                            <a:srgbClr val="3D424E"/>
                          </a:solidFill>
                        </a:rPr>
                        <a:t>Síntese final</a:t>
                      </a:r>
                    </a:p>
                  </a:txBody>
                  <a:tcPr>
                    <a:solidFill>
                      <a:srgbClr val="FFFFFF"/>
                    </a:solidFill>
                  </a:tcPr>
                </a:tc>
                <a:tc>
                  <a:txBody>
                    <a:bodyPr/>
                    <a:lstStyle/>
                    <a:p>
                      <a:r>
                        <a:rPr sz="1500">
                          <a:solidFill>
                            <a:srgbClr val="3D424E"/>
                          </a:solidFill>
                        </a:rPr>
                        <a:t>4 semanas</a:t>
                      </a:r>
                    </a:p>
                  </a:txBody>
                  <a:tcPr>
                    <a:solidFill>
                      <a:srgbClr val="FFFFFF"/>
                    </a:solidFill>
                  </a:tcPr>
                </a:tc>
                <a:tc>
                  <a:txBody>
                    <a:bodyPr/>
                    <a:lstStyle/>
                    <a:p>
                      <a:r>
                        <a:rPr sz="1500">
                          <a:solidFill>
                            <a:srgbClr val="3D424E"/>
                          </a:solidFill>
                        </a:rPr>
                        <a:t>Decomposição do erro Latinx</a:t>
                      </a:r>
                    </a:p>
                  </a:txBody>
                  <a:tcPr>
                    <a:solidFill>
                      <a:srgbClr val="FFFFFF"/>
                    </a:solidFill>
                  </a:tcPr>
                </a:tc>
              </a:tr>
              <a:tr h="493776">
                <a:tc>
                  <a:txBody>
                    <a:bodyPr/>
                    <a:lstStyle/>
                    <a:p>
                      <a:r>
                        <a:rPr sz="1500">
                          <a:solidFill>
                            <a:srgbClr val="3D424E"/>
                          </a:solidFill>
                        </a:rPr>
                        <a:t>Escrita dos capítulos</a:t>
                      </a:r>
                    </a:p>
                  </a:txBody>
                  <a:tcPr>
                    <a:solidFill>
                      <a:srgbClr val="E8EAED"/>
                    </a:solidFill>
                  </a:tcPr>
                </a:tc>
                <a:tc>
                  <a:txBody>
                    <a:bodyPr/>
                    <a:lstStyle/>
                    <a:p>
                      <a:r>
                        <a:rPr sz="1500">
                          <a:solidFill>
                            <a:srgbClr val="3D424E"/>
                          </a:solidFill>
                        </a:rPr>
                        <a:t>8–12 semanas (paralelo)</a:t>
                      </a:r>
                    </a:p>
                  </a:txBody>
                  <a:tcPr>
                    <a:solidFill>
                      <a:srgbClr val="E8EAED"/>
                    </a:solidFill>
                  </a:tcPr>
                </a:tc>
                <a:tc>
                  <a:txBody>
                    <a:bodyPr/>
                    <a:lstStyle/>
                    <a:p>
                      <a:r>
                        <a:rPr sz="1500">
                          <a:solidFill>
                            <a:srgbClr val="3D424E"/>
                          </a:solidFill>
                        </a:rPr>
                        <a:t>Texto final da dissertação</a:t>
                      </a:r>
                    </a:p>
                  </a:txBody>
                  <a:tcPr>
                    <a:solidFill>
                      <a:srgbClr val="E8EAED"/>
                    </a:solidFill>
                  </a:tcPr>
                </a:tc>
              </a:tr>
              <a:tr h="493776">
                <a:tc>
                  <a:txBody>
                    <a:bodyPr/>
                    <a:lstStyle/>
                    <a:p>
                      <a:r>
                        <a:rPr sz="1500">
                          <a:solidFill>
                            <a:srgbClr val="3D424E"/>
                          </a:solidFill>
                        </a:rPr>
                        <a:t>Defesa prevista</a:t>
                      </a:r>
                    </a:p>
                  </a:txBody>
                  <a:tcPr>
                    <a:solidFill>
                      <a:srgbClr val="FFFFFF"/>
                    </a:solidFill>
                  </a:tcPr>
                </a:tc>
                <a:tc>
                  <a:txBody>
                    <a:bodyPr/>
                    <a:lstStyle/>
                    <a:p>
                      <a:r>
                        <a:rPr sz="1500">
                          <a:solidFill>
                            <a:srgbClr val="3D424E"/>
                          </a:solidFill>
                        </a:rPr>
                        <a:t>~ Janeiro–Março de 2027</a:t>
                      </a:r>
                    </a:p>
                  </a:txBody>
                  <a:tcPr>
                    <a:solidFill>
                      <a:srgbClr val="FFFFFF"/>
                    </a:solidFill>
                  </a:tcPr>
                </a:tc>
                <a:tc>
                  <a:txBody>
                    <a:bodyPr/>
                    <a:lstStyle/>
                    <a:p>
                      <a:r>
                        <a:rPr sz="1500">
                          <a:solidFill>
                            <a:srgbClr val="3D424E"/>
                          </a:solidFill>
                        </a:rPr>
                        <a:t>Total: ~28–32 semanas ativas</a:t>
                      </a:r>
                    </a:p>
                  </a:txBody>
                  <a:tcP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Os 3 capítulos experimentais</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Capítulo 1 — Construir o classificador de tom</a:t>
            </a:r>
          </a:p>
          <a:p>
            <a:pPr lvl="1">
              <a:spcAft>
                <a:spcPts val="800"/>
              </a:spcAft>
              <a:defRPr sz="1700">
                <a:solidFill>
                  <a:srgbClr val="707682"/>
                </a:solidFill>
              </a:defRPr>
            </a:pPr>
            <a:r>
              <a:t>Treinar sobre MST-E + Casual Conversations</a:t>
            </a:r>
          </a:p>
          <a:p>
            <a:pPr lvl="1">
              <a:spcAft>
                <a:spcPts val="800"/>
              </a:spcAft>
              <a:defRPr sz="1700">
                <a:solidFill>
                  <a:srgbClr val="707682"/>
                </a:solidFill>
              </a:defRPr>
            </a:pPr>
            <a:r>
              <a:t>Aplicar no FairFace e construir a matriz pública tom × raça</a:t>
            </a:r>
          </a:p>
          <a:p>
            <a:pPr lvl="1">
              <a:spcAft>
                <a:spcPts val="800"/>
              </a:spcAft>
              <a:defRPr sz="1700">
                <a:solidFill>
                  <a:srgbClr val="707682"/>
                </a:solidFill>
              </a:defRPr>
            </a:pPr>
            <a:r>
              <a:t>Testa H3 (Latinx tem spread amplo)</a:t>
            </a:r>
          </a:p>
          <a:p>
            <a:pPr>
              <a:spcAft>
                <a:spcPts val="800"/>
              </a:spcAft>
              <a:defRPr sz="2000" b="0">
                <a:solidFill>
                  <a:srgbClr val="3D424E"/>
                </a:solidFill>
              </a:defRPr>
            </a:pPr>
          </a:p>
          <a:p>
            <a:pPr>
              <a:spcAft>
                <a:spcPts val="800"/>
              </a:spcAft>
              <a:defRPr sz="2000" b="0">
                <a:solidFill>
                  <a:srgbClr val="3D424E"/>
                </a:solidFill>
              </a:defRPr>
            </a:pPr>
            <a:r>
              <a:t>Capítulo 2 — Classificador de raça com tom como contexto</a:t>
            </a:r>
          </a:p>
          <a:p>
            <a:pPr lvl="1">
              <a:spcAft>
                <a:spcPts val="800"/>
              </a:spcAft>
              <a:defRPr sz="1700">
                <a:solidFill>
                  <a:srgbClr val="707682"/>
                </a:solidFill>
              </a:defRPr>
            </a:pPr>
            <a:r>
              <a:t>Pipeline ConvNeXt-T + FiLM, comparado com 4 baselines independentes</a:t>
            </a:r>
          </a:p>
          <a:p>
            <a:pPr lvl="1">
              <a:spcAft>
                <a:spcPts val="800"/>
              </a:spcAft>
              <a:defRPr sz="1700">
                <a:solidFill>
                  <a:srgbClr val="707682"/>
                </a:solidFill>
              </a:defRPr>
            </a:pPr>
            <a:r>
              <a:t>3 seeds para significância estatística</a:t>
            </a:r>
          </a:p>
          <a:p>
            <a:pPr lvl="1">
              <a:spcAft>
                <a:spcPts val="800"/>
              </a:spcAft>
              <a:defRPr sz="1700">
                <a:solidFill>
                  <a:srgbClr val="707682"/>
                </a:solidFill>
              </a:defRPr>
            </a:pPr>
            <a:r>
              <a:t>Testa H1 (pipeline funciona), H2 (Latinx é estrutural), H4 (overlap explica erros)</a:t>
            </a:r>
          </a:p>
          <a:p>
            <a:pPr>
              <a:spcAft>
                <a:spcPts val="800"/>
              </a:spcAft>
              <a:defRPr sz="2000" b="0">
                <a:solidFill>
                  <a:srgbClr val="3D424E"/>
                </a:solidFill>
              </a:defRPr>
            </a:pPr>
          </a:p>
          <a:p>
            <a:pPr>
              <a:spcAft>
                <a:spcPts val="800"/>
              </a:spcAft>
              <a:defRPr sz="2000" b="0">
                <a:solidFill>
                  <a:srgbClr val="3D424E"/>
                </a:solidFill>
              </a:defRPr>
            </a:pPr>
            <a:r>
              <a:t>Capítulo 3 — Aplicar a reconhecimento facial</a:t>
            </a:r>
          </a:p>
          <a:p>
            <a:pPr lvl="1">
              <a:spcAft>
                <a:spcPts val="800"/>
              </a:spcAft>
              <a:defRPr sz="1700">
                <a:solidFill>
                  <a:srgbClr val="707682"/>
                </a:solidFill>
              </a:defRPr>
            </a:pPr>
            <a:r>
              <a:t>Mesmo pipeline em RFW ou BFW (datasets que já estão catalogados)</a:t>
            </a:r>
          </a:p>
          <a:p>
            <a:pPr lvl="1">
              <a:spcAft>
                <a:spcPts val="800"/>
              </a:spcAft>
              <a:defRPr sz="1700">
                <a:solidFill>
                  <a:srgbClr val="707682"/>
                </a:solidFill>
              </a:defRPr>
            </a:pPr>
            <a:r>
              <a:t>Foco em accuracy de Black/African</a:t>
            </a:r>
          </a:p>
          <a:p>
            <a:pPr lvl="1">
              <a:spcAft>
                <a:spcPts val="800"/>
              </a:spcAft>
              <a:defRPr sz="1700">
                <a:solidFill>
                  <a:srgbClr val="707682"/>
                </a:solidFill>
              </a:defRPr>
            </a:pPr>
            <a:r>
              <a:t>Testa H5 (fair transferência funciona)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square">
            <a:spAutoFit/>
          </a:bodyPr>
          <a:lstStyle/>
          <a:p>
            <a:pPr>
              <a:defRPr sz="3000" b="1">
                <a:solidFill>
                  <a:srgbClr val="1F2A4E"/>
                </a:solidFill>
              </a:defRPr>
            </a:pPr>
            <a:r>
              <a:t>O que precisamos decidir nesta reunião</a:t>
            </a:r>
          </a:p>
        </p:txBody>
      </p:sp>
      <p:sp>
        <p:nvSpPr>
          <p:cNvPr id="3" name="Rectangle 2"/>
          <p:cNvSpPr/>
          <p:nvPr/>
        </p:nvSpPr>
        <p:spPr>
          <a:xfrm>
            <a:off x="457200" y="114300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247120" cy="4937760"/>
          </a:xfrm>
          <a:prstGeom prst="rect">
            <a:avLst/>
          </a:prstGeom>
          <a:noFill/>
        </p:spPr>
        <p:txBody>
          <a:bodyPr wrap="square">
            <a:spAutoFit/>
          </a:bodyPr>
          <a:lstStyle/>
          <a:p>
            <a:pPr>
              <a:spcAft>
                <a:spcPts val="800"/>
              </a:spcAft>
              <a:defRPr sz="2000" b="0">
                <a:solidFill>
                  <a:srgbClr val="3D424E"/>
                </a:solidFill>
              </a:defRPr>
            </a:pPr>
            <a:r>
              <a:t>1. Aprovação da nova versão da tese (prescritiva, pipeline integrado)?</a:t>
            </a:r>
          </a:p>
          <a:p>
            <a:pPr lvl="1">
              <a:spcAft>
                <a:spcPts val="800"/>
              </a:spcAft>
              <a:defRPr sz="1700">
                <a:solidFill>
                  <a:srgbClr val="707682"/>
                </a:solidFill>
              </a:defRPr>
            </a:pPr>
            <a:r>
              <a:t>Se aprovarmos, seguimos para o detalhamento metodológico.</a:t>
            </a:r>
          </a:p>
          <a:p>
            <a:pPr lvl="1">
              <a:spcAft>
                <a:spcPts val="800"/>
              </a:spcAft>
              <a:defRPr sz="1700">
                <a:solidFill>
                  <a:srgbClr val="707682"/>
                </a:solidFill>
              </a:defRPr>
            </a:pPr>
            <a:r>
              <a:t>Se houver ajustes, fazemos e revisamos juntos antes de prosseguir.</a:t>
            </a:r>
          </a:p>
          <a:p>
            <a:pPr>
              <a:spcAft>
                <a:spcPts val="800"/>
              </a:spcAft>
              <a:defRPr sz="2000" b="0">
                <a:solidFill>
                  <a:srgbClr val="3D424E"/>
                </a:solidFill>
              </a:defRPr>
            </a:pPr>
          </a:p>
          <a:p>
            <a:pPr>
              <a:spcAft>
                <a:spcPts val="800"/>
              </a:spcAft>
              <a:defRPr sz="2000" b="0">
                <a:solidFill>
                  <a:srgbClr val="3D424E"/>
                </a:solidFill>
              </a:defRPr>
            </a:pPr>
            <a:r>
              <a:t>2. Alguma das 5 hipóteses precisa ser reformulada?</a:t>
            </a:r>
          </a:p>
          <a:p>
            <a:pPr lvl="1">
              <a:spcAft>
                <a:spcPts val="800"/>
              </a:spcAft>
              <a:defRPr sz="1700">
                <a:solidFill>
                  <a:srgbClr val="707682"/>
                </a:solidFill>
              </a:defRPr>
            </a:pPr>
            <a:r>
              <a:t>São o esqueleto da dissertação — se uma estiver mal formulada, melhor descobrir agora.</a:t>
            </a:r>
          </a:p>
          <a:p>
            <a:pPr>
              <a:spcAft>
                <a:spcPts val="800"/>
              </a:spcAft>
              <a:defRPr sz="2000" b="0">
                <a:solidFill>
                  <a:srgbClr val="3D424E"/>
                </a:solidFill>
              </a:defRPr>
            </a:pPr>
          </a:p>
          <a:p>
            <a:pPr>
              <a:spcAft>
                <a:spcPts val="800"/>
              </a:spcAft>
              <a:defRPr sz="2000" b="0">
                <a:solidFill>
                  <a:srgbClr val="3D424E"/>
                </a:solidFill>
              </a:defRPr>
            </a:pPr>
            <a:r>
              <a:t>3. Escolha definitiva entre RFW e BFW para o Capítulo 3?</a:t>
            </a:r>
          </a:p>
          <a:p>
            <a:pPr lvl="1">
              <a:spcAft>
                <a:spcPts val="800"/>
              </a:spcAft>
              <a:defRPr sz="1700">
                <a:solidFill>
                  <a:srgbClr val="707682"/>
                </a:solidFill>
              </a:defRPr>
            </a:pPr>
            <a:r>
              <a:t>Temos preferência por RFW (mais escala, mais histórico) — precisamos validar essa escolha juntos.</a:t>
            </a:r>
          </a:p>
          <a:p>
            <a:pPr>
              <a:spcAft>
                <a:spcPts val="800"/>
              </a:spcAft>
              <a:defRPr sz="2000" b="0">
                <a:solidFill>
                  <a:srgbClr val="3D424E"/>
                </a:solidFill>
              </a:defRPr>
            </a:pPr>
          </a:p>
          <a:p>
            <a:pPr>
              <a:spcAft>
                <a:spcPts val="800"/>
              </a:spcAft>
              <a:defRPr sz="2000" b="0">
                <a:solidFill>
                  <a:srgbClr val="3D424E"/>
                </a:solidFill>
              </a:defRPr>
            </a:pPr>
            <a:r>
              <a:t>4. Alguma nova frente de literatura que ficou faltando?</a:t>
            </a:r>
          </a:p>
          <a:p>
            <a:pPr lvl="1">
              <a:spcAft>
                <a:spcPts val="800"/>
              </a:spcAft>
              <a:defRPr sz="1700">
                <a:solidFill>
                  <a:srgbClr val="707682"/>
                </a:solidFill>
              </a:defRPr>
            </a:pPr>
            <a:r>
              <a:t>Podemos fazer Rodada 6 se necessário, mas o corpus já está consistente.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32720" cy="2286000"/>
          </a:xfrm>
          <a:prstGeom prst="rect">
            <a:avLst/>
          </a:prstGeom>
          <a:noFill/>
        </p:spPr>
        <p:txBody>
          <a:bodyPr wrap="square">
            <a:spAutoFit/>
          </a:bodyPr>
          <a:lstStyle/>
          <a:p>
            <a:pPr algn="ctr">
              <a:defRPr sz="4800" b="1">
                <a:solidFill>
                  <a:srgbClr val="FFFFFF"/>
                </a:solidFill>
              </a:defRPr>
            </a:pPr>
            <a:r>
              <a:t>Discussão e feedback</a:t>
            </a:r>
          </a:p>
          <a:p>
            <a:pPr algn="ctr">
              <a:defRPr sz="2200">
                <a:solidFill>
                  <a:srgbClr val="E8EAED"/>
                </a:solidFill>
              </a:defRPr>
            </a:pPr>
            <a:r>
              <a:t>Aprovação da nova versão da tese — decidir os 4 itens acima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2743200" cy="2743200"/>
          </a:xfrm>
          <a:prstGeom prst="rect">
            <a:avLst/>
          </a:prstGeom>
          <a:noFill/>
        </p:spPr>
        <p:txBody>
          <a:bodyPr wrap="none">
            <a:spAutoFit/>
          </a:bodyPr>
          <a:lstStyle/>
          <a:p>
            <a:pPr>
              <a:defRPr sz="13000" b="1">
                <a:solidFill>
                  <a:srgbClr val="FFFFFF"/>
                </a:solidFill>
              </a:defRPr>
            </a:pPr>
            <a:r>
              <a:t>★</a:t>
            </a:r>
          </a:p>
        </p:txBody>
      </p:sp>
      <p:sp>
        <p:nvSpPr>
          <p:cNvPr id="4" name="TextBox 3"/>
          <p:cNvSpPr txBox="1"/>
          <p:nvPr/>
        </p:nvSpPr>
        <p:spPr>
          <a:xfrm>
            <a:off x="3931920" y="2286000"/>
            <a:ext cx="7772400" cy="1828800"/>
          </a:xfrm>
          <a:prstGeom prst="rect">
            <a:avLst/>
          </a:prstGeom>
          <a:noFill/>
        </p:spPr>
        <p:txBody>
          <a:bodyPr wrap="square">
            <a:spAutoFit/>
          </a:bodyPr>
          <a:lstStyle/>
          <a:p>
            <a:pPr>
              <a:defRPr sz="3600" b="1">
                <a:solidFill>
                  <a:srgbClr val="FFFFFF"/>
                </a:solidFill>
              </a:defRPr>
            </a:pPr>
            <a:r>
              <a:t>Slides de apoio</a:t>
            </a:r>
          </a:p>
          <a:p>
            <a:pPr>
              <a:defRPr sz="2000">
                <a:solidFill>
                  <a:srgbClr val="E8EAED"/>
                </a:solidFill>
              </a:defRPr>
            </a:pPr>
            <a:r>
              <a:t>Material complementar para consulta durante a discussão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11430000" cy="822960"/>
          </a:xfrm>
          <a:prstGeom prst="rect">
            <a:avLst/>
          </a:prstGeom>
          <a:noFill/>
        </p:spPr>
        <p:txBody>
          <a:bodyPr wrap="none">
            <a:spAutoFit/>
          </a:bodyPr>
          <a:lstStyle/>
          <a:p>
            <a:pPr>
              <a:defRPr sz="2800" b="1">
                <a:solidFill>
                  <a:srgbClr val="1F2A4E"/>
                </a:solidFill>
              </a:defRPr>
            </a:pPr>
            <a:r>
              <a:t>As 14 perguntas de pesquisa respondidas</a:t>
            </a:r>
          </a:p>
        </p:txBody>
      </p:sp>
      <p:sp>
        <p:nvSpPr>
          <p:cNvPr id="3" name="Rectangle 2"/>
          <p:cNvSpPr/>
          <p:nvPr/>
        </p:nvSpPr>
        <p:spPr>
          <a:xfrm>
            <a:off x="457200" y="1097280"/>
            <a:ext cx="11430000" cy="45720"/>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5577840" cy="5029200"/>
          </a:xfrm>
          <a:prstGeom prst="rect">
            <a:avLst/>
          </a:prstGeom>
          <a:noFill/>
        </p:spPr>
        <p:txBody>
          <a:bodyPr wrap="square">
            <a:spAutoFit/>
          </a:bodyPr>
          <a:lstStyle/>
          <a:p>
            <a:pPr>
              <a:spcAft>
                <a:spcPts val="600"/>
              </a:spcAft>
            </a:pPr>
            <a:r>
              <a:rPr b="1" sz="1300">
                <a:solidFill>
                  <a:srgbClr val="1F2A4E"/>
                </a:solidFill>
              </a:rPr>
              <a:t>Q01  </a:t>
            </a:r>
            <a:r>
              <a:rPr sz="1300">
                <a:solidFill>
                  <a:srgbClr val="3D424E"/>
                </a:solidFill>
              </a:rPr>
              <a:t>Existem melhores datasets para corrigir fairness em biometria facial de raças?</a:t>
            </a:r>
          </a:p>
          <a:p>
            <a:pPr>
              <a:spcAft>
                <a:spcPts val="600"/>
              </a:spcAft>
            </a:pPr>
            <a:r>
              <a:rPr b="1" sz="1300">
                <a:solidFill>
                  <a:srgbClr val="1F2A4E"/>
                </a:solidFill>
              </a:rPr>
              <a:t>Q02  </a:t>
            </a:r>
            <a:r>
              <a:rPr sz="1300">
                <a:solidFill>
                  <a:srgbClr val="3D424E"/>
                </a:solidFill>
              </a:rPr>
              <a:t>Qual o dataset mais utilizado nos estudos de fairness?</a:t>
            </a:r>
          </a:p>
          <a:p>
            <a:pPr>
              <a:spcAft>
                <a:spcPts val="600"/>
              </a:spcAft>
            </a:pPr>
            <a:r>
              <a:rPr b="1" sz="1300">
                <a:solidFill>
                  <a:srgbClr val="1F2A4E"/>
                </a:solidFill>
              </a:rPr>
              <a:t>Q03  </a:t>
            </a:r>
            <a:r>
              <a:rPr sz="1300">
                <a:solidFill>
                  <a:srgbClr val="3D424E"/>
                </a:solidFill>
              </a:rPr>
              <a:t>Qual o split oficial do FairFace e por que diferentes papers usam splits distintos?</a:t>
            </a:r>
          </a:p>
          <a:p>
            <a:pPr>
              <a:spcAft>
                <a:spcPts val="600"/>
              </a:spcAft>
            </a:pPr>
            <a:r>
              <a:rPr b="1" sz="1300">
                <a:solidFill>
                  <a:srgbClr val="1F2A4E"/>
                </a:solidFill>
              </a:rPr>
              <a:t>Q04  </a:t>
            </a:r>
            <a:r>
              <a:rPr sz="1300">
                <a:solidFill>
                  <a:srgbClr val="3D424E"/>
                </a:solidFill>
              </a:rPr>
              <a:t>Quais técnicas de mitigação algorítmica já foram testadas em FairFace race 7-class?</a:t>
            </a:r>
          </a:p>
          <a:p>
            <a:pPr>
              <a:spcAft>
                <a:spcPts val="600"/>
              </a:spcAft>
            </a:pPr>
            <a:r>
              <a:rPr b="1" sz="1300">
                <a:solidFill>
                  <a:srgbClr val="1F2A4E"/>
                </a:solidFill>
              </a:rPr>
              <a:t>Q05  </a:t>
            </a:r>
            <a:r>
              <a:rPr sz="1300">
                <a:solidFill>
                  <a:srgbClr val="3D424E"/>
                </a:solidFill>
              </a:rPr>
              <a:t>Existe consenso sobre métrica de fairness para classificação multi-classe?</a:t>
            </a:r>
          </a:p>
          <a:p>
            <a:pPr>
              <a:spcAft>
                <a:spcPts val="600"/>
              </a:spcAft>
            </a:pPr>
            <a:r>
              <a:rPr b="1" sz="1300">
                <a:solidFill>
                  <a:srgbClr val="1F2A4E"/>
                </a:solidFill>
              </a:rPr>
              <a:t>Q06  </a:t>
            </a:r>
            <a:r>
              <a:rPr sz="1300">
                <a:solidFill>
                  <a:srgbClr val="3D424E"/>
                </a:solidFill>
              </a:rPr>
              <a:t>O baseline ResNet-34 = 72% acurácia é teto da arquitetura ou da metodologia?</a:t>
            </a:r>
          </a:p>
          <a:p>
            <a:pPr>
              <a:spcAft>
                <a:spcPts val="600"/>
              </a:spcAft>
            </a:pPr>
            <a:r>
              <a:rPr b="1" sz="1300">
                <a:solidFill>
                  <a:srgbClr val="1F2A4E"/>
                </a:solidFill>
              </a:rPr>
              <a:t>Q07  </a:t>
            </a:r>
            <a:r>
              <a:rPr sz="1300">
                <a:solidFill>
                  <a:srgbClr val="3D424E"/>
                </a:solidFill>
              </a:rPr>
              <a:t>Existe pesquisa de fairness em biometria facial sem usar FairFace?</a:t>
            </a:r>
          </a:p>
        </p:txBody>
      </p:sp>
      <p:sp>
        <p:nvSpPr>
          <p:cNvPr id="5" name="TextBox 4"/>
          <p:cNvSpPr txBox="1"/>
          <p:nvPr/>
        </p:nvSpPr>
        <p:spPr>
          <a:xfrm>
            <a:off x="6263640" y="1280160"/>
            <a:ext cx="5577840" cy="5029200"/>
          </a:xfrm>
          <a:prstGeom prst="rect">
            <a:avLst/>
          </a:prstGeom>
          <a:noFill/>
        </p:spPr>
        <p:txBody>
          <a:bodyPr wrap="square">
            <a:spAutoFit/>
          </a:bodyPr>
          <a:lstStyle/>
          <a:p>
            <a:pPr>
              <a:spcAft>
                <a:spcPts val="600"/>
              </a:spcAft>
            </a:pPr>
            <a:r>
              <a:rPr b="1" sz="1300">
                <a:solidFill>
                  <a:srgbClr val="1F2A4E"/>
                </a:solidFill>
              </a:rPr>
              <a:t>Q08  </a:t>
            </a:r>
            <a:r>
              <a:rPr sz="1300">
                <a:solidFill>
                  <a:srgbClr val="3D424E"/>
                </a:solidFill>
              </a:rPr>
              <a:t>Por que os estudos tentam sempre fazer merge de classes raciais?</a:t>
            </a:r>
          </a:p>
          <a:p>
            <a:pPr>
              <a:spcAft>
                <a:spcPts val="600"/>
              </a:spcAft>
            </a:pPr>
            <a:r>
              <a:rPr b="1" sz="1300">
                <a:solidFill>
                  <a:srgbClr val="1F2A4E"/>
                </a:solidFill>
              </a:rPr>
              <a:t>Q09  </a:t>
            </a:r>
            <a:r>
              <a:rPr sz="1300">
                <a:solidFill>
                  <a:srgbClr val="3D424E"/>
                </a:solidFill>
              </a:rPr>
              <a:t>7 classes é realmente a taxonomia correta para fairness racial facial?</a:t>
            </a:r>
          </a:p>
          <a:p>
            <a:pPr>
              <a:spcAft>
                <a:spcPts val="600"/>
              </a:spcAft>
            </a:pPr>
            <a:r>
              <a:rPr b="1" sz="1300">
                <a:solidFill>
                  <a:srgbClr val="1F2A4E"/>
                </a:solidFill>
              </a:rPr>
              <a:t>Q10  </a:t>
            </a:r>
            <a:r>
              <a:rPr sz="1300">
                <a:solidFill>
                  <a:srgbClr val="3D424E"/>
                </a:solidFill>
              </a:rPr>
              <a:t>Existe matriz associativa Fitzpatrick/MST × FairFace 7-race?</a:t>
            </a:r>
          </a:p>
          <a:p>
            <a:pPr>
              <a:spcAft>
                <a:spcPts val="600"/>
              </a:spcAft>
            </a:pPr>
            <a:r>
              <a:rPr b="1" sz="1300">
                <a:solidFill>
                  <a:srgbClr val="1F2A4E"/>
                </a:solidFill>
              </a:rPr>
              <a:t>Q11  </a:t>
            </a:r>
            <a:r>
              <a:rPr sz="1300">
                <a:solidFill>
                  <a:srgbClr val="3D424E"/>
                </a:solidFill>
              </a:rPr>
              <a:t>As 7 categorias raciais do FairFace têm fundamento biológico ou socio-político?</a:t>
            </a:r>
          </a:p>
          <a:p>
            <a:pPr>
              <a:spcAft>
                <a:spcPts val="600"/>
              </a:spcAft>
            </a:pPr>
            <a:r>
              <a:rPr b="1" sz="1300">
                <a:solidFill>
                  <a:srgbClr val="1F2A4E"/>
                </a:solidFill>
              </a:rPr>
              <a:t>Q12  </a:t>
            </a:r>
            <a:r>
              <a:rPr sz="1300">
                <a:solidFill>
                  <a:srgbClr val="3D424E"/>
                </a:solidFill>
              </a:rPr>
              <a:t>Como antropologia forense moderna trata 'raça'?</a:t>
            </a:r>
          </a:p>
          <a:p>
            <a:pPr>
              <a:spcAft>
                <a:spcPts val="600"/>
              </a:spcAft>
            </a:pPr>
            <a:r>
              <a:rPr b="1" sz="1300">
                <a:solidFill>
                  <a:srgbClr val="1F2A4E"/>
                </a:solidFill>
              </a:rPr>
              <a:t>Q13  </a:t>
            </a:r>
            <a:r>
              <a:rPr sz="1300">
                <a:solidFill>
                  <a:srgbClr val="3D424E"/>
                </a:solidFill>
              </a:rPr>
              <a:t>Origem e propósito da escala Fitzpatrick — para que foi criada?</a:t>
            </a:r>
          </a:p>
          <a:p>
            <a:pPr>
              <a:spcAft>
                <a:spcPts val="600"/>
              </a:spcAft>
            </a:pPr>
            <a:r>
              <a:rPr b="1" sz="1300">
                <a:solidFill>
                  <a:srgbClr val="1F2A4E"/>
                </a:solidFill>
              </a:rPr>
              <a:t>Q14  </a:t>
            </a:r>
            <a:r>
              <a:rPr sz="1300">
                <a:solidFill>
                  <a:srgbClr val="3D424E"/>
                </a:solidFill>
              </a:rPr>
              <a:t>Quantos tons de pele existem cientificamente?</a:t>
            </a:r>
          </a:p>
        </p:txBody>
      </p:sp>
      <p:sp>
        <p:nvSpPr>
          <p:cNvPr id="6" name="TextBox 5"/>
          <p:cNvSpPr txBox="1"/>
          <p:nvPr/>
        </p:nvSpPr>
        <p:spPr>
          <a:xfrm>
            <a:off x="457200" y="6446520"/>
            <a:ext cx="11430000" cy="365760"/>
          </a:xfrm>
          <a:prstGeom prst="rect">
            <a:avLst/>
          </a:prstGeom>
          <a:noFill/>
        </p:spPr>
        <p:txBody>
          <a:bodyPr wrap="none">
            <a:spAutoFit/>
          </a:bodyPr>
          <a:lstStyle/>
          <a:p>
            <a:pPr>
              <a:defRPr sz="1300" i="1">
                <a:solidFill>
                  <a:srgbClr val="707682"/>
                </a:solidFill>
              </a:defRPr>
            </a:pPr>
            <a:r>
              <a:t>Detalhamento completo em docs/ativo/04_pesquisa_bibliografica/_perguntas.md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521440" cy="640080"/>
          </a:xfrm>
          <a:prstGeom prst="rect">
            <a:avLst/>
          </a:prstGeom>
          <a:noFill/>
        </p:spPr>
        <p:txBody>
          <a:bodyPr wrap="none">
            <a:spAutoFit/>
          </a:bodyPr>
          <a:lstStyle/>
          <a:p>
            <a:pPr>
              <a:defRPr sz="2000" b="1">
                <a:solidFill>
                  <a:srgbClr val="1F2A4E"/>
                </a:solidFill>
              </a:defRPr>
            </a:pPr>
            <a:r>
              <a:t>Pangelinan et al. (2023) — Causas de variação demográfica em FR accuracy</a:t>
            </a:r>
          </a:p>
        </p:txBody>
      </p:sp>
      <p:sp>
        <p:nvSpPr>
          <p:cNvPr id="3" name="TextBox 2"/>
          <p:cNvSpPr txBox="1"/>
          <p:nvPr/>
        </p:nvSpPr>
        <p:spPr>
          <a:xfrm>
            <a:off x="365760" y="777240"/>
            <a:ext cx="11521440" cy="320040"/>
          </a:xfrm>
          <a:prstGeom prst="rect">
            <a:avLst/>
          </a:prstGeom>
          <a:noFill/>
        </p:spPr>
        <p:txBody>
          <a:bodyPr wrap="none">
            <a:spAutoFit/>
          </a:bodyPr>
          <a:lstStyle/>
          <a:p>
            <a:pPr>
              <a:defRPr sz="1200" i="1">
                <a:solidFill>
                  <a:srgbClr val="707682"/>
                </a:solidFill>
              </a:defRPr>
            </a:pPr>
            <a:r>
              <a:t>arXiv:2304.07175 — autores Notre Dame / Florida Tech / IST</a:t>
            </a:r>
          </a:p>
        </p:txBody>
      </p:sp>
      <p:sp>
        <p:nvSpPr>
          <p:cNvPr id="4" name="Rectangle 3"/>
          <p:cNvSpPr/>
          <p:nvPr/>
        </p:nvSpPr>
        <p:spPr>
          <a:xfrm>
            <a:off x="365760" y="1143000"/>
            <a:ext cx="11521440" cy="36576"/>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325880"/>
            <a:ext cx="11521440" cy="960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Pergunta de pesquisa</a:t>
            </a:r>
          </a:p>
          <a:p>
            <a:pPr>
              <a:defRPr sz="1200">
                <a:solidFill>
                  <a:srgbClr val="3D424E"/>
                </a:solidFill>
              </a:defRPr>
            </a:pPr>
            <a:r>
              <a:t>Por que a accuracy de face recognition varia entre grupos demográficos? É skin tone direto, face size/shape, desbalanceamento de treino ou qualidade da imagem?</a:t>
            </a:r>
          </a:p>
        </p:txBody>
      </p:sp>
      <p:sp>
        <p:nvSpPr>
          <p:cNvPr id="6" name="Rounded Rectangle 5"/>
          <p:cNvSpPr/>
          <p:nvPr/>
        </p:nvSpPr>
        <p:spPr>
          <a:xfrm>
            <a:off x="365760" y="2331720"/>
            <a:ext cx="11521440" cy="12344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Metodologia</a:t>
            </a:r>
          </a:p>
          <a:p>
            <a:pPr>
              <a:defRPr sz="1200">
                <a:solidFill>
                  <a:srgbClr val="3D424E"/>
                </a:solidFill>
              </a:defRPr>
            </a:pPr>
            <a:r>
              <a:t>Auditoria de modelos de FR estado-da-arte (ArcFace, AdaFace) avaliando 4 hipóteses causais sobre imagens de teste de grupos demográficos. Mede 'face pixel information' (área útil de pixels após detecção e crop) e correlaciona com accuracy por grupo.</a:t>
            </a:r>
          </a:p>
        </p:txBody>
      </p:sp>
      <p:sp>
        <p:nvSpPr>
          <p:cNvPr id="7" name="Rounded Rectangle 6"/>
          <p:cNvSpPr/>
          <p:nvPr/>
        </p:nvSpPr>
        <p:spPr>
          <a:xfrm>
            <a:off x="365760" y="3611880"/>
            <a:ext cx="1152144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Resultados principais</a:t>
            </a:r>
          </a:p>
          <a:p>
            <a:pPr>
              <a:defRPr sz="1200">
                <a:solidFill>
                  <a:srgbClr val="3D424E"/>
                </a:solidFill>
              </a:defRPr>
            </a:pPr>
            <a:r>
              <a:t>Diferenças de face pixel information entre grupos demográficos explicam a maior parte da variação de accuracy em FR. Skin tone direto é fator secundário; balanceamento de treino tem efeito menor que o esperado.</a:t>
            </a:r>
          </a:p>
        </p:txBody>
      </p:sp>
      <p:sp>
        <p:nvSpPr>
          <p:cNvPr id="8" name="Rounded Rectangle 7"/>
          <p:cNvSpPr/>
          <p:nvPr/>
        </p:nvSpPr>
        <p:spPr>
          <a:xfrm>
            <a:off x="365760" y="4800600"/>
            <a:ext cx="11521440" cy="96012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707682"/>
                </a:solidFill>
              </a:defRPr>
            </a:pPr>
            <a:r>
              <a:t>Crítica metodológica e limitações</a:t>
            </a:r>
          </a:p>
          <a:p>
            <a:pPr>
              <a:defRPr sz="1200">
                <a:solidFill>
                  <a:srgbClr val="3D424E"/>
                </a:solidFill>
              </a:defRPr>
            </a:pPr>
            <a:r>
              <a:t>Trabalha com FR (verificação 1:1), não com race classification — tarefas distintas. Não testa intervenções arquiteturais para mitigar o efeito de pixel info. Resultado é correlacional, não causal estrito.</a:t>
            </a:r>
          </a:p>
        </p:txBody>
      </p:sp>
      <p:sp>
        <p:nvSpPr>
          <p:cNvPr id="9" name="Rounded Rectangle 8"/>
          <p:cNvSpPr/>
          <p:nvPr/>
        </p:nvSpPr>
        <p:spPr>
          <a:xfrm>
            <a:off x="365760" y="5806440"/>
            <a:ext cx="11521440" cy="1051560"/>
          </a:xfrm>
          <a:prstGeom prst="roundRect">
            <a:avLst/>
          </a:prstGeom>
          <a:solidFill>
            <a:srgbClr val="FFFFFF"/>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C0392B"/>
                </a:solidFill>
              </a:defRPr>
            </a:pPr>
            <a:r>
              <a:t>Impacto na nossa tese</a:t>
            </a:r>
          </a:p>
          <a:p>
            <a:pPr>
              <a:defRPr sz="1200">
                <a:solidFill>
                  <a:srgbClr val="3D424E"/>
                </a:solidFill>
              </a:defRPr>
            </a:pPr>
            <a:r>
              <a:t>REFUTAÇÃO POTENCIAL DE H5. Se pixel info é a causa primária em FR, a transferência de fairness do Cap 2 para o Cap 3 pode ser confounded. Motivou as 3 versões de reformulação de H5 (V1/V2/V3) na pauta de discussão de hoje.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521440" cy="640080"/>
          </a:xfrm>
          <a:prstGeom prst="rect">
            <a:avLst/>
          </a:prstGeom>
          <a:noFill/>
        </p:spPr>
        <p:txBody>
          <a:bodyPr wrap="none">
            <a:spAutoFit/>
          </a:bodyPr>
          <a:lstStyle/>
          <a:p>
            <a:pPr>
              <a:defRPr sz="2000" b="1">
                <a:solidFill>
                  <a:srgbClr val="1F2A4E"/>
                </a:solidFill>
              </a:defRPr>
            </a:pPr>
            <a:r>
              <a:t>Pereira et al. (2026) — SkinToneNet + dataset STW</a:t>
            </a:r>
          </a:p>
        </p:txBody>
      </p:sp>
      <p:sp>
        <p:nvSpPr>
          <p:cNvPr id="3" name="TextBox 2"/>
          <p:cNvSpPr txBox="1"/>
          <p:nvPr/>
        </p:nvSpPr>
        <p:spPr>
          <a:xfrm>
            <a:off x="365760" y="777240"/>
            <a:ext cx="11521440" cy="320040"/>
          </a:xfrm>
          <a:prstGeom prst="rect">
            <a:avLst/>
          </a:prstGeom>
          <a:noFill/>
        </p:spPr>
        <p:txBody>
          <a:bodyPr wrap="none">
            <a:spAutoFit/>
          </a:bodyPr>
          <a:lstStyle/>
          <a:p>
            <a:pPr>
              <a:defRPr sz="1200" i="1">
                <a:solidFill>
                  <a:srgbClr val="707682"/>
                </a:solidFill>
              </a:defRPr>
            </a:pPr>
            <a:r>
              <a:t>arXiv:2603.02475 — ICMC-USP / IMPA — preprint mar/2026</a:t>
            </a:r>
          </a:p>
        </p:txBody>
      </p:sp>
      <p:sp>
        <p:nvSpPr>
          <p:cNvPr id="4" name="Rectangle 3"/>
          <p:cNvSpPr/>
          <p:nvPr/>
        </p:nvSpPr>
        <p:spPr>
          <a:xfrm>
            <a:off x="365760" y="1143000"/>
            <a:ext cx="115214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325880"/>
            <a:ext cx="11521440" cy="960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Pergunta de pesquisa</a:t>
            </a:r>
          </a:p>
          <a:p>
            <a:pPr>
              <a:defRPr sz="1200">
                <a:solidFill>
                  <a:srgbClr val="3D424E"/>
                </a:solidFill>
              </a:defRPr>
            </a:pPr>
            <a:r>
              <a:t>É possível treinar um classificador MST robusto e generalizável que funcione 'in-the-wild' (fora dos datasets de origem)?</a:t>
            </a:r>
          </a:p>
        </p:txBody>
      </p:sp>
      <p:sp>
        <p:nvSpPr>
          <p:cNvPr id="6" name="Rounded Rectangle 5"/>
          <p:cNvSpPr/>
          <p:nvPr/>
        </p:nvSpPr>
        <p:spPr>
          <a:xfrm>
            <a:off x="365760" y="2331720"/>
            <a:ext cx="11521440" cy="12344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Metodologia</a:t>
            </a:r>
          </a:p>
          <a:p>
            <a:pPr>
              <a:defRPr sz="1200">
                <a:solidFill>
                  <a:srgbClr val="3D424E"/>
                </a:solidFill>
              </a:defRPr>
            </a:pPr>
            <a:r>
              <a:t>Constrói STW (Skin Tone in the Wild) — 42.313 imagens de 3.564 indivíduos, anotadas pela escala Monk Skin Tone 10-classe. Treina SkinToneNet (ViT-Small fine-tuned em ImageNet) sobre STW. Audita 6 datasets faciais incluindo FairFace.</a:t>
            </a:r>
          </a:p>
        </p:txBody>
      </p:sp>
      <p:sp>
        <p:nvSpPr>
          <p:cNvPr id="7" name="Rounded Rectangle 6"/>
          <p:cNvSpPr/>
          <p:nvPr/>
        </p:nvSpPr>
        <p:spPr>
          <a:xfrm>
            <a:off x="365760" y="3611880"/>
            <a:ext cx="1152144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Resultados principais</a:t>
            </a:r>
          </a:p>
          <a:p>
            <a:pPr>
              <a:defRPr sz="1200">
                <a:solidFill>
                  <a:srgbClr val="3D424E"/>
                </a:solidFill>
              </a:defRPr>
            </a:pPr>
            <a:r>
              <a:t>SkinToneNet atinge SOTA em skin-tone classification cross-domain. FairFace exibe distribuição agregada com forte ausência de MST 6-10. NÃO publica a matriz cruzada MST × race (apenas distribuição global).</a:t>
            </a:r>
          </a:p>
        </p:txBody>
      </p:sp>
      <p:sp>
        <p:nvSpPr>
          <p:cNvPr id="8" name="Rounded Rectangle 7"/>
          <p:cNvSpPr/>
          <p:nvPr/>
        </p:nvSpPr>
        <p:spPr>
          <a:xfrm>
            <a:off x="365760" y="4800600"/>
            <a:ext cx="11521440" cy="96012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707682"/>
                </a:solidFill>
              </a:defRPr>
            </a:pPr>
            <a:r>
              <a:t>Crítica metodológica e limitações</a:t>
            </a:r>
          </a:p>
          <a:p>
            <a:pPr>
              <a:defRPr sz="1200">
                <a:solidFill>
                  <a:srgbClr val="3D424E"/>
                </a:solidFill>
              </a:defRPr>
            </a:pPr>
            <a:r>
              <a:t>STW concentra-se em sujeitos da web (viés de quem é fotografado e publicado). Dataset não tem split público fixo para benchmarks. Anotação MST não passa por consenso multi-anotador como o protocolo de Schumann 2023.</a:t>
            </a:r>
          </a:p>
        </p:txBody>
      </p:sp>
      <p:sp>
        <p:nvSpPr>
          <p:cNvPr id="9" name="Rounded Rectangle 8"/>
          <p:cNvSpPr/>
          <p:nvPr/>
        </p:nvSpPr>
        <p:spPr>
          <a:xfrm>
            <a:off x="365760" y="5806440"/>
            <a:ext cx="11521440" cy="1051560"/>
          </a:xfrm>
          <a:prstGeom prst="round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2E7D32"/>
                </a:solidFill>
              </a:defRPr>
            </a:pPr>
            <a:r>
              <a:t>Impacto na nossa tese</a:t>
            </a:r>
          </a:p>
          <a:p>
            <a:pPr>
              <a:defRPr sz="1200">
                <a:solidFill>
                  <a:srgbClr val="3D424E"/>
                </a:solidFill>
              </a:defRPr>
            </a:pPr>
            <a:r>
              <a:t>DECISÃO TÉCNICA: usar SkinToneNet pré-treinado como insumo do pipeline (economiza ~3 semanas). Nossa C2 (matriz cruzada MST × raça) segue contribuição original. STW pode ser usado como dataset de validação externa do Cap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521440" cy="640080"/>
          </a:xfrm>
          <a:prstGeom prst="rect">
            <a:avLst/>
          </a:prstGeom>
          <a:noFill/>
        </p:spPr>
        <p:txBody>
          <a:bodyPr wrap="none">
            <a:spAutoFit/>
          </a:bodyPr>
          <a:lstStyle/>
          <a:p>
            <a:pPr>
              <a:defRPr sz="2000" b="1">
                <a:solidFill>
                  <a:srgbClr val="1F2A4E"/>
                </a:solidFill>
              </a:defRPr>
            </a:pPr>
            <a:r>
              <a:t>Dooley et al. (2022/23) — Fairer architectures make for fairer FR</a:t>
            </a:r>
          </a:p>
        </p:txBody>
      </p:sp>
      <p:sp>
        <p:nvSpPr>
          <p:cNvPr id="3" name="TextBox 2"/>
          <p:cNvSpPr txBox="1"/>
          <p:nvPr/>
        </p:nvSpPr>
        <p:spPr>
          <a:xfrm>
            <a:off x="365760" y="777240"/>
            <a:ext cx="11521440" cy="320040"/>
          </a:xfrm>
          <a:prstGeom prst="rect">
            <a:avLst/>
          </a:prstGeom>
          <a:noFill/>
        </p:spPr>
        <p:txBody>
          <a:bodyPr wrap="none">
            <a:spAutoFit/>
          </a:bodyPr>
          <a:lstStyle/>
          <a:p>
            <a:pPr>
              <a:defRPr sz="1200" i="1">
                <a:solidFill>
                  <a:srgbClr val="707682"/>
                </a:solidFill>
              </a:defRPr>
            </a:pPr>
            <a:r>
              <a:t>arXiv:2210.09943 — Maryland / Bosch / ELLIS / Tübingen — versão dez/2023</a:t>
            </a:r>
          </a:p>
        </p:txBody>
      </p:sp>
      <p:sp>
        <p:nvSpPr>
          <p:cNvPr id="4" name="Rectangle 3"/>
          <p:cNvSpPr/>
          <p:nvPr/>
        </p:nvSpPr>
        <p:spPr>
          <a:xfrm>
            <a:off x="365760" y="114300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325880"/>
            <a:ext cx="11521440" cy="960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Pergunta de pesquisa</a:t>
            </a:r>
          </a:p>
          <a:p>
            <a:pPr>
              <a:defRPr sz="1200">
                <a:solidFill>
                  <a:srgbClr val="3D424E"/>
                </a:solidFill>
              </a:defRPr>
            </a:pPr>
            <a:r>
              <a:t>Bias em FR é inerente aos dados de treino ou também emerge da arquitetura escolhida? Existe arquitetura que reduza disparity sem nenhuma intervenção de dados?</a:t>
            </a:r>
          </a:p>
        </p:txBody>
      </p:sp>
      <p:sp>
        <p:nvSpPr>
          <p:cNvPr id="6" name="Rounded Rectangle 5"/>
          <p:cNvSpPr/>
          <p:nvPr/>
        </p:nvSpPr>
        <p:spPr>
          <a:xfrm>
            <a:off x="365760" y="2331720"/>
            <a:ext cx="11521440" cy="12344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Metodologia</a:t>
            </a:r>
          </a:p>
          <a:p>
            <a:pPr>
              <a:defRPr sz="1200">
                <a:solidFill>
                  <a:srgbClr val="3D424E"/>
                </a:solidFill>
              </a:defRPr>
            </a:pPr>
            <a:r>
              <a:t>Neural Architecture Search (NAS) com objetivo bi-critério: accuracy + fairness (medida por DR / EOD). Busca jointly arquitetura e hiperparâmetros sobre espaço de centenas de candidatos. Avalia em CelebA, RFW, BFW.</a:t>
            </a:r>
          </a:p>
        </p:txBody>
      </p:sp>
      <p:sp>
        <p:nvSpPr>
          <p:cNvPr id="7" name="Rounded Rectangle 6"/>
          <p:cNvSpPr/>
          <p:nvPr/>
        </p:nvSpPr>
        <p:spPr>
          <a:xfrm>
            <a:off x="365760" y="3611880"/>
            <a:ext cx="1152144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Resultados principais</a:t>
            </a:r>
          </a:p>
          <a:p>
            <a:pPr>
              <a:defRPr sz="1200">
                <a:solidFill>
                  <a:srgbClr val="3D424E"/>
                </a:solidFill>
              </a:defRPr>
            </a:pPr>
            <a:r>
              <a:t>A frente de Pareto inclui arquiteturas que dominam ResNet-50/100 e MobileNet em accuracy E fairness simultaneamente. Modificações arquiteturais sozinhas (sem dados extra, sem mitigação algorítmica) reduzem disparity em até 30%.</a:t>
            </a:r>
          </a:p>
        </p:txBody>
      </p:sp>
      <p:sp>
        <p:nvSpPr>
          <p:cNvPr id="8" name="Rounded Rectangle 7"/>
          <p:cNvSpPr/>
          <p:nvPr/>
        </p:nvSpPr>
        <p:spPr>
          <a:xfrm>
            <a:off x="365760" y="4800600"/>
            <a:ext cx="11521440" cy="96012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707682"/>
                </a:solidFill>
              </a:defRPr>
            </a:pPr>
            <a:r>
              <a:t>Crítica metodológica e limitações</a:t>
            </a:r>
          </a:p>
          <a:p>
            <a:pPr>
              <a:defRPr sz="1200">
                <a:solidFill>
                  <a:srgbClr val="3D424E"/>
                </a:solidFill>
              </a:defRPr>
            </a:pPr>
            <a:r>
              <a:t>Custo computacional altíssimo (NAS proibitivo para a maioria). Arquiteturas vencedoras não têm interpretação semântica clara. Não testa em FairFace 7-class race especificamente. ConvNeXt-T não está na busca.</a:t>
            </a:r>
          </a:p>
        </p:txBody>
      </p:sp>
      <p:sp>
        <p:nvSpPr>
          <p:cNvPr id="9" name="Rounded Rectangle 8"/>
          <p:cNvSpPr/>
          <p:nvPr/>
        </p:nvSpPr>
        <p:spPr>
          <a:xfrm>
            <a:off x="365760" y="5806440"/>
            <a:ext cx="11521440" cy="105156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Impacto na nossa tese</a:t>
            </a:r>
          </a:p>
          <a:p>
            <a:pPr>
              <a:defRPr sz="1200">
                <a:solidFill>
                  <a:srgbClr val="3D424E"/>
                </a:solidFill>
              </a:defRPr>
            </a:pPr>
            <a:r>
              <a:t>REFORÇA H2 (testar se trocar de ResNet-34 para ConvNeXt-T já reduz disparity). Justifica escolha de backbone moderno como ConvNeXt-T. Se H1 falhar mas ConvNeXt-T puro já reduzir disparity, atribuímos parte do efeito à arquitetura.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521440" cy="640080"/>
          </a:xfrm>
          <a:prstGeom prst="rect">
            <a:avLst/>
          </a:prstGeom>
          <a:noFill/>
        </p:spPr>
        <p:txBody>
          <a:bodyPr wrap="none">
            <a:spAutoFit/>
          </a:bodyPr>
          <a:lstStyle/>
          <a:p>
            <a:pPr>
              <a:defRPr sz="2000" b="1">
                <a:solidFill>
                  <a:srgbClr val="1F2A4E"/>
                </a:solidFill>
              </a:defRPr>
            </a:pPr>
            <a:r>
              <a:t>Aguirre &amp; Dredze (2023) — Transferring fairness via multi-task learning</a:t>
            </a:r>
          </a:p>
        </p:txBody>
      </p:sp>
      <p:sp>
        <p:nvSpPr>
          <p:cNvPr id="3" name="TextBox 2"/>
          <p:cNvSpPr txBox="1"/>
          <p:nvPr/>
        </p:nvSpPr>
        <p:spPr>
          <a:xfrm>
            <a:off x="365760" y="777240"/>
            <a:ext cx="11521440" cy="320040"/>
          </a:xfrm>
          <a:prstGeom prst="rect">
            <a:avLst/>
          </a:prstGeom>
          <a:noFill/>
        </p:spPr>
        <p:txBody>
          <a:bodyPr wrap="none">
            <a:spAutoFit/>
          </a:bodyPr>
          <a:lstStyle/>
          <a:p>
            <a:pPr>
              <a:defRPr sz="1200" i="1">
                <a:solidFill>
                  <a:srgbClr val="707682"/>
                </a:solidFill>
              </a:defRPr>
            </a:pPr>
            <a:r>
              <a:t>arXiv:2305.12671 — Johns Hopkins (NLP) — versão revisada abr/2024</a:t>
            </a:r>
          </a:p>
        </p:txBody>
      </p:sp>
      <p:sp>
        <p:nvSpPr>
          <p:cNvPr id="4" name="Rectangle 3"/>
          <p:cNvSpPr/>
          <p:nvPr/>
        </p:nvSpPr>
        <p:spPr>
          <a:xfrm>
            <a:off x="365760" y="114300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325880"/>
            <a:ext cx="11521440" cy="960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Pergunta de pesquisa</a:t>
            </a:r>
          </a:p>
          <a:p>
            <a:pPr>
              <a:defRPr sz="1200">
                <a:solidFill>
                  <a:srgbClr val="3D424E"/>
                </a:solidFill>
              </a:defRPr>
            </a:pPr>
            <a:r>
              <a:t>Quando demographic labels estão disponíveis apenas em uma tarefa relacionada (não na tarefa-alvo), é possível transferir fairness via multi-task learning?</a:t>
            </a:r>
          </a:p>
        </p:txBody>
      </p:sp>
      <p:sp>
        <p:nvSpPr>
          <p:cNvPr id="6" name="Rounded Rectangle 5"/>
          <p:cNvSpPr/>
          <p:nvPr/>
        </p:nvSpPr>
        <p:spPr>
          <a:xfrm>
            <a:off x="365760" y="2331720"/>
            <a:ext cx="11521440" cy="12344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Metodologia</a:t>
            </a:r>
          </a:p>
          <a:p>
            <a:pPr>
              <a:defRPr sz="1200">
                <a:solidFill>
                  <a:srgbClr val="3D424E"/>
                </a:solidFill>
              </a:defRPr>
            </a:pPr>
            <a:r>
              <a:t>Adapta single-task fairness loss para framework multi-task. Treina classificador em tarefa-alvo SEM demographic labels usando demographic labels APENAS na tarefa auxiliar. Avalia em datasets de NLP (toxicidade, sentiment) com atributos sensíveis de raça/gênero.</a:t>
            </a:r>
          </a:p>
        </p:txBody>
      </p:sp>
      <p:sp>
        <p:nvSpPr>
          <p:cNvPr id="7" name="Rounded Rectangle 6"/>
          <p:cNvSpPr/>
          <p:nvPr/>
        </p:nvSpPr>
        <p:spPr>
          <a:xfrm>
            <a:off x="365760" y="3611880"/>
            <a:ext cx="1152144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Resultados principais</a:t>
            </a:r>
          </a:p>
          <a:p>
            <a:pPr>
              <a:defRPr sz="1200">
                <a:solidFill>
                  <a:srgbClr val="3D424E"/>
                </a:solidFill>
              </a:defRPr>
            </a:pPr>
            <a:r>
              <a:t>Objetivos de fairness demográfico se transferem empiricamente para a tarefa-alvo em todos os datasets testados. Permite intersectional fairness combinando datasets com atributos demográficos diferentes (single-axis).</a:t>
            </a:r>
          </a:p>
        </p:txBody>
      </p:sp>
      <p:sp>
        <p:nvSpPr>
          <p:cNvPr id="8" name="Rounded Rectangle 7"/>
          <p:cNvSpPr/>
          <p:nvPr/>
        </p:nvSpPr>
        <p:spPr>
          <a:xfrm>
            <a:off x="365760" y="4800600"/>
            <a:ext cx="11521440" cy="96012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707682"/>
                </a:solidFill>
              </a:defRPr>
            </a:pPr>
            <a:r>
              <a:t>Crítica metodológica e limitações</a:t>
            </a:r>
          </a:p>
          <a:p>
            <a:pPr>
              <a:defRPr sz="1200">
                <a:solidFill>
                  <a:srgbClr val="3D424E"/>
                </a:solidFill>
              </a:defRPr>
            </a:pPr>
            <a:r>
              <a:t>Experimentos em NLP — não validados ainda em CV/face. Magnitude da transferência depende de quão correlacionadas estão as tarefas auxiliar e alvo. Não testa robustez sob distribution shift.</a:t>
            </a:r>
          </a:p>
        </p:txBody>
      </p:sp>
      <p:sp>
        <p:nvSpPr>
          <p:cNvPr id="9" name="Rounded Rectangle 8"/>
          <p:cNvSpPr/>
          <p:nvPr/>
        </p:nvSpPr>
        <p:spPr>
          <a:xfrm>
            <a:off x="365760" y="5806440"/>
            <a:ext cx="11521440" cy="105156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Impacto na nossa tese</a:t>
            </a:r>
          </a:p>
          <a:p>
            <a:pPr>
              <a:defRPr sz="1200">
                <a:solidFill>
                  <a:srgbClr val="3D424E"/>
                </a:solidFill>
              </a:defRPr>
            </a:pPr>
            <a:r>
              <a:t>REFORÇO EMPÍRICO do princípio teórico do LAFTR. Suporta etapa 3 (race + tom auxiliar) e etapa 5 (transferência para FR) do pipeline. Princípio é independente da modalidade, mas precisamos validar empiricamente em face.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521440" cy="640080"/>
          </a:xfrm>
          <a:prstGeom prst="rect">
            <a:avLst/>
          </a:prstGeom>
          <a:noFill/>
        </p:spPr>
        <p:txBody>
          <a:bodyPr wrap="none">
            <a:spAutoFit/>
          </a:bodyPr>
          <a:lstStyle/>
          <a:p>
            <a:pPr>
              <a:defRPr sz="2000" b="1">
                <a:solidFill>
                  <a:srgbClr val="1F2A4E"/>
                </a:solidFill>
              </a:defRPr>
            </a:pPr>
            <a:r>
              <a:t>Kolla &amp; Savadamuthu (2022/23) — Impact of racial distribution in FR training</a:t>
            </a:r>
          </a:p>
        </p:txBody>
      </p:sp>
      <p:sp>
        <p:nvSpPr>
          <p:cNvPr id="3" name="TextBox 2"/>
          <p:cNvSpPr txBox="1"/>
          <p:nvPr/>
        </p:nvSpPr>
        <p:spPr>
          <a:xfrm>
            <a:off x="365760" y="777240"/>
            <a:ext cx="11521440" cy="320040"/>
          </a:xfrm>
          <a:prstGeom prst="rect">
            <a:avLst/>
          </a:prstGeom>
          <a:noFill/>
        </p:spPr>
        <p:txBody>
          <a:bodyPr wrap="none">
            <a:spAutoFit/>
          </a:bodyPr>
          <a:lstStyle/>
          <a:p>
            <a:pPr>
              <a:defRPr sz="1200" i="1">
                <a:solidFill>
                  <a:srgbClr val="707682"/>
                </a:solidFill>
              </a:defRPr>
            </a:pPr>
            <a:r>
              <a:t>arXiv:2211.14498 — WACVW 2023 (IEEE/CVF Winter Conf. on Apps. of CV Workshops)</a:t>
            </a:r>
          </a:p>
        </p:txBody>
      </p:sp>
      <p:sp>
        <p:nvSpPr>
          <p:cNvPr id="4" name="Rectangle 3"/>
          <p:cNvSpPr/>
          <p:nvPr/>
        </p:nvSpPr>
        <p:spPr>
          <a:xfrm>
            <a:off x="365760" y="114300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325880"/>
            <a:ext cx="11521440" cy="960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Pergunta de pesquisa</a:t>
            </a:r>
          </a:p>
          <a:p>
            <a:pPr>
              <a:defRPr sz="1200">
                <a:solidFill>
                  <a:srgbClr val="3D424E"/>
                </a:solidFill>
              </a:defRPr>
            </a:pPr>
            <a:r>
              <a:t>Balancear a distribuição racial no dataset de treino é SUFICIENTE para eliminar disparities raciais em face recognition?</a:t>
            </a:r>
          </a:p>
        </p:txBody>
      </p:sp>
      <p:sp>
        <p:nvSpPr>
          <p:cNvPr id="6" name="Rounded Rectangle 5"/>
          <p:cNvSpPr/>
          <p:nvPr/>
        </p:nvSpPr>
        <p:spPr>
          <a:xfrm>
            <a:off x="365760" y="2331720"/>
            <a:ext cx="11521440" cy="12344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Metodologia</a:t>
            </a:r>
          </a:p>
          <a:p>
            <a:pPr>
              <a:defRPr sz="1200">
                <a:solidFill>
                  <a:srgbClr val="3D424E"/>
                </a:solidFill>
              </a:defRPr>
            </a:pPr>
            <a:r>
              <a:t>Treina ArcFace em variantes do dataset MS1MV2 com proporções variáveis de raças (uniforme, skewed-toward-Black, skewed-toward-White). Introduz métrica de 'racial gradation' para medir correlação intra/inter-classe. Avalia em RFW.</a:t>
            </a:r>
          </a:p>
        </p:txBody>
      </p:sp>
      <p:sp>
        <p:nvSpPr>
          <p:cNvPr id="7" name="Rounded Rectangle 6"/>
          <p:cNvSpPr/>
          <p:nvPr/>
        </p:nvSpPr>
        <p:spPr>
          <a:xfrm>
            <a:off x="365760" y="3611880"/>
            <a:ext cx="1152144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Resultados principais</a:t>
            </a:r>
          </a:p>
          <a:p>
            <a:pPr>
              <a:defRPr sz="1200">
                <a:solidFill>
                  <a:srgbClr val="3D424E"/>
                </a:solidFill>
              </a:defRPr>
            </a:pPr>
            <a:r>
              <a:t>Distribuição uniforme de raças no treino NÃO garante FR sem viés. Skewed-toward-Black supera uniforme para grupo Black. Qualidade da imagem (resolução, iluminação) introduz disparity adicional que balanceamento não captura.</a:t>
            </a:r>
          </a:p>
        </p:txBody>
      </p:sp>
      <p:sp>
        <p:nvSpPr>
          <p:cNvPr id="8" name="Rounded Rectangle 7"/>
          <p:cNvSpPr/>
          <p:nvPr/>
        </p:nvSpPr>
        <p:spPr>
          <a:xfrm>
            <a:off x="365760" y="4800600"/>
            <a:ext cx="11521440" cy="96012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707682"/>
                </a:solidFill>
              </a:defRPr>
            </a:pPr>
            <a:r>
              <a:t>Crítica metodológica e limitações</a:t>
            </a:r>
          </a:p>
          <a:p>
            <a:pPr>
              <a:defRPr sz="1200">
                <a:solidFill>
                  <a:srgbClr val="3D424E"/>
                </a:solidFill>
              </a:defRPr>
            </a:pPr>
            <a:r>
              <a:t>Workshop paper (revisão menos profunda). Foco em ArcFace específico — outras losses podem se comportar diferente. Não compara contra intervenções arquiteturais.</a:t>
            </a:r>
          </a:p>
        </p:txBody>
      </p:sp>
      <p:sp>
        <p:nvSpPr>
          <p:cNvPr id="9" name="Rounded Rectangle 8"/>
          <p:cNvSpPr/>
          <p:nvPr/>
        </p:nvSpPr>
        <p:spPr>
          <a:xfrm>
            <a:off x="365760" y="5806440"/>
            <a:ext cx="11521440" cy="105156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Impacto na nossa tese</a:t>
            </a:r>
          </a:p>
          <a:p>
            <a:pPr>
              <a:defRPr sz="1200">
                <a:solidFill>
                  <a:srgbClr val="3D424E"/>
                </a:solidFill>
              </a:defRPr>
            </a:pPr>
            <a:r>
              <a:t>JUSTIFICA INTERVENÇÃO ARQUITETURAL além de balanceamento de dados. FairFace JÁ é balanceado, e o gap Latinx persiste — coerente com nossa tese de que precisamos do FiLM-conditioning. Reforça argumento contra resolver fairness só com dados.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28600"/>
            <a:ext cx="11521440" cy="640080"/>
          </a:xfrm>
          <a:prstGeom prst="rect">
            <a:avLst/>
          </a:prstGeom>
          <a:noFill/>
        </p:spPr>
        <p:txBody>
          <a:bodyPr wrap="none">
            <a:spAutoFit/>
          </a:bodyPr>
          <a:lstStyle/>
          <a:p>
            <a:pPr>
              <a:defRPr sz="2000" b="1">
                <a:solidFill>
                  <a:srgbClr val="1F2A4E"/>
                </a:solidFill>
              </a:defRPr>
            </a:pPr>
            <a:r>
              <a:t>Liu et al. (2025) — BNMR: Bayesian Network meta-learning para fairness</a:t>
            </a:r>
          </a:p>
        </p:txBody>
      </p:sp>
      <p:sp>
        <p:nvSpPr>
          <p:cNvPr id="3" name="TextBox 2"/>
          <p:cNvSpPr txBox="1"/>
          <p:nvPr/>
        </p:nvSpPr>
        <p:spPr>
          <a:xfrm>
            <a:off x="365760" y="777240"/>
            <a:ext cx="11521440" cy="320040"/>
          </a:xfrm>
          <a:prstGeom prst="rect">
            <a:avLst/>
          </a:prstGeom>
          <a:noFill/>
        </p:spPr>
        <p:txBody>
          <a:bodyPr wrap="none">
            <a:spAutoFit/>
          </a:bodyPr>
          <a:lstStyle/>
          <a:p>
            <a:pPr>
              <a:defRPr sz="1200" i="1">
                <a:solidFill>
                  <a:srgbClr val="707682"/>
                </a:solidFill>
              </a:defRPr>
            </a:pPr>
            <a:r>
              <a:t>arXiv:2505.01699 — ACM FAccT 2025 (top venue ética AI)</a:t>
            </a:r>
          </a:p>
        </p:txBody>
      </p:sp>
      <p:sp>
        <p:nvSpPr>
          <p:cNvPr id="4" name="Rectangle 3"/>
          <p:cNvSpPr/>
          <p:nvPr/>
        </p:nvSpPr>
        <p:spPr>
          <a:xfrm>
            <a:off x="365760" y="1143000"/>
            <a:ext cx="11521440" cy="36576"/>
          </a:xfrm>
          <a:prstGeom prst="rect">
            <a:avLst/>
          </a:prstGeom>
          <a:solidFill>
            <a:srgbClr val="1F2A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325880"/>
            <a:ext cx="11521440" cy="96012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Pergunta de pesquisa</a:t>
            </a:r>
          </a:p>
          <a:p>
            <a:pPr>
              <a:defRPr sz="1200">
                <a:solidFill>
                  <a:srgbClr val="3D424E"/>
                </a:solidFill>
              </a:defRPr>
            </a:pPr>
            <a:r>
              <a:t>É possível mitigar bias em face attribute classification de forma adaptativa, sem hiperparâmetros de fairness fixos a priori?</a:t>
            </a:r>
          </a:p>
        </p:txBody>
      </p:sp>
      <p:sp>
        <p:nvSpPr>
          <p:cNvPr id="6" name="Rounded Rectangle 5"/>
          <p:cNvSpPr/>
          <p:nvPr/>
        </p:nvSpPr>
        <p:spPr>
          <a:xfrm>
            <a:off x="365760" y="2331720"/>
            <a:ext cx="11521440" cy="123444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Metodologia</a:t>
            </a:r>
          </a:p>
          <a:p>
            <a:pPr>
              <a:defRPr sz="1200">
                <a:solidFill>
                  <a:srgbClr val="3D424E"/>
                </a:solidFill>
              </a:defRPr>
            </a:pPr>
            <a:r>
              <a:t>BNMR (Bayesian Network-informed Meta Reweighting): rede bayesiana modela dependências entre atributos faciais (componentes) e calibra meta-learning de sample reweighting durante treino. Tracking dinâmico de viés do modelo em tempo real.</a:t>
            </a:r>
          </a:p>
        </p:txBody>
      </p:sp>
      <p:sp>
        <p:nvSpPr>
          <p:cNvPr id="7" name="Rounded Rectangle 6"/>
          <p:cNvSpPr/>
          <p:nvPr/>
        </p:nvSpPr>
        <p:spPr>
          <a:xfrm>
            <a:off x="365760" y="3611880"/>
            <a:ext cx="11521440" cy="1143000"/>
          </a:xfrm>
          <a:prstGeom prst="roundRect">
            <a:avLst/>
          </a:prstGeom>
          <a:solidFill>
            <a:srgbClr val="E8EAED"/>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Resultados principais</a:t>
            </a:r>
          </a:p>
          <a:p>
            <a:pPr>
              <a:defRPr sz="1200">
                <a:solidFill>
                  <a:srgbClr val="3D424E"/>
                </a:solidFill>
              </a:defRPr>
            </a:pPr>
            <a:r>
              <a:t>Supera baselines (FSCL+, Group DRO, AdvDebias) em CelebA em métricas de fairness DEMOGRAPHIC PARITY e EQUAL OPPORTUNITY. Permite calibração adaptativa do trade-off accuracy×fairness sem grid search.</a:t>
            </a:r>
          </a:p>
        </p:txBody>
      </p:sp>
      <p:sp>
        <p:nvSpPr>
          <p:cNvPr id="8" name="Rounded Rectangle 7"/>
          <p:cNvSpPr/>
          <p:nvPr/>
        </p:nvSpPr>
        <p:spPr>
          <a:xfrm>
            <a:off x="365760" y="4800600"/>
            <a:ext cx="11521440" cy="960120"/>
          </a:xfrm>
          <a:prstGeom prst="roundRect">
            <a:avLst/>
          </a:prstGeom>
          <a:solidFill>
            <a:srgbClr val="FFFFFF"/>
          </a:solidFill>
          <a:ln w="12700">
            <a:solidFill>
              <a:srgbClr val="70768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707682"/>
                </a:solidFill>
              </a:defRPr>
            </a:pPr>
            <a:r>
              <a:t>Crítica metodológica e limitações</a:t>
            </a:r>
          </a:p>
          <a:p>
            <a:pPr>
              <a:defRPr sz="1200">
                <a:solidFill>
                  <a:srgbClr val="3D424E"/>
                </a:solidFill>
              </a:defRPr>
            </a:pPr>
            <a:r>
              <a:t>Custo computacional adicional da rede bayesiana (precisa ser treinada). Testado em CelebA, não em FairFace race 7-class. Pressupõe que o usuário define corretamente a estrutura causal entre atributos.</a:t>
            </a:r>
          </a:p>
        </p:txBody>
      </p:sp>
      <p:sp>
        <p:nvSpPr>
          <p:cNvPr id="9" name="Rounded Rectangle 8"/>
          <p:cNvSpPr/>
          <p:nvPr/>
        </p:nvSpPr>
        <p:spPr>
          <a:xfrm>
            <a:off x="365760" y="5806440"/>
            <a:ext cx="11521440" cy="1051560"/>
          </a:xfrm>
          <a:prstGeom prst="roundRect">
            <a:avLst/>
          </a:prstGeom>
          <a:solidFill>
            <a:srgbClr val="FFFFFF"/>
          </a:solidFill>
          <a:ln w="12700">
            <a:solidFill>
              <a:srgbClr val="1F2A4E"/>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73152"/>
          <a:lstStyle/>
          <a:p>
            <a:pPr algn="ctr">
              <a:defRPr sz="1100" b="1">
                <a:solidFill>
                  <a:srgbClr val="1F2A4E"/>
                </a:solidFill>
              </a:defRPr>
            </a:pPr>
            <a:r>
              <a:t>Impacto na nossa tese</a:t>
            </a:r>
          </a:p>
          <a:p>
            <a:pPr>
              <a:defRPr sz="1200">
                <a:solidFill>
                  <a:srgbClr val="3D424E"/>
                </a:solidFill>
              </a:defRPr>
            </a:pPr>
            <a:r>
              <a:t>BASELINE COMPETITIVO recente do Cap 2. Mecanismo ortogonal ao nosso (sample reweighting vs FiLM-conditioning) — comparação justa contra abordagem state-of-the-art em fairness 2025. Se BNMR superar nosso pipeline, é informação útil para a tese.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