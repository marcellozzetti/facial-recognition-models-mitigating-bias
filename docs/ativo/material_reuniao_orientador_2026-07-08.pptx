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  <p:sldId id="268" r:id="rId11"/>
    <p:sldId id="269" r:id="rId12"/>
    <p:sldId id="271" r:id="rId13"/>
    <p:sldId id="272" r:id="rId14"/>
    <p:sldId id="273" r:id="rId15"/>
    <p:sldId id="276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608" y="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F2A4E"/>
                </a:solidFill>
              </a:defRPr>
            </a:pPr>
            <a:r>
              <a:rPr lang="pt-BR" dirty="0"/>
              <a:t>Reunião Semanal</a:t>
            </a:r>
            <a:endParaRPr dirty="0"/>
          </a:p>
          <a:p>
            <a:pPr>
              <a:defRPr sz="2000">
                <a:solidFill>
                  <a:srgbClr val="3D424E"/>
                </a:solidFill>
              </a:defRPr>
            </a:pPr>
            <a:r>
              <a:rPr dirty="0"/>
              <a:t>Estado da </a:t>
            </a:r>
            <a:r>
              <a:rPr dirty="0" err="1"/>
              <a:t>escrita</a:t>
            </a:r>
            <a:r>
              <a:rPr dirty="0"/>
              <a:t>, </a:t>
            </a:r>
            <a:r>
              <a:rPr dirty="0" err="1"/>
              <a:t>decisões</a:t>
            </a:r>
            <a:r>
              <a:rPr dirty="0"/>
              <a:t> </a:t>
            </a:r>
            <a:r>
              <a:rPr dirty="0" err="1"/>
              <a:t>éticas</a:t>
            </a:r>
            <a:r>
              <a:rPr dirty="0"/>
              <a:t> e </a:t>
            </a:r>
            <a:r>
              <a:rPr dirty="0" err="1"/>
              <a:t>ajuste</a:t>
            </a:r>
            <a:r>
              <a:rPr dirty="0"/>
              <a:t> de </a:t>
            </a:r>
            <a:r>
              <a:rPr dirty="0" err="1"/>
              <a:t>cronograma</a:t>
            </a:r>
            <a:endParaRPr dirty="0"/>
          </a:p>
          <a:p>
            <a:pPr>
              <a:defRPr sz="1400" i="1">
                <a:solidFill>
                  <a:srgbClr val="707682"/>
                </a:solidFill>
              </a:defRPr>
            </a:pPr>
            <a:r>
              <a:rPr dirty="0" err="1"/>
              <a:t>Equidade</a:t>
            </a:r>
            <a:r>
              <a:rPr dirty="0"/>
              <a:t> racial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classificação</a:t>
            </a:r>
            <a:r>
              <a:rPr dirty="0"/>
              <a:t> facial via conditioning </a:t>
            </a:r>
            <a:r>
              <a:rPr dirty="0" err="1"/>
              <a:t>por</a:t>
            </a:r>
            <a:r>
              <a:rPr dirty="0"/>
              <a:t> tom de </a:t>
            </a:r>
            <a:r>
              <a:rPr dirty="0" err="1"/>
              <a:t>pele</a:t>
            </a:r>
            <a:r>
              <a:rPr dirty="0"/>
              <a:t> (MST)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FairFace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Reunião:  8 de julho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Objetivo desta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Plano até a defesa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Estado real da escrita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Decisão de pesquisa ética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Solicitação pessoal e debate técnico fecham a reunião como pontos complementares.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rPr lang="pt-BR" dirty="0"/>
              <a:t>Resumo da Tese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F2A4E"/>
                </a:solidFill>
              </a:rPr>
              <a:t>Problema</a:t>
            </a:r>
            <a:r>
              <a:rPr sz="1600" b="1" dirty="0">
                <a:solidFill>
                  <a:srgbClr val="1F2A4E"/>
                </a:solidFill>
              </a:rPr>
              <a:t> </a:t>
            </a:r>
            <a:r>
              <a:rPr sz="1600" b="1" dirty="0" err="1">
                <a:solidFill>
                  <a:srgbClr val="1F2A4E"/>
                </a:solidFill>
              </a:rPr>
              <a:t>empírico</a:t>
            </a:r>
            <a:r>
              <a:rPr sz="1600" b="1" dirty="0">
                <a:solidFill>
                  <a:srgbClr val="1F2A4E"/>
                </a:solidFill>
              </a:rPr>
              <a:t>:  </a:t>
            </a:r>
            <a:r>
              <a:rPr sz="1600" dirty="0">
                <a:solidFill>
                  <a:srgbClr val="3D424E"/>
                </a:solidFill>
              </a:rPr>
              <a:t>F1 macro alto mascara </a:t>
            </a:r>
            <a:r>
              <a:rPr sz="1600" dirty="0" err="1">
                <a:solidFill>
                  <a:srgbClr val="3D424E"/>
                </a:solidFill>
              </a:rPr>
              <a:t>disparidade</a:t>
            </a:r>
            <a:r>
              <a:rPr sz="1600" dirty="0">
                <a:solidFill>
                  <a:srgbClr val="3D424E"/>
                </a:solidFill>
              </a:rPr>
              <a:t> Black ≈ 90 % vs Latinx ≈ 60 % </a:t>
            </a:r>
            <a:r>
              <a:rPr sz="1600" dirty="0" err="1">
                <a:solidFill>
                  <a:srgbClr val="3D424E"/>
                </a:solidFill>
              </a:rPr>
              <a:t>em</a:t>
            </a:r>
            <a:r>
              <a:rPr sz="1600" dirty="0">
                <a:solidFill>
                  <a:srgbClr val="3D424E"/>
                </a:solidFill>
              </a:rPr>
              <a:t> SOTA </a:t>
            </a:r>
            <a:r>
              <a:rPr sz="1600" dirty="0" err="1">
                <a:solidFill>
                  <a:srgbClr val="3D424E"/>
                </a:solidFill>
              </a:rPr>
              <a:t>sobre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FairFace</a:t>
            </a:r>
            <a:r>
              <a:rPr sz="1600" dirty="0">
                <a:solidFill>
                  <a:srgbClr val="3D424E"/>
                </a:solidFill>
              </a:rPr>
              <a:t> (</a:t>
            </a:r>
            <a:r>
              <a:rPr sz="1600" dirty="0" err="1">
                <a:solidFill>
                  <a:srgbClr val="3D424E"/>
                </a:solidFill>
              </a:rPr>
              <a:t>AlDahoul</a:t>
            </a:r>
            <a:r>
              <a:rPr sz="1600" dirty="0">
                <a:solidFill>
                  <a:srgbClr val="3D424E"/>
                </a:solidFill>
              </a:rPr>
              <a:t> 2024)</a:t>
            </a:r>
          </a:p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F2A4E"/>
                </a:solidFill>
              </a:rPr>
              <a:t>Pergunta</a:t>
            </a:r>
            <a:r>
              <a:rPr sz="1600" b="1" dirty="0">
                <a:solidFill>
                  <a:srgbClr val="1F2A4E"/>
                </a:solidFill>
              </a:rPr>
              <a:t> de </a:t>
            </a:r>
            <a:r>
              <a:rPr sz="1600" b="1" dirty="0" err="1">
                <a:solidFill>
                  <a:srgbClr val="1F2A4E"/>
                </a:solidFill>
              </a:rPr>
              <a:t>pesquisa</a:t>
            </a:r>
            <a:r>
              <a:rPr sz="1600" b="1" dirty="0">
                <a:solidFill>
                  <a:srgbClr val="1F2A4E"/>
                </a:solidFill>
              </a:rPr>
              <a:t>:  </a:t>
            </a:r>
            <a:r>
              <a:rPr sz="1600" dirty="0" err="1">
                <a:solidFill>
                  <a:srgbClr val="3D424E"/>
                </a:solidFill>
              </a:rPr>
              <a:t>condicionar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arquiteturalmente</a:t>
            </a:r>
            <a:r>
              <a:rPr sz="1600" dirty="0">
                <a:solidFill>
                  <a:srgbClr val="3D424E"/>
                </a:solidFill>
              </a:rPr>
              <a:t> um </a:t>
            </a:r>
            <a:r>
              <a:rPr sz="1600" dirty="0" err="1">
                <a:solidFill>
                  <a:srgbClr val="3D424E"/>
                </a:solidFill>
              </a:rPr>
              <a:t>classificador</a:t>
            </a:r>
            <a:r>
              <a:rPr sz="1600" dirty="0">
                <a:solidFill>
                  <a:srgbClr val="3D424E"/>
                </a:solidFill>
              </a:rPr>
              <a:t> racial </a:t>
            </a:r>
            <a:r>
              <a:rPr sz="1600" dirty="0" err="1">
                <a:solidFill>
                  <a:srgbClr val="3D424E"/>
                </a:solidFill>
              </a:rPr>
              <a:t>pelo</a:t>
            </a:r>
            <a:r>
              <a:rPr sz="1600" dirty="0">
                <a:solidFill>
                  <a:srgbClr val="3D424E"/>
                </a:solidFill>
              </a:rPr>
              <a:t> tom de </a:t>
            </a:r>
            <a:r>
              <a:rPr sz="1600" dirty="0" err="1">
                <a:solidFill>
                  <a:srgbClr val="3D424E"/>
                </a:solidFill>
              </a:rPr>
              <a:t>pele</a:t>
            </a:r>
            <a:r>
              <a:rPr sz="1600" dirty="0">
                <a:solidFill>
                  <a:srgbClr val="3D424E"/>
                </a:solidFill>
              </a:rPr>
              <a:t> (MST) </a:t>
            </a:r>
            <a:r>
              <a:rPr sz="1600" dirty="0" err="1">
                <a:solidFill>
                  <a:srgbClr val="3D424E"/>
                </a:solidFill>
              </a:rPr>
              <a:t>reduz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essa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disparidade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sem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sacrificar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acurácia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agregada</a:t>
            </a:r>
            <a:r>
              <a:rPr sz="1600" dirty="0">
                <a:solidFill>
                  <a:srgbClr val="3D424E"/>
                </a:solidFill>
              </a:rPr>
              <a:t>?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F2A4E"/>
                </a:solidFill>
              </a:rPr>
              <a:t>Objetivo</a:t>
            </a:r>
            <a:r>
              <a:rPr sz="1600" b="1" dirty="0">
                <a:solidFill>
                  <a:srgbClr val="1F2A4E"/>
                </a:solidFill>
              </a:rPr>
              <a:t> </a:t>
            </a:r>
            <a:r>
              <a:rPr sz="1600" b="1" dirty="0" err="1">
                <a:solidFill>
                  <a:srgbClr val="1F2A4E"/>
                </a:solidFill>
              </a:rPr>
              <a:t>geral</a:t>
            </a:r>
            <a:r>
              <a:rPr sz="1600" b="1" dirty="0">
                <a:solidFill>
                  <a:srgbClr val="1F2A4E"/>
                </a:solidFill>
              </a:rPr>
              <a:t>:  </a:t>
            </a:r>
            <a:r>
              <a:rPr sz="1600" dirty="0" err="1">
                <a:solidFill>
                  <a:srgbClr val="3D424E"/>
                </a:solidFill>
              </a:rPr>
              <a:t>desenvolver</a:t>
            </a:r>
            <a:r>
              <a:rPr sz="1600" dirty="0">
                <a:solidFill>
                  <a:srgbClr val="3D424E"/>
                </a:solidFill>
              </a:rPr>
              <a:t> e </a:t>
            </a:r>
            <a:r>
              <a:rPr sz="1600" dirty="0" err="1">
                <a:solidFill>
                  <a:srgbClr val="3D424E"/>
                </a:solidFill>
              </a:rPr>
              <a:t>avaliar</a:t>
            </a:r>
            <a:r>
              <a:rPr sz="1600" dirty="0">
                <a:solidFill>
                  <a:srgbClr val="3D424E"/>
                </a:solidFill>
              </a:rPr>
              <a:t> pipeline de </a:t>
            </a:r>
            <a:r>
              <a:rPr sz="1600" dirty="0" err="1">
                <a:solidFill>
                  <a:srgbClr val="3D424E"/>
                </a:solidFill>
              </a:rPr>
              <a:t>classificação</a:t>
            </a:r>
            <a:r>
              <a:rPr sz="1600" dirty="0">
                <a:solidFill>
                  <a:srgbClr val="3D424E"/>
                </a:solidFill>
              </a:rPr>
              <a:t> racial </a:t>
            </a:r>
            <a:r>
              <a:rPr sz="1600" dirty="0" err="1">
                <a:solidFill>
                  <a:srgbClr val="3D424E"/>
                </a:solidFill>
              </a:rPr>
              <a:t>que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incorpora</a:t>
            </a:r>
            <a:r>
              <a:rPr sz="1600" dirty="0">
                <a:solidFill>
                  <a:srgbClr val="3D424E"/>
                </a:solidFill>
              </a:rPr>
              <a:t> tom de </a:t>
            </a:r>
            <a:r>
              <a:rPr sz="1600" dirty="0" err="1">
                <a:solidFill>
                  <a:srgbClr val="3D424E"/>
                </a:solidFill>
              </a:rPr>
              <a:t>pele</a:t>
            </a:r>
            <a:r>
              <a:rPr sz="1600" dirty="0">
                <a:solidFill>
                  <a:srgbClr val="3D424E"/>
                </a:solidFill>
              </a:rPr>
              <a:t> (</a:t>
            </a:r>
            <a:r>
              <a:rPr sz="1600" dirty="0" err="1">
                <a:solidFill>
                  <a:srgbClr val="3D424E"/>
                </a:solidFill>
              </a:rPr>
              <a:t>escala</a:t>
            </a:r>
            <a:r>
              <a:rPr sz="1600" dirty="0">
                <a:solidFill>
                  <a:srgbClr val="3D424E"/>
                </a:solidFill>
              </a:rPr>
              <a:t> Monk 10 classes) </a:t>
            </a:r>
            <a:r>
              <a:rPr sz="1600" dirty="0" err="1">
                <a:solidFill>
                  <a:srgbClr val="3D424E"/>
                </a:solidFill>
              </a:rPr>
              <a:t>como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sinal</a:t>
            </a:r>
            <a:r>
              <a:rPr sz="1600" dirty="0">
                <a:solidFill>
                  <a:srgbClr val="3D424E"/>
                </a:solidFill>
              </a:rPr>
              <a:t> auxiliar </a:t>
            </a:r>
            <a:r>
              <a:rPr sz="1600" dirty="0" err="1">
                <a:solidFill>
                  <a:srgbClr val="3D424E"/>
                </a:solidFill>
              </a:rPr>
              <a:t>condicionante</a:t>
            </a:r>
            <a:r>
              <a:rPr sz="1600" dirty="0">
                <a:solidFill>
                  <a:srgbClr val="3D424E"/>
                </a:solidFill>
              </a:rPr>
              <a:t> via </a:t>
            </a:r>
            <a:r>
              <a:rPr sz="1600" dirty="0" err="1">
                <a:solidFill>
                  <a:srgbClr val="3D424E"/>
                </a:solidFill>
              </a:rPr>
              <a:t>mecanismo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arquitetural</a:t>
            </a:r>
            <a:r>
              <a:rPr sz="1600" dirty="0">
                <a:solidFill>
                  <a:srgbClr val="3D424E"/>
                </a:solidFill>
              </a:rPr>
              <a:t> (</a:t>
            </a:r>
            <a:r>
              <a:rPr sz="1600" dirty="0" err="1">
                <a:solidFill>
                  <a:srgbClr val="3D424E"/>
                </a:solidFill>
              </a:rPr>
              <a:t>FiLM</a:t>
            </a:r>
            <a:r>
              <a:rPr sz="1600" dirty="0">
                <a:solidFill>
                  <a:srgbClr val="3D424E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F2A4E"/>
                </a:solidFill>
              </a:rPr>
              <a:t>Contribuição</a:t>
            </a:r>
            <a:r>
              <a:rPr sz="1600" b="1" dirty="0">
                <a:solidFill>
                  <a:srgbClr val="1F2A4E"/>
                </a:solidFill>
              </a:rPr>
              <a:t> principal:  </a:t>
            </a:r>
            <a:r>
              <a:rPr sz="1600" dirty="0" err="1">
                <a:solidFill>
                  <a:srgbClr val="3D424E"/>
                </a:solidFill>
              </a:rPr>
              <a:t>primeira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instância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empírica</a:t>
            </a:r>
            <a:r>
              <a:rPr sz="1600" dirty="0">
                <a:solidFill>
                  <a:srgbClr val="3D424E"/>
                </a:solidFill>
              </a:rPr>
              <a:t> de tom de </a:t>
            </a:r>
            <a:r>
              <a:rPr sz="1600" dirty="0" err="1">
                <a:solidFill>
                  <a:srgbClr val="3D424E"/>
                </a:solidFill>
              </a:rPr>
              <a:t>pele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como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contexto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arquitetural</a:t>
            </a:r>
            <a:r>
              <a:rPr sz="1600" dirty="0">
                <a:solidFill>
                  <a:srgbClr val="3D424E"/>
                </a:solidFill>
              </a:rPr>
              <a:t> para race classification multi-</a:t>
            </a:r>
            <a:r>
              <a:rPr sz="1600" dirty="0" err="1">
                <a:solidFill>
                  <a:srgbClr val="3D424E"/>
                </a:solidFill>
              </a:rPr>
              <a:t>classe</a:t>
            </a:r>
            <a:endParaRPr sz="1600" dirty="0">
              <a:solidFill>
                <a:srgbClr val="3D424E"/>
              </a:solidFill>
            </a:endParaRPr>
          </a:p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F2A4E"/>
                </a:solidFill>
              </a:rPr>
              <a:t>Diagnóstico</a:t>
            </a:r>
            <a:r>
              <a:rPr sz="1600" b="1" dirty="0">
                <a:solidFill>
                  <a:srgbClr val="1F2A4E"/>
                </a:solidFill>
              </a:rPr>
              <a:t> central:  </a:t>
            </a:r>
            <a:r>
              <a:rPr sz="1600" dirty="0" err="1">
                <a:solidFill>
                  <a:srgbClr val="3D424E"/>
                </a:solidFill>
              </a:rPr>
              <a:t>erro</a:t>
            </a:r>
            <a:r>
              <a:rPr sz="1600" dirty="0">
                <a:solidFill>
                  <a:srgbClr val="3D424E"/>
                </a:solidFill>
              </a:rPr>
              <a:t> Latinx = </a:t>
            </a:r>
            <a:r>
              <a:rPr sz="1600" dirty="0" err="1">
                <a:solidFill>
                  <a:srgbClr val="3D424E"/>
                </a:solidFill>
              </a:rPr>
              <a:t>componente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fenotípico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irredutível</a:t>
            </a:r>
            <a:r>
              <a:rPr sz="1600" dirty="0">
                <a:solidFill>
                  <a:srgbClr val="3D424E"/>
                </a:solidFill>
              </a:rPr>
              <a:t> (overlap MST) + </a:t>
            </a:r>
            <a:r>
              <a:rPr sz="1600" dirty="0" err="1">
                <a:solidFill>
                  <a:srgbClr val="3D424E"/>
                </a:solidFill>
              </a:rPr>
              <a:t>componente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algorítmico</a:t>
            </a:r>
            <a:r>
              <a:rPr sz="1600" dirty="0">
                <a:solidFill>
                  <a:srgbClr val="3D424E"/>
                </a:solidFill>
              </a:rPr>
              <a:t> — a </a:t>
            </a:r>
            <a:r>
              <a:rPr sz="1600" dirty="0" err="1">
                <a:solidFill>
                  <a:srgbClr val="3D424E"/>
                </a:solidFill>
              </a:rPr>
              <a:t>decomposição</a:t>
            </a:r>
            <a:r>
              <a:rPr sz="1600" dirty="0">
                <a:solidFill>
                  <a:srgbClr val="3D424E"/>
                </a:solidFill>
              </a:rPr>
              <a:t> é o </a:t>
            </a:r>
            <a:r>
              <a:rPr sz="1600" dirty="0" err="1">
                <a:solidFill>
                  <a:srgbClr val="3D424E"/>
                </a:solidFill>
              </a:rPr>
              <a:t>diferencial</a:t>
            </a:r>
            <a:r>
              <a:rPr sz="1600" dirty="0">
                <a:solidFill>
                  <a:srgbClr val="3D424E"/>
                </a:solidFill>
              </a:rPr>
              <a:t> da </a:t>
            </a:r>
            <a:r>
              <a:rPr sz="1600" dirty="0" err="1">
                <a:solidFill>
                  <a:srgbClr val="3D424E"/>
                </a:solidFill>
              </a:rPr>
              <a:t>tese</a:t>
            </a:r>
            <a:endParaRPr sz="1600" dirty="0">
              <a:solidFill>
                <a:srgbClr val="3D424E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MST vs Fitzpatrick: 10 vs 6 classes, projetado para CV vs dermatologia. FiLM vs concatenação: modula vs re-aprende.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Corpus consolidado — 104 fichas em 11 linhas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03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Linha de pesquisa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 corpus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Papers-âncora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 — Race classification multi-classe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Kärkkäinen 2021 (FairFace), AlDahoul 2024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 — Face recognition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15,4 %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Wang RFW 2019, Robinson BFW 2020, Deng ArcFace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 — Skin tone alternativo (Fitzpatrick, MST, ITA)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Schumann 2023 (MST), Pereira 2026 (SkinToneNet)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 — Mitigação algorítmica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9,6 %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Madras LAFTR 2018, Sagawa Group DRO 2020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 — Auditoria e Surveys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Buolamwini 2018, Mehrabi 2021 survey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 — Fundamentação científica e ética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2,9 %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Fuentes AAPA 2019, Lewontin 1972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 — Mecanismos ML paradigmáticos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8,7 %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Perez FiLM 2018, Ba LayerNorm, He ResNet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 — VLM / CLIP em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Radford CLIP 2021, Luo FairCLIP 2024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 — Conditioning moderno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Liu ConvNeXt 2022, Dhariwal ADM 2021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 — Fundadores de FR (DeepFace, ArcFace, CosFace)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Taigman DeepFace 2014, Wang CosFace 2018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 — Auxiliar / complementar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Karkkainen datasets, Hendrycks robustness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R8 — Diversidade Latinx (antropo + genética + socio)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2,9 %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Telles 2014, Bryc 2015, Pew 2017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Fronteira temporal: 55 fichas (53 %) são 2024+, incluindo 5 papers de 2026 — corpus na fronteira absoluta.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rPr dirty="0" err="1"/>
              <a:t>Cronograma</a:t>
            </a:r>
            <a:r>
              <a:rPr dirty="0"/>
              <a:t> </a:t>
            </a:r>
            <a:r>
              <a:rPr lang="pt-BR" dirty="0" err="1"/>
              <a:t>Proximos</a:t>
            </a:r>
            <a:r>
              <a:rPr lang="pt-BR" dirty="0"/>
              <a:t> Passos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286153"/>
              </p:ext>
            </p:extLst>
          </p:nvPr>
        </p:nvGraphicFramePr>
        <p:xfrm>
          <a:off x="457200" y="1371600"/>
          <a:ext cx="11430000" cy="39520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6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357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84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61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589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Marco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Comentário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Primeira revisão da qualificação ao orientador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15/jul/2026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1600" dirty="0">
                        <a:solidFill>
                          <a:srgbClr val="3D424E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Pedido formal de qualificação ao PPG-CC / 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30/jul/2026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1600" dirty="0">
                        <a:solidFill>
                          <a:srgbClr val="3D424E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Defesa da 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D424E"/>
                          </a:solidFill>
                        </a:rPr>
                        <a:t>outubro</a:t>
                      </a:r>
                      <a:r>
                        <a:rPr sz="1600" dirty="0">
                          <a:solidFill>
                            <a:srgbClr val="3D424E"/>
                          </a:solidFill>
                        </a:rPr>
                        <a:t>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dirty="0" err="1">
                          <a:solidFill>
                            <a:srgbClr val="3D424E"/>
                          </a:solidFill>
                        </a:rPr>
                        <a:t>Ajuste</a:t>
                      </a:r>
                      <a:r>
                        <a:rPr sz="1600" dirty="0">
                          <a:solidFill>
                            <a:srgbClr val="3D424E"/>
                          </a:solidFill>
                        </a:rPr>
                        <a:t> de </a:t>
                      </a:r>
                      <a:r>
                        <a:rPr sz="1600" dirty="0" err="1">
                          <a:solidFill>
                            <a:srgbClr val="3D424E"/>
                          </a:solidFill>
                        </a:rPr>
                        <a:t>agosto</a:t>
                      </a:r>
                      <a:r>
                        <a:rPr sz="1600" dirty="0">
                          <a:solidFill>
                            <a:srgbClr val="3D424E"/>
                          </a:solidFill>
                        </a:rPr>
                        <a:t> → </a:t>
                      </a:r>
                      <a:r>
                        <a:rPr sz="1600" dirty="0" err="1">
                          <a:solidFill>
                            <a:srgbClr val="3D424E"/>
                          </a:solidFill>
                        </a:rPr>
                        <a:t>outubro</a:t>
                      </a:r>
                      <a:r>
                        <a:rPr sz="1600" dirty="0">
                          <a:solidFill>
                            <a:srgbClr val="3D424E"/>
                          </a:solidFill>
                        </a:rPr>
                        <a:t> (</a:t>
                      </a:r>
                      <a:r>
                        <a:rPr sz="1600" dirty="0" err="1">
                          <a:solidFill>
                            <a:srgbClr val="3D424E"/>
                          </a:solidFill>
                        </a:rPr>
                        <a:t>extensão</a:t>
                      </a:r>
                      <a:r>
                        <a:rPr sz="1600" dirty="0">
                          <a:solidFill>
                            <a:srgbClr val="3D424E"/>
                          </a:solidFill>
                        </a:rPr>
                        <a:t> de 2 meses </a:t>
                      </a:r>
                      <a:r>
                        <a:rPr sz="1600" dirty="0" err="1">
                          <a:solidFill>
                            <a:srgbClr val="3D424E"/>
                          </a:solidFill>
                        </a:rPr>
                        <a:t>solicitada</a:t>
                      </a:r>
                      <a:r>
                        <a:rPr sz="1600" dirty="0">
                          <a:solidFill>
                            <a:srgbClr val="3D424E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Estado da escrita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O que já está escrito e como vai virar Overleaf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Estado real da escrita — 5 capítulos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Cap 1 — </a:t>
            </a:r>
            <a:r>
              <a:rPr sz="1600" b="1" dirty="0" err="1">
                <a:solidFill>
                  <a:srgbClr val="1F2A4E"/>
                </a:solidFill>
              </a:rPr>
              <a:t>Introdução</a:t>
            </a:r>
            <a:r>
              <a:rPr sz="1600" b="1" dirty="0">
                <a:solidFill>
                  <a:srgbClr val="1F2A4E"/>
                </a:solidFill>
              </a:rPr>
              <a:t>:  </a:t>
            </a:r>
            <a:r>
              <a:rPr sz="1600" dirty="0" err="1">
                <a:solidFill>
                  <a:srgbClr val="3D424E"/>
                </a:solidFill>
              </a:rPr>
              <a:t>corpo</a:t>
            </a:r>
            <a:r>
              <a:rPr sz="1600" dirty="0">
                <a:solidFill>
                  <a:srgbClr val="3D424E"/>
                </a:solidFill>
              </a:rPr>
              <a:t> pronto; </a:t>
            </a:r>
            <a:r>
              <a:rPr sz="1600" dirty="0" err="1">
                <a:solidFill>
                  <a:srgbClr val="3D424E"/>
                </a:solidFill>
              </a:rPr>
              <a:t>ancora</a:t>
            </a:r>
            <a:r>
              <a:rPr sz="1600" dirty="0">
                <a:solidFill>
                  <a:srgbClr val="3D424E"/>
                </a:solidFill>
              </a:rPr>
              <a:t> a </a:t>
            </a:r>
            <a:r>
              <a:rPr sz="1600" dirty="0" err="1">
                <a:solidFill>
                  <a:srgbClr val="3D424E"/>
                </a:solidFill>
              </a:rPr>
              <a:t>disparidade</a:t>
            </a:r>
            <a:r>
              <a:rPr sz="1600" dirty="0">
                <a:solidFill>
                  <a:srgbClr val="3D424E"/>
                </a:solidFill>
              </a:rPr>
              <a:t> Black 90 % × Latinx 60 % e a </a:t>
            </a:r>
            <a:r>
              <a:rPr sz="1600" dirty="0" err="1">
                <a:solidFill>
                  <a:srgbClr val="3D424E"/>
                </a:solidFill>
              </a:rPr>
              <a:t>pergunta</a:t>
            </a:r>
            <a:r>
              <a:rPr sz="1600" dirty="0">
                <a:solidFill>
                  <a:srgbClr val="3D424E"/>
                </a:solidFill>
              </a:rPr>
              <a:t> de </a:t>
            </a:r>
            <a:r>
              <a:rPr sz="1600" dirty="0" err="1">
                <a:solidFill>
                  <a:srgbClr val="3D424E"/>
                </a:solidFill>
              </a:rPr>
              <a:t>pesquisa</a:t>
            </a:r>
            <a:endParaRPr sz="1600" dirty="0">
              <a:solidFill>
                <a:srgbClr val="3D424E"/>
              </a:solidFill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Cap 2 — </a:t>
            </a:r>
            <a:r>
              <a:rPr sz="1600" b="1" dirty="0" err="1">
                <a:solidFill>
                  <a:srgbClr val="1F2A4E"/>
                </a:solidFill>
              </a:rPr>
              <a:t>Revisão</a:t>
            </a:r>
            <a:r>
              <a:rPr sz="1600" b="1" dirty="0">
                <a:solidFill>
                  <a:srgbClr val="1F2A4E"/>
                </a:solidFill>
              </a:rPr>
              <a:t>:  </a:t>
            </a:r>
            <a:r>
              <a:rPr sz="1600" dirty="0" err="1">
                <a:solidFill>
                  <a:srgbClr val="3D424E"/>
                </a:solidFill>
              </a:rPr>
              <a:t>corpo</a:t>
            </a:r>
            <a:r>
              <a:rPr sz="1600" dirty="0">
                <a:solidFill>
                  <a:srgbClr val="3D424E"/>
                </a:solidFill>
              </a:rPr>
              <a:t> pronto; fairness (</a:t>
            </a:r>
            <a:r>
              <a:rPr sz="1600" dirty="0" err="1">
                <a:solidFill>
                  <a:srgbClr val="3D424E"/>
                </a:solidFill>
              </a:rPr>
              <a:t>Buolamwini</a:t>
            </a:r>
            <a:r>
              <a:rPr sz="1600" dirty="0">
                <a:solidFill>
                  <a:srgbClr val="3D424E"/>
                </a:solidFill>
              </a:rPr>
              <a:t>, Hardt, Kleinberg) + MST (Schumann, Pereira) + </a:t>
            </a:r>
            <a:r>
              <a:rPr sz="1600" dirty="0" err="1">
                <a:solidFill>
                  <a:srgbClr val="3D424E"/>
                </a:solidFill>
              </a:rPr>
              <a:t>FiLM</a:t>
            </a:r>
            <a:r>
              <a:rPr sz="1600" dirty="0">
                <a:solidFill>
                  <a:srgbClr val="3D424E"/>
                </a:solidFill>
              </a:rPr>
              <a:t> (Perez)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Cap 3 — </a:t>
            </a:r>
            <a:r>
              <a:rPr sz="1600" b="1" dirty="0" err="1">
                <a:solidFill>
                  <a:srgbClr val="1F2A4E"/>
                </a:solidFill>
              </a:rPr>
              <a:t>Objetivos</a:t>
            </a:r>
            <a:r>
              <a:rPr sz="1600" b="1" dirty="0">
                <a:solidFill>
                  <a:srgbClr val="1F2A4E"/>
                </a:solidFill>
              </a:rPr>
              <a:t>:  </a:t>
            </a:r>
            <a:r>
              <a:rPr sz="1600" dirty="0" err="1">
                <a:solidFill>
                  <a:srgbClr val="3D424E"/>
                </a:solidFill>
              </a:rPr>
              <a:t>corpo</a:t>
            </a:r>
            <a:r>
              <a:rPr sz="1600" dirty="0">
                <a:solidFill>
                  <a:srgbClr val="3D424E"/>
                </a:solidFill>
              </a:rPr>
              <a:t> pronto; OG + 6 OE + 6 </a:t>
            </a:r>
            <a:r>
              <a:rPr sz="1600" dirty="0" err="1">
                <a:solidFill>
                  <a:srgbClr val="3D424E"/>
                </a:solidFill>
              </a:rPr>
              <a:t>hipóteses</a:t>
            </a:r>
            <a:r>
              <a:rPr sz="1600" dirty="0">
                <a:solidFill>
                  <a:srgbClr val="3D424E"/>
                </a:solidFill>
              </a:rPr>
              <a:t> + 7 </a:t>
            </a:r>
            <a:r>
              <a:rPr sz="1600" dirty="0" err="1">
                <a:solidFill>
                  <a:srgbClr val="3D424E"/>
                </a:solidFill>
              </a:rPr>
              <a:t>contribuições</a:t>
            </a:r>
            <a:endParaRPr sz="1600" dirty="0">
              <a:solidFill>
                <a:srgbClr val="3D424E"/>
              </a:solidFill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Cap 4 — </a:t>
            </a:r>
            <a:r>
              <a:rPr sz="1600" b="1" dirty="0" err="1">
                <a:solidFill>
                  <a:srgbClr val="1F2A4E"/>
                </a:solidFill>
              </a:rPr>
              <a:t>Metodologia</a:t>
            </a:r>
            <a:r>
              <a:rPr sz="1600" b="1" dirty="0">
                <a:solidFill>
                  <a:srgbClr val="1F2A4E"/>
                </a:solidFill>
              </a:rPr>
              <a:t>:  </a:t>
            </a:r>
            <a:r>
              <a:rPr sz="1600" dirty="0" err="1">
                <a:solidFill>
                  <a:srgbClr val="3D424E"/>
                </a:solidFill>
              </a:rPr>
              <a:t>corpo</a:t>
            </a:r>
            <a:r>
              <a:rPr sz="1600" dirty="0">
                <a:solidFill>
                  <a:srgbClr val="3D424E"/>
                </a:solidFill>
              </a:rPr>
              <a:t> pronto; pipeline 6 </a:t>
            </a:r>
            <a:r>
              <a:rPr sz="1600" dirty="0" err="1">
                <a:solidFill>
                  <a:srgbClr val="3D424E"/>
                </a:solidFill>
              </a:rPr>
              <a:t>etapas</a:t>
            </a:r>
            <a:r>
              <a:rPr sz="1600" dirty="0">
                <a:solidFill>
                  <a:srgbClr val="3D424E"/>
                </a:solidFill>
              </a:rPr>
              <a:t> + 4 </a:t>
            </a:r>
            <a:r>
              <a:rPr sz="1600" dirty="0" err="1">
                <a:solidFill>
                  <a:srgbClr val="3D424E"/>
                </a:solidFill>
              </a:rPr>
              <a:t>configurações</a:t>
            </a:r>
            <a:r>
              <a:rPr sz="1600" dirty="0">
                <a:solidFill>
                  <a:srgbClr val="3D424E"/>
                </a:solidFill>
              </a:rPr>
              <a:t> + </a:t>
            </a:r>
            <a:r>
              <a:rPr sz="1600" dirty="0" err="1">
                <a:solidFill>
                  <a:srgbClr val="3D424E"/>
                </a:solidFill>
              </a:rPr>
              <a:t>adequação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ética</a:t>
            </a:r>
            <a:r>
              <a:rPr sz="1600" dirty="0">
                <a:solidFill>
                  <a:srgbClr val="3D424E"/>
                </a:solidFill>
              </a:rPr>
              <a:t> CEP </a:t>
            </a:r>
            <a:r>
              <a:rPr sz="1600" dirty="0" err="1">
                <a:solidFill>
                  <a:srgbClr val="3D424E"/>
                </a:solidFill>
              </a:rPr>
              <a:t>resolvida</a:t>
            </a:r>
            <a:endParaRPr sz="1600" dirty="0">
              <a:solidFill>
                <a:srgbClr val="3D424E"/>
              </a:solidFill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Cap 5 — </a:t>
            </a:r>
            <a:r>
              <a:rPr sz="1600" b="1" dirty="0" err="1">
                <a:solidFill>
                  <a:srgbClr val="1F2A4E"/>
                </a:solidFill>
              </a:rPr>
              <a:t>Cronograma</a:t>
            </a:r>
            <a:r>
              <a:rPr sz="1600" b="1" dirty="0">
                <a:solidFill>
                  <a:srgbClr val="1F2A4E"/>
                </a:solidFill>
              </a:rPr>
              <a:t>:  </a:t>
            </a:r>
            <a:r>
              <a:rPr sz="1600" dirty="0" err="1">
                <a:solidFill>
                  <a:srgbClr val="3D424E"/>
                </a:solidFill>
              </a:rPr>
              <a:t>único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que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fecha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depois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desta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reunião</a:t>
            </a:r>
            <a:r>
              <a:rPr sz="1600" dirty="0">
                <a:solidFill>
                  <a:srgbClr val="3D424E"/>
                </a:solidFill>
              </a:rPr>
              <a:t> (</a:t>
            </a:r>
            <a:r>
              <a:rPr sz="1600" dirty="0" err="1">
                <a:solidFill>
                  <a:srgbClr val="3D424E"/>
                </a:solidFill>
              </a:rPr>
              <a:t>marcos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ajustados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hoje</a:t>
            </a:r>
            <a:r>
              <a:rPr sz="1600" dirty="0">
                <a:solidFill>
                  <a:srgbClr val="3D424E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Formato:  </a:t>
            </a:r>
            <a:r>
              <a:rPr sz="1600" dirty="0">
                <a:solidFill>
                  <a:srgbClr val="3D424E"/>
                </a:solidFill>
              </a:rPr>
              <a:t>Markdown </a:t>
            </a:r>
            <a:r>
              <a:rPr sz="1600" dirty="0" err="1">
                <a:solidFill>
                  <a:srgbClr val="3D424E"/>
                </a:solidFill>
              </a:rPr>
              <a:t>estruturado</a:t>
            </a:r>
            <a:r>
              <a:rPr lang="pt-BR" sz="1600" dirty="0">
                <a:solidFill>
                  <a:srgbClr val="3D424E"/>
                </a:solidFill>
              </a:rPr>
              <a:t> com o uso de LLM</a:t>
            </a:r>
            <a:r>
              <a:rPr sz="1600" dirty="0">
                <a:solidFill>
                  <a:srgbClr val="3D424E"/>
                </a:solidFill>
              </a:rPr>
              <a:t>; </a:t>
            </a:r>
            <a:r>
              <a:rPr lang="pt-BR" sz="1600" dirty="0">
                <a:solidFill>
                  <a:srgbClr val="3D424E"/>
                </a:solidFill>
              </a:rPr>
              <a:t>migração</a:t>
            </a:r>
            <a:r>
              <a:rPr sz="1600" dirty="0">
                <a:solidFill>
                  <a:srgbClr val="3D424E"/>
                </a:solidFill>
              </a:rPr>
              <a:t> manual para LaTeX/Overleaf </a:t>
            </a:r>
            <a:r>
              <a:rPr sz="1600" dirty="0" err="1">
                <a:solidFill>
                  <a:srgbClr val="3D424E"/>
                </a:solidFill>
              </a:rPr>
              <a:t>nos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próximos</a:t>
            </a:r>
            <a:r>
              <a:rPr sz="1600" dirty="0">
                <a:solidFill>
                  <a:srgbClr val="3D424E"/>
                </a:solidFill>
              </a:rPr>
              <a:t> 7 </a:t>
            </a:r>
            <a:r>
              <a:rPr sz="1600" dirty="0" err="1">
                <a:solidFill>
                  <a:srgbClr val="3D424E"/>
                </a:solidFill>
              </a:rPr>
              <a:t>dias</a:t>
            </a:r>
            <a:endParaRPr sz="1600" dirty="0">
              <a:solidFill>
                <a:srgbClr val="3D424E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Pipeline proposto — seis etapas encadeadas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791779"/>
              </p:ext>
            </p:extLst>
          </p:nvPr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faz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Entrega / contribuição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1. Classificador MST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SkinToneNet pré-treinado + validação interna em subset FairFace estratificado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Insumo do pipeline (não é contribuição)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 Auditoria FairFace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Aplicar SkinToneNet sobre todo FairFace validation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Matriz pública MST × race classes — Contribuição C2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3. Race classifier com conditioning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fine-tuned em FairFace, camadas FiLM por estágio recebendo vetor MST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Configurações A/B/C/D — Contribuição C3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4. Comparação contra baselines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</a:rPr>
                        <a:t>6 baselines: ResNet-34,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ConvNeXt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-T puro, FSCL+, Group DRO,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FineFACE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, Adversarial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Triangulação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DR + worst-class F1 +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EO_h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—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Contribuição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C4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 Fair transferência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Aplicar backbone fair em face recognition downstream (RFW ou BFW)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Demonstração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de fair transfer —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Contribuição</a:t>
                      </a:r>
                      <a:r>
                        <a:rPr lang="pt-BR" sz="1100" dirty="0">
                          <a:solidFill>
                            <a:srgbClr val="3D424E"/>
                          </a:solidFill>
                        </a:rPr>
                        <a:t> C5</a:t>
                      </a:r>
                      <a:endParaRPr sz="1100" dirty="0">
                        <a:solidFill>
                          <a:srgbClr val="3D424E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6. Síntese decompositiva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Combinar C2 + C5 para separar componente fenotípico do algorítmico do erro Latinx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Decomposição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pixel info × skin tone —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Contribuição</a:t>
                      </a:r>
                      <a:r>
                        <a:rPr lang="pt-BR" sz="1100" dirty="0">
                          <a:solidFill>
                            <a:srgbClr val="3D424E"/>
                          </a:solidFill>
                        </a:rPr>
                        <a:t> C6/OE-6</a:t>
                      </a:r>
                      <a:endParaRPr sz="1100" dirty="0">
                        <a:solidFill>
                          <a:srgbClr val="3D424E"/>
                        </a:solidFill>
                      </a:endParaRP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Quatro configurações do estudo comparativo (Etapa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7245253"/>
              </p:ext>
            </p:extLst>
          </p:nvPr>
        </p:nvGraphicFramePr>
        <p:xfrm>
          <a:off x="457200" y="1371600"/>
          <a:ext cx="1142999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3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5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07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96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Backbone + conditioning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Sinal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Papel no estudo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ConvNeXt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-T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sem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de controle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ConvNeXt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-T +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FiLM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linear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3D424E"/>
                          </a:solidFill>
                        </a:rPr>
                        <a:t>MST 10-dim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Proposta principal — hipótese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ConvNeXt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-T + Gated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FiLM</a:t>
                      </a:r>
                      <a:endParaRPr sz="1100" dirty="0">
                        <a:solidFill>
                          <a:srgbClr val="3D424E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 (não-linear)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Ablação: linear vs não-linear importa?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512-dim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Recomendação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da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reunião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15/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jun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— CLIP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como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alternativa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moderna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B é a proposta central. C isola a não-linearidade. D compara com sinal semântico rico via CLIP.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Validação externa via NotebookLM — 7 perguntas de defesa antecipadas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Pergunta submetida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Veredito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Ponto-chave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Tese é nova?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em fairness facial é inédito; matriz MST × FairFace preenche gap de Pereira 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Valor científico?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Elevado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Diagnóstico estrutural fenotípico × algorítmico + European AI Act 2024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Divergências / SOTA?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FaceScanPaliGemma 75,7 % acc; Pangelinan 2023 refuta via 'pixel info' (endereçado por H6)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Faltam artigos?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Latinx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Diversidade intra-Latinx monolítica — respondido pela Rodada 8 (Telles/Bryc/Pew)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Furos e gaps?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 pontos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Dependência SkinToneNet (mitigado por sensitivity analysis); escalabilidade além FairFace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Corpus atualizado?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Fronteira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Papers 2026 já cobertos (Pereira, AlDahoul, Lian)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defensável?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Sequenciamento + controle de confounders + ablação + rigor estatístico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Veredito NotebookLM: "trabalho bem estruturado, contribuições claras, fundamentado em literatura de ponta. Ponto crítico da defesa: decomposição do erro Latinx".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Cinco caminhos possíveis para mitigar viés — por que escolhi FiLM + MST + Decomposição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568458"/>
              </p:ext>
            </p:extLst>
          </p:nvPr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73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6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61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Caminho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Posição relativa à minha proposta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1. Condicionamento arquitetural (FiLM)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Modular features do backbone com tom de pele como sinal auxiliar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Caminho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que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adotei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—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inédito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em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fairness facial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 Decomposição fenotípico × algorítmico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Separar erro irredutível de erro mitigável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Adotei — OE-6 na v3.6 formaliza isso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3. Destilação de conhecimento (MST-KD)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Múltiplos professores enviesados por etnia → estudante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avaliada — abandonada por custo computacional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4. Intervenção geométrica em embeddings (SPD/SFID)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Projeção ortogonal ao subespaço do viés em VLMs — training-free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Complementar — cobrimos parcialmente via configuração D (FiLM-CLIP)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 Rótulos demográficos contínuos (Ethnicity 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Etnia como espectro contínuo, não categoria discreta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Interseciona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com MST — MST é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já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uma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discretização</a:t>
                      </a:r>
                      <a:r>
                        <a:rPr sz="1100" dirty="0">
                          <a:solidFill>
                            <a:srgbClr val="3D424E"/>
                          </a:solidFill>
                        </a:rPr>
                        <a:t> de </a:t>
                      </a:r>
                      <a:r>
                        <a:rPr sz="1100" dirty="0" err="1">
                          <a:solidFill>
                            <a:srgbClr val="3D424E"/>
                          </a:solidFill>
                        </a:rPr>
                        <a:t>espectro</a:t>
                      </a:r>
                      <a:endParaRPr sz="1100" dirty="0">
                        <a:solidFill>
                          <a:srgbClr val="3D424E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Adotei os caminhos 1 + 2 combinados. Deixo 3-5 declarados em Cap 4 como alternativas ponderadas e não adotadas.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 err="1"/>
              <a:t>Decisão</a:t>
            </a:r>
            <a:r>
              <a:rPr dirty="0"/>
              <a:t> </a:t>
            </a:r>
            <a:r>
              <a:rPr dirty="0" err="1"/>
              <a:t>ética</a:t>
            </a:r>
            <a:endParaRPr lang="pt-BR" dirty="0"/>
          </a:p>
          <a:p>
            <a:pPr>
              <a:defRPr sz="1800">
                <a:solidFill>
                  <a:srgbClr val="E8EAED"/>
                </a:solidFill>
              </a:defRPr>
            </a:pPr>
            <a:r>
              <a:rPr lang="pt-BR" dirty="0"/>
              <a:t>Preciso validar o enquadramento no Art. 8º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Contexto e trade-off que enfrentei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O </a:t>
            </a:r>
            <a:r>
              <a:rPr sz="1600" b="1" dirty="0" err="1">
                <a:solidFill>
                  <a:srgbClr val="1F2A4E"/>
                </a:solidFill>
              </a:rPr>
              <a:t>gatilho</a:t>
            </a:r>
            <a:r>
              <a:rPr sz="1600" b="1" dirty="0">
                <a:solidFill>
                  <a:srgbClr val="1F2A4E"/>
                </a:solidFill>
              </a:rPr>
              <a:t>:  </a:t>
            </a:r>
            <a:r>
              <a:rPr sz="1600" dirty="0">
                <a:solidFill>
                  <a:srgbClr val="3D424E"/>
                </a:solidFill>
              </a:rPr>
              <a:t>no OE-1 original </a:t>
            </a:r>
            <a:r>
              <a:rPr sz="1600" dirty="0" err="1">
                <a:solidFill>
                  <a:srgbClr val="3D424E"/>
                </a:solidFill>
              </a:rPr>
              <a:t>eu</a:t>
            </a:r>
            <a:r>
              <a:rPr sz="1600" dirty="0">
                <a:solidFill>
                  <a:srgbClr val="3D424E"/>
                </a:solidFill>
              </a:rPr>
              <a:t> previa </a:t>
            </a:r>
            <a:r>
              <a:rPr sz="1600" dirty="0" err="1">
                <a:solidFill>
                  <a:srgbClr val="3D424E"/>
                </a:solidFill>
              </a:rPr>
              <a:t>validar</a:t>
            </a:r>
            <a:r>
              <a:rPr sz="1600" dirty="0">
                <a:solidFill>
                  <a:srgbClr val="3D424E"/>
                </a:solidFill>
              </a:rPr>
              <a:t> MST </a:t>
            </a:r>
            <a:r>
              <a:rPr sz="1600" dirty="0" err="1">
                <a:solidFill>
                  <a:srgbClr val="3D424E"/>
                </a:solidFill>
              </a:rPr>
              <a:t>em</a:t>
            </a:r>
            <a:r>
              <a:rPr sz="1600" dirty="0">
                <a:solidFill>
                  <a:srgbClr val="3D424E"/>
                </a:solidFill>
              </a:rPr>
              <a:t> ~700 </a:t>
            </a:r>
            <a:r>
              <a:rPr sz="1600" dirty="0" err="1">
                <a:solidFill>
                  <a:srgbClr val="3D424E"/>
                </a:solidFill>
              </a:rPr>
              <a:t>imgs</a:t>
            </a:r>
            <a:r>
              <a:rPr sz="1600" dirty="0">
                <a:solidFill>
                  <a:srgbClr val="3D424E"/>
                </a:solidFill>
              </a:rPr>
              <a:t> × 3 </a:t>
            </a:r>
            <a:r>
              <a:rPr sz="1600" dirty="0" err="1">
                <a:solidFill>
                  <a:srgbClr val="3D424E"/>
                </a:solidFill>
              </a:rPr>
              <a:t>anotadores</a:t>
            </a:r>
            <a:r>
              <a:rPr sz="1600" dirty="0">
                <a:solidFill>
                  <a:srgbClr val="3D424E"/>
                </a:solidFill>
              </a:rPr>
              <a:t> via Prolific — crowdsourcing </a:t>
            </a:r>
            <a:r>
              <a:rPr sz="1600" dirty="0" err="1">
                <a:solidFill>
                  <a:srgbClr val="3D424E"/>
                </a:solidFill>
              </a:rPr>
              <a:t>pago</a:t>
            </a:r>
            <a:r>
              <a:rPr sz="1600" dirty="0">
                <a:solidFill>
                  <a:srgbClr val="3D424E"/>
                </a:solidFill>
              </a:rPr>
              <a:t>, </a:t>
            </a:r>
            <a:r>
              <a:rPr sz="1600" dirty="0" err="1">
                <a:solidFill>
                  <a:srgbClr val="3D424E"/>
                </a:solidFill>
              </a:rPr>
              <a:t>margem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cinzenta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perante</a:t>
            </a:r>
            <a:r>
              <a:rPr sz="1600" dirty="0">
                <a:solidFill>
                  <a:srgbClr val="3D424E"/>
                </a:solidFill>
              </a:rPr>
              <a:t> Res. 200/2021 do CONSU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F2A4E"/>
                </a:solidFill>
              </a:rPr>
              <a:t>Opção</a:t>
            </a:r>
            <a:r>
              <a:rPr sz="1600" b="1" dirty="0">
                <a:solidFill>
                  <a:srgbClr val="1F2A4E"/>
                </a:solidFill>
              </a:rPr>
              <a:t> A — </a:t>
            </a:r>
            <a:r>
              <a:rPr sz="1600" b="1" dirty="0" err="1">
                <a:solidFill>
                  <a:srgbClr val="1F2A4E"/>
                </a:solidFill>
              </a:rPr>
              <a:t>manter</a:t>
            </a:r>
            <a:r>
              <a:rPr sz="1600" b="1" dirty="0">
                <a:solidFill>
                  <a:srgbClr val="1F2A4E"/>
                </a:solidFill>
              </a:rPr>
              <a:t> Prolific:  </a:t>
            </a:r>
            <a:r>
              <a:rPr sz="1600" dirty="0" err="1">
                <a:solidFill>
                  <a:srgbClr val="3D424E"/>
                </a:solidFill>
              </a:rPr>
              <a:t>amostra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maior</a:t>
            </a:r>
            <a:r>
              <a:rPr sz="1600" dirty="0">
                <a:solidFill>
                  <a:srgbClr val="3D424E"/>
                </a:solidFill>
              </a:rPr>
              <a:t> (2.100 </a:t>
            </a:r>
            <a:r>
              <a:rPr sz="1600" dirty="0" err="1">
                <a:solidFill>
                  <a:srgbClr val="3D424E"/>
                </a:solidFill>
              </a:rPr>
              <a:t>anotações</a:t>
            </a:r>
            <a:r>
              <a:rPr sz="1600" dirty="0">
                <a:solidFill>
                  <a:srgbClr val="3D424E"/>
                </a:solidFill>
              </a:rPr>
              <a:t>), mas </a:t>
            </a:r>
            <a:r>
              <a:rPr sz="1600" dirty="0" err="1">
                <a:solidFill>
                  <a:srgbClr val="3D424E"/>
                </a:solidFill>
              </a:rPr>
              <a:t>exige</a:t>
            </a:r>
            <a:r>
              <a:rPr sz="1600" dirty="0">
                <a:solidFill>
                  <a:srgbClr val="3D424E"/>
                </a:solidFill>
              </a:rPr>
              <a:t> CEP com </a:t>
            </a:r>
            <a:r>
              <a:rPr sz="1600" dirty="0" err="1">
                <a:solidFill>
                  <a:srgbClr val="3D424E"/>
                </a:solidFill>
              </a:rPr>
              <a:t>prazo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estimado</a:t>
            </a:r>
            <a:r>
              <a:rPr sz="1600" dirty="0">
                <a:solidFill>
                  <a:srgbClr val="3D424E"/>
                </a:solidFill>
              </a:rPr>
              <a:t> de 2-3 meses — </a:t>
            </a:r>
            <a:r>
              <a:rPr sz="1600" dirty="0" err="1">
                <a:solidFill>
                  <a:srgbClr val="3D424E"/>
                </a:solidFill>
              </a:rPr>
              <a:t>bloqueia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defesa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em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outubro</a:t>
            </a:r>
            <a:endParaRPr sz="1600" dirty="0">
              <a:solidFill>
                <a:srgbClr val="3D424E"/>
              </a:solidFill>
            </a:endParaRPr>
          </a:p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F2A4E"/>
                </a:solidFill>
              </a:rPr>
              <a:t>Opção</a:t>
            </a:r>
            <a:r>
              <a:rPr sz="1600" b="1" dirty="0">
                <a:solidFill>
                  <a:srgbClr val="1F2A4E"/>
                </a:solidFill>
              </a:rPr>
              <a:t> B — </a:t>
            </a:r>
            <a:r>
              <a:rPr sz="1600" b="1" dirty="0" err="1">
                <a:solidFill>
                  <a:srgbClr val="1F2A4E"/>
                </a:solidFill>
              </a:rPr>
              <a:t>abandonar</a:t>
            </a:r>
            <a:r>
              <a:rPr sz="1600" b="1" dirty="0">
                <a:solidFill>
                  <a:srgbClr val="1F2A4E"/>
                </a:solidFill>
              </a:rPr>
              <a:t> </a:t>
            </a:r>
            <a:r>
              <a:rPr sz="1600" b="1" dirty="0" err="1">
                <a:solidFill>
                  <a:srgbClr val="1F2A4E"/>
                </a:solidFill>
              </a:rPr>
              <a:t>validação</a:t>
            </a:r>
            <a:r>
              <a:rPr sz="1600" b="1" dirty="0">
                <a:solidFill>
                  <a:srgbClr val="1F2A4E"/>
                </a:solidFill>
              </a:rPr>
              <a:t> humana:  </a:t>
            </a:r>
            <a:r>
              <a:rPr sz="1600" dirty="0" err="1">
                <a:solidFill>
                  <a:srgbClr val="3D424E"/>
                </a:solidFill>
              </a:rPr>
              <a:t>SkinToneNet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como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oráculo</a:t>
            </a:r>
            <a:r>
              <a:rPr sz="1600" dirty="0">
                <a:solidFill>
                  <a:srgbClr val="3D424E"/>
                </a:solidFill>
              </a:rPr>
              <a:t> — </a:t>
            </a:r>
            <a:r>
              <a:rPr sz="1600" dirty="0" err="1">
                <a:solidFill>
                  <a:srgbClr val="3D424E"/>
                </a:solidFill>
              </a:rPr>
              <a:t>vira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ponto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único</a:t>
            </a:r>
            <a:r>
              <a:rPr sz="1600" dirty="0">
                <a:solidFill>
                  <a:srgbClr val="3D424E"/>
                </a:solidFill>
              </a:rPr>
              <a:t> de </a:t>
            </a:r>
            <a:r>
              <a:rPr sz="1600" dirty="0" err="1">
                <a:solidFill>
                  <a:srgbClr val="3D424E"/>
                </a:solidFill>
              </a:rPr>
              <a:t>falha</a:t>
            </a:r>
            <a:r>
              <a:rPr sz="1600" dirty="0">
                <a:solidFill>
                  <a:srgbClr val="3D424E"/>
                </a:solidFill>
              </a:rPr>
              <a:t> (</a:t>
            </a:r>
            <a:r>
              <a:rPr sz="1600" dirty="0" err="1">
                <a:solidFill>
                  <a:srgbClr val="3D424E"/>
                </a:solidFill>
              </a:rPr>
              <a:t>crítica</a:t>
            </a:r>
            <a:r>
              <a:rPr sz="1600" dirty="0">
                <a:solidFill>
                  <a:srgbClr val="3D424E"/>
                </a:solidFill>
              </a:rPr>
              <a:t> do </a:t>
            </a:r>
            <a:r>
              <a:rPr sz="1600" dirty="0" err="1">
                <a:solidFill>
                  <a:srgbClr val="3D424E"/>
                </a:solidFill>
              </a:rPr>
              <a:t>NotebookLM</a:t>
            </a:r>
            <a:r>
              <a:rPr sz="1600" dirty="0">
                <a:solidFill>
                  <a:srgbClr val="3D424E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F2A4E"/>
                </a:solidFill>
              </a:rPr>
              <a:t>Opção</a:t>
            </a:r>
            <a:r>
              <a:rPr sz="1600" b="1" dirty="0">
                <a:solidFill>
                  <a:srgbClr val="1F2A4E"/>
                </a:solidFill>
              </a:rPr>
              <a:t> C — </a:t>
            </a:r>
            <a:r>
              <a:rPr sz="1600" b="1" dirty="0" err="1">
                <a:solidFill>
                  <a:srgbClr val="1F2A4E"/>
                </a:solidFill>
              </a:rPr>
              <a:t>validação</a:t>
            </a:r>
            <a:r>
              <a:rPr sz="1600" b="1" dirty="0">
                <a:solidFill>
                  <a:srgbClr val="1F2A4E"/>
                </a:solidFill>
              </a:rPr>
              <a:t> interna </a:t>
            </a:r>
            <a:r>
              <a:rPr sz="1600" b="1" dirty="0" err="1">
                <a:solidFill>
                  <a:srgbClr val="1F2A4E"/>
                </a:solidFill>
              </a:rPr>
              <a:t>reduzida</a:t>
            </a:r>
            <a:r>
              <a:rPr sz="1600" b="1" dirty="0">
                <a:solidFill>
                  <a:srgbClr val="1F2A4E"/>
                </a:solidFill>
              </a:rPr>
              <a:t>:  </a:t>
            </a:r>
            <a:r>
              <a:rPr sz="1600" dirty="0" err="1">
                <a:solidFill>
                  <a:srgbClr val="3D424E"/>
                </a:solidFill>
              </a:rPr>
              <a:t>eu</a:t>
            </a:r>
            <a:r>
              <a:rPr sz="1600" dirty="0">
                <a:solidFill>
                  <a:srgbClr val="3D424E"/>
                </a:solidFill>
              </a:rPr>
              <a:t> + o senhor </a:t>
            </a:r>
            <a:r>
              <a:rPr sz="1600" dirty="0" err="1">
                <a:solidFill>
                  <a:srgbClr val="3D424E"/>
                </a:solidFill>
              </a:rPr>
              <a:t>anotamos</a:t>
            </a:r>
            <a:r>
              <a:rPr sz="1600" dirty="0">
                <a:solidFill>
                  <a:srgbClr val="3D424E"/>
                </a:solidFill>
              </a:rPr>
              <a:t> ~200-300 </a:t>
            </a:r>
            <a:r>
              <a:rPr sz="1600" dirty="0" err="1">
                <a:solidFill>
                  <a:srgbClr val="3D424E"/>
                </a:solidFill>
              </a:rPr>
              <a:t>imgs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estratificadas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por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raça</a:t>
            </a:r>
            <a:r>
              <a:rPr sz="1600" dirty="0">
                <a:solidFill>
                  <a:srgbClr val="3D424E"/>
                </a:solidFill>
              </a:rPr>
              <a:t> e MST. Menor </a:t>
            </a:r>
            <a:r>
              <a:rPr sz="1600" dirty="0" err="1">
                <a:solidFill>
                  <a:srgbClr val="3D424E"/>
                </a:solidFill>
              </a:rPr>
              <a:t>escala</a:t>
            </a:r>
            <a:r>
              <a:rPr sz="1600" dirty="0">
                <a:solidFill>
                  <a:srgbClr val="3D424E"/>
                </a:solidFill>
              </a:rPr>
              <a:t>, mas </a:t>
            </a:r>
            <a:r>
              <a:rPr sz="1600" dirty="0" err="1">
                <a:solidFill>
                  <a:srgbClr val="3D424E"/>
                </a:solidFill>
              </a:rPr>
              <a:t>suficiente</a:t>
            </a:r>
            <a:r>
              <a:rPr sz="1600" dirty="0">
                <a:solidFill>
                  <a:srgbClr val="3D424E"/>
                </a:solidFill>
              </a:rPr>
              <a:t> para IAA + </a:t>
            </a:r>
            <a:r>
              <a:rPr sz="1600" dirty="0" err="1">
                <a:solidFill>
                  <a:srgbClr val="3D424E"/>
                </a:solidFill>
              </a:rPr>
              <a:t>concordância</a:t>
            </a:r>
            <a:r>
              <a:rPr sz="1600" dirty="0">
                <a:solidFill>
                  <a:srgbClr val="3D424E"/>
                </a:solidFill>
              </a:rPr>
              <a:t> com </a:t>
            </a:r>
            <a:r>
              <a:rPr sz="1600" dirty="0" err="1">
                <a:solidFill>
                  <a:srgbClr val="3D424E"/>
                </a:solidFill>
              </a:rPr>
              <a:t>SkinToneNet</a:t>
            </a:r>
            <a:endParaRPr sz="1600" dirty="0">
              <a:solidFill>
                <a:srgbClr val="3D424E"/>
              </a:solidFill>
            </a:endParaRP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  </a:t>
            </a:r>
          </a:p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F2A4E"/>
                </a:solidFill>
              </a:rPr>
              <a:t>Decisão</a:t>
            </a:r>
            <a:r>
              <a:rPr sz="1600" b="1" dirty="0">
                <a:solidFill>
                  <a:srgbClr val="1F2A4E"/>
                </a:solidFill>
              </a:rPr>
              <a:t> </a:t>
            </a:r>
            <a:r>
              <a:rPr sz="1600" b="1" dirty="0" err="1">
                <a:solidFill>
                  <a:srgbClr val="1F2A4E"/>
                </a:solidFill>
              </a:rPr>
              <a:t>que</a:t>
            </a:r>
            <a:r>
              <a:rPr sz="1600" b="1" dirty="0">
                <a:solidFill>
                  <a:srgbClr val="1F2A4E"/>
                </a:solidFill>
              </a:rPr>
              <a:t> </a:t>
            </a:r>
            <a:r>
              <a:rPr sz="1600" b="1" dirty="0" err="1">
                <a:solidFill>
                  <a:srgbClr val="1F2A4E"/>
                </a:solidFill>
              </a:rPr>
              <a:t>tomei</a:t>
            </a:r>
            <a:r>
              <a:rPr sz="1600" b="1" dirty="0">
                <a:solidFill>
                  <a:srgbClr val="1F2A4E"/>
                </a:solidFill>
              </a:rPr>
              <a:t> (</a:t>
            </a:r>
            <a:r>
              <a:rPr sz="1600" b="1" dirty="0" err="1">
                <a:solidFill>
                  <a:srgbClr val="1F2A4E"/>
                </a:solidFill>
              </a:rPr>
              <a:t>Opção</a:t>
            </a:r>
            <a:r>
              <a:rPr sz="1600" b="1" dirty="0">
                <a:solidFill>
                  <a:srgbClr val="1F2A4E"/>
                </a:solidFill>
              </a:rPr>
              <a:t> C):  </a:t>
            </a:r>
            <a:r>
              <a:rPr sz="1600" dirty="0" err="1">
                <a:solidFill>
                  <a:srgbClr val="3D424E"/>
                </a:solidFill>
              </a:rPr>
              <a:t>enquadra</a:t>
            </a:r>
            <a:r>
              <a:rPr sz="1600" dirty="0">
                <a:solidFill>
                  <a:srgbClr val="3D424E"/>
                </a:solidFill>
              </a:rPr>
              <a:t> o </a:t>
            </a:r>
            <a:r>
              <a:rPr sz="1600" dirty="0" err="1">
                <a:solidFill>
                  <a:srgbClr val="3D424E"/>
                </a:solidFill>
              </a:rPr>
              <a:t>projeto</a:t>
            </a:r>
            <a:r>
              <a:rPr sz="1600" dirty="0">
                <a:solidFill>
                  <a:srgbClr val="3D424E"/>
                </a:solidFill>
              </a:rPr>
              <a:t> no Art. 8º da Res. 200/2021 → </a:t>
            </a:r>
            <a:r>
              <a:rPr sz="1600" dirty="0" err="1">
                <a:solidFill>
                  <a:srgbClr val="3D424E"/>
                </a:solidFill>
              </a:rPr>
              <a:t>dispensa</a:t>
            </a:r>
            <a:r>
              <a:rPr sz="1600" dirty="0">
                <a:solidFill>
                  <a:srgbClr val="3D424E"/>
                </a:solidFill>
              </a:rPr>
              <a:t> CEP, </a:t>
            </a:r>
            <a:r>
              <a:rPr sz="1600" dirty="0" err="1">
                <a:solidFill>
                  <a:srgbClr val="3D424E"/>
                </a:solidFill>
              </a:rPr>
              <a:t>exige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apenas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Declaração</a:t>
            </a:r>
            <a:r>
              <a:rPr sz="1600" dirty="0">
                <a:solidFill>
                  <a:srgbClr val="3D424E"/>
                </a:solidFill>
              </a:rPr>
              <a:t> de </a:t>
            </a:r>
            <a:r>
              <a:rPr sz="1600" dirty="0" err="1">
                <a:solidFill>
                  <a:srgbClr val="3D424E"/>
                </a:solidFill>
              </a:rPr>
              <a:t>Responsabilidade</a:t>
            </a:r>
            <a:r>
              <a:rPr sz="1600" dirty="0">
                <a:solidFill>
                  <a:srgbClr val="3D424E"/>
                </a:solidFill>
              </a:rPr>
              <a:t> (3 </a:t>
            </a:r>
            <a:r>
              <a:rPr sz="1600" dirty="0" err="1">
                <a:solidFill>
                  <a:srgbClr val="3D424E"/>
                </a:solidFill>
              </a:rPr>
              <a:t>assinaturas</a:t>
            </a:r>
            <a:r>
              <a:rPr sz="1600" dirty="0">
                <a:solidFill>
                  <a:srgbClr val="3D424E"/>
                </a:solidFill>
              </a:rPr>
              <a:t>: </a:t>
            </a:r>
            <a:r>
              <a:rPr sz="1600" dirty="0" err="1">
                <a:solidFill>
                  <a:srgbClr val="3D424E"/>
                </a:solidFill>
              </a:rPr>
              <a:t>eu</a:t>
            </a:r>
            <a:r>
              <a:rPr sz="1600" dirty="0">
                <a:solidFill>
                  <a:srgbClr val="3D424E"/>
                </a:solidFill>
              </a:rPr>
              <a:t> + </a:t>
            </a:r>
            <a:r>
              <a:rPr sz="1600" dirty="0" err="1">
                <a:solidFill>
                  <a:srgbClr val="3D424E"/>
                </a:solidFill>
              </a:rPr>
              <a:t>orientador</a:t>
            </a:r>
            <a:r>
              <a:rPr sz="1600" dirty="0">
                <a:solidFill>
                  <a:srgbClr val="3D424E"/>
                </a:solidFill>
              </a:rPr>
              <a:t> + </a:t>
            </a:r>
            <a:r>
              <a:rPr sz="1600" dirty="0" err="1">
                <a:solidFill>
                  <a:srgbClr val="3D424E"/>
                </a:solidFill>
              </a:rPr>
              <a:t>chefe</a:t>
            </a:r>
            <a:r>
              <a:rPr sz="1600" dirty="0">
                <a:solidFill>
                  <a:srgbClr val="3D424E"/>
                </a:solidFill>
              </a:rPr>
              <a:t> de </a:t>
            </a:r>
            <a:r>
              <a:rPr sz="1600" dirty="0" err="1">
                <a:solidFill>
                  <a:srgbClr val="3D424E"/>
                </a:solidFill>
              </a:rPr>
              <a:t>departamento</a:t>
            </a:r>
            <a:r>
              <a:rPr sz="1600" dirty="0">
                <a:solidFill>
                  <a:srgbClr val="3D424E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1F2A4E"/>
                </a:solidFill>
              </a:rPr>
              <a:t>O </a:t>
            </a:r>
            <a:r>
              <a:rPr sz="1600" b="1" dirty="0" err="1">
                <a:solidFill>
                  <a:srgbClr val="1F2A4E"/>
                </a:solidFill>
              </a:rPr>
              <a:t>que</a:t>
            </a:r>
            <a:r>
              <a:rPr sz="1600" b="1" dirty="0">
                <a:solidFill>
                  <a:srgbClr val="1F2A4E"/>
                </a:solidFill>
              </a:rPr>
              <a:t> </a:t>
            </a:r>
            <a:r>
              <a:rPr sz="1600" b="1" dirty="0" err="1">
                <a:solidFill>
                  <a:srgbClr val="1F2A4E"/>
                </a:solidFill>
              </a:rPr>
              <a:t>preciso</a:t>
            </a:r>
            <a:r>
              <a:rPr sz="1600" b="1" dirty="0">
                <a:solidFill>
                  <a:srgbClr val="1F2A4E"/>
                </a:solidFill>
              </a:rPr>
              <a:t> </a:t>
            </a:r>
            <a:r>
              <a:rPr sz="1600" b="1" dirty="0" err="1">
                <a:solidFill>
                  <a:srgbClr val="1F2A4E"/>
                </a:solidFill>
              </a:rPr>
              <a:t>hoje</a:t>
            </a:r>
            <a:r>
              <a:rPr sz="1600" b="1" dirty="0">
                <a:solidFill>
                  <a:srgbClr val="1F2A4E"/>
                </a:solidFill>
              </a:rPr>
              <a:t>:  </a:t>
            </a:r>
            <a:r>
              <a:rPr sz="1600" dirty="0">
                <a:solidFill>
                  <a:srgbClr val="3D424E"/>
                </a:solidFill>
              </a:rPr>
              <a:t>1) </a:t>
            </a:r>
            <a:r>
              <a:rPr sz="1600" dirty="0" err="1">
                <a:solidFill>
                  <a:srgbClr val="3D424E"/>
                </a:solidFill>
              </a:rPr>
              <a:t>validar</a:t>
            </a:r>
            <a:r>
              <a:rPr sz="1600" dirty="0">
                <a:solidFill>
                  <a:srgbClr val="3D424E"/>
                </a:solidFill>
              </a:rPr>
              <a:t> a </a:t>
            </a:r>
            <a:r>
              <a:rPr sz="1600" dirty="0" err="1">
                <a:solidFill>
                  <a:srgbClr val="3D424E"/>
                </a:solidFill>
              </a:rPr>
              <a:t>decisão</a:t>
            </a:r>
            <a:r>
              <a:rPr sz="1600" dirty="0">
                <a:solidFill>
                  <a:srgbClr val="3D424E"/>
                </a:solidFill>
              </a:rPr>
              <a:t>; 2) </a:t>
            </a:r>
            <a:r>
              <a:rPr sz="1600" dirty="0" err="1">
                <a:solidFill>
                  <a:srgbClr val="3D424E"/>
                </a:solidFill>
              </a:rPr>
              <a:t>confirmar</a:t>
            </a:r>
            <a:r>
              <a:rPr sz="1600" dirty="0">
                <a:solidFill>
                  <a:srgbClr val="3D424E"/>
                </a:solidFill>
              </a:rPr>
              <a:t> quem é o </a:t>
            </a:r>
            <a:r>
              <a:rPr sz="1600" dirty="0" err="1">
                <a:solidFill>
                  <a:srgbClr val="3D424E"/>
                </a:solidFill>
              </a:rPr>
              <a:t>chefe</a:t>
            </a:r>
            <a:r>
              <a:rPr sz="1600" dirty="0">
                <a:solidFill>
                  <a:srgbClr val="3D424E"/>
                </a:solidFill>
              </a:rPr>
              <a:t> do </a:t>
            </a:r>
            <a:r>
              <a:rPr sz="1600" dirty="0" err="1">
                <a:solidFill>
                  <a:srgbClr val="3D424E"/>
                </a:solidFill>
              </a:rPr>
              <a:t>departamento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que</a:t>
            </a:r>
            <a:r>
              <a:rPr sz="1600" dirty="0">
                <a:solidFill>
                  <a:srgbClr val="3D424E"/>
                </a:solidFill>
              </a:rPr>
              <a:t> </a:t>
            </a:r>
            <a:r>
              <a:rPr sz="1600" dirty="0" err="1">
                <a:solidFill>
                  <a:srgbClr val="3D424E"/>
                </a:solidFill>
              </a:rPr>
              <a:t>assina</a:t>
            </a:r>
            <a:endParaRPr sz="1600" dirty="0">
              <a:solidFill>
                <a:srgbClr val="3D424E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preferir voltar para Prolific, eu topo — mas o prazo CEP compromete outubro.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muda tecnicamente entre v3.5 e v3.6 do OE-1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Aspecto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v3.5 (com Prolific)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v3.6 (interno)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Escala da validação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~700 imagens × 3 anotadores externos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~200-300 imagens × 2-3 anotadores internos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Diversidade dos anotadores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Crowdworkers com perfil variado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Mestrando + orientador (potencial viés declarado)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Métrica de concordância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Fleiss' kappa (múltiplos anotadores)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Cohen's kappa (par a par)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Poder estatístico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 95 % com margem menor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 95 % com margem maior — declarado como limitação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Risco regulatório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Requer CEP (2-3 meses)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Art. 8º — apenas Declaração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Cronograma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Bloqueia defesa em outubro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Compatível com outubro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 perda de escala é real. Vou declarar explicitamente como limitação metodológica no Cap 4.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Aberto para o debate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1613</Words>
  <Application>Microsoft Office PowerPoint</Application>
  <PresentationFormat>Personalizar</PresentationFormat>
  <Paragraphs>232</Paragraphs>
  <Slides>15</Slides>
  <Notes>0</Notes>
  <HiddenSlides>1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Marcello Vinicius Alves Ozzetti</cp:lastModifiedBy>
  <cp:revision>9</cp:revision>
  <dcterms:created xsi:type="dcterms:W3CDTF">2013-01-27T09:14:16Z</dcterms:created>
  <dcterms:modified xsi:type="dcterms:W3CDTF">2026-07-08T16:43:36Z</dcterms:modified>
  <cp:category/>
</cp:coreProperties>
</file>