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8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0" y="118872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F2A4E"/>
                </a:solidFill>
              </a:defRPr>
            </a:pPr>
            <a:r>
              <a:t>Acompanhamento Semana</a:t>
            </a:r>
          </a:p>
          <a:p>
            <a:pPr>
              <a:defRPr sz="2000">
                <a:solidFill>
                  <a:srgbClr val="3D424E"/>
                </a:solidFill>
              </a:defRPr>
            </a:pPr>
            <a:r>
              <a:t>Escrita LaTeX em andamento, decisões éticas e ajuste de cronograma</a:t>
            </a:r>
          </a:p>
          <a:p>
            <a:pPr>
              <a:defRPr sz="1300" i="1">
                <a:solidFill>
                  <a:srgbClr val="707682"/>
                </a:solidFill>
              </a:defRPr>
            </a:pPr>
            <a:r>
              <a:t>Mitigação de Viés Racial em Classificação Facial via Condicionamento por Tom de Pele em Arquiteturas Profundas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14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24E"/>
                </a:solidFill>
              </a:defRPr>
            </a:pPr>
            <a:r>
              <a:t>Mestrando:  Marcello Ozzetti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Orientador:  Prof. Marcos Quiles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Programa:  Mestrado em Ciência da Computação — Unifesp / ICT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Reunião:  13 de julho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Objetivo desta reunião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 </a:t>
            </a:r>
            <a:r>
              <a:rPr sz="1600">
                <a:solidFill>
                  <a:srgbClr val="3D424E"/>
                </a:solidFill>
              </a:rPr>
              <a:t>Plano até a defesa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 </a:t>
            </a:r>
            <a:r>
              <a:rPr sz="1600">
                <a:solidFill>
                  <a:srgbClr val="3D424E"/>
                </a:solidFill>
              </a:rPr>
              <a:t>Estado real da escrita — qualificação no Overleaf, Cap 2 em revisão ativa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Já resolvido:  </a:t>
            </a:r>
            <a:r>
              <a:rPr sz="1600">
                <a:solidFill>
                  <a:srgbClr val="3D424E"/>
                </a:solidFill>
              </a:rPr>
              <a:t>Declaração de Responsabilidade CEP submetida ontem (12/jul) — Art. 8º da Res. 200/2021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A tese em uma tela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Problema empírico:  </a:t>
            </a:r>
            <a:r>
              <a:rPr sz="1600">
                <a:solidFill>
                  <a:srgbClr val="3D424E"/>
                </a:solidFill>
              </a:rPr>
              <a:t>F1 macro alto mascara disparidade Black ≈ 90 % vs Latinx ≈ 60 % em SOTA sobre FairFace (AlDahoul 2024)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Pergunta de pesquisa:  </a:t>
            </a:r>
            <a:r>
              <a:rPr sz="1600">
                <a:solidFill>
                  <a:srgbClr val="3D424E"/>
                </a:solidFill>
              </a:rPr>
              <a:t>condicionar arquiteturalmente um classificador racial pelo tom de pele (MST) reduz essa disparidade sem sacrificar acurácia agregada?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Objetivo geral:  </a:t>
            </a:r>
            <a:r>
              <a:rPr sz="1600">
                <a:solidFill>
                  <a:srgbClr val="3D424E"/>
                </a:solidFill>
              </a:rPr>
              <a:t>desenvolver e avaliar pipeline de classificação racial que incorpora tom de pele (escala Monk 10 classes) como sinal auxiliar condicionante via mecanismo arquitetural (FiLM)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Contribuição principal:  </a:t>
            </a:r>
            <a:r>
              <a:rPr sz="1600">
                <a:solidFill>
                  <a:srgbClr val="3D424E"/>
                </a:solidFill>
              </a:rPr>
              <a:t>primeira instância empírica de tom de pele como contexto arquitetural para race classification multi-classe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Diagnóstico central:  </a:t>
            </a:r>
            <a:r>
              <a:rPr sz="1600">
                <a:solidFill>
                  <a:srgbClr val="3D424E"/>
                </a:solidFill>
              </a:rPr>
              <a:t>erro Latinx = componente fenotípico irredutível (overlap MST) + componente algorítmico — a decomposição é o diferencial da tese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Corpus consolidado — 104 fichas em 11 linhas de pesquisa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Linha de pesquisa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% corpus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Papers-âncora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 — Race classification multi-classe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3,8 %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Kärkkäinen 2021 (FairFace), AlDahoul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 — Face recognition fairness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15,4 %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Wang RFW 2019, Robinson BFW 2020, Deng ArcFace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 — Skin tone alternativo (Fitzpatrick, MST, ITA)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6,7 %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Schumann 2023 (MST), Pereira 2026 (SkinToneNet)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 — Mitigação algorítmica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9,6 %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Madras LAFTR 2018, Sagawa Group DRO 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 — Auditoria e Surveys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13,5 %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Buolamwini 2018, Mehrabi 2021 survey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 — Fundamentação científica e ética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Fuentes AAPA 2019, Lewontin 1972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G — Mecanismos ML paradigmáticos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8,7 %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Perez FiLM 2018, Ba LayerNorm, He ResNet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 — VLM / CLIP em fairness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13,5 %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Radford CLIP 2021, Luo FairCLIP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J — Conditioning moderno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4,8 %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Liu ConvNeXt 2022, Dhariwal ADM 2021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K — Fundadores de FR (DeepFace, ArcFace, CosFace)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5,8 %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Taigman DeepFace 2014, Wang CosFace 2018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 — Auxiliar / complementar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12,5 %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Karkkainen datasets, Hendrycks robustness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R8 — Diversidade Latinx (antropo + genética + socio)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Telles 2014, Bryc 2015, Pew 2017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30203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rPr dirty="0"/>
              <a:t>55 </a:t>
            </a:r>
            <a:r>
              <a:rPr dirty="0" err="1"/>
              <a:t>fichas</a:t>
            </a:r>
            <a:r>
              <a:rPr dirty="0"/>
              <a:t> (53%) </a:t>
            </a:r>
            <a:r>
              <a:rPr dirty="0" err="1"/>
              <a:t>são</a:t>
            </a:r>
            <a:r>
              <a:rPr dirty="0"/>
              <a:t> 2024+, </a:t>
            </a:r>
            <a:r>
              <a:rPr dirty="0" err="1"/>
              <a:t>incluindo</a:t>
            </a:r>
            <a:r>
              <a:rPr dirty="0"/>
              <a:t> 5 papers de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Plano até a defesa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Três marcos formais, novo horizonte de outubro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Cronograma consolidado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890588"/>
              </p:ext>
            </p:extLst>
          </p:nvPr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5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6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Marco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Comentário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Primeira revisão da qualificação ao orientador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3D424E"/>
                          </a:solidFill>
                        </a:rPr>
                        <a:t>15/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jul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/2026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Overleaf compartilhado hoje; Cap 1, 3, 4, 5 em versão inicial; Cap 2 em revisão ativa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Pedido formal de qualificação ao PPG-CC / 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30/jul/2026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Prazo regimental do Programa — mantido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Defesa da qualificação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outubro/2026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Ajuste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de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agosto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→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outubro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(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extensão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de 2 meses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solicitada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Estado da escrita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O que já está escrito e como vai virar Overleaf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rPr lang="pt-BR" dirty="0"/>
              <a:t>Status</a:t>
            </a:r>
            <a:r>
              <a:rPr dirty="0"/>
              <a:t> da </a:t>
            </a:r>
            <a:r>
              <a:rPr dirty="0" err="1"/>
              <a:t>escrita</a:t>
            </a:r>
            <a:r>
              <a:rPr lang="pt-BR" dirty="0"/>
              <a:t> </a:t>
            </a:r>
            <a:r>
              <a:rPr dirty="0" err="1"/>
              <a:t>qualificação</a:t>
            </a:r>
            <a:r>
              <a:rPr dirty="0"/>
              <a:t> no Overleaf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1F2A4E"/>
                </a:solidFill>
              </a:rPr>
              <a:t>Cap 1 — </a:t>
            </a:r>
            <a:r>
              <a:rPr sz="1600" b="1" dirty="0" err="1">
                <a:solidFill>
                  <a:srgbClr val="1F2A4E"/>
                </a:solidFill>
              </a:rPr>
              <a:t>Introdução</a:t>
            </a:r>
            <a:r>
              <a:rPr sz="1600" b="1" dirty="0">
                <a:solidFill>
                  <a:srgbClr val="1F2A4E"/>
                </a:solidFill>
              </a:rPr>
              <a:t>:  </a:t>
            </a:r>
            <a:r>
              <a:rPr sz="1600" dirty="0">
                <a:solidFill>
                  <a:srgbClr val="3D424E"/>
                </a:solidFill>
              </a:rPr>
              <a:t>no Overleaf, </a:t>
            </a:r>
            <a:r>
              <a:rPr sz="1600" dirty="0" err="1">
                <a:solidFill>
                  <a:srgbClr val="3D424E"/>
                </a:solidFill>
              </a:rPr>
              <a:t>versão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inicial</a:t>
            </a:r>
            <a:r>
              <a:rPr sz="1600" dirty="0">
                <a:solidFill>
                  <a:srgbClr val="3D424E"/>
                </a:solidFill>
              </a:rPr>
              <a:t> completa; </a:t>
            </a:r>
            <a:r>
              <a:rPr sz="1600" dirty="0" err="1">
                <a:solidFill>
                  <a:srgbClr val="3D424E"/>
                </a:solidFill>
              </a:rPr>
              <a:t>ancora</a:t>
            </a:r>
            <a:r>
              <a:rPr sz="1600" dirty="0">
                <a:solidFill>
                  <a:srgbClr val="3D424E"/>
                </a:solidFill>
              </a:rPr>
              <a:t> a </a:t>
            </a:r>
            <a:r>
              <a:rPr sz="1600" dirty="0" err="1">
                <a:solidFill>
                  <a:srgbClr val="3D424E"/>
                </a:solidFill>
              </a:rPr>
              <a:t>disparidade</a:t>
            </a:r>
            <a:r>
              <a:rPr sz="1600" dirty="0">
                <a:solidFill>
                  <a:srgbClr val="3D424E"/>
                </a:solidFill>
              </a:rPr>
              <a:t> Black 90% × Latinx 60%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F2A4E"/>
                </a:solidFill>
              </a:rPr>
              <a:t>Cap 2 — </a:t>
            </a:r>
            <a:r>
              <a:rPr sz="1600" b="1" dirty="0" err="1">
                <a:solidFill>
                  <a:srgbClr val="1F2A4E"/>
                </a:solidFill>
              </a:rPr>
              <a:t>Revisão</a:t>
            </a:r>
            <a:r>
              <a:rPr sz="1600" b="1" dirty="0">
                <a:solidFill>
                  <a:srgbClr val="1F2A4E"/>
                </a:solidFill>
              </a:rPr>
              <a:t>:  </a:t>
            </a:r>
            <a:r>
              <a:rPr sz="1600" dirty="0" err="1">
                <a:solidFill>
                  <a:srgbClr val="3D424E"/>
                </a:solidFill>
              </a:rPr>
              <a:t>em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escrita</a:t>
            </a:r>
            <a:r>
              <a:rPr sz="1600" dirty="0">
                <a:solidFill>
                  <a:srgbClr val="3D424E"/>
                </a:solidFill>
              </a:rPr>
              <a:t> e </a:t>
            </a:r>
            <a:r>
              <a:rPr sz="1600" dirty="0" err="1">
                <a:solidFill>
                  <a:srgbClr val="3D424E"/>
                </a:solidFill>
              </a:rPr>
              <a:t>revisão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ativa</a:t>
            </a:r>
            <a:r>
              <a:rPr sz="1600" dirty="0">
                <a:solidFill>
                  <a:srgbClr val="3D424E"/>
                </a:solidFill>
              </a:rPr>
              <a:t>; </a:t>
            </a:r>
            <a:r>
              <a:rPr sz="1600" dirty="0" err="1">
                <a:solidFill>
                  <a:srgbClr val="3D424E"/>
                </a:solidFill>
              </a:rPr>
              <a:t>corpo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bibliográfico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está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sendo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densificado</a:t>
            </a:r>
            <a:r>
              <a:rPr sz="1600" dirty="0">
                <a:solidFill>
                  <a:srgbClr val="3D424E"/>
                </a:solidFill>
              </a:rPr>
              <a:t> com 104 </a:t>
            </a:r>
            <a:r>
              <a:rPr sz="1600" dirty="0" err="1">
                <a:solidFill>
                  <a:srgbClr val="3D424E"/>
                </a:solidFill>
              </a:rPr>
              <a:t>referências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mapeadas</a:t>
            </a:r>
            <a:endParaRPr sz="1600" dirty="0">
              <a:solidFill>
                <a:srgbClr val="3D424E"/>
              </a:solidFill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F2A4E"/>
                </a:solidFill>
              </a:rPr>
              <a:t>Cap 3 — </a:t>
            </a:r>
            <a:r>
              <a:rPr sz="1600" b="1" dirty="0" err="1">
                <a:solidFill>
                  <a:srgbClr val="1F2A4E"/>
                </a:solidFill>
              </a:rPr>
              <a:t>Objetivos</a:t>
            </a:r>
            <a:r>
              <a:rPr sz="1600" b="1" dirty="0">
                <a:solidFill>
                  <a:srgbClr val="1F2A4E"/>
                </a:solidFill>
              </a:rPr>
              <a:t>:  </a:t>
            </a:r>
            <a:r>
              <a:rPr lang="pt-BR" sz="1600" dirty="0">
                <a:solidFill>
                  <a:srgbClr val="3D424E"/>
                </a:solidFill>
              </a:rPr>
              <a:t>requer escrita e revisão</a:t>
            </a:r>
            <a:endParaRPr sz="1600" dirty="0">
              <a:solidFill>
                <a:srgbClr val="3D424E"/>
              </a:solidFill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F2A4E"/>
                </a:solidFill>
              </a:rPr>
              <a:t>Cap 4 — </a:t>
            </a:r>
            <a:r>
              <a:rPr sz="1600" b="1" dirty="0" err="1">
                <a:solidFill>
                  <a:srgbClr val="1F2A4E"/>
                </a:solidFill>
              </a:rPr>
              <a:t>Metodologia</a:t>
            </a:r>
            <a:r>
              <a:rPr sz="1600" b="1" dirty="0">
                <a:solidFill>
                  <a:srgbClr val="1F2A4E"/>
                </a:solidFill>
              </a:rPr>
              <a:t>: </a:t>
            </a:r>
            <a:r>
              <a:rPr lang="pt-BR" sz="1600" dirty="0">
                <a:solidFill>
                  <a:srgbClr val="3D424E"/>
                </a:solidFill>
              </a:rPr>
              <a:t>requer escrita e revisão</a:t>
            </a:r>
            <a:endParaRPr sz="1600" dirty="0">
              <a:solidFill>
                <a:srgbClr val="3D424E"/>
              </a:solidFill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F2A4E"/>
                </a:solidFill>
              </a:rPr>
              <a:t>Cap 5 — </a:t>
            </a:r>
            <a:r>
              <a:rPr sz="1600" b="1" dirty="0" err="1">
                <a:solidFill>
                  <a:srgbClr val="1F2A4E"/>
                </a:solidFill>
              </a:rPr>
              <a:t>Cronograma</a:t>
            </a:r>
            <a:r>
              <a:rPr lang="pt-BR" sz="1600" dirty="0">
                <a:solidFill>
                  <a:srgbClr val="3D424E"/>
                </a:solidFill>
              </a:rPr>
              <a:t> requer escrita e revisão</a:t>
            </a:r>
            <a:endParaRPr sz="1600" dirty="0">
              <a:solidFill>
                <a:srgbClr val="3D424E"/>
              </a:solidFill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F2A4E"/>
                </a:solidFill>
              </a:rPr>
              <a:t>  </a:t>
            </a:r>
          </a:p>
          <a:p>
            <a:pPr>
              <a:spcAft>
                <a:spcPts val="800"/>
              </a:spcAft>
            </a:pPr>
            <a:r>
              <a:rPr sz="1600" b="1" dirty="0" err="1">
                <a:solidFill>
                  <a:srgbClr val="1F2A4E"/>
                </a:solidFill>
              </a:rPr>
              <a:t>Transposição</a:t>
            </a:r>
            <a:r>
              <a:rPr sz="1600" b="1" dirty="0">
                <a:solidFill>
                  <a:srgbClr val="1F2A4E"/>
                </a:solidFill>
              </a:rPr>
              <a:t>:  </a:t>
            </a:r>
            <a:r>
              <a:rPr sz="1600" dirty="0" err="1">
                <a:solidFill>
                  <a:srgbClr val="3D424E"/>
                </a:solidFill>
              </a:rPr>
              <a:t>esqueleto</a:t>
            </a:r>
            <a:r>
              <a:rPr sz="1600" dirty="0">
                <a:solidFill>
                  <a:srgbClr val="3D424E"/>
                </a:solidFill>
              </a:rPr>
              <a:t> no Overleaf; </a:t>
            </a:r>
            <a:r>
              <a:rPr sz="1600" dirty="0" err="1">
                <a:solidFill>
                  <a:srgbClr val="3D424E"/>
                </a:solidFill>
              </a:rPr>
              <a:t>bibliografia</a:t>
            </a:r>
            <a:r>
              <a:rPr sz="1600" dirty="0">
                <a:solidFill>
                  <a:srgbClr val="3D424E"/>
                </a:solidFill>
              </a:rPr>
              <a:t> .bib com 104 entradas </a:t>
            </a:r>
            <a:r>
              <a:rPr sz="1600" dirty="0" err="1">
                <a:solidFill>
                  <a:srgbClr val="3D424E"/>
                </a:solidFill>
              </a:rPr>
              <a:t>importada</a:t>
            </a:r>
            <a:r>
              <a:rPr sz="1600" dirty="0">
                <a:solidFill>
                  <a:srgbClr val="3D424E"/>
                </a:solidFill>
              </a:rPr>
              <a:t>; </a:t>
            </a:r>
            <a:r>
              <a:rPr sz="1600" dirty="0" err="1">
                <a:solidFill>
                  <a:srgbClr val="3D424E"/>
                </a:solidFill>
              </a:rPr>
              <a:t>referências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cruzadas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testadas</a:t>
            </a:r>
            <a:r>
              <a:rPr lang="pt-BR" sz="1600" dirty="0">
                <a:solidFill>
                  <a:srgbClr val="3D424E"/>
                </a:solidFill>
              </a:rPr>
              <a:t> no </a:t>
            </a:r>
            <a:r>
              <a:rPr lang="pt-BR" sz="1600" dirty="0" err="1">
                <a:solidFill>
                  <a:srgbClr val="3D424E"/>
                </a:solidFill>
              </a:rPr>
              <a:t>NotebookLLM</a:t>
            </a:r>
            <a:endParaRPr sz="1600" dirty="0">
              <a:solidFill>
                <a:srgbClr val="3D424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Cap 2 é o capítulo mais denso e onde ainda concentro esforço técnico esta semana.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Pipeline proposto — seis etapas encadeadas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496593"/>
              </p:ext>
            </p:extLst>
          </p:nvPr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Etapa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faz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Entrega / contribuição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1. Classificador MST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SkinToneNet pré-treinado + validação interna em subset FairFace estratificado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Insumo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do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2. Auditoria FairFace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Aplicar SkinToneNet sobre todo FairFace validation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Matriz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pública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MST × race classes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3. Race classifier com conditioning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fine-tuned em FairFace, camadas FiLM por estágio recebendo vetor MST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Configurações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A/B/C/D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4. Comparação contra baselines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 baselines: ResNet-34, ConvNeXt-T puro, FSCL+, Group DRO, FineFACE, Adversarial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Triangulação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DR + worst-class F1 +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EO_h</a:t>
                      </a:r>
                      <a:endParaRPr sz="1100" dirty="0">
                        <a:solidFill>
                          <a:srgbClr val="3D424E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5. Fair transferência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Aplicar backbone fair em face recognition downstream (RFW ou BFW)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Demonstração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de fair transfer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6. Síntese decompositiva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Combinar C2 + C5 para separar componente fenotípico do algorítmico do erro Latinx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Decomposição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pixel info × skin tone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Etapa 3 é onde o mecanismo FiLM entra. Etapa 6 é o diagnóstico central da tese.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Quatro configurações do estudo comparativo (Etapa 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448271"/>
              </p:ext>
            </p:extLst>
          </p:nvPr>
        </p:nvGraphicFramePr>
        <p:xfrm>
          <a:off x="457200" y="1371600"/>
          <a:ext cx="1142999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7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6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09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Backbone + conditioning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Sinal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Papel no estudo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sem conditioning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Baseline de controle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ConvNeXt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-T +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FiLM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linear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MST 10-dim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Proposta principal — hipótese central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Gated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MST 10-dim (não-linear)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Ablação: linear vs não-linear importa?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ConvNeXt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-T +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FiLM</a:t>
                      </a:r>
                      <a:r>
                        <a:rPr lang="pt-BR" sz="1100" dirty="0">
                          <a:solidFill>
                            <a:srgbClr val="3D424E"/>
                          </a:solidFill>
                        </a:rPr>
                        <a:t> (não linear)</a:t>
                      </a:r>
                      <a:endParaRPr sz="1100" dirty="0">
                        <a:solidFill>
                          <a:srgbClr val="3D424E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Embedding CLIP-text 512-dim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3D424E"/>
                          </a:solidFill>
                        </a:rPr>
                        <a:t>CLIP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como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alternativa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moderna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B é a proposta central. C isola a não-linearidade. D compara com sinal semântico rico via CLIP.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O achado que ancora a tese (Rodada 8, junho)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3765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 err="1">
                <a:solidFill>
                  <a:srgbClr val="1F2A4E"/>
                </a:solidFill>
              </a:rPr>
              <a:t>Problema</a:t>
            </a:r>
            <a:r>
              <a:rPr sz="1600" b="1" dirty="0">
                <a:solidFill>
                  <a:srgbClr val="1F2A4E"/>
                </a:solidFill>
              </a:rPr>
              <a:t> </a:t>
            </a:r>
            <a:r>
              <a:rPr sz="1600" b="1" dirty="0" err="1">
                <a:solidFill>
                  <a:srgbClr val="1F2A4E"/>
                </a:solidFill>
              </a:rPr>
              <a:t>conhecido</a:t>
            </a:r>
            <a:r>
              <a:rPr sz="1600" b="1" dirty="0">
                <a:solidFill>
                  <a:srgbClr val="1F2A4E"/>
                </a:solidFill>
              </a:rPr>
              <a:t>:  </a:t>
            </a:r>
            <a:r>
              <a:rPr sz="1600" dirty="0" err="1">
                <a:solidFill>
                  <a:srgbClr val="3D424E"/>
                </a:solidFill>
              </a:rPr>
              <a:t>modelos</a:t>
            </a:r>
            <a:r>
              <a:rPr sz="1600" dirty="0">
                <a:solidFill>
                  <a:srgbClr val="3D424E"/>
                </a:solidFill>
              </a:rPr>
              <a:t> SOTA </a:t>
            </a:r>
            <a:r>
              <a:rPr sz="1600" dirty="0" err="1">
                <a:solidFill>
                  <a:srgbClr val="3D424E"/>
                </a:solidFill>
              </a:rPr>
              <a:t>reportam</a:t>
            </a:r>
            <a:r>
              <a:rPr sz="1600" dirty="0">
                <a:solidFill>
                  <a:srgbClr val="3D424E"/>
                </a:solidFill>
              </a:rPr>
              <a:t> F1 Latinx </a:t>
            </a:r>
            <a:r>
              <a:rPr sz="1600" dirty="0" err="1">
                <a:solidFill>
                  <a:srgbClr val="3D424E"/>
                </a:solidFill>
              </a:rPr>
              <a:t>próximo</a:t>
            </a:r>
            <a:r>
              <a:rPr sz="1600" dirty="0">
                <a:solidFill>
                  <a:srgbClr val="3D424E"/>
                </a:solidFill>
              </a:rPr>
              <a:t> de 60% </a:t>
            </a:r>
            <a:r>
              <a:rPr sz="1600" dirty="0" err="1">
                <a:solidFill>
                  <a:srgbClr val="3D424E"/>
                </a:solidFill>
              </a:rPr>
              <a:t>há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três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anos</a:t>
            </a:r>
            <a:r>
              <a:rPr sz="1600" dirty="0">
                <a:solidFill>
                  <a:srgbClr val="3D424E"/>
                </a:solidFill>
              </a:rPr>
              <a:t> — </a:t>
            </a:r>
            <a:r>
              <a:rPr sz="1600" dirty="0" err="1">
                <a:solidFill>
                  <a:srgbClr val="3D424E"/>
                </a:solidFill>
              </a:rPr>
              <a:t>persiste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mesmo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em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modelos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multimodais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recentes</a:t>
            </a:r>
            <a:r>
              <a:rPr sz="1600" dirty="0">
                <a:solidFill>
                  <a:srgbClr val="3D424E"/>
                </a:solidFill>
              </a:rPr>
              <a:t> (</a:t>
            </a:r>
            <a:r>
              <a:rPr sz="1600" dirty="0" err="1">
                <a:solidFill>
                  <a:srgbClr val="3D424E"/>
                </a:solidFill>
              </a:rPr>
              <a:t>AlDahoul</a:t>
            </a:r>
            <a:r>
              <a:rPr sz="1600" dirty="0">
                <a:solidFill>
                  <a:srgbClr val="3D424E"/>
                </a:solidFill>
              </a:rPr>
              <a:t> 2024)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F2A4E"/>
                </a:solidFill>
              </a:rPr>
              <a:t>  </a:t>
            </a:r>
          </a:p>
          <a:p>
            <a:pPr>
              <a:spcAft>
                <a:spcPts val="800"/>
              </a:spcAft>
            </a:pPr>
            <a:r>
              <a:rPr sz="1600" b="1" dirty="0" err="1">
                <a:solidFill>
                  <a:srgbClr val="1F2A4E"/>
                </a:solidFill>
              </a:rPr>
              <a:t>Diagnóstico</a:t>
            </a:r>
            <a:r>
              <a:rPr sz="1600" b="1" dirty="0">
                <a:solidFill>
                  <a:srgbClr val="1F2A4E"/>
                </a:solidFill>
              </a:rPr>
              <a:t> novo:  </a:t>
            </a:r>
            <a:r>
              <a:rPr sz="1600" dirty="0" err="1">
                <a:solidFill>
                  <a:srgbClr val="3D424E"/>
                </a:solidFill>
              </a:rPr>
              <a:t>não</a:t>
            </a:r>
            <a:r>
              <a:rPr sz="1600" dirty="0">
                <a:solidFill>
                  <a:srgbClr val="3D424E"/>
                </a:solidFill>
              </a:rPr>
              <a:t> é </a:t>
            </a:r>
            <a:r>
              <a:rPr sz="1600" dirty="0" err="1">
                <a:solidFill>
                  <a:srgbClr val="3D424E"/>
                </a:solidFill>
              </a:rPr>
              <a:t>só</a:t>
            </a:r>
            <a:r>
              <a:rPr sz="1600" dirty="0">
                <a:solidFill>
                  <a:srgbClr val="3D424E"/>
                </a:solidFill>
              </a:rPr>
              <a:t> bias </a:t>
            </a:r>
            <a:r>
              <a:rPr sz="1600" dirty="0" err="1">
                <a:solidFill>
                  <a:srgbClr val="3D424E"/>
                </a:solidFill>
              </a:rPr>
              <a:t>algorítmico</a:t>
            </a:r>
            <a:r>
              <a:rPr sz="1600" dirty="0">
                <a:solidFill>
                  <a:srgbClr val="3D424E"/>
                </a:solidFill>
              </a:rPr>
              <a:t>. É </a:t>
            </a:r>
            <a:r>
              <a:rPr sz="1600" dirty="0" err="1">
                <a:solidFill>
                  <a:srgbClr val="3D424E"/>
                </a:solidFill>
              </a:rPr>
              <a:t>heterogeneidade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fenotípica</a:t>
            </a:r>
            <a:r>
              <a:rPr sz="1600" dirty="0">
                <a:solidFill>
                  <a:srgbClr val="3D424E"/>
                </a:solidFill>
              </a:rPr>
              <a:t> intra-</a:t>
            </a:r>
            <a:r>
              <a:rPr sz="1600" dirty="0" err="1">
                <a:solidFill>
                  <a:srgbClr val="3D424E"/>
                </a:solidFill>
              </a:rPr>
              <a:t>categoria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que</a:t>
            </a:r>
            <a:r>
              <a:rPr sz="1600" dirty="0">
                <a:solidFill>
                  <a:srgbClr val="3D424E"/>
                </a:solidFill>
              </a:rPr>
              <a:t> a </a:t>
            </a:r>
            <a:r>
              <a:rPr sz="1600" dirty="0" err="1">
                <a:solidFill>
                  <a:srgbClr val="3D424E"/>
                </a:solidFill>
              </a:rPr>
              <a:t>rotulagem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monolítica</a:t>
            </a:r>
            <a:r>
              <a:rPr sz="1600" dirty="0">
                <a:solidFill>
                  <a:srgbClr val="3D424E"/>
                </a:solidFill>
              </a:rPr>
              <a:t> de </a:t>
            </a:r>
            <a:r>
              <a:rPr sz="1600" dirty="0" err="1">
                <a:solidFill>
                  <a:srgbClr val="3D424E"/>
                </a:solidFill>
              </a:rPr>
              <a:t>FairFace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apaga</a:t>
            </a:r>
            <a:r>
              <a:rPr sz="1600" dirty="0">
                <a:solidFill>
                  <a:srgbClr val="3D424E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F2A4E"/>
                </a:solidFill>
              </a:rPr>
              <a:t>  </a:t>
            </a:r>
          </a:p>
          <a:p>
            <a:pPr>
              <a:spcAft>
                <a:spcPts val="800"/>
              </a:spcAft>
              <a:defRPr sz="1600">
                <a:solidFill>
                  <a:srgbClr val="3D424E"/>
                </a:solidFill>
              </a:defRPr>
            </a:pPr>
            <a:r>
              <a:rPr dirty="0"/>
              <a:t>— </a:t>
            </a:r>
            <a:r>
              <a:rPr dirty="0" err="1"/>
              <a:t>Fundamentação</a:t>
            </a:r>
            <a:r>
              <a:rPr dirty="0"/>
              <a:t> </a:t>
            </a:r>
            <a:r>
              <a:rPr dirty="0" err="1"/>
              <a:t>empírica</a:t>
            </a:r>
            <a:r>
              <a:rPr dirty="0"/>
              <a:t> agora </a:t>
            </a:r>
            <a:r>
              <a:rPr dirty="0" err="1"/>
              <a:t>tripla</a:t>
            </a:r>
            <a:r>
              <a:rPr dirty="0"/>
              <a:t>:</a:t>
            </a:r>
          </a:p>
          <a:p>
            <a:pPr>
              <a:spcAft>
                <a:spcPts val="800"/>
              </a:spcAft>
            </a:pPr>
            <a:r>
              <a:rPr sz="1600" b="1" dirty="0" err="1">
                <a:solidFill>
                  <a:srgbClr val="1F2A4E"/>
                </a:solidFill>
              </a:rPr>
              <a:t>Antropologia</a:t>
            </a:r>
            <a:r>
              <a:rPr sz="1600" b="1" dirty="0">
                <a:solidFill>
                  <a:srgbClr val="1F2A4E"/>
                </a:solidFill>
              </a:rPr>
              <a:t>:  </a:t>
            </a:r>
            <a:r>
              <a:rPr sz="1600" dirty="0">
                <a:solidFill>
                  <a:srgbClr val="3D424E"/>
                </a:solidFill>
              </a:rPr>
              <a:t>Telles 2014 (PERLA, 4 </a:t>
            </a:r>
            <a:r>
              <a:rPr sz="1600" dirty="0" err="1">
                <a:solidFill>
                  <a:srgbClr val="3D424E"/>
                </a:solidFill>
              </a:rPr>
              <a:t>países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latino</a:t>
            </a:r>
            <a:r>
              <a:rPr sz="1600" dirty="0">
                <a:solidFill>
                  <a:srgbClr val="3D424E"/>
                </a:solidFill>
              </a:rPr>
              <a:t>-americanos) documenta </a:t>
            </a:r>
            <a:r>
              <a:rPr sz="1600" dirty="0" err="1">
                <a:solidFill>
                  <a:srgbClr val="3D424E"/>
                </a:solidFill>
              </a:rPr>
              <a:t>pigmentocracia</a:t>
            </a:r>
            <a:r>
              <a:rPr sz="1600" dirty="0">
                <a:solidFill>
                  <a:srgbClr val="3D424E"/>
                </a:solidFill>
              </a:rPr>
              <a:t> — tom de </a:t>
            </a:r>
            <a:r>
              <a:rPr sz="1600" dirty="0" err="1">
                <a:solidFill>
                  <a:srgbClr val="3D424E"/>
                </a:solidFill>
              </a:rPr>
              <a:t>pele</a:t>
            </a:r>
            <a:r>
              <a:rPr sz="1600" dirty="0">
                <a:solidFill>
                  <a:srgbClr val="3D424E"/>
                </a:solidFill>
              </a:rPr>
              <a:t> varia </a:t>
            </a:r>
            <a:r>
              <a:rPr sz="1600" dirty="0" err="1">
                <a:solidFill>
                  <a:srgbClr val="3D424E"/>
                </a:solidFill>
              </a:rPr>
              <a:t>mais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dentro</a:t>
            </a:r>
            <a:r>
              <a:rPr sz="1600" dirty="0">
                <a:solidFill>
                  <a:srgbClr val="3D424E"/>
                </a:solidFill>
              </a:rPr>
              <a:t> da </a:t>
            </a:r>
            <a:r>
              <a:rPr sz="1600" dirty="0" err="1">
                <a:solidFill>
                  <a:srgbClr val="3D424E"/>
                </a:solidFill>
              </a:rPr>
              <a:t>categoria</a:t>
            </a:r>
            <a:r>
              <a:rPr sz="1600" dirty="0">
                <a:solidFill>
                  <a:srgbClr val="3D424E"/>
                </a:solidFill>
              </a:rPr>
              <a:t> do </a:t>
            </a:r>
            <a:r>
              <a:rPr sz="1600" dirty="0" err="1">
                <a:solidFill>
                  <a:srgbClr val="3D424E"/>
                </a:solidFill>
              </a:rPr>
              <a:t>que</a:t>
            </a:r>
            <a:r>
              <a:rPr sz="1600" dirty="0">
                <a:solidFill>
                  <a:srgbClr val="3D424E"/>
                </a:solidFill>
              </a:rPr>
              <a:t> entre </a:t>
            </a:r>
            <a:r>
              <a:rPr sz="1600" dirty="0" err="1">
                <a:solidFill>
                  <a:srgbClr val="3D424E"/>
                </a:solidFill>
              </a:rPr>
              <a:t>elas</a:t>
            </a:r>
            <a:endParaRPr sz="1600" dirty="0">
              <a:solidFill>
                <a:srgbClr val="3D424E"/>
              </a:solidFill>
            </a:endParaRPr>
          </a:p>
          <a:p>
            <a:pPr>
              <a:spcAft>
                <a:spcPts val="800"/>
              </a:spcAft>
            </a:pPr>
            <a:r>
              <a:rPr sz="1600" b="1" dirty="0" err="1">
                <a:solidFill>
                  <a:srgbClr val="1F2A4E"/>
                </a:solidFill>
              </a:rPr>
              <a:t>Genética</a:t>
            </a:r>
            <a:r>
              <a:rPr sz="1600" b="1" dirty="0">
                <a:solidFill>
                  <a:srgbClr val="1F2A4E"/>
                </a:solidFill>
              </a:rPr>
              <a:t>:  </a:t>
            </a:r>
            <a:r>
              <a:rPr sz="1600" dirty="0">
                <a:solidFill>
                  <a:srgbClr val="3D424E"/>
                </a:solidFill>
              </a:rPr>
              <a:t>Bryc 2015 (AJHG, 162 mil </a:t>
            </a:r>
            <a:r>
              <a:rPr sz="1600" dirty="0" err="1">
                <a:solidFill>
                  <a:srgbClr val="3D424E"/>
                </a:solidFill>
              </a:rPr>
              <a:t>indivíduos</a:t>
            </a:r>
            <a:r>
              <a:rPr sz="1600" dirty="0">
                <a:solidFill>
                  <a:srgbClr val="3D424E"/>
                </a:solidFill>
              </a:rPr>
              <a:t>) — </a:t>
            </a:r>
            <a:r>
              <a:rPr sz="1600" dirty="0" err="1">
                <a:solidFill>
                  <a:srgbClr val="3D424E"/>
                </a:solidFill>
              </a:rPr>
              <a:t>ancestralidade</a:t>
            </a:r>
            <a:r>
              <a:rPr sz="1600" dirty="0">
                <a:solidFill>
                  <a:srgbClr val="3D424E"/>
                </a:solidFill>
              </a:rPr>
              <a:t> Native + European + African </a:t>
            </a:r>
            <a:r>
              <a:rPr sz="1600" dirty="0" err="1">
                <a:solidFill>
                  <a:srgbClr val="3D424E"/>
                </a:solidFill>
              </a:rPr>
              <a:t>altamente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variável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em</a:t>
            </a:r>
            <a:r>
              <a:rPr sz="1600" dirty="0">
                <a:solidFill>
                  <a:srgbClr val="3D424E"/>
                </a:solidFill>
              </a:rPr>
              <a:t> Latinos</a:t>
            </a:r>
          </a:p>
          <a:p>
            <a:pPr>
              <a:spcAft>
                <a:spcPts val="800"/>
              </a:spcAft>
            </a:pPr>
            <a:r>
              <a:rPr sz="1600" b="1" dirty="0" err="1">
                <a:solidFill>
                  <a:srgbClr val="1F2A4E"/>
                </a:solidFill>
              </a:rPr>
              <a:t>Sociologia</a:t>
            </a:r>
            <a:r>
              <a:rPr sz="1600" b="1" dirty="0">
                <a:solidFill>
                  <a:srgbClr val="1F2A4E"/>
                </a:solidFill>
              </a:rPr>
              <a:t>:  </a:t>
            </a:r>
            <a:r>
              <a:rPr sz="1600" dirty="0">
                <a:solidFill>
                  <a:srgbClr val="3D424E"/>
                </a:solidFill>
              </a:rPr>
              <a:t>Pew 2017 — </a:t>
            </a:r>
            <a:r>
              <a:rPr sz="1600" dirty="0" err="1">
                <a:solidFill>
                  <a:srgbClr val="3D424E"/>
                </a:solidFill>
              </a:rPr>
              <a:t>identidade</a:t>
            </a:r>
            <a:r>
              <a:rPr sz="1600" dirty="0">
                <a:solidFill>
                  <a:srgbClr val="3D424E"/>
                </a:solidFill>
              </a:rPr>
              <a:t> Hispanic </a:t>
            </a:r>
            <a:r>
              <a:rPr sz="1600" dirty="0" err="1">
                <a:solidFill>
                  <a:srgbClr val="3D424E"/>
                </a:solidFill>
              </a:rPr>
              <a:t>cai</a:t>
            </a:r>
            <a:r>
              <a:rPr sz="1600" dirty="0">
                <a:solidFill>
                  <a:srgbClr val="3D424E"/>
                </a:solidFill>
              </a:rPr>
              <a:t> de 97 % para 50 % </a:t>
            </a:r>
            <a:r>
              <a:rPr sz="1600" dirty="0" err="1">
                <a:solidFill>
                  <a:srgbClr val="3D424E"/>
                </a:solidFill>
              </a:rPr>
              <a:t>em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quatro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gerações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nos</a:t>
            </a:r>
            <a:r>
              <a:rPr sz="1600" dirty="0">
                <a:solidFill>
                  <a:srgbClr val="3D424E"/>
                </a:solidFill>
              </a:rPr>
              <a:t> EUA. </a:t>
            </a:r>
            <a:r>
              <a:rPr sz="1600" dirty="0" err="1">
                <a:solidFill>
                  <a:srgbClr val="3D424E"/>
                </a:solidFill>
              </a:rPr>
              <a:t>Categoria</a:t>
            </a:r>
            <a:r>
              <a:rPr sz="1600" dirty="0">
                <a:solidFill>
                  <a:srgbClr val="3D424E"/>
                </a:solidFill>
              </a:rPr>
              <a:t> é </a:t>
            </a:r>
            <a:r>
              <a:rPr sz="1600" dirty="0" err="1">
                <a:solidFill>
                  <a:srgbClr val="3D424E"/>
                </a:solidFill>
              </a:rPr>
              <a:t>sociopolítica</a:t>
            </a:r>
            <a:r>
              <a:rPr sz="1600" dirty="0">
                <a:solidFill>
                  <a:srgbClr val="3D424E"/>
                </a:solidFill>
              </a:rPr>
              <a:t>, </a:t>
            </a:r>
            <a:r>
              <a:rPr sz="1600" dirty="0" err="1">
                <a:solidFill>
                  <a:srgbClr val="3D424E"/>
                </a:solidFill>
              </a:rPr>
              <a:t>não</a:t>
            </a:r>
            <a:r>
              <a:rPr sz="1600" dirty="0">
                <a:solidFill>
                  <a:srgbClr val="3D424E"/>
                </a:solidFill>
              </a:rPr>
              <a:t> </a:t>
            </a:r>
            <a:r>
              <a:rPr sz="1600" dirty="0" err="1">
                <a:solidFill>
                  <a:srgbClr val="3D424E"/>
                </a:solidFill>
              </a:rPr>
              <a:t>fenotípica</a:t>
            </a:r>
            <a:r>
              <a:rPr sz="1600" dirty="0">
                <a:solidFill>
                  <a:srgbClr val="3D424E"/>
                </a:solidFill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Esse é o argumento pelo qual C6 (decomposição fenotípico × algorítmico) vira contribuição central.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Validação externa via NotebookLM — 7 perguntas de defesa antecipadas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045047"/>
              </p:ext>
            </p:extLst>
          </p:nvPr>
        </p:nvGraphicFramePr>
        <p:xfrm>
          <a:off x="457200" y="1371600"/>
          <a:ext cx="11430000" cy="492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Pergunta submetida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Veredito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Ponto-chave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Tese é nova?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FiLM em fairness facial é inédito; matriz MST × FairFace preenche gap de Pereira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Valor científico?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Elevado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Diagnóstico estrutural fenotípico × algorítmico + European AI Act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Divergências / SOTA?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FaceScanPaliGemma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75,7 % acc; Pangelinan 2023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refuta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via 'pixel info' (</a:t>
                      </a:r>
                      <a:r>
                        <a:rPr lang="pt-BR" sz="1100" dirty="0">
                          <a:solidFill>
                            <a:srgbClr val="3D424E"/>
                          </a:solidFill>
                        </a:rPr>
                        <a:t>Controlo pixel </a:t>
                      </a:r>
                      <a:r>
                        <a:rPr lang="pt-BR" sz="1100" dirty="0" err="1">
                          <a:solidFill>
                            <a:srgbClr val="3D424E"/>
                          </a:solidFill>
                        </a:rPr>
                        <a:t>information</a:t>
                      </a:r>
                      <a:r>
                        <a:rPr lang="pt-BR" sz="1100" dirty="0">
                          <a:solidFill>
                            <a:srgbClr val="3D424E"/>
                          </a:solidFill>
                        </a:rPr>
                        <a:t> via </a:t>
                      </a:r>
                      <a:r>
                        <a:rPr lang="pt-BR" sz="1100" dirty="0" err="1">
                          <a:solidFill>
                            <a:srgbClr val="3D424E"/>
                          </a:solidFill>
                        </a:rPr>
                        <a:t>BiSeNet</a:t>
                      </a:r>
                      <a:r>
                        <a:rPr lang="pt-BR" sz="11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lang="pt-BR" sz="1100" dirty="0" err="1">
                          <a:solidFill>
                            <a:srgbClr val="3D424E"/>
                          </a:solidFill>
                        </a:rPr>
                        <a:t>segmentation</a:t>
                      </a:r>
                      <a:r>
                        <a:rPr lang="pt-BR" sz="1100" dirty="0">
                          <a:solidFill>
                            <a:srgbClr val="3D424E"/>
                          </a:solidFill>
                        </a:rPr>
                        <a:t> e vejo o que sobra. Se sobrar ≥ X% de variância inexplicada, então há viés algorítmico residual que o </a:t>
                      </a:r>
                      <a:r>
                        <a:rPr lang="pt-BR" sz="1100" dirty="0" err="1">
                          <a:solidFill>
                            <a:srgbClr val="3D424E"/>
                          </a:solidFill>
                        </a:rPr>
                        <a:t>conditioning</a:t>
                      </a:r>
                      <a:r>
                        <a:rPr lang="pt-BR" sz="1100" dirty="0">
                          <a:solidFill>
                            <a:srgbClr val="3D424E"/>
                          </a:solidFill>
                        </a:rPr>
                        <a:t> MST pode mitigar. Se sobrar &lt; X%, </a:t>
                      </a:r>
                      <a:r>
                        <a:rPr lang="pt-BR" sz="1100" dirty="0" err="1">
                          <a:solidFill>
                            <a:srgbClr val="3D424E"/>
                          </a:solidFill>
                        </a:rPr>
                        <a:t>Pangelinan</a:t>
                      </a:r>
                      <a:r>
                        <a:rPr lang="pt-BR" sz="1100" dirty="0">
                          <a:solidFill>
                            <a:srgbClr val="3D424E"/>
                          </a:solidFill>
                        </a:rPr>
                        <a:t> estava certo — e isso ainda seria contribuição valiosa como diagnóstico estrutural."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Faltam artigos?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Latinx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Diversidade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intra-Latinx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monolítica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— (Telles/Bryc/Pew)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Furos e gaps?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 pontos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Dependência SkinToneNet (mitigado por sensitivity analysis); escalabilidade além FairFace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Corpus atualizado?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Fronteira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Papers 2026 já cobertos (Pereira, AlDahoul, Lian)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Pipeline defensável?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Sequenciamento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+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controle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de confounders +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ablação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+ rigor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estatístico</a:t>
                      </a:r>
                      <a:endParaRPr sz="1100" dirty="0">
                        <a:solidFill>
                          <a:srgbClr val="3D424E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Veredito NotebookLM: "trabalho bem estruturado, contribuições claras, fundamentado em literatura de ponta. Ponto crítico da defesa: decomposição do erro Latinx".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Cinco caminhos possíveis para mitigar viés — por que escolhi FiLM + MST + Decomposição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676779"/>
              </p:ext>
            </p:extLst>
          </p:nvPr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7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6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6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Caminho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Ideia central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Posição relativa à minha proposta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1. Condicionamento arquitetural (FiLM)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Modular features do backbone com tom de pele como sinal auxiliar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Caminho que adotei — inédito em fairness facial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2. Decomposição fenotípico × algorítmico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Separar erro irredutível de erro mitigável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Adotei — OE-6 na v3.6 formaliza isso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3. Destilação de conhecimento (MST-KD)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Múltiplos professores enviesados por etnia → estudante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3D424E"/>
                          </a:solidFill>
                        </a:rPr>
                        <a:t>Alternativa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avaliada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—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abandonada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por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custo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computacional</a:t>
                      </a:r>
                      <a:endParaRPr sz="1100" dirty="0">
                        <a:solidFill>
                          <a:srgbClr val="3D424E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4. Intervenção geométrica em embeddings (SPD/SFID)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Projeção ortogonal ao subespaço do viés em VLMs — training-free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Complementar — cobrimos parcialmente via configuração D (FiLM-CLIP)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5. Rótulos demográficos contínuos (Ethnicity 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Etnia como espectro contínuo, não categoria discreta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Interseciona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com MST — MST é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já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uma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discretização</a:t>
                      </a:r>
                      <a:r>
                        <a:rPr sz="1100" dirty="0">
                          <a:solidFill>
                            <a:srgbClr val="3D424E"/>
                          </a:solidFill>
                        </a:rPr>
                        <a:t> de </a:t>
                      </a:r>
                      <a:r>
                        <a:rPr sz="1100" dirty="0" err="1">
                          <a:solidFill>
                            <a:srgbClr val="3D424E"/>
                          </a:solidFill>
                        </a:rPr>
                        <a:t>espectro</a:t>
                      </a:r>
                      <a:endParaRPr sz="1100" dirty="0">
                        <a:solidFill>
                          <a:srgbClr val="3D424E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Adotei os caminhos 1 + 2 combinados. Deixo 3-5 declarados em Cap 4 como alternativas ponderadas e não adotadas.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Perguntas em aberto — técnicas + administrativas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Estrutura entregue no Overleaf:  </a:t>
            </a:r>
            <a:r>
              <a:rPr sz="1600">
                <a:solidFill>
                  <a:srgbClr val="3D424E"/>
                </a:solidFill>
              </a:rPr>
              <a:t>há capítulo que o senhor gostaria de ver com tratamento diferente antes da minha próxima rodada de revisão?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Configurações comparativas:  </a:t>
            </a:r>
            <a:r>
              <a:rPr sz="1600">
                <a:solidFill>
                  <a:srgbClr val="3D424E"/>
                </a:solidFill>
              </a:rPr>
              <a:t>as 4 configs (A/B/C/D) bastam ou incluo uma 5ª variante (skin tone contínuo ITA/L* em vez de MST discreto)?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Cap 2 — ablation arquitetural:  </a:t>
            </a:r>
            <a:r>
              <a:rPr sz="1600">
                <a:solidFill>
                  <a:srgbClr val="3D424E"/>
                </a:solidFill>
              </a:rPr>
              <a:t>faz sentido meia-página comparando FiLM × CBN × cross-attention × AdaIN, ou deixo para a defesa oral?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4. OE-4 (fair transfer):  </a:t>
            </a:r>
            <a:r>
              <a:rPr sz="1600">
                <a:solidFill>
                  <a:srgbClr val="3D424E"/>
                </a:solidFill>
              </a:rPr>
              <a:t>métrica principal TPR@FAR=1e-4 estratificada por raça, ou DR agregado?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5. Extensão de 2 meses:  </a:t>
            </a:r>
            <a:r>
              <a:rPr sz="1600">
                <a:solidFill>
                  <a:srgbClr val="3D424E"/>
                </a:solidFill>
              </a:rPr>
              <a:t>trâmite correto — carta direta, requerimento SEI ao PPG, ou processo formal?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Bônus:  </a:t>
            </a:r>
            <a:r>
              <a:rPr sz="1600">
                <a:solidFill>
                  <a:srgbClr val="3D424E"/>
                </a:solidFill>
              </a:rPr>
              <a:t>sugestões para banca preliminar (fairness externo + CV aplicada)?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Nesta semana entro em modo revisão conforme feedback vindo do Overleaf.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Obrigado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Aberto para o debate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1647</Words>
  <Application>Microsoft Office PowerPoint</Application>
  <PresentationFormat>Personalizar</PresentationFormat>
  <Paragraphs>219</Paragraphs>
  <Slides>15</Slides>
  <Notes>0</Notes>
  <HiddenSlides>3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Marcello Vinicius Alves Ozzetti</cp:lastModifiedBy>
  <cp:revision>4</cp:revision>
  <dcterms:created xsi:type="dcterms:W3CDTF">2013-01-27T09:14:16Z</dcterms:created>
  <dcterms:modified xsi:type="dcterms:W3CDTF">2026-07-13T14:46:44Z</dcterms:modified>
  <cp:category/>
</cp:coreProperties>
</file>